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embedTrueTypeFonts="1" saveSubsetFonts="1" autoCompressPictures="0">
  <p:sldMasterIdLst>
    <p:sldMasterId id="2147483648" r:id="rId1"/>
    <p:sldMasterId id="2147483651" r:id="rId2"/>
  </p:sldMasterIdLst>
  <p:notesMasterIdLst>
    <p:notesMasterId r:id="rId59"/>
  </p:notesMasterIdLst>
  <p:handoutMasterIdLst>
    <p:handoutMasterId r:id="rId60"/>
  </p:handoutMasterIdLst>
  <p:sldIdLst>
    <p:sldId id="256" r:id="rId3"/>
    <p:sldId id="257" r:id="rId4"/>
    <p:sldId id="647" r:id="rId5"/>
    <p:sldId id="723" r:id="rId6"/>
    <p:sldId id="786" r:id="rId7"/>
    <p:sldId id="829" r:id="rId8"/>
    <p:sldId id="787" r:id="rId9"/>
    <p:sldId id="788" r:id="rId10"/>
    <p:sldId id="790" r:id="rId11"/>
    <p:sldId id="789" r:id="rId12"/>
    <p:sldId id="791" r:id="rId13"/>
    <p:sldId id="792" r:id="rId14"/>
    <p:sldId id="793" r:id="rId15"/>
    <p:sldId id="794" r:id="rId16"/>
    <p:sldId id="795" r:id="rId17"/>
    <p:sldId id="796" r:id="rId18"/>
    <p:sldId id="797" r:id="rId19"/>
    <p:sldId id="798" r:id="rId20"/>
    <p:sldId id="799" r:id="rId21"/>
    <p:sldId id="800" r:id="rId22"/>
    <p:sldId id="801" r:id="rId23"/>
    <p:sldId id="834" r:id="rId24"/>
    <p:sldId id="804" r:id="rId25"/>
    <p:sldId id="802" r:id="rId26"/>
    <p:sldId id="803" r:id="rId27"/>
    <p:sldId id="830" r:id="rId28"/>
    <p:sldId id="776" r:id="rId29"/>
    <p:sldId id="742" r:id="rId30"/>
    <p:sldId id="805" r:id="rId31"/>
    <p:sldId id="806" r:id="rId32"/>
    <p:sldId id="807" r:id="rId33"/>
    <p:sldId id="808" r:id="rId34"/>
    <p:sldId id="831" r:id="rId35"/>
    <p:sldId id="809" r:id="rId36"/>
    <p:sldId id="810" r:id="rId37"/>
    <p:sldId id="811" r:id="rId38"/>
    <p:sldId id="832" r:id="rId39"/>
    <p:sldId id="812" r:id="rId40"/>
    <p:sldId id="814" r:id="rId41"/>
    <p:sldId id="813" r:id="rId42"/>
    <p:sldId id="815" r:id="rId43"/>
    <p:sldId id="816" r:id="rId44"/>
    <p:sldId id="817" r:id="rId45"/>
    <p:sldId id="819" r:id="rId46"/>
    <p:sldId id="818" r:id="rId47"/>
    <p:sldId id="833" r:id="rId48"/>
    <p:sldId id="820" r:id="rId49"/>
    <p:sldId id="821" r:id="rId50"/>
    <p:sldId id="822" r:id="rId51"/>
    <p:sldId id="823" r:id="rId52"/>
    <p:sldId id="824" r:id="rId53"/>
    <p:sldId id="825" r:id="rId54"/>
    <p:sldId id="826" r:id="rId55"/>
    <p:sldId id="835" r:id="rId56"/>
    <p:sldId id="827" r:id="rId57"/>
    <p:sldId id="828" r:id="rId58"/>
  </p:sldIdLst>
  <p:sldSz cx="9144000" cy="6858000" type="screen4x3"/>
  <p:notesSz cx="7099300" cy="10234613"/>
  <p:embeddedFontLst>
    <p:embeddedFont>
      <p:font typeface="Blackadder ITC" pitchFamily="82" charset="77"/>
      <p:regular r:id="rId61"/>
    </p:embeddedFont>
    <p:embeddedFont>
      <p:font typeface="Cambria Math" panose="02040503050406030204" pitchFamily="18" charset="0"/>
      <p:regular r:id="rId62"/>
    </p:embeddedFont>
    <p:embeddedFont>
      <p:font typeface="Consolas" panose="020B0609020204030204" pitchFamily="49" charset="0"/>
      <p:regular r:id="rId63"/>
      <p:bold r:id="rId64"/>
      <p:italic r:id="rId65"/>
      <p:boldItalic r:id="rId6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83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02" roundtripDataSignature="AMtx7milieXwv5OUJdQk1cj/252aZuXcI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F8D7CD"/>
    <a:srgbClr val="A9D18E"/>
    <a:srgbClr val="E2F0D9"/>
    <a:srgbClr val="EAEFF7"/>
    <a:srgbClr val="E7E6E6"/>
    <a:srgbClr val="F2E6DC"/>
    <a:srgbClr val="ED7D31"/>
    <a:srgbClr val="AE5A21"/>
    <a:srgbClr val="7DC1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C8AAC6-CC3B-C444-A736-4182E709396E}" v="453" dt="2026-03-02T13:31:18.2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A107856-5554-42FB-B03E-39F5DBC370BA}" styleName="Mittlere Formatvorlage 4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30" autoAdjust="0"/>
    <p:restoredTop sz="91254" autoAdjust="0"/>
  </p:normalViewPr>
  <p:slideViewPr>
    <p:cSldViewPr snapToGrid="0">
      <p:cViewPr varScale="1">
        <p:scale>
          <a:sx n="139" d="100"/>
          <a:sy n="139" d="100"/>
        </p:scale>
        <p:origin x="536" y="168"/>
      </p:cViewPr>
      <p:guideLst>
        <p:guide orient="horz" pos="2183"/>
        <p:guide pos="2880"/>
      </p:guideLst>
    </p:cSldViewPr>
  </p:slideViewPr>
  <p:outlineViewPr>
    <p:cViewPr>
      <p:scale>
        <a:sx n="33" d="100"/>
        <a:sy n="33" d="100"/>
      </p:scale>
      <p:origin x="0" y="-771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2" d="100"/>
          <a:sy n="82" d="100"/>
        </p:scale>
        <p:origin x="4182" y="11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font" Target="fonts/font3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07" Type="http://schemas.microsoft.com/office/2016/11/relationships/changesInfo" Target="changesInfos/changesInfo1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font" Target="fonts/font6.fntdata"/><Relationship Id="rId102" Type="http://customschemas.google.com/relationships/presentationmetadata" Target="metadata"/><Relationship Id="rId5" Type="http://schemas.openxmlformats.org/officeDocument/2006/relationships/slide" Target="slides/slide3.xml"/><Relationship Id="rId61" Type="http://schemas.openxmlformats.org/officeDocument/2006/relationships/font" Target="fonts/font1.fntdata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font" Target="fonts/font4.fntdata"/><Relationship Id="rId105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notesMaster" Target="notesMasters/notesMaster1.xml"/><Relationship Id="rId103" Type="http://schemas.openxmlformats.org/officeDocument/2006/relationships/presProps" Target="presProps.xml"/><Relationship Id="rId108" Type="http://schemas.microsoft.com/office/2015/10/relationships/revisionInfo" Target="revisionInfo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6" Type="http://schemas.openxmlformats.org/officeDocument/2006/relationships/tableStyles" Target="tableStyle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handoutMaster" Target="handoutMasters/handoutMaster1.xml"/><Relationship Id="rId65" Type="http://schemas.openxmlformats.org/officeDocument/2006/relationships/font" Target="fonts/font5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104" Type="http://schemas.openxmlformats.org/officeDocument/2006/relationships/viewProps" Target="viewProps.xml"/><Relationship Id="rId7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go Frommholz" userId="ee3b4549-206f-4e4f-93a1-b7ff676f0af7" providerId="ADAL" clId="{5F8971C4-3D52-5FAB-A951-9912A46CDBB0}"/>
    <pc:docChg chg="undo custSel addSld delSld modSld">
      <pc:chgData name="Ingo Frommholz" userId="ee3b4549-206f-4e4f-93a1-b7ff676f0af7" providerId="ADAL" clId="{5F8971C4-3D52-5FAB-A951-9912A46CDBB0}" dt="2026-03-02T13:31:43.419" v="151" actId="20577"/>
      <pc:docMkLst>
        <pc:docMk/>
      </pc:docMkLst>
      <pc:sldChg chg="modNotes modNotesTx">
        <pc:chgData name="Ingo Frommholz" userId="ee3b4549-206f-4e4f-93a1-b7ff676f0af7" providerId="ADAL" clId="{5F8971C4-3D52-5FAB-A951-9912A46CDBB0}" dt="2026-03-01T15:19:04.790" v="81" actId="20577"/>
        <pc:sldMkLst>
          <pc:docMk/>
          <pc:sldMk cId="3317890083" sldId="805"/>
        </pc:sldMkLst>
      </pc:sldChg>
      <pc:sldChg chg="modNotes modNotesTx">
        <pc:chgData name="Ingo Frommholz" userId="ee3b4549-206f-4e4f-93a1-b7ff676f0af7" providerId="ADAL" clId="{5F8971C4-3D52-5FAB-A951-9912A46CDBB0}" dt="2026-03-01T15:18:55.493" v="54" actId="20577"/>
        <pc:sldMkLst>
          <pc:docMk/>
          <pc:sldMk cId="2971392033" sldId="806"/>
        </pc:sldMkLst>
      </pc:sldChg>
      <pc:sldChg chg="modSp mod modNotes">
        <pc:chgData name="Ingo Frommholz" userId="ee3b4549-206f-4e4f-93a1-b7ff676f0af7" providerId="ADAL" clId="{5F8971C4-3D52-5FAB-A951-9912A46CDBB0}" dt="2026-03-01T16:34:20.636" v="93"/>
        <pc:sldMkLst>
          <pc:docMk/>
          <pc:sldMk cId="4012895534" sldId="809"/>
        </pc:sldMkLst>
        <pc:spChg chg="mod">
          <ac:chgData name="Ingo Frommholz" userId="ee3b4549-206f-4e4f-93a1-b7ff676f0af7" providerId="ADAL" clId="{5F8971C4-3D52-5FAB-A951-9912A46CDBB0}" dt="2026-03-01T15:20:03.517" v="83" actId="20577"/>
          <ac:spMkLst>
            <pc:docMk/>
            <pc:sldMk cId="4012895534" sldId="809"/>
            <ac:spMk id="4" creationId="{B1AB2DE2-BFB4-403B-9976-58C0812A00AF}"/>
          </ac:spMkLst>
        </pc:spChg>
      </pc:sldChg>
      <pc:sldChg chg="modSp mod">
        <pc:chgData name="Ingo Frommholz" userId="ee3b4549-206f-4e4f-93a1-b7ff676f0af7" providerId="ADAL" clId="{5F8971C4-3D52-5FAB-A951-9912A46CDBB0}" dt="2026-03-01T15:32:55.233" v="92" actId="20577"/>
        <pc:sldMkLst>
          <pc:docMk/>
          <pc:sldMk cId="314201634" sldId="810"/>
        </pc:sldMkLst>
        <pc:spChg chg="mod">
          <ac:chgData name="Ingo Frommholz" userId="ee3b4549-206f-4e4f-93a1-b7ff676f0af7" providerId="ADAL" clId="{5F8971C4-3D52-5FAB-A951-9912A46CDBB0}" dt="2026-03-01T15:32:55.233" v="92" actId="20577"/>
          <ac:spMkLst>
            <pc:docMk/>
            <pc:sldMk cId="314201634" sldId="810"/>
            <ac:spMk id="8" creationId="{5119162B-98A5-4F61-BD8B-15D31294344B}"/>
          </ac:spMkLst>
        </pc:spChg>
      </pc:sldChg>
      <pc:sldChg chg="modSp mod">
        <pc:chgData name="Ingo Frommholz" userId="ee3b4549-206f-4e4f-93a1-b7ff676f0af7" providerId="ADAL" clId="{5F8971C4-3D52-5FAB-A951-9912A46CDBB0}" dt="2026-03-02T07:41:03.323" v="100" actId="20577"/>
        <pc:sldMkLst>
          <pc:docMk/>
          <pc:sldMk cId="2807026036" sldId="812"/>
        </pc:sldMkLst>
        <pc:spChg chg="mod">
          <ac:chgData name="Ingo Frommholz" userId="ee3b4549-206f-4e4f-93a1-b7ff676f0af7" providerId="ADAL" clId="{5F8971C4-3D52-5FAB-A951-9912A46CDBB0}" dt="2026-03-02T07:41:03.323" v="100" actId="20577"/>
          <ac:spMkLst>
            <pc:docMk/>
            <pc:sldMk cId="2807026036" sldId="812"/>
            <ac:spMk id="56" creationId="{8CEA290E-797F-4002-8325-6DFFB96B7276}"/>
          </ac:spMkLst>
        </pc:spChg>
      </pc:sldChg>
      <pc:sldChg chg="addSp delSp modSp mod">
        <pc:chgData name="Ingo Frommholz" userId="ee3b4549-206f-4e4f-93a1-b7ff676f0af7" providerId="ADAL" clId="{5F8971C4-3D52-5FAB-A951-9912A46CDBB0}" dt="2026-03-01T16:38:21.092" v="96"/>
        <pc:sldMkLst>
          <pc:docMk/>
          <pc:sldMk cId="2329184468" sldId="817"/>
        </pc:sldMkLst>
        <pc:spChg chg="add del mod">
          <ac:chgData name="Ingo Frommholz" userId="ee3b4549-206f-4e4f-93a1-b7ff676f0af7" providerId="ADAL" clId="{5F8971C4-3D52-5FAB-A951-9912A46CDBB0}" dt="2026-03-01T16:38:21.092" v="96"/>
          <ac:spMkLst>
            <pc:docMk/>
            <pc:sldMk cId="2329184468" sldId="817"/>
            <ac:spMk id="3" creationId="{1770DC74-C681-B5C5-8332-2798B9CA24D7}"/>
          </ac:spMkLst>
        </pc:spChg>
      </pc:sldChg>
      <pc:sldChg chg="modNotesTx">
        <pc:chgData name="Ingo Frommholz" userId="ee3b4549-206f-4e4f-93a1-b7ff676f0af7" providerId="ADAL" clId="{5F8971C4-3D52-5FAB-A951-9912A46CDBB0}" dt="2026-03-02T09:20:38.196" v="101" actId="20577"/>
        <pc:sldMkLst>
          <pc:docMk/>
          <pc:sldMk cId="2622197213" sldId="818"/>
        </pc:sldMkLst>
      </pc:sldChg>
      <pc:sldChg chg="modNotesTx">
        <pc:chgData name="Ingo Frommholz" userId="ee3b4549-206f-4e4f-93a1-b7ff676f0af7" providerId="ADAL" clId="{5F8971C4-3D52-5FAB-A951-9912A46CDBB0}" dt="2026-03-02T12:00:05.623" v="110" actId="20577"/>
        <pc:sldMkLst>
          <pc:docMk/>
          <pc:sldMk cId="1928856713" sldId="823"/>
        </pc:sldMkLst>
      </pc:sldChg>
      <pc:sldChg chg="new del">
        <pc:chgData name="Ingo Frommholz" userId="ee3b4549-206f-4e4f-93a1-b7ff676f0af7" providerId="ADAL" clId="{5F8971C4-3D52-5FAB-A951-9912A46CDBB0}" dt="2026-03-02T13:30:37.573" v="112" actId="2696"/>
        <pc:sldMkLst>
          <pc:docMk/>
          <pc:sldMk cId="1065724705" sldId="835"/>
        </pc:sldMkLst>
      </pc:sldChg>
      <pc:sldChg chg="modSp add mod">
        <pc:chgData name="Ingo Frommholz" userId="ee3b4549-206f-4e4f-93a1-b7ff676f0af7" providerId="ADAL" clId="{5F8971C4-3D52-5FAB-A951-9912A46CDBB0}" dt="2026-03-02T13:31:43.419" v="151" actId="20577"/>
        <pc:sldMkLst>
          <pc:docMk/>
          <pc:sldMk cId="2616584565" sldId="835"/>
        </pc:sldMkLst>
        <pc:spChg chg="mod">
          <ac:chgData name="Ingo Frommholz" userId="ee3b4549-206f-4e4f-93a1-b7ff676f0af7" providerId="ADAL" clId="{5F8971C4-3D52-5FAB-A951-9912A46CDBB0}" dt="2026-03-02T13:30:50.851" v="128" actId="20577"/>
          <ac:spMkLst>
            <pc:docMk/>
            <pc:sldMk cId="2616584565" sldId="835"/>
            <ac:spMk id="4" creationId="{7208F71C-B10F-5E69-A6A2-AE22B59BA9F2}"/>
          </ac:spMkLst>
        </pc:spChg>
        <pc:spChg chg="mod">
          <ac:chgData name="Ingo Frommholz" userId="ee3b4549-206f-4e4f-93a1-b7ff676f0af7" providerId="ADAL" clId="{5F8971C4-3D52-5FAB-A951-9912A46CDBB0}" dt="2026-03-02T13:31:43.419" v="151" actId="20577"/>
          <ac:spMkLst>
            <pc:docMk/>
            <pc:sldMk cId="2616584565" sldId="835"/>
            <ac:spMk id="56" creationId="{F33E7480-C7F8-CF41-021A-2F1719D0452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64A2C434-A054-4EBF-8388-E049AC0EAE3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 dirty="0">
              <a:latin typeface="Blackadder ITC" panose="04020505051007020D02" pitchFamily="82" charset="0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6BE634D-62FB-45E6-853B-82932D9990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30D981-3C41-4E48-8B75-4D8577123F2D}" type="datetimeFigureOut">
              <a:rPr lang="de-AT" sz="1400" smtClean="0">
                <a:latin typeface="Calibri" panose="020F0502020204030204" pitchFamily="34" charset="0"/>
                <a:cs typeface="Calibri" panose="020F0502020204030204" pitchFamily="34" charset="0"/>
              </a:rPr>
              <a:t>02.03.26</a:t>
            </a:fld>
            <a:endParaRPr lang="de-AT" sz="1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19ACCF7-6517-46DE-B295-84FC964BBC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 dirty="0">
              <a:latin typeface="Blackadder ITC" panose="04020505051007020D02" pitchFamily="82" charset="0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9E50896-C0DC-4B6A-AB93-D800C089ED3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5CC917-7134-4DD0-998C-C7645B2DB20B}" type="slidenum">
              <a:rPr lang="de-AT" sz="1400" smtClean="0">
                <a:latin typeface="Calibri" panose="020F0502020204030204" pitchFamily="34" charset="0"/>
                <a:cs typeface="Calibri" panose="020F0502020204030204" pitchFamily="34" charset="0"/>
              </a:rPr>
              <a:t>‹#›</a:t>
            </a:fld>
            <a:endParaRPr lang="de-AT" sz="1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36807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00" b="0" i="0" u="none" strike="noStrike" cap="none">
        <a:solidFill>
          <a:srgbClr val="000000"/>
        </a:solidFill>
        <a:latin typeface="Blackadder ITC" panose="04020505051007020D02" pitchFamily="82" charset="0"/>
        <a:ea typeface="Blackadder ITC" panose="04020505051007020D02" pitchFamily="82" charset="0"/>
        <a:cs typeface="Calibri" panose="020F0502020204030204" pitchFamily="34" charset="0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de-DE" sz="1400" b="0" i="0" u="none" strike="noStrike" cap="none">
                <a:solidFill>
                  <a:srgbClr val="000000"/>
                </a:solidFill>
                <a:latin typeface="Blackadder ITC" panose="04020505051007020D02" pitchFamily="82" charset="0"/>
                <a:sym typeface="Arial"/>
              </a:rPr>
              <a:t>1</a:t>
            </a:fld>
            <a:endParaRPr sz="1400" b="0" i="0" u="none" strike="noStrike" cap="none" dirty="0">
              <a:solidFill>
                <a:srgbClr val="000000"/>
              </a:solidFill>
              <a:latin typeface="Blackadder ITC" panose="04020505051007020D02" pitchFamily="82" charset="0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52030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0651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85083D85-3DEE-F620-07DA-32B782D71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41538631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5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83264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20077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13992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07910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893934BB-3A6E-6128-B806-1C4DEB999D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AT" dirty="0"/>
              <a:t>We need two pointer </a:t>
            </a:r>
            <a:r>
              <a:rPr lang="en-GB" dirty="0" err="1"/>
              <a:t>i</a:t>
            </a:r>
            <a:r>
              <a:rPr lang="en-AT" dirty="0"/>
              <a:t> and j.</a:t>
            </a:r>
          </a:p>
          <a:p>
            <a:endParaRPr lang="en-AT" dirty="0"/>
          </a:p>
          <a:p>
            <a:r>
              <a:rPr lang="en-GB" dirty="0" err="1"/>
              <a:t>i</a:t>
            </a:r>
            <a:r>
              <a:rPr lang="en-GB" dirty="0"/>
              <a:t> runs from the end to the beginning</a:t>
            </a:r>
          </a:p>
          <a:p>
            <a:r>
              <a:rPr lang="en-GB" dirty="0"/>
              <a:t>I denotes the boundary between the lower and upper part. In the end, it is the position of the pivot element.</a:t>
            </a:r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42800904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D889B47A-594A-00BA-9418-2E361B9C2A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29407025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620457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337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10030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97672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39118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95652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83274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92493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66398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72123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E4646-156D-4708-A2BA-4E86E8E08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51123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88AA3A3D-45DD-F80A-8254-F04B80BBF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3336761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23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803193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351991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25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4733745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93579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030142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BCCCDDDB-0EA1-DDA2-2BC3-1230E912EA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Balanced split into halves</a:t>
            </a:r>
          </a:p>
        </p:txBody>
      </p:sp>
    </p:spTree>
    <p:extLst>
      <p:ext uri="{BB962C8B-B14F-4D97-AF65-F5344CB8AC3E}">
        <p14:creationId xmlns:p14="http://schemas.microsoft.com/office/powerpoint/2010/main" val="41217988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BC357677-A156-4980-D8D8-F9A644F85E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Unbalanced split, e.g. when all elements are the same.</a:t>
            </a:r>
          </a:p>
        </p:txBody>
      </p:sp>
    </p:spTree>
    <p:extLst>
      <p:ext uri="{BB962C8B-B14F-4D97-AF65-F5344CB8AC3E}">
        <p14:creationId xmlns:p14="http://schemas.microsoft.com/office/powerpoint/2010/main" val="18184732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30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136223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58795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4145626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3BA9F624-F104-DEF6-9816-C939899D6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417431213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110350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785403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36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0864766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066181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993803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204873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068464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41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714770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120451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FB227D93-FD72-A7F0-C8B1-6CF1800D10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O(n) for the partition/split operation</a:t>
            </a:r>
          </a:p>
        </p:txBody>
      </p:sp>
    </p:spTree>
    <p:extLst>
      <p:ext uri="{BB962C8B-B14F-4D97-AF65-F5344CB8AC3E}">
        <p14:creationId xmlns:p14="http://schemas.microsoft.com/office/powerpoint/2010/main" val="376569979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49A8F984-6F1B-B54A-9A67-1E65AAFC0B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Don’t forget, the first or last element is the pivot element. Permutations create different pivot elements.</a:t>
            </a:r>
          </a:p>
        </p:txBody>
      </p:sp>
    </p:spTree>
    <p:extLst>
      <p:ext uri="{BB962C8B-B14F-4D97-AF65-F5344CB8AC3E}">
        <p14:creationId xmlns:p14="http://schemas.microsoft.com/office/powerpoint/2010/main" val="189570106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45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7689700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0718275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804869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467794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Notes Placeholder 1">
                <a:extLst>
                  <a:ext uri="{FF2B5EF4-FFF2-40B4-BE49-F238E27FC236}">
                    <a16:creationId xmlns:a16="http://schemas.microsoft.com/office/drawing/2014/main" id="{51C4AFD2-60DB-8134-0302-8B8042E93EF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0" indent="-2286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− 1 −2</m:t>
                    </m:r>
                    <m:r>
                      <a:rPr lang="de-AT" sz="11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𝛼</m:t>
                    </m:r>
                    <m:r>
                      <a:rPr lang="de-AT" sz="11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𝑛</m:t>
                    </m:r>
                  </m:oMath>
                </a14:m>
                <a:r>
                  <a:rPr lang="en-US" sz="11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partitions in the middle are better balanced than </a:t>
                </a:r>
                <a14:m>
                  <m:oMath xmlns:m="http://schemas.openxmlformats.org/officeDocument/2006/math">
                    <m:r>
                      <a:rPr lang="en-US" sz="1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𝛼</m:t>
                    </m:r>
                    <m:r>
                      <a:rPr lang="de-AT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, 1−</m:t>
                    </m:r>
                    <m:r>
                      <a:rPr lang="de-AT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𝑎</m:t>
                    </m:r>
                  </m:oMath>
                </a14:m>
                <a:r>
                  <a:rPr lang="en-US" sz="11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split: that</a:t>
                </a:r>
                <a:r>
                  <a:rPr lang="en-US" sz="1100" baseline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is, the probability or split is somewhere in the middle. Task 13 gives the probability that splits are between first and third quartile.</a:t>
                </a:r>
                <a:endParaRPr lang="en-US" sz="11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endParaRPr lang="en-AT" dirty="0"/>
              </a:p>
              <a:p>
                <a:r>
                  <a:rPr lang="en-AT" dirty="0"/>
                  <a:t>What is </a:t>
                </a:r>
                <a14:m>
                  <m:oMath xmlns:m="http://schemas.openxmlformats.org/officeDocument/2006/math">
                    <m:r>
                      <a:rPr lang="en-US" sz="1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𝛼</m:t>
                    </m:r>
                    <m:r>
                      <a:rPr lang="de-AT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?</m:t>
                    </m:r>
                  </m:oMath>
                </a14:m>
                <a:r>
                  <a:rPr lang="en-AT" dirty="0"/>
                  <a:t> In slide 38, we introduced</a:t>
                </a:r>
                <a:r>
                  <a:rPr lang="en-AT" baseline="0" dirty="0"/>
                  <a:t> balanced and unbalanced partitioning. </a:t>
                </a:r>
                <a:r>
                  <a:rPr lang="en-GB" baseline="0" dirty="0"/>
                  <a:t>A</a:t>
                </a:r>
                <a:r>
                  <a:rPr lang="en-AT" baseline="0" dirty="0"/>
                  <a:t> 1:9 partitioning would be alpha=0.1. In this slide, we compute the probability that we get a partition that we deine as umbalaced (2</a:t>
                </a:r>
                <a:r>
                  <a:rPr lang="en-US" sz="11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𝛼</m:t>
                    </m:r>
                    <m:r>
                      <a:rPr lang="de-AT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en-AT" dirty="0"/>
                  <a:t>or</a:t>
                </a:r>
                <a:r>
                  <a:rPr lang="en-AT" baseline="0" dirty="0"/>
                  <a:t> more balanced prob (1-2 </a:t>
                </a:r>
                <a:r>
                  <a:rPr lang="en-US" sz="11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𝛼</m:t>
                    </m:r>
                    <m:r>
                      <a:rPr lang="de-AT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en-AT" dirty="0"/>
                  <a:t>. </a:t>
                </a:r>
                <a14:m>
                  <m:oMath xmlns:m="http://schemas.openxmlformats.org/officeDocument/2006/math">
                    <m:r>
                      <a:rPr lang="en-US" sz="1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𝛼</m:t>
                    </m:r>
                  </m:oMath>
                </a14:m>
                <a:r>
                  <a:rPr lang="en-AT" dirty="0"/>
                  <a:t> </a:t>
                </a:r>
                <a:r>
                  <a:rPr lang="en-AT"/>
                  <a:t>therefore</a:t>
                </a:r>
                <a:r>
                  <a:rPr lang="en-AT" baseline="0"/>
                  <a:t> descibes what we determine as balanced or unbalanced, sloppily speaking. </a:t>
                </a:r>
                <a:br>
                  <a:rPr lang="en-AT" dirty="0"/>
                </a:br>
                <a:endParaRPr lang="en-AT" dirty="0"/>
              </a:p>
            </p:txBody>
          </p:sp>
        </mc:Choice>
        <mc:Fallback xmlns="">
          <p:sp>
            <p:nvSpPr>
              <p:cNvPr id="2" name="Notes Placeholder 1">
                <a:extLst>
                  <a:ext uri="{FF2B5EF4-FFF2-40B4-BE49-F238E27FC236}">
                    <a16:creationId xmlns:a16="http://schemas.microsoft.com/office/drawing/2014/main" id="{51C4AFD2-60DB-8134-0302-8B8042E93EF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0" indent="-2286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r>
                  <a:rPr lang="en-US" sz="1100" i="0" dirty="0"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𝑛 − 1 −2</a:t>
                </a:r>
                <a:r>
                  <a:rPr lang="de-AT" sz="1100" b="0" i="0" dirty="0">
                    <a:latin typeface="Cambria Math" panose="02040503050406030204" pitchFamily="18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𝛼𝑛</a:t>
                </a:r>
                <a:r>
                  <a:rPr lang="en-US" sz="11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partitions in the middle are better balanced than </a:t>
                </a:r>
                <a:r>
                  <a:rPr lang="en-US" sz="1100" i="0">
                    <a:latin typeface="Cambria Math" panose="02040503050406030204" pitchFamily="18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𝛼</a:t>
                </a:r>
                <a:r>
                  <a:rPr lang="de-AT" sz="1100" b="0" i="0">
                    <a:latin typeface="Cambria Math" panose="02040503050406030204" pitchFamily="18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 1−𝑎</a:t>
                </a:r>
                <a:r>
                  <a:rPr lang="en-US" sz="11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split: that</a:t>
                </a:r>
                <a:r>
                  <a:rPr lang="en-US" sz="1100" baseline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is, the probability or split is somewhere in the middle. Task 13 gives the probability that splits are between first and </a:t>
                </a:r>
                <a:r>
                  <a:rPr lang="en-US" sz="1100" baseline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third quartile.</a:t>
                </a:r>
                <a:endParaRPr lang="en-US" sz="11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br>
                  <a:rPr lang="en-AT" dirty="0"/>
                </a:br>
                <a:endParaRPr lang="en-AT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381078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50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9997485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084405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372476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7656C-7C2D-0AE0-6174-B31099408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268533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54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8953902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9998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34758"/>
            <a:ext cx="123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z="1600" baseline="0" smtClean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‹#›</a:t>
            </a:fld>
            <a:r>
              <a:rPr lang="de-AT" sz="1600" baseline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/ 54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Title,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72798" y="6415123"/>
            <a:ext cx="123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z="160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‹#›</a:t>
            </a:fld>
            <a:r>
              <a:rPr lang="de-AT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/ 54</a:t>
            </a:r>
          </a:p>
        </p:txBody>
      </p:sp>
    </p:spTree>
    <p:extLst>
      <p:ext uri="{BB962C8B-B14F-4D97-AF65-F5344CB8AC3E}">
        <p14:creationId xmlns:p14="http://schemas.microsoft.com/office/powerpoint/2010/main" val="2895099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 preserve="1">
  <p:cSld name="1_Title,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619431" y="2142979"/>
            <a:ext cx="7934633" cy="3525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33200"/>
            <a:ext cx="123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z="160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‹#›</a:t>
            </a:fld>
            <a:r>
              <a:rPr lang="de-AT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/ 54</a:t>
            </a:r>
          </a:p>
        </p:txBody>
      </p:sp>
    </p:spTree>
    <p:extLst>
      <p:ext uri="{BB962C8B-B14F-4D97-AF65-F5344CB8AC3E}">
        <p14:creationId xmlns:p14="http://schemas.microsoft.com/office/powerpoint/2010/main" val="159592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Blackadder ITC" panose="04020505051007020D02" pitchFamily="82" charset="0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6224536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  <p:sldLayoutId id="2147483653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33.xml"/><Relationship Id="rId13" Type="http://schemas.openxmlformats.org/officeDocument/2006/relationships/slide" Target="slide55.xml"/><Relationship Id="rId3" Type="http://schemas.openxmlformats.org/officeDocument/2006/relationships/slide" Target="slide3.xml"/><Relationship Id="rId7" Type="http://schemas.openxmlformats.org/officeDocument/2006/relationships/slide" Target="slide31.xml"/><Relationship Id="rId12" Type="http://schemas.openxmlformats.org/officeDocument/2006/relationships/slide" Target="slide5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6.xml"/><Relationship Id="rId11" Type="http://schemas.openxmlformats.org/officeDocument/2006/relationships/slide" Target="slide46.xml"/><Relationship Id="rId5" Type="http://schemas.openxmlformats.org/officeDocument/2006/relationships/slide" Target="slide24.xml"/><Relationship Id="rId10" Type="http://schemas.openxmlformats.org/officeDocument/2006/relationships/slide" Target="slide42.xml"/><Relationship Id="rId4" Type="http://schemas.openxmlformats.org/officeDocument/2006/relationships/slide" Target="slide6.xml"/><Relationship Id="rId9" Type="http://schemas.openxmlformats.org/officeDocument/2006/relationships/slide" Target="slide3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181.png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13" Type="http://schemas.openxmlformats.org/officeDocument/2006/relationships/image" Target="../media/image170.png"/><Relationship Id="rId18" Type="http://schemas.openxmlformats.org/officeDocument/2006/relationships/image" Target="../media/image220.png"/><Relationship Id="rId3" Type="http://schemas.openxmlformats.org/officeDocument/2006/relationships/image" Target="../media/image710.png"/><Relationship Id="rId21" Type="http://schemas.openxmlformats.org/officeDocument/2006/relationships/image" Target="../media/image25.png"/><Relationship Id="rId7" Type="http://schemas.openxmlformats.org/officeDocument/2006/relationships/image" Target="../media/image110.png"/><Relationship Id="rId12" Type="http://schemas.openxmlformats.org/officeDocument/2006/relationships/image" Target="../media/image160.png"/><Relationship Id="rId17" Type="http://schemas.openxmlformats.org/officeDocument/2006/relationships/image" Target="../media/image210.png"/><Relationship Id="rId2" Type="http://schemas.openxmlformats.org/officeDocument/2006/relationships/notesSlide" Target="../notesSlides/notesSlide28.xml"/><Relationship Id="rId16" Type="http://schemas.openxmlformats.org/officeDocument/2006/relationships/image" Target="../media/image200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11" Type="http://schemas.openxmlformats.org/officeDocument/2006/relationships/image" Target="../media/image150.png"/><Relationship Id="rId5" Type="http://schemas.openxmlformats.org/officeDocument/2006/relationships/image" Target="../media/image910.png"/><Relationship Id="rId15" Type="http://schemas.openxmlformats.org/officeDocument/2006/relationships/image" Target="../media/image190.png"/><Relationship Id="rId23" Type="http://schemas.openxmlformats.org/officeDocument/2006/relationships/image" Target="../media/image27.png"/><Relationship Id="rId10" Type="http://schemas.openxmlformats.org/officeDocument/2006/relationships/image" Target="../media/image140.png"/><Relationship Id="rId19" Type="http://schemas.openxmlformats.org/officeDocument/2006/relationships/image" Target="../media/image23.png"/><Relationship Id="rId4" Type="http://schemas.openxmlformats.org/officeDocument/2006/relationships/image" Target="../media/image810.png"/><Relationship Id="rId9" Type="http://schemas.openxmlformats.org/officeDocument/2006/relationships/image" Target="../media/image130.png"/><Relationship Id="rId14" Type="http://schemas.openxmlformats.org/officeDocument/2006/relationships/image" Target="../media/image180.png"/><Relationship Id="rId22" Type="http://schemas.openxmlformats.org/officeDocument/2006/relationships/image" Target="../media/image26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13" Type="http://schemas.openxmlformats.org/officeDocument/2006/relationships/image" Target="../media/image33.png"/><Relationship Id="rId18" Type="http://schemas.openxmlformats.org/officeDocument/2006/relationships/image" Target="../media/image38.png"/><Relationship Id="rId3" Type="http://schemas.openxmlformats.org/officeDocument/2006/relationships/image" Target="../media/image710.png"/><Relationship Id="rId21" Type="http://schemas.openxmlformats.org/officeDocument/2006/relationships/image" Target="../media/image41.png"/><Relationship Id="rId7" Type="http://schemas.openxmlformats.org/officeDocument/2006/relationships/image" Target="../media/image110.png"/><Relationship Id="rId12" Type="http://schemas.openxmlformats.org/officeDocument/2006/relationships/image" Target="../media/image32.png"/><Relationship Id="rId17" Type="http://schemas.openxmlformats.org/officeDocument/2006/relationships/image" Target="../media/image37.png"/><Relationship Id="rId25" Type="http://schemas.openxmlformats.org/officeDocument/2006/relationships/image" Target="../media/image45.png"/><Relationship Id="rId2" Type="http://schemas.openxmlformats.org/officeDocument/2006/relationships/notesSlide" Target="../notesSlides/notesSlide29.xml"/><Relationship Id="rId16" Type="http://schemas.openxmlformats.org/officeDocument/2006/relationships/image" Target="../media/image36.png"/><Relationship Id="rId20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11" Type="http://schemas.openxmlformats.org/officeDocument/2006/relationships/image" Target="../media/image31.png"/><Relationship Id="rId24" Type="http://schemas.openxmlformats.org/officeDocument/2006/relationships/image" Target="../media/image44.png"/><Relationship Id="rId5" Type="http://schemas.openxmlformats.org/officeDocument/2006/relationships/image" Target="../media/image910.png"/><Relationship Id="rId15" Type="http://schemas.openxmlformats.org/officeDocument/2006/relationships/image" Target="../media/image35.png"/><Relationship Id="rId23" Type="http://schemas.openxmlformats.org/officeDocument/2006/relationships/image" Target="../media/image43.png"/><Relationship Id="rId10" Type="http://schemas.openxmlformats.org/officeDocument/2006/relationships/image" Target="../media/image30.png"/><Relationship Id="rId19" Type="http://schemas.openxmlformats.org/officeDocument/2006/relationships/image" Target="../media/image39.png"/><Relationship Id="rId4" Type="http://schemas.openxmlformats.org/officeDocument/2006/relationships/image" Target="../media/image28.png"/><Relationship Id="rId9" Type="http://schemas.openxmlformats.org/officeDocument/2006/relationships/image" Target="../media/image29.png"/><Relationship Id="rId14" Type="http://schemas.openxmlformats.org/officeDocument/2006/relationships/image" Target="../media/image34.png"/><Relationship Id="rId22" Type="http://schemas.openxmlformats.org/officeDocument/2006/relationships/image" Target="../media/image42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3" Type="http://schemas.openxmlformats.org/officeDocument/2006/relationships/image" Target="../media/image46.png"/><Relationship Id="rId21" Type="http://schemas.openxmlformats.org/officeDocument/2006/relationships/image" Target="../media/image62.png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30.xml"/><Relationship Id="rId16" Type="http://schemas.openxmlformats.org/officeDocument/2006/relationships/image" Target="../media/image57.png"/><Relationship Id="rId20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11" Type="http://schemas.openxmlformats.org/officeDocument/2006/relationships/image" Target="../media/image52.png"/><Relationship Id="rId5" Type="http://schemas.openxmlformats.org/officeDocument/2006/relationships/image" Target="../media/image910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10" Type="http://schemas.openxmlformats.org/officeDocument/2006/relationships/image" Target="../media/image51.png"/><Relationship Id="rId19" Type="http://schemas.openxmlformats.org/officeDocument/2006/relationships/image" Target="../media/image60.png"/><Relationship Id="rId4" Type="http://schemas.openxmlformats.org/officeDocument/2006/relationships/image" Target="../media/image47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Relationship Id="rId22" Type="http://schemas.openxmlformats.org/officeDocument/2006/relationships/image" Target="../media/image63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ifromm/dsa/blob/main/notebooks/heapsort.ipynb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0.png"/><Relationship Id="rId13" Type="http://schemas.openxmlformats.org/officeDocument/2006/relationships/image" Target="../media/image73.png"/><Relationship Id="rId18" Type="http://schemas.openxmlformats.org/officeDocument/2006/relationships/image" Target="../media/image78.png"/><Relationship Id="rId3" Type="http://schemas.openxmlformats.org/officeDocument/2006/relationships/image" Target="../media/image650.png"/><Relationship Id="rId21" Type="http://schemas.openxmlformats.org/officeDocument/2006/relationships/image" Target="../media/image81.png"/><Relationship Id="rId7" Type="http://schemas.openxmlformats.org/officeDocument/2006/relationships/image" Target="../media/image670.png"/><Relationship Id="rId12" Type="http://schemas.openxmlformats.org/officeDocument/2006/relationships/image" Target="../media/image72.png"/><Relationship Id="rId17" Type="http://schemas.openxmlformats.org/officeDocument/2006/relationships/image" Target="../media/image77.png"/><Relationship Id="rId25" Type="http://schemas.openxmlformats.org/officeDocument/2006/relationships/image" Target="../media/image85.png"/><Relationship Id="rId2" Type="http://schemas.openxmlformats.org/officeDocument/2006/relationships/notesSlide" Target="../notesSlides/notesSlide40.xml"/><Relationship Id="rId16" Type="http://schemas.openxmlformats.org/officeDocument/2006/relationships/image" Target="../media/image76.png"/><Relationship Id="rId20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11" Type="http://schemas.openxmlformats.org/officeDocument/2006/relationships/image" Target="../media/image71.png"/><Relationship Id="rId24" Type="http://schemas.openxmlformats.org/officeDocument/2006/relationships/image" Target="../media/image84.png"/><Relationship Id="rId5" Type="http://schemas.openxmlformats.org/officeDocument/2006/relationships/image" Target="../media/image910.png"/><Relationship Id="rId15" Type="http://schemas.openxmlformats.org/officeDocument/2006/relationships/image" Target="../media/image75.png"/><Relationship Id="rId23" Type="http://schemas.openxmlformats.org/officeDocument/2006/relationships/image" Target="../media/image83.png"/><Relationship Id="rId10" Type="http://schemas.openxmlformats.org/officeDocument/2006/relationships/image" Target="../media/image70.png"/><Relationship Id="rId19" Type="http://schemas.openxmlformats.org/officeDocument/2006/relationships/image" Target="../media/image79.png"/><Relationship Id="rId4" Type="http://schemas.openxmlformats.org/officeDocument/2006/relationships/image" Target="../media/image660.png"/><Relationship Id="rId9" Type="http://schemas.openxmlformats.org/officeDocument/2006/relationships/image" Target="../media/image69.png"/><Relationship Id="rId14" Type="http://schemas.openxmlformats.org/officeDocument/2006/relationships/image" Target="../media/image74.png"/><Relationship Id="rId22" Type="http://schemas.openxmlformats.org/officeDocument/2006/relationships/image" Target="../media/image8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fromm/dsa/blob/main/notebooks/heapsort.ipynb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image" Target="../media/image92.png"/><Relationship Id="rId7" Type="http://schemas.openxmlformats.org/officeDocument/2006/relationships/image" Target="../media/image9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" y="29560"/>
            <a:ext cx="9144000" cy="6858046"/>
          </a:xfrm>
          <a:prstGeom prst="rect">
            <a:avLst/>
          </a:prstGeom>
          <a:solidFill>
            <a:srgbClr val="D3242A"/>
          </a:solidFill>
          <a:ln>
            <a:noFill/>
          </a:ln>
        </p:spPr>
      </p:pic>
      <p:sp>
        <p:nvSpPr>
          <p:cNvPr id="79" name="Google Shape;79;p1"/>
          <p:cNvSpPr txBox="1">
            <a:spLocks noGrp="1"/>
          </p:cNvSpPr>
          <p:nvPr>
            <p:ph type="title"/>
          </p:nvPr>
        </p:nvSpPr>
        <p:spPr>
          <a:xfrm>
            <a:off x="353192" y="4030874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rPr lang="en-US" sz="44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Algorithms and Data Structures</a:t>
            </a:r>
            <a:endParaRPr lang="en-US" sz="4400" b="1" noProof="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lang="en-US" sz="4400" b="1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"/>
          <p:cNvSpPr txBox="1">
            <a:spLocks noGrp="1"/>
          </p:cNvSpPr>
          <p:nvPr>
            <p:ph type="body" idx="1"/>
          </p:nvPr>
        </p:nvSpPr>
        <p:spPr>
          <a:xfrm>
            <a:off x="634701" y="5302785"/>
            <a:ext cx="8170433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  <a:buSzPts val="800"/>
            </a:pP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Unit 2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Quicksort and Randomized Algorithms</a:t>
            </a:r>
            <a:endParaRPr lang="en-US" sz="3200" b="0" i="0" u="none" strike="noStrike" cap="none" noProof="0" dirty="0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5EBE914-4CDA-45B5-B72B-D9613B9F4C3F}"/>
              </a:ext>
            </a:extLst>
          </p:cNvPr>
          <p:cNvSpPr/>
          <p:nvPr/>
        </p:nvSpPr>
        <p:spPr>
          <a:xfrm>
            <a:off x="8147261" y="6409467"/>
            <a:ext cx="702051" cy="316357"/>
          </a:xfrm>
          <a:prstGeom prst="rect">
            <a:avLst/>
          </a:prstGeom>
          <a:solidFill>
            <a:srgbClr val="D324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>
              <a:latin typeface="Blackadder ITC" panose="04020505051007020D02" pitchFamily="82" charset="0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Outline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6216"/>
            <a:ext cx="8229600" cy="1717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9E762BB-C30C-4581-B3C1-7319E93FAD44}"/>
              </a:ext>
            </a:extLst>
          </p:cNvPr>
          <p:cNvSpPr txBox="1"/>
          <p:nvPr/>
        </p:nvSpPr>
        <p:spPr>
          <a:xfrm>
            <a:off x="457200" y="1701579"/>
            <a:ext cx="753386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3" action="ppaction://hlinksldjump"/>
              </a:rPr>
              <a:t>Quicksort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4" action="ppaction://hlinksldjump"/>
              </a:rPr>
              <a:t>Partitioning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5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6" action="ppaction://hlinksldjump"/>
              </a:rPr>
              <a:t>Complexity of quicksort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7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8" action="ppaction://hlinksldjump"/>
              </a:rPr>
              <a:t>Exercise: Hoare’s partitioning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9" action="ppaction://hlinksldjump"/>
              </a:rPr>
              <a:t>Average case complexity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10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11" action="ppaction://hlinksldjump"/>
              </a:rPr>
              <a:t>Randomized quicksort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12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13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Quicksort</a:t>
            </a:r>
            <a:endParaRPr lang="en-US" sz="4400" noProof="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4144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Quicksort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330779"/>
                <a:ext cx="8229300" cy="3587278"/>
              </a:xfrm>
            </p:spPr>
            <p:txBody>
              <a:bodyPr/>
              <a:lstStyle/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Similar to merge sort, quicksort also uses divide-and-conquer approach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b="1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Divide: </a:t>
                </a:r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 array </a:t>
                </a:r>
                <a14:m>
                  <m:oMath xmlns:m="http://schemas.openxmlformats.org/officeDocument/2006/math"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[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𝑝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… 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] </m:t>
                    </m:r>
                  </m:oMath>
                </a14:m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 divided into two nonempty subarrays:</a:t>
                </a:r>
              </a:p>
              <a:p>
                <a:pPr marL="857250" lvl="1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[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𝑝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… 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] </m:t>
                    </m:r>
                  </m:oMath>
                </a14:m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sz="1800" i="1" noProof="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sz="1800" i="1" noProof="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𝑞</m:t>
                        </m:r>
                        <m:r>
                          <a:rPr lang="en-US" sz="1800" i="1" noProof="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+1 … </m:t>
                        </m:r>
                        <m:r>
                          <a:rPr lang="en-US" sz="1800" i="1" noProof="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𝑟</m:t>
                        </m:r>
                      </m:e>
                    </m:d>
                  </m:oMath>
                </a14:m>
                <a:endParaRPr lang="de-DE" sz="180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</a:t>
                </a:r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ach element of the first subarray is smaller or equal to each element of the second subarray. </a:t>
                </a:r>
              </a:p>
              <a:p>
                <a:pPr marL="857250" lvl="1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Index </a:t>
                </a:r>
                <a14:m>
                  <m:oMath xmlns:m="http://schemas.openxmlformats.org/officeDocument/2006/math"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𝑞</m:t>
                    </m:r>
                  </m:oMath>
                </a14:m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is computed as part of this partitioning procedure.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b="1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Conquer: </a:t>
                </a:r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 two subarrays are sorted recursively.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b="1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Combine: </a:t>
                </a:r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Since the subarrays are sorted in-place, no work is needed to combine them.</a:t>
                </a: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330779"/>
                <a:ext cx="8229300" cy="3587278"/>
              </a:xfrm>
              <a:blipFill>
                <a:blip r:embed="rId3"/>
                <a:stretch>
                  <a:fillRect b="-1188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5A0A10CE-FF67-475C-B0FF-D2FF489200C1}"/>
              </a:ext>
            </a:extLst>
          </p:cNvPr>
          <p:cNvSpPr txBox="1">
            <a:spLocks/>
          </p:cNvSpPr>
          <p:nvPr/>
        </p:nvSpPr>
        <p:spPr>
          <a:xfrm>
            <a:off x="457200" y="4918057"/>
            <a:ext cx="8229600" cy="14365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Remark 1: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Quicksort sorts</a:t>
            </a:r>
            <a:r>
              <a:rPr kumimoji="0" lang="en-US" sz="1800" b="0" i="0" u="none" strike="noStrike" kern="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in-place, i.e., it does not copy elements into new lists. Merge sort does not sort in-place as it copies the elements of the two </a:t>
            </a:r>
            <a:r>
              <a:rPr kumimoji="0" lang="en-US" sz="1800" b="0" i="0" u="none" strike="noStrike" kern="0" cap="none" spc="0" normalizeH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sublists</a:t>
            </a:r>
            <a:r>
              <a:rPr kumimoji="0" lang="en-US" sz="1800" b="0" i="0" u="none" strike="noStrike" kern="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while combining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/merging. Hence, quicksort generally occupies less memory than merge sort.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90199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Quicksort</a:t>
            </a: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8F2C2A12-C5B8-4044-847D-FDC4037DD3B8}"/>
              </a:ext>
            </a:extLst>
          </p:cNvPr>
          <p:cNvSpPr/>
          <p:nvPr/>
        </p:nvSpPr>
        <p:spPr>
          <a:xfrm>
            <a:off x="850981" y="1742932"/>
            <a:ext cx="7835519" cy="2071657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quicksort(a, p, r):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if p &lt; r: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q = partition(a, p, r) # partition around the pivot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	 # q is index of pivot element  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quicksort(a, p, q - 1) # sort the low side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quicksort(a, q + 1, r) # sort the high side</a:t>
            </a:r>
          </a:p>
        </p:txBody>
      </p:sp>
    </p:spTree>
    <p:extLst>
      <p:ext uri="{BB962C8B-B14F-4D97-AF65-F5344CB8AC3E}">
        <p14:creationId xmlns:p14="http://schemas.microsoft.com/office/powerpoint/2010/main" val="3951778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Partitioning</a:t>
            </a:r>
            <a:endParaRPr lang="en-US" sz="4400" noProof="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137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Partitioning the array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653135"/>
                <a:ext cx="8229300" cy="2590757"/>
              </a:xfrm>
            </p:spPr>
            <p:txBody>
              <a:bodyPr/>
              <a:lstStyle/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Partitioning starts by selecting the first element from the array as a </a:t>
                </a:r>
                <a:r>
                  <a:rPr lang="en-US" sz="1800" b="1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pivot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 „grow“ two subarrays around the pivot:</a:t>
                </a:r>
              </a:p>
              <a:p>
                <a:pPr marL="857250" lvl="1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[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𝑝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… 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−1] </m:t>
                    </m:r>
                  </m:oMath>
                </a14:m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will keep elements smaller or equal to pivot</a:t>
                </a:r>
              </a:p>
              <a:p>
                <a:pPr marL="857250" lvl="1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[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+1 … 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] </m:t>
                    </m:r>
                  </m:oMath>
                </a14:m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will keep elements greater or equal to pivot</a:t>
                </a:r>
              </a:p>
              <a:p>
                <a:pPr marL="857250" lvl="1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 the end we will place pivot at the </a:t>
                </a:r>
                <a14:m>
                  <m:oMath xmlns:m="http://schemas.openxmlformats.org/officeDocument/2006/math"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𝑞</m:t>
                    </m:r>
                  </m:oMath>
                </a14:m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</a:t>
                </a:r>
                <a:r>
                  <a:rPr lang="en-US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</a:t>
                </a:r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position and return </a:t>
                </a:r>
                <a14:m>
                  <m:oMath xmlns:m="http://schemas.openxmlformats.org/officeDocument/2006/math"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𝑞</m:t>
                    </m:r>
                  </m:oMath>
                </a14:m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endParaRPr lang="en-US" sz="1800" b="1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53135"/>
                <a:ext cx="8229300" cy="2590757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77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Partitioning the array</a:t>
            </a:r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29F5945E-6DD2-4B67-AB4D-0FA4B5BDD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8546760"/>
              </p:ext>
            </p:extLst>
          </p:nvPr>
        </p:nvGraphicFramePr>
        <p:xfrm>
          <a:off x="2810679" y="307031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76043DAE-DEB0-4B89-A75D-AA1466B951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1667186"/>
              </p:ext>
            </p:extLst>
          </p:nvPr>
        </p:nvGraphicFramePr>
        <p:xfrm>
          <a:off x="2810679" y="269947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platzhalter 2">
                <a:extLst>
                  <a:ext uri="{FF2B5EF4-FFF2-40B4-BE49-F238E27FC236}">
                    <a16:creationId xmlns:a16="http://schemas.microsoft.com/office/drawing/2014/main" id="{A822A416-2B3B-4C99-A0AF-669A0504F0D1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70155" y="1368057"/>
                <a:ext cx="8229300" cy="919833"/>
              </a:xfrm>
            </p:spPr>
            <p:txBody>
              <a:bodyPr/>
              <a:lstStyle/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noProof="0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noProof="0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0, </m:t>
                      </m:r>
                      <m:r>
                        <a:rPr lang="en-US" sz="1800" i="1" noProof="0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𝑟</m:t>
                      </m:r>
                      <m:r>
                        <a:rPr lang="en-US" sz="1800" i="1" noProof="0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7</m:t>
                      </m:r>
                    </m:oMath>
                  </m:oMathPara>
                </a14:m>
                <a:endParaRPr lang="en-US" sz="180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:endParaRPr lang="en-US" sz="180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Textplatzhalter 2">
                <a:extLst>
                  <a:ext uri="{FF2B5EF4-FFF2-40B4-BE49-F238E27FC236}">
                    <a16:creationId xmlns:a16="http://schemas.microsoft.com/office/drawing/2014/main" id="{A822A416-2B3B-4C99-A0AF-669A0504F0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70155" y="1368057"/>
                <a:ext cx="8229300" cy="919833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6120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Partitioning the array</a:t>
            </a:r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29F5945E-6DD2-4B67-AB4D-0FA4B5BDD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7716304"/>
              </p:ext>
            </p:extLst>
          </p:nvPr>
        </p:nvGraphicFramePr>
        <p:xfrm>
          <a:off x="2810679" y="307031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76043DAE-DEB0-4B89-A75D-AA1466B951C3}"/>
              </a:ext>
            </a:extLst>
          </p:cNvPr>
          <p:cNvGraphicFramePr>
            <a:graphicFrameLocks noGrp="1"/>
          </p:cNvGraphicFramePr>
          <p:nvPr/>
        </p:nvGraphicFramePr>
        <p:xfrm>
          <a:off x="2810679" y="269947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platzhalter 2">
                <a:extLst>
                  <a:ext uri="{FF2B5EF4-FFF2-40B4-BE49-F238E27FC236}">
                    <a16:creationId xmlns:a16="http://schemas.microsoft.com/office/drawing/2014/main" id="{A822A416-2B3B-4C99-A0AF-669A0504F0D1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70155" y="1368057"/>
                <a:ext cx="8229300" cy="919833"/>
              </a:xfrm>
            </p:spPr>
            <p:txBody>
              <a:bodyPr/>
              <a:lstStyle/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noProof="0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noProof="0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0, </m:t>
                      </m:r>
                      <m:r>
                        <a:rPr lang="en-US" sz="1800" i="1" noProof="0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𝑟</m:t>
                      </m:r>
                      <m:r>
                        <a:rPr lang="en-US" sz="1800" i="1" noProof="0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7</m:t>
                      </m:r>
                    </m:oMath>
                  </m:oMathPara>
                </a14:m>
                <a:endParaRPr lang="en-US" sz="180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noProof="0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𝑝𝑖𝑣𝑜𝑡</m:t>
                      </m:r>
                      <m:r>
                        <a:rPr lang="en-US" sz="1800" i="1" noProof="0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</m:t>
                      </m:r>
                      <m:r>
                        <a:rPr lang="en-US" sz="1800" i="1" noProof="0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en-US" sz="1800" i="1" noProof="0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[</m:t>
                      </m:r>
                      <m:r>
                        <a:rPr lang="en-US" sz="1800" i="1" noProof="0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noProof="0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] = 5 </m:t>
                      </m:r>
                    </m:oMath>
                  </m:oMathPara>
                </a14:m>
                <a:endParaRPr lang="en-US" sz="180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Textplatzhalter 2">
                <a:extLst>
                  <a:ext uri="{FF2B5EF4-FFF2-40B4-BE49-F238E27FC236}">
                    <a16:creationId xmlns:a16="http://schemas.microsoft.com/office/drawing/2014/main" id="{A822A416-2B3B-4C99-A0AF-669A0504F0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70155" y="1368057"/>
                <a:ext cx="8229300" cy="919833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46855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Partitioning the array</a:t>
            </a:r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29F5945E-6DD2-4B67-AB4D-0FA4B5BDD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103986"/>
              </p:ext>
            </p:extLst>
          </p:nvPr>
        </p:nvGraphicFramePr>
        <p:xfrm>
          <a:off x="2810679" y="307031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76043DAE-DEB0-4B89-A75D-AA1466B951C3}"/>
              </a:ext>
            </a:extLst>
          </p:cNvPr>
          <p:cNvGraphicFramePr>
            <a:graphicFrameLocks noGrp="1"/>
          </p:cNvGraphicFramePr>
          <p:nvPr/>
        </p:nvGraphicFramePr>
        <p:xfrm>
          <a:off x="2810679" y="269947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Rechteck 8">
            <a:extLst>
              <a:ext uri="{FF2B5EF4-FFF2-40B4-BE49-F238E27FC236}">
                <a16:creationId xmlns:a16="http://schemas.microsoft.com/office/drawing/2014/main" id="{B552C564-E187-40D6-8D49-6766E83052AA}"/>
              </a:ext>
            </a:extLst>
          </p:cNvPr>
          <p:cNvSpPr/>
          <p:nvPr/>
        </p:nvSpPr>
        <p:spPr>
          <a:xfrm>
            <a:off x="5997996" y="3852743"/>
            <a:ext cx="26000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2C6CE0C-E24C-48CC-A49F-4D93DC1B0ADA}"/>
              </a:ext>
            </a:extLst>
          </p:cNvPr>
          <p:cNvCxnSpPr/>
          <p:nvPr/>
        </p:nvCxnSpPr>
        <p:spPr>
          <a:xfrm flipV="1">
            <a:off x="6127999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651CD6E4-0C7C-43C3-AF95-BB74B082EE9C}"/>
              </a:ext>
            </a:extLst>
          </p:cNvPr>
          <p:cNvSpPr/>
          <p:nvPr/>
        </p:nvSpPr>
        <p:spPr>
          <a:xfrm>
            <a:off x="6256400" y="3852743"/>
            <a:ext cx="2632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C4A9BB1-F595-45C7-B141-10B99931E886}"/>
              </a:ext>
            </a:extLst>
          </p:cNvPr>
          <p:cNvCxnSpPr/>
          <p:nvPr/>
        </p:nvCxnSpPr>
        <p:spPr>
          <a:xfrm flipV="1">
            <a:off x="6388006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𝑠𝑡𝑒𝑝</m:t>
                      </m:r>
                      <m:r>
                        <a:rPr lang="de-AT" sz="18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0</m:t>
                      </m:r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blipFill>
                <a:blip r:embed="rId3"/>
                <a:stretch>
                  <a:fillRect b="-163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platzhalter 2">
                <a:extLst>
                  <a:ext uri="{FF2B5EF4-FFF2-40B4-BE49-F238E27FC236}">
                    <a16:creationId xmlns:a16="http://schemas.microsoft.com/office/drawing/2014/main" id="{91DC2E9E-2D9F-4F18-BF6B-5560523149E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0,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𝑟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7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𝑝𝑖𝑣𝑜𝑡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[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] = 5 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5" name="Textplatzhalter 2">
                <a:extLst>
                  <a:ext uri="{FF2B5EF4-FFF2-40B4-BE49-F238E27FC236}">
                    <a16:creationId xmlns:a16="http://schemas.microsoft.com/office/drawing/2014/main" id="{91DC2E9E-2D9F-4F18-BF6B-5560523149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9698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Partitioning the array</a:t>
            </a:r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29F5945E-6DD2-4B67-AB4D-0FA4B5BDD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7140870"/>
              </p:ext>
            </p:extLst>
          </p:nvPr>
        </p:nvGraphicFramePr>
        <p:xfrm>
          <a:off x="2810679" y="307031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76043DAE-DEB0-4B89-A75D-AA1466B951C3}"/>
              </a:ext>
            </a:extLst>
          </p:cNvPr>
          <p:cNvGraphicFramePr>
            <a:graphicFrameLocks noGrp="1"/>
          </p:cNvGraphicFramePr>
          <p:nvPr/>
        </p:nvGraphicFramePr>
        <p:xfrm>
          <a:off x="2810679" y="269947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Rechteck 8">
            <a:extLst>
              <a:ext uri="{FF2B5EF4-FFF2-40B4-BE49-F238E27FC236}">
                <a16:creationId xmlns:a16="http://schemas.microsoft.com/office/drawing/2014/main" id="{B552C564-E187-40D6-8D49-6766E83052AA}"/>
              </a:ext>
            </a:extLst>
          </p:cNvPr>
          <p:cNvSpPr/>
          <p:nvPr/>
        </p:nvSpPr>
        <p:spPr>
          <a:xfrm>
            <a:off x="5997996" y="3852743"/>
            <a:ext cx="26000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2C6CE0C-E24C-48CC-A49F-4D93DC1B0ADA}"/>
              </a:ext>
            </a:extLst>
          </p:cNvPr>
          <p:cNvCxnSpPr/>
          <p:nvPr/>
        </p:nvCxnSpPr>
        <p:spPr>
          <a:xfrm flipV="1">
            <a:off x="6127999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651CD6E4-0C7C-43C3-AF95-BB74B082EE9C}"/>
              </a:ext>
            </a:extLst>
          </p:cNvPr>
          <p:cNvSpPr/>
          <p:nvPr/>
        </p:nvSpPr>
        <p:spPr>
          <a:xfrm>
            <a:off x="6256400" y="3852743"/>
            <a:ext cx="2632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C4A9BB1-F595-45C7-B141-10B99931E886}"/>
              </a:ext>
            </a:extLst>
          </p:cNvPr>
          <p:cNvCxnSpPr/>
          <p:nvPr/>
        </p:nvCxnSpPr>
        <p:spPr>
          <a:xfrm flipV="1">
            <a:off x="6388006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𝑠𝑡𝑒𝑝</m:t>
                      </m:r>
                      <m:r>
                        <a:rPr lang="de-AT" sz="18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1</m:t>
                      </m:r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blipFill>
                <a:blip r:embed="rId3"/>
                <a:stretch>
                  <a:fillRect b="-163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5A826819-E968-4955-8663-E2B4A38203A8}"/>
              </a:ext>
            </a:extLst>
          </p:cNvPr>
          <p:cNvSpPr/>
          <p:nvPr/>
        </p:nvSpPr>
        <p:spPr>
          <a:xfrm>
            <a:off x="3017177" y="3457937"/>
            <a:ext cx="3109220" cy="856471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platzhalter 2">
                <a:extLst>
                  <a:ext uri="{FF2B5EF4-FFF2-40B4-BE49-F238E27FC236}">
                    <a16:creationId xmlns:a16="http://schemas.microsoft.com/office/drawing/2014/main" id="{56383CBF-764B-46FC-8370-3533E05FFB6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0,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𝑟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7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𝑝𝑖𝑣𝑜𝑡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[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] = 5 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6" name="Textplatzhalter 2">
                <a:extLst>
                  <a:ext uri="{FF2B5EF4-FFF2-40B4-BE49-F238E27FC236}">
                    <a16:creationId xmlns:a16="http://schemas.microsoft.com/office/drawing/2014/main" id="{56383CBF-764B-46FC-8370-3533E05FFB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30270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Partitioning the array</a:t>
            </a:r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29F5945E-6DD2-4B67-AB4D-0FA4B5BDD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097919"/>
              </p:ext>
            </p:extLst>
          </p:nvPr>
        </p:nvGraphicFramePr>
        <p:xfrm>
          <a:off x="2810679" y="307031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76043DAE-DEB0-4B89-A75D-AA1466B951C3}"/>
              </a:ext>
            </a:extLst>
          </p:cNvPr>
          <p:cNvGraphicFramePr>
            <a:graphicFrameLocks noGrp="1"/>
          </p:cNvGraphicFramePr>
          <p:nvPr/>
        </p:nvGraphicFramePr>
        <p:xfrm>
          <a:off x="2810679" y="269947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Rechteck 8">
            <a:extLst>
              <a:ext uri="{FF2B5EF4-FFF2-40B4-BE49-F238E27FC236}">
                <a16:creationId xmlns:a16="http://schemas.microsoft.com/office/drawing/2014/main" id="{B552C564-E187-40D6-8D49-6766E83052AA}"/>
              </a:ext>
            </a:extLst>
          </p:cNvPr>
          <p:cNvSpPr/>
          <p:nvPr/>
        </p:nvSpPr>
        <p:spPr>
          <a:xfrm>
            <a:off x="5530038" y="3852743"/>
            <a:ext cx="26000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2C6CE0C-E24C-48CC-A49F-4D93DC1B0ADA}"/>
              </a:ext>
            </a:extLst>
          </p:cNvPr>
          <p:cNvCxnSpPr/>
          <p:nvPr/>
        </p:nvCxnSpPr>
        <p:spPr>
          <a:xfrm flipV="1">
            <a:off x="5660041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651CD6E4-0C7C-43C3-AF95-BB74B082EE9C}"/>
              </a:ext>
            </a:extLst>
          </p:cNvPr>
          <p:cNvSpPr/>
          <p:nvPr/>
        </p:nvSpPr>
        <p:spPr>
          <a:xfrm>
            <a:off x="5788442" y="3852743"/>
            <a:ext cx="2632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C4A9BB1-F595-45C7-B141-10B99931E886}"/>
              </a:ext>
            </a:extLst>
          </p:cNvPr>
          <p:cNvCxnSpPr/>
          <p:nvPr/>
        </p:nvCxnSpPr>
        <p:spPr>
          <a:xfrm flipV="1">
            <a:off x="5920048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𝑠𝑡𝑒𝑝</m:t>
                      </m:r>
                      <m:r>
                        <a:rPr lang="de-AT" sz="18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2</m:t>
                      </m:r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blipFill>
                <a:blip r:embed="rId3"/>
                <a:stretch>
                  <a:fillRect b="-163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5A826819-E968-4955-8663-E2B4A38203A8}"/>
              </a:ext>
            </a:extLst>
          </p:cNvPr>
          <p:cNvSpPr/>
          <p:nvPr/>
        </p:nvSpPr>
        <p:spPr>
          <a:xfrm>
            <a:off x="3017178" y="3457938"/>
            <a:ext cx="2635966" cy="796712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platzhalter 2">
                <a:extLst>
                  <a:ext uri="{FF2B5EF4-FFF2-40B4-BE49-F238E27FC236}">
                    <a16:creationId xmlns:a16="http://schemas.microsoft.com/office/drawing/2014/main" id="{1FE6C768-542B-4551-9340-6863D870983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0,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𝑟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7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𝑝𝑖𝑣𝑜𝑡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[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] = 5 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6" name="Textplatzhalter 2">
                <a:extLst>
                  <a:ext uri="{FF2B5EF4-FFF2-40B4-BE49-F238E27FC236}">
                    <a16:creationId xmlns:a16="http://schemas.microsoft.com/office/drawing/2014/main" id="{1FE6C768-542B-4551-9340-6863D8709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9097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Partitioning the array</a:t>
            </a:r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29F5945E-6DD2-4B67-AB4D-0FA4B5BDD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512568"/>
              </p:ext>
            </p:extLst>
          </p:nvPr>
        </p:nvGraphicFramePr>
        <p:xfrm>
          <a:off x="2810679" y="307031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76043DAE-DEB0-4B89-A75D-AA1466B951C3}"/>
              </a:ext>
            </a:extLst>
          </p:cNvPr>
          <p:cNvGraphicFramePr>
            <a:graphicFrameLocks noGrp="1"/>
          </p:cNvGraphicFramePr>
          <p:nvPr/>
        </p:nvGraphicFramePr>
        <p:xfrm>
          <a:off x="2810679" y="269947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Rechteck 8">
            <a:extLst>
              <a:ext uri="{FF2B5EF4-FFF2-40B4-BE49-F238E27FC236}">
                <a16:creationId xmlns:a16="http://schemas.microsoft.com/office/drawing/2014/main" id="{B552C564-E187-40D6-8D49-6766E83052AA}"/>
              </a:ext>
            </a:extLst>
          </p:cNvPr>
          <p:cNvSpPr/>
          <p:nvPr/>
        </p:nvSpPr>
        <p:spPr>
          <a:xfrm>
            <a:off x="5196551" y="3852743"/>
            <a:ext cx="26000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2C6CE0C-E24C-48CC-A49F-4D93DC1B0ADA}"/>
              </a:ext>
            </a:extLst>
          </p:cNvPr>
          <p:cNvCxnSpPr/>
          <p:nvPr/>
        </p:nvCxnSpPr>
        <p:spPr>
          <a:xfrm flipV="1">
            <a:off x="5326554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651CD6E4-0C7C-43C3-AF95-BB74B082EE9C}"/>
              </a:ext>
            </a:extLst>
          </p:cNvPr>
          <p:cNvSpPr/>
          <p:nvPr/>
        </p:nvSpPr>
        <p:spPr>
          <a:xfrm>
            <a:off x="5653969" y="3852743"/>
            <a:ext cx="2632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C4A9BB1-F595-45C7-B141-10B99931E886}"/>
              </a:ext>
            </a:extLst>
          </p:cNvPr>
          <p:cNvCxnSpPr/>
          <p:nvPr/>
        </p:nvCxnSpPr>
        <p:spPr>
          <a:xfrm flipV="1">
            <a:off x="5785575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𝑠𝑡𝑒𝑝</m:t>
                      </m:r>
                      <m:r>
                        <a:rPr lang="de-AT" sz="18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3</m:t>
                      </m:r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blipFill>
                <a:blip r:embed="rId3"/>
                <a:stretch>
                  <a:fillRect b="-163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5A826819-E968-4955-8663-E2B4A38203A8}"/>
              </a:ext>
            </a:extLst>
          </p:cNvPr>
          <p:cNvSpPr/>
          <p:nvPr/>
        </p:nvSpPr>
        <p:spPr>
          <a:xfrm>
            <a:off x="3017178" y="3457938"/>
            <a:ext cx="2168005" cy="796712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platzhalter 2">
                <a:extLst>
                  <a:ext uri="{FF2B5EF4-FFF2-40B4-BE49-F238E27FC236}">
                    <a16:creationId xmlns:a16="http://schemas.microsoft.com/office/drawing/2014/main" id="{231BCDB2-988E-4939-9948-2B8E89E640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0,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𝑟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7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𝑝𝑖𝑣𝑜𝑡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[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] = 5 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6" name="Textplatzhalter 2">
                <a:extLst>
                  <a:ext uri="{FF2B5EF4-FFF2-40B4-BE49-F238E27FC236}">
                    <a16:creationId xmlns:a16="http://schemas.microsoft.com/office/drawing/2014/main" id="{231BCDB2-988E-4939-9948-2B8E89E64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7657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Partitioning the array</a:t>
            </a:r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29F5945E-6DD2-4B67-AB4D-0FA4B5BDD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653895"/>
              </p:ext>
            </p:extLst>
          </p:nvPr>
        </p:nvGraphicFramePr>
        <p:xfrm>
          <a:off x="2810679" y="307031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76043DAE-DEB0-4B89-A75D-AA1466B951C3}"/>
              </a:ext>
            </a:extLst>
          </p:cNvPr>
          <p:cNvGraphicFramePr>
            <a:graphicFrameLocks noGrp="1"/>
          </p:cNvGraphicFramePr>
          <p:nvPr/>
        </p:nvGraphicFramePr>
        <p:xfrm>
          <a:off x="2810679" y="269947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Rechteck 8">
            <a:extLst>
              <a:ext uri="{FF2B5EF4-FFF2-40B4-BE49-F238E27FC236}">
                <a16:creationId xmlns:a16="http://schemas.microsoft.com/office/drawing/2014/main" id="{B552C564-E187-40D6-8D49-6766E83052AA}"/>
              </a:ext>
            </a:extLst>
          </p:cNvPr>
          <p:cNvSpPr/>
          <p:nvPr/>
        </p:nvSpPr>
        <p:spPr>
          <a:xfrm>
            <a:off x="4717836" y="3852743"/>
            <a:ext cx="26000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2C6CE0C-E24C-48CC-A49F-4D93DC1B0ADA}"/>
              </a:ext>
            </a:extLst>
          </p:cNvPr>
          <p:cNvCxnSpPr/>
          <p:nvPr/>
        </p:nvCxnSpPr>
        <p:spPr>
          <a:xfrm flipV="1">
            <a:off x="4847839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651CD6E4-0C7C-43C3-AF95-BB74B082EE9C}"/>
              </a:ext>
            </a:extLst>
          </p:cNvPr>
          <p:cNvSpPr/>
          <p:nvPr/>
        </p:nvSpPr>
        <p:spPr>
          <a:xfrm>
            <a:off x="5653969" y="3852743"/>
            <a:ext cx="2632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C4A9BB1-F595-45C7-B141-10B99931E886}"/>
              </a:ext>
            </a:extLst>
          </p:cNvPr>
          <p:cNvCxnSpPr/>
          <p:nvPr/>
        </p:nvCxnSpPr>
        <p:spPr>
          <a:xfrm flipV="1">
            <a:off x="5785575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𝑠𝑡𝑒𝑝</m:t>
                      </m:r>
                      <m:r>
                        <a:rPr lang="de-AT" sz="18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4</m:t>
                      </m:r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blipFill>
                <a:blip r:embed="rId3"/>
                <a:stretch>
                  <a:fillRect b="-163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5A826819-E968-4955-8663-E2B4A38203A8}"/>
              </a:ext>
            </a:extLst>
          </p:cNvPr>
          <p:cNvSpPr/>
          <p:nvPr/>
        </p:nvSpPr>
        <p:spPr>
          <a:xfrm>
            <a:off x="3017179" y="3457938"/>
            <a:ext cx="1802244" cy="506255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platzhalter 2">
                <a:extLst>
                  <a:ext uri="{FF2B5EF4-FFF2-40B4-BE49-F238E27FC236}">
                    <a16:creationId xmlns:a16="http://schemas.microsoft.com/office/drawing/2014/main" id="{ED1BB469-B254-4F92-B096-177A5F360AA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0,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𝑟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7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𝑝𝑖𝑣𝑜𝑡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[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] = 5 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6" name="Textplatzhalter 2">
                <a:extLst>
                  <a:ext uri="{FF2B5EF4-FFF2-40B4-BE49-F238E27FC236}">
                    <a16:creationId xmlns:a16="http://schemas.microsoft.com/office/drawing/2014/main" id="{ED1BB469-B254-4F92-B096-177A5F360A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28867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Partitioning the array</a:t>
            </a:r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29F5945E-6DD2-4B67-AB4D-0FA4B5BDD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4053086"/>
              </p:ext>
            </p:extLst>
          </p:nvPr>
        </p:nvGraphicFramePr>
        <p:xfrm>
          <a:off x="2810679" y="307031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76043DAE-DEB0-4B89-A75D-AA1466B951C3}"/>
              </a:ext>
            </a:extLst>
          </p:cNvPr>
          <p:cNvGraphicFramePr>
            <a:graphicFrameLocks noGrp="1"/>
          </p:cNvGraphicFramePr>
          <p:nvPr/>
        </p:nvGraphicFramePr>
        <p:xfrm>
          <a:off x="2810679" y="269947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Rechteck 8">
            <a:extLst>
              <a:ext uri="{FF2B5EF4-FFF2-40B4-BE49-F238E27FC236}">
                <a16:creationId xmlns:a16="http://schemas.microsoft.com/office/drawing/2014/main" id="{B552C564-E187-40D6-8D49-6766E83052AA}"/>
              </a:ext>
            </a:extLst>
          </p:cNvPr>
          <p:cNvSpPr/>
          <p:nvPr/>
        </p:nvSpPr>
        <p:spPr>
          <a:xfrm>
            <a:off x="4325181" y="3852743"/>
            <a:ext cx="26000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2C6CE0C-E24C-48CC-A49F-4D93DC1B0ADA}"/>
              </a:ext>
            </a:extLst>
          </p:cNvPr>
          <p:cNvCxnSpPr/>
          <p:nvPr/>
        </p:nvCxnSpPr>
        <p:spPr>
          <a:xfrm flipV="1">
            <a:off x="4455184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651CD6E4-0C7C-43C3-AF95-BB74B082EE9C}"/>
              </a:ext>
            </a:extLst>
          </p:cNvPr>
          <p:cNvSpPr/>
          <p:nvPr/>
        </p:nvSpPr>
        <p:spPr>
          <a:xfrm>
            <a:off x="5653969" y="3852743"/>
            <a:ext cx="2632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C4A9BB1-F595-45C7-B141-10B99931E886}"/>
              </a:ext>
            </a:extLst>
          </p:cNvPr>
          <p:cNvCxnSpPr/>
          <p:nvPr/>
        </p:nvCxnSpPr>
        <p:spPr>
          <a:xfrm flipV="1">
            <a:off x="5785575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𝑠𝑡𝑒𝑝</m:t>
                      </m:r>
                      <m:r>
                        <a:rPr lang="de-AT" sz="18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5</m:t>
                      </m:r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blipFill>
                <a:blip r:embed="rId3"/>
                <a:stretch>
                  <a:fillRect b="-163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5A826819-E968-4955-8663-E2B4A38203A8}"/>
              </a:ext>
            </a:extLst>
          </p:cNvPr>
          <p:cNvSpPr/>
          <p:nvPr/>
        </p:nvSpPr>
        <p:spPr>
          <a:xfrm>
            <a:off x="3017179" y="3457938"/>
            <a:ext cx="1366558" cy="506255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platzhalter 2">
                <a:extLst>
                  <a:ext uri="{FF2B5EF4-FFF2-40B4-BE49-F238E27FC236}">
                    <a16:creationId xmlns:a16="http://schemas.microsoft.com/office/drawing/2014/main" id="{30E5BAD6-D3D9-49B6-88C3-23EE2721590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0,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𝑟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7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𝑝𝑖𝑣𝑜𝑡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[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] = 5 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6" name="Textplatzhalter 2">
                <a:extLst>
                  <a:ext uri="{FF2B5EF4-FFF2-40B4-BE49-F238E27FC236}">
                    <a16:creationId xmlns:a16="http://schemas.microsoft.com/office/drawing/2014/main" id="{30E5BAD6-D3D9-49B6-88C3-23EE27215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03007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Partitioning the array</a:t>
            </a:r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29F5945E-6DD2-4B67-AB4D-0FA4B5BDD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8628861"/>
              </p:ext>
            </p:extLst>
          </p:nvPr>
        </p:nvGraphicFramePr>
        <p:xfrm>
          <a:off x="2810679" y="307031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76043DAE-DEB0-4B89-A75D-AA1466B951C3}"/>
              </a:ext>
            </a:extLst>
          </p:cNvPr>
          <p:cNvGraphicFramePr>
            <a:graphicFrameLocks noGrp="1"/>
          </p:cNvGraphicFramePr>
          <p:nvPr/>
        </p:nvGraphicFramePr>
        <p:xfrm>
          <a:off x="2810679" y="269947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Rechteck 8">
            <a:extLst>
              <a:ext uri="{FF2B5EF4-FFF2-40B4-BE49-F238E27FC236}">
                <a16:creationId xmlns:a16="http://schemas.microsoft.com/office/drawing/2014/main" id="{B552C564-E187-40D6-8D49-6766E83052AA}"/>
              </a:ext>
            </a:extLst>
          </p:cNvPr>
          <p:cNvSpPr/>
          <p:nvPr/>
        </p:nvSpPr>
        <p:spPr>
          <a:xfrm>
            <a:off x="4325181" y="3852743"/>
            <a:ext cx="26000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2C6CE0C-E24C-48CC-A49F-4D93DC1B0ADA}"/>
              </a:ext>
            </a:extLst>
          </p:cNvPr>
          <p:cNvCxnSpPr/>
          <p:nvPr/>
        </p:nvCxnSpPr>
        <p:spPr>
          <a:xfrm flipV="1">
            <a:off x="4455184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651CD6E4-0C7C-43C3-AF95-BB74B082EE9C}"/>
              </a:ext>
            </a:extLst>
          </p:cNvPr>
          <p:cNvSpPr/>
          <p:nvPr/>
        </p:nvSpPr>
        <p:spPr>
          <a:xfrm>
            <a:off x="5653969" y="3852743"/>
            <a:ext cx="2632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C4A9BB1-F595-45C7-B141-10B99931E886}"/>
              </a:ext>
            </a:extLst>
          </p:cNvPr>
          <p:cNvCxnSpPr/>
          <p:nvPr/>
        </p:nvCxnSpPr>
        <p:spPr>
          <a:xfrm flipV="1">
            <a:off x="5785575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𝑠𝑡𝑒𝑝</m:t>
                      </m:r>
                      <m:r>
                        <a:rPr lang="de-AT" sz="18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5</m:t>
                      </m:r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blipFill>
                <a:blip r:embed="rId3"/>
                <a:stretch>
                  <a:fillRect b="-163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Freihandform: Form 15">
            <a:extLst>
              <a:ext uri="{FF2B5EF4-FFF2-40B4-BE49-F238E27FC236}">
                <a16:creationId xmlns:a16="http://schemas.microsoft.com/office/drawing/2014/main" id="{58E29B0B-9773-4F77-9A74-88070CC6D446}"/>
              </a:ext>
            </a:extLst>
          </p:cNvPr>
          <p:cNvSpPr/>
          <p:nvPr/>
        </p:nvSpPr>
        <p:spPr>
          <a:xfrm rot="10800000" flipH="1" flipV="1">
            <a:off x="4511110" y="3483408"/>
            <a:ext cx="1216938" cy="460135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platzhalter 2">
                <a:extLst>
                  <a:ext uri="{FF2B5EF4-FFF2-40B4-BE49-F238E27FC236}">
                    <a16:creationId xmlns:a16="http://schemas.microsoft.com/office/drawing/2014/main" id="{DE25F89D-FD61-452B-97A8-24F560C28AC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0,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𝑟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7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𝑝𝑖𝑣𝑜𝑡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[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] = 5 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5" name="Textplatzhalter 2">
                <a:extLst>
                  <a:ext uri="{FF2B5EF4-FFF2-40B4-BE49-F238E27FC236}">
                    <a16:creationId xmlns:a16="http://schemas.microsoft.com/office/drawing/2014/main" id="{DE25F89D-FD61-452B-97A8-24F560C28A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53036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Partitioning the array</a:t>
            </a:r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29F5945E-6DD2-4B67-AB4D-0FA4B5BDD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5857612"/>
              </p:ext>
            </p:extLst>
          </p:nvPr>
        </p:nvGraphicFramePr>
        <p:xfrm>
          <a:off x="2810679" y="307031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76043DAE-DEB0-4B89-A75D-AA1466B951C3}"/>
              </a:ext>
            </a:extLst>
          </p:cNvPr>
          <p:cNvGraphicFramePr>
            <a:graphicFrameLocks noGrp="1"/>
          </p:cNvGraphicFramePr>
          <p:nvPr/>
        </p:nvGraphicFramePr>
        <p:xfrm>
          <a:off x="2810679" y="269947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Rechteck 8">
            <a:extLst>
              <a:ext uri="{FF2B5EF4-FFF2-40B4-BE49-F238E27FC236}">
                <a16:creationId xmlns:a16="http://schemas.microsoft.com/office/drawing/2014/main" id="{B552C564-E187-40D6-8D49-6766E83052AA}"/>
              </a:ext>
            </a:extLst>
          </p:cNvPr>
          <p:cNvSpPr/>
          <p:nvPr/>
        </p:nvSpPr>
        <p:spPr>
          <a:xfrm>
            <a:off x="4325181" y="3852743"/>
            <a:ext cx="26000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2C6CE0C-E24C-48CC-A49F-4D93DC1B0ADA}"/>
              </a:ext>
            </a:extLst>
          </p:cNvPr>
          <p:cNvCxnSpPr/>
          <p:nvPr/>
        </p:nvCxnSpPr>
        <p:spPr>
          <a:xfrm flipV="1">
            <a:off x="4455184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651CD6E4-0C7C-43C3-AF95-BB74B082EE9C}"/>
              </a:ext>
            </a:extLst>
          </p:cNvPr>
          <p:cNvSpPr/>
          <p:nvPr/>
        </p:nvSpPr>
        <p:spPr>
          <a:xfrm>
            <a:off x="5653969" y="3852743"/>
            <a:ext cx="2632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C4A9BB1-F595-45C7-B141-10B99931E886}"/>
              </a:ext>
            </a:extLst>
          </p:cNvPr>
          <p:cNvCxnSpPr/>
          <p:nvPr/>
        </p:nvCxnSpPr>
        <p:spPr>
          <a:xfrm flipV="1">
            <a:off x="5785575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𝑠𝑡𝑒𝑝</m:t>
                      </m:r>
                      <m:r>
                        <a:rPr lang="de-AT" sz="18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5</m:t>
                      </m:r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blipFill>
                <a:blip r:embed="rId3"/>
                <a:stretch>
                  <a:fillRect b="-163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platzhalter 2">
                <a:extLst>
                  <a:ext uri="{FF2B5EF4-FFF2-40B4-BE49-F238E27FC236}">
                    <a16:creationId xmlns:a16="http://schemas.microsoft.com/office/drawing/2014/main" id="{DC186BC9-8AAE-4912-A7B2-7559C215502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0,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𝑟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7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𝑝𝑖𝑣𝑜𝑡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[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] = 5 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5" name="Textplatzhalter 2">
                <a:extLst>
                  <a:ext uri="{FF2B5EF4-FFF2-40B4-BE49-F238E27FC236}">
                    <a16:creationId xmlns:a16="http://schemas.microsoft.com/office/drawing/2014/main" id="{DC186BC9-8AAE-4912-A7B2-7559C21550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94537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Partitioning the array</a:t>
            </a:r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29F5945E-6DD2-4B67-AB4D-0FA4B5BDD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066803"/>
              </p:ext>
            </p:extLst>
          </p:nvPr>
        </p:nvGraphicFramePr>
        <p:xfrm>
          <a:off x="2810679" y="307031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76043DAE-DEB0-4B89-A75D-AA1466B951C3}"/>
              </a:ext>
            </a:extLst>
          </p:cNvPr>
          <p:cNvGraphicFramePr>
            <a:graphicFrameLocks noGrp="1"/>
          </p:cNvGraphicFramePr>
          <p:nvPr/>
        </p:nvGraphicFramePr>
        <p:xfrm>
          <a:off x="2810679" y="269947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Rechteck 8">
            <a:extLst>
              <a:ext uri="{FF2B5EF4-FFF2-40B4-BE49-F238E27FC236}">
                <a16:creationId xmlns:a16="http://schemas.microsoft.com/office/drawing/2014/main" id="{B552C564-E187-40D6-8D49-6766E83052AA}"/>
              </a:ext>
            </a:extLst>
          </p:cNvPr>
          <p:cNvSpPr/>
          <p:nvPr/>
        </p:nvSpPr>
        <p:spPr>
          <a:xfrm>
            <a:off x="3824950" y="3852743"/>
            <a:ext cx="26000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2C6CE0C-E24C-48CC-A49F-4D93DC1B0ADA}"/>
              </a:ext>
            </a:extLst>
          </p:cNvPr>
          <p:cNvCxnSpPr/>
          <p:nvPr/>
        </p:nvCxnSpPr>
        <p:spPr>
          <a:xfrm flipV="1">
            <a:off x="3954953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651CD6E4-0C7C-43C3-AF95-BB74B082EE9C}"/>
              </a:ext>
            </a:extLst>
          </p:cNvPr>
          <p:cNvSpPr/>
          <p:nvPr/>
        </p:nvSpPr>
        <p:spPr>
          <a:xfrm>
            <a:off x="5191388" y="3852743"/>
            <a:ext cx="2632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C4A9BB1-F595-45C7-B141-10B99931E886}"/>
              </a:ext>
            </a:extLst>
          </p:cNvPr>
          <p:cNvCxnSpPr/>
          <p:nvPr/>
        </p:nvCxnSpPr>
        <p:spPr>
          <a:xfrm flipV="1">
            <a:off x="5322994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𝑠𝑡𝑒𝑝</m:t>
                      </m:r>
                      <m:r>
                        <a:rPr lang="de-AT" sz="18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6</m:t>
                      </m:r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blipFill>
                <a:blip r:embed="rId3"/>
                <a:stretch>
                  <a:fillRect b="-163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239FB31F-7F0E-4840-A87F-A91D86BC5A76}"/>
              </a:ext>
            </a:extLst>
          </p:cNvPr>
          <p:cNvSpPr/>
          <p:nvPr/>
        </p:nvSpPr>
        <p:spPr>
          <a:xfrm>
            <a:off x="2926087" y="3457938"/>
            <a:ext cx="984316" cy="354059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platzhalter 2">
                <a:extLst>
                  <a:ext uri="{FF2B5EF4-FFF2-40B4-BE49-F238E27FC236}">
                    <a16:creationId xmlns:a16="http://schemas.microsoft.com/office/drawing/2014/main" id="{26617803-C104-4E29-B82C-FDDA0F612C5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0,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𝑟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7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𝑝𝑖𝑣𝑜𝑡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[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] = 5 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6" name="Textplatzhalter 2">
                <a:extLst>
                  <a:ext uri="{FF2B5EF4-FFF2-40B4-BE49-F238E27FC236}">
                    <a16:creationId xmlns:a16="http://schemas.microsoft.com/office/drawing/2014/main" id="{26617803-C104-4E29-B82C-FDDA0F612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05022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Partitioning the array</a:t>
            </a:r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29F5945E-6DD2-4B67-AB4D-0FA4B5BDD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86755"/>
              </p:ext>
            </p:extLst>
          </p:nvPr>
        </p:nvGraphicFramePr>
        <p:xfrm>
          <a:off x="2810679" y="307031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76043DAE-DEB0-4B89-A75D-AA1466B951C3}"/>
              </a:ext>
            </a:extLst>
          </p:cNvPr>
          <p:cNvGraphicFramePr>
            <a:graphicFrameLocks noGrp="1"/>
          </p:cNvGraphicFramePr>
          <p:nvPr/>
        </p:nvGraphicFramePr>
        <p:xfrm>
          <a:off x="2810679" y="269947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Rechteck 8">
            <a:extLst>
              <a:ext uri="{FF2B5EF4-FFF2-40B4-BE49-F238E27FC236}">
                <a16:creationId xmlns:a16="http://schemas.microsoft.com/office/drawing/2014/main" id="{B552C564-E187-40D6-8D49-6766E83052AA}"/>
              </a:ext>
            </a:extLst>
          </p:cNvPr>
          <p:cNvSpPr/>
          <p:nvPr/>
        </p:nvSpPr>
        <p:spPr>
          <a:xfrm>
            <a:off x="3394643" y="3852743"/>
            <a:ext cx="26000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2C6CE0C-E24C-48CC-A49F-4D93DC1B0ADA}"/>
              </a:ext>
            </a:extLst>
          </p:cNvPr>
          <p:cNvCxnSpPr/>
          <p:nvPr/>
        </p:nvCxnSpPr>
        <p:spPr>
          <a:xfrm flipV="1">
            <a:off x="3524646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651CD6E4-0C7C-43C3-AF95-BB74B082EE9C}"/>
              </a:ext>
            </a:extLst>
          </p:cNvPr>
          <p:cNvSpPr/>
          <p:nvPr/>
        </p:nvSpPr>
        <p:spPr>
          <a:xfrm>
            <a:off x="5191388" y="3852743"/>
            <a:ext cx="2632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C4A9BB1-F595-45C7-B141-10B99931E886}"/>
              </a:ext>
            </a:extLst>
          </p:cNvPr>
          <p:cNvCxnSpPr/>
          <p:nvPr/>
        </p:nvCxnSpPr>
        <p:spPr>
          <a:xfrm flipV="1">
            <a:off x="5322994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𝑠𝑡𝑒𝑝</m:t>
                      </m:r>
                      <m:r>
                        <a:rPr lang="de-AT" sz="18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7</m:t>
                      </m:r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blipFill>
                <a:blip r:embed="rId3"/>
                <a:stretch>
                  <a:fillRect b="-163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239FB31F-7F0E-4840-A87F-A91D86BC5A76}"/>
              </a:ext>
            </a:extLst>
          </p:cNvPr>
          <p:cNvSpPr/>
          <p:nvPr/>
        </p:nvSpPr>
        <p:spPr>
          <a:xfrm>
            <a:off x="2926087" y="3457938"/>
            <a:ext cx="521737" cy="205041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platzhalter 2">
                <a:extLst>
                  <a:ext uri="{FF2B5EF4-FFF2-40B4-BE49-F238E27FC236}">
                    <a16:creationId xmlns:a16="http://schemas.microsoft.com/office/drawing/2014/main" id="{F66BCD35-8B8E-4459-8405-D2C1C4A6487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0,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𝑟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7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𝑝𝑖𝑣𝑜𝑡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[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] = 5 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6" name="Textplatzhalter 2">
                <a:extLst>
                  <a:ext uri="{FF2B5EF4-FFF2-40B4-BE49-F238E27FC236}">
                    <a16:creationId xmlns:a16="http://schemas.microsoft.com/office/drawing/2014/main" id="{F66BCD35-8B8E-4459-8405-D2C1C4A648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81928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Partitioning the array</a:t>
            </a:r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29F5945E-6DD2-4B67-AB4D-0FA4B5BDD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1141751"/>
              </p:ext>
            </p:extLst>
          </p:nvPr>
        </p:nvGraphicFramePr>
        <p:xfrm>
          <a:off x="2810679" y="307031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76043DAE-DEB0-4B89-A75D-AA1466B951C3}"/>
              </a:ext>
            </a:extLst>
          </p:cNvPr>
          <p:cNvGraphicFramePr>
            <a:graphicFrameLocks noGrp="1"/>
          </p:cNvGraphicFramePr>
          <p:nvPr/>
        </p:nvGraphicFramePr>
        <p:xfrm>
          <a:off x="2810679" y="269947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12" name="Rechteck 11">
            <a:extLst>
              <a:ext uri="{FF2B5EF4-FFF2-40B4-BE49-F238E27FC236}">
                <a16:creationId xmlns:a16="http://schemas.microsoft.com/office/drawing/2014/main" id="{651CD6E4-0C7C-43C3-AF95-BB74B082EE9C}"/>
              </a:ext>
            </a:extLst>
          </p:cNvPr>
          <p:cNvSpPr/>
          <p:nvPr/>
        </p:nvSpPr>
        <p:spPr>
          <a:xfrm>
            <a:off x="5191388" y="3852743"/>
            <a:ext cx="2632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C4A9BB1-F595-45C7-B141-10B99931E886}"/>
              </a:ext>
            </a:extLst>
          </p:cNvPr>
          <p:cNvCxnSpPr/>
          <p:nvPr/>
        </p:nvCxnSpPr>
        <p:spPr>
          <a:xfrm flipV="1">
            <a:off x="5322994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𝐹𝑖𝑛𝑎𝑙</m:t>
                      </m:r>
                      <m:r>
                        <a:rPr lang="de-AT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a:rPr lang="de-AT" sz="1800" i="1" dirty="0" err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𝑠𝑡𝑒𝑝</m:t>
                      </m:r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blipFill>
                <a:blip r:embed="rId3"/>
                <a:stretch>
                  <a:fillRect b="-163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Freihandform: Form 15">
            <a:extLst>
              <a:ext uri="{FF2B5EF4-FFF2-40B4-BE49-F238E27FC236}">
                <a16:creationId xmlns:a16="http://schemas.microsoft.com/office/drawing/2014/main" id="{6594FE6D-B2C3-42B2-9355-20C0B5D5FC47}"/>
              </a:ext>
            </a:extLst>
          </p:cNvPr>
          <p:cNvSpPr/>
          <p:nvPr/>
        </p:nvSpPr>
        <p:spPr>
          <a:xfrm rot="10800000" flipH="1" flipV="1">
            <a:off x="2999659" y="3462757"/>
            <a:ext cx="2233935" cy="587497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platzhalter 2">
                <a:extLst>
                  <a:ext uri="{FF2B5EF4-FFF2-40B4-BE49-F238E27FC236}">
                    <a16:creationId xmlns:a16="http://schemas.microsoft.com/office/drawing/2014/main" id="{05EEC94D-7265-4CF9-A2A6-E2BDE7EE5C5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0,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𝑟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7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𝑝𝑖𝑣𝑜𝑡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[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] = 5 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5" name="Textplatzhalter 2">
                <a:extLst>
                  <a:ext uri="{FF2B5EF4-FFF2-40B4-BE49-F238E27FC236}">
                    <a16:creationId xmlns:a16="http://schemas.microsoft.com/office/drawing/2014/main" id="{05EEC94D-7265-4CF9-A2A6-E2BDE7EE5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52749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platzhalter 2">
                <a:extLst>
                  <a:ext uri="{FF2B5EF4-FFF2-40B4-BE49-F238E27FC236}">
                    <a16:creationId xmlns:a16="http://schemas.microsoft.com/office/drawing/2014/main" id="{A4C5FC73-7B18-4B18-BAB2-9DBEBAFD285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46475" y="3214602"/>
                <a:ext cx="2370921" cy="6504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de-AT" sz="32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de-AT" sz="320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groupChrPr>
                            <m:e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         </m:t>
                              </m:r>
                            </m:e>
                          </m:groupChr>
                        </m:e>
                        <m:lim>
                          <m:eqArr>
                            <m:eqArrPr>
                              <m:ctrlP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eqArrPr>
                            <m:e/>
                            <m:e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𝑎</m:t>
                              </m:r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[</m:t>
                              </m:r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𝑞</m:t>
                              </m:r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+1 …</m:t>
                              </m:r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𝑟</m:t>
                              </m:r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]</m:t>
                              </m:r>
                            </m:e>
                          </m:eqArr>
                        </m:lim>
                      </m:limLow>
                    </m:oMath>
                  </m:oMathPara>
                </a14:m>
                <a:endParaRPr lang="de-AT" sz="3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1" name="Textplatzhalter 2">
                <a:extLst>
                  <a:ext uri="{FF2B5EF4-FFF2-40B4-BE49-F238E27FC236}">
                    <a16:creationId xmlns:a16="http://schemas.microsoft.com/office/drawing/2014/main" id="{A4C5FC73-7B18-4B18-BAB2-9DBEBAFD2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6475" y="3214602"/>
                <a:ext cx="2370921" cy="650466"/>
              </a:xfrm>
              <a:prstGeom prst="rect">
                <a:avLst/>
              </a:prstGeom>
              <a:blipFill>
                <a:blip r:embed="rId3"/>
                <a:stretch>
                  <a:fillRect t="-49057" b="-5471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C27508A-FDE0-4F07-94D8-2863F5AC662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67152" y="3207674"/>
                <a:ext cx="2370921" cy="6504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de-AT" sz="32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de-AT" sz="320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groupChrPr>
                            <m:e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                        </m:t>
                              </m:r>
                            </m:e>
                          </m:groupChr>
                        </m:e>
                        <m:lim>
                          <m:eqArr>
                            <m:eqArrPr>
                              <m:ctrlP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eqArrPr>
                            <m:e/>
                            <m:e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𝑎</m:t>
                              </m:r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[</m:t>
                              </m:r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𝑝</m:t>
                              </m:r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 … </m:t>
                              </m:r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𝑞</m:t>
                              </m:r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−1]</m:t>
                              </m:r>
                            </m:e>
                          </m:eqArr>
                        </m:lim>
                      </m:limLow>
                    </m:oMath>
                  </m:oMathPara>
                </a14:m>
                <a:endParaRPr lang="de-AT" sz="3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C27508A-FDE0-4F07-94D8-2863F5AC66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7152" y="3207674"/>
                <a:ext cx="2370921" cy="650466"/>
              </a:xfrm>
              <a:prstGeom prst="rect">
                <a:avLst/>
              </a:prstGeom>
              <a:blipFill>
                <a:blip r:embed="rId4"/>
                <a:stretch>
                  <a:fillRect l="-3723" t="-51923" r="-3723" b="-5769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Partitioning the array</a:t>
            </a:r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29F5945E-6DD2-4B67-AB4D-0FA4B5BDD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499392"/>
              </p:ext>
            </p:extLst>
          </p:nvPr>
        </p:nvGraphicFramePr>
        <p:xfrm>
          <a:off x="2810679" y="307031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76043DAE-DEB0-4B89-A75D-AA1466B951C3}"/>
              </a:ext>
            </a:extLst>
          </p:cNvPr>
          <p:cNvGraphicFramePr>
            <a:graphicFrameLocks noGrp="1"/>
          </p:cNvGraphicFramePr>
          <p:nvPr/>
        </p:nvGraphicFramePr>
        <p:xfrm>
          <a:off x="2810679" y="269947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12" name="Rechteck 11">
            <a:extLst>
              <a:ext uri="{FF2B5EF4-FFF2-40B4-BE49-F238E27FC236}">
                <a16:creationId xmlns:a16="http://schemas.microsoft.com/office/drawing/2014/main" id="{651CD6E4-0C7C-43C3-AF95-BB74B082EE9C}"/>
              </a:ext>
            </a:extLst>
          </p:cNvPr>
          <p:cNvSpPr/>
          <p:nvPr/>
        </p:nvSpPr>
        <p:spPr>
          <a:xfrm>
            <a:off x="4893033" y="4191607"/>
            <a:ext cx="7200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 = j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C4A9BB1-F595-45C7-B141-10B99931E886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5253068" y="3489875"/>
            <a:ext cx="0" cy="7017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𝑟𝑒𝑡𝑢𝑟𝑛</m:t>
                      </m:r>
                      <m:r>
                        <a:rPr lang="de-AT" sz="18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a:rPr lang="de-AT" sz="18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𝑗</m:t>
                      </m:r>
                      <m:r>
                        <a:rPr lang="de-AT" sz="18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a:rPr lang="de-AT" sz="1800" i="1" dirty="0" err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𝑎𝑠</m:t>
                      </m:r>
                      <m:r>
                        <a:rPr lang="de-AT" sz="18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a:rPr lang="de-AT" sz="18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𝑞</m:t>
                      </m:r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blipFill>
                <a:blip r:embed="rId5"/>
                <a:stretch>
                  <a:fillRect b="-327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platzhalter 2">
                <a:extLst>
                  <a:ext uri="{FF2B5EF4-FFF2-40B4-BE49-F238E27FC236}">
                    <a16:creationId xmlns:a16="http://schemas.microsoft.com/office/drawing/2014/main" id="{B5CCF30C-618F-44ED-8CB9-9CA9AFAC1EB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0,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𝑟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7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𝑝𝑖𝑣𝑜𝑡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[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] = 5 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5" name="Textplatzhalter 2">
                <a:extLst>
                  <a:ext uri="{FF2B5EF4-FFF2-40B4-BE49-F238E27FC236}">
                    <a16:creationId xmlns:a16="http://schemas.microsoft.com/office/drawing/2014/main" id="{B5CCF30C-618F-44ED-8CB9-9CA9AFAC1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02336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B78A9-9A27-DA2D-E35C-9C18187BF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BA87F4-7AA5-D4E2-EEEF-87D61C414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4 regions during execution</a:t>
            </a:r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88AC264B-8215-CDF3-0416-DC52DD459C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0334721"/>
              </p:ext>
            </p:extLst>
          </p:nvPr>
        </p:nvGraphicFramePr>
        <p:xfrm>
          <a:off x="2810679" y="307031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B189146D-CA06-EDD4-B623-208AB34764ED}"/>
              </a:ext>
            </a:extLst>
          </p:cNvPr>
          <p:cNvGraphicFramePr>
            <a:graphicFrameLocks noGrp="1"/>
          </p:cNvGraphicFramePr>
          <p:nvPr/>
        </p:nvGraphicFramePr>
        <p:xfrm>
          <a:off x="2810679" y="269947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Rechteck 8">
            <a:extLst>
              <a:ext uri="{FF2B5EF4-FFF2-40B4-BE49-F238E27FC236}">
                <a16:creationId xmlns:a16="http://schemas.microsoft.com/office/drawing/2014/main" id="{9CEF5ED2-79D0-F6AC-4AC4-6B8B91DFFBCA}"/>
              </a:ext>
            </a:extLst>
          </p:cNvPr>
          <p:cNvSpPr/>
          <p:nvPr/>
        </p:nvSpPr>
        <p:spPr>
          <a:xfrm>
            <a:off x="4717836" y="3852743"/>
            <a:ext cx="26000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F990C6F-E72B-C16C-C32E-3AB41ECE571B}"/>
              </a:ext>
            </a:extLst>
          </p:cNvPr>
          <p:cNvCxnSpPr/>
          <p:nvPr/>
        </p:nvCxnSpPr>
        <p:spPr>
          <a:xfrm flipV="1">
            <a:off x="4847839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92203342-1957-54CB-0EE8-5A0D1642EA53}"/>
              </a:ext>
            </a:extLst>
          </p:cNvPr>
          <p:cNvSpPr/>
          <p:nvPr/>
        </p:nvSpPr>
        <p:spPr>
          <a:xfrm>
            <a:off x="5653969" y="3852743"/>
            <a:ext cx="2632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EF24FE5E-4590-77A6-C838-52C186268F3F}"/>
              </a:ext>
            </a:extLst>
          </p:cNvPr>
          <p:cNvCxnSpPr/>
          <p:nvPr/>
        </p:nvCxnSpPr>
        <p:spPr>
          <a:xfrm flipV="1">
            <a:off x="5785575" y="3532907"/>
            <a:ext cx="0" cy="3198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39107939-40D8-8380-0B99-E6E71ABBE43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𝑠𝑡𝑒𝑝</m:t>
                      </m:r>
                      <m:r>
                        <a:rPr lang="de-AT" sz="1800" i="1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4</m:t>
                      </m:r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4" name="Textplatzhalter 2">
                <a:extLst>
                  <a:ext uri="{FF2B5EF4-FFF2-40B4-BE49-F238E27FC236}">
                    <a16:creationId xmlns:a16="http://schemas.microsoft.com/office/drawing/2014/main" id="{C3958DD7-9FF9-4728-B1DA-DEAB0961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2216" y="2806402"/>
                <a:ext cx="1866452" cy="370840"/>
              </a:xfrm>
              <a:prstGeom prst="rect">
                <a:avLst/>
              </a:prstGeom>
              <a:blipFill>
                <a:blip r:embed="rId3"/>
                <a:stretch>
                  <a:fillRect b="-163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platzhalter 2">
                <a:extLst>
                  <a:ext uri="{FF2B5EF4-FFF2-40B4-BE49-F238E27FC236}">
                    <a16:creationId xmlns:a16="http://schemas.microsoft.com/office/drawing/2014/main" id="{BC5412AD-0A3D-DBC1-E605-3A2CCFC5366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0,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𝑟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7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𝑝𝑖𝑣𝑜𝑡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= 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[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𝑝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] = 5 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6" name="Textplatzhalter 2">
                <a:extLst>
                  <a:ext uri="{FF2B5EF4-FFF2-40B4-BE49-F238E27FC236}">
                    <a16:creationId xmlns:a16="http://schemas.microsoft.com/office/drawing/2014/main" id="{ED1BB469-B254-4F92-B096-177A5F360A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155" y="1368057"/>
                <a:ext cx="8229300" cy="9198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7068260-EBCF-EA49-4496-D9B14928DC9F}"/>
                  </a:ext>
                </a:extLst>
              </p:cNvPr>
              <p:cNvSpPr txBox="1"/>
              <p:nvPr/>
            </p:nvSpPr>
            <p:spPr>
              <a:xfrm>
                <a:off x="5936361" y="2309685"/>
                <a:ext cx="996363" cy="307777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𝑝𝑖𝑣𝑜𝑡</m:t>
                      </m:r>
                    </m:oMath>
                  </m:oMathPara>
                </a14:m>
                <a:endParaRPr lang="en-AT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7068260-EBCF-EA49-4496-D9B14928D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361" y="2309685"/>
                <a:ext cx="996363" cy="307777"/>
              </a:xfrm>
              <a:prstGeom prst="rect">
                <a:avLst/>
              </a:prstGeom>
              <a:blipFill>
                <a:blip r:embed="rId5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0BF7161-B831-A579-9BE3-63CD24ECBD1D}"/>
                  </a:ext>
                </a:extLst>
              </p:cNvPr>
              <p:cNvSpPr txBox="1"/>
              <p:nvPr/>
            </p:nvSpPr>
            <p:spPr>
              <a:xfrm>
                <a:off x="4977844" y="2309685"/>
                <a:ext cx="996362" cy="307777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𝑝𝑖𝑣𝑜𝑡</m:t>
                      </m:r>
                    </m:oMath>
                  </m:oMathPara>
                </a14:m>
                <a:endParaRPr lang="en-AT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0BF7161-B831-A579-9BE3-63CD24ECB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7844" y="2309685"/>
                <a:ext cx="996362" cy="307777"/>
              </a:xfrm>
              <a:prstGeom prst="rect">
                <a:avLst/>
              </a:prstGeom>
              <a:blipFill>
                <a:blip r:embed="rId6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0973068E-CB90-D441-BA7C-99AF5EBCF60D}"/>
              </a:ext>
            </a:extLst>
          </p:cNvPr>
          <p:cNvSpPr txBox="1"/>
          <p:nvPr/>
        </p:nvSpPr>
        <p:spPr>
          <a:xfrm>
            <a:off x="3670641" y="2309685"/>
            <a:ext cx="901209" cy="307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AT" dirty="0"/>
              <a:t>unknown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964306B-D166-ABDF-D161-67D5C3D43DEA}"/>
                  </a:ext>
                </a:extLst>
              </p:cNvPr>
              <p:cNvSpPr txBox="1"/>
              <p:nvPr/>
            </p:nvSpPr>
            <p:spPr>
              <a:xfrm>
                <a:off x="2658231" y="2309685"/>
                <a:ext cx="660309" cy="30777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𝑝𝑖𝑣𝑜𝑡</m:t>
                      </m:r>
                    </m:oMath>
                  </m:oMathPara>
                </a14:m>
                <a:endParaRPr lang="en-AT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964306B-D166-ABDF-D161-67D5C3D43D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8231" y="2309685"/>
                <a:ext cx="660309" cy="307777"/>
              </a:xfrm>
              <a:prstGeom prst="rect">
                <a:avLst/>
              </a:prstGeom>
              <a:blipFill>
                <a:blip r:embed="rId7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67958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Quicksort: Partition</a:t>
            </a: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8F2C2A12-C5B8-4044-847D-FDC4037DD3B8}"/>
              </a:ext>
            </a:extLst>
          </p:cNvPr>
          <p:cNvSpPr/>
          <p:nvPr/>
        </p:nvSpPr>
        <p:spPr>
          <a:xfrm>
            <a:off x="654240" y="1615334"/>
            <a:ext cx="7835519" cy="3627332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partition(a, p, r):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pivot = a[p] # the pivot element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j = r # index of first known element greater than pivot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for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in range(r, p, -1):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if a[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] &gt; pivot: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if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&lt; j: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    a[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], a[j] = a[j], a[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j -= 1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if p &lt; j: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a[p], a[j] = a[j], a[p] # put pivot in place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return j</a:t>
            </a:r>
          </a:p>
        </p:txBody>
      </p:sp>
    </p:spTree>
    <p:extLst>
      <p:ext uri="{BB962C8B-B14F-4D97-AF65-F5344CB8AC3E}">
        <p14:creationId xmlns:p14="http://schemas.microsoft.com/office/powerpoint/2010/main" val="27684115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6216"/>
            <a:ext cx="8229600" cy="1717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6600"/>
            <a:ext cx="8229300" cy="1144800"/>
          </a:xfrm>
        </p:spPr>
        <p:txBody>
          <a:bodyPr/>
          <a:lstStyle/>
          <a:p>
            <a:pPr algn="ctr"/>
            <a:r>
              <a:rPr lang="en-US" sz="44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en-US" sz="4400" b="1" noProof="0" dirty="0"/>
          </a:p>
        </p:txBody>
      </p:sp>
    </p:spTree>
    <p:extLst>
      <p:ext uri="{BB962C8B-B14F-4D97-AF65-F5344CB8AC3E}">
        <p14:creationId xmlns:p14="http://schemas.microsoft.com/office/powerpoint/2010/main" val="10386798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2">
                <a:extLst>
                  <a:ext uri="{FF2B5EF4-FFF2-40B4-BE49-F238E27FC236}">
                    <a16:creationId xmlns:a16="http://schemas.microsoft.com/office/drawing/2014/main" id="{B1AB2DE2-BFB4-403B-9976-58C0812A00AF}"/>
                  </a:ext>
                </a:extLst>
              </p:cNvPr>
              <p:cNvSpPr txBox="1"/>
              <p:nvPr/>
            </p:nvSpPr>
            <p:spPr>
              <a:xfrm>
                <a:off x="457200" y="1605600"/>
                <a:ext cx="8229600" cy="2862322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lang="en-US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Task</a:t>
                </a:r>
                <a:r>
                  <a:rPr kumimoji="0" lang="en-US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 </a:t>
                </a:r>
                <a:r>
                  <a:rPr lang="en-US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  <a:r>
                  <a:rPr kumimoji="0" lang="en-US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: </a:t>
                </a:r>
                <a:r>
                  <a:rPr kumimoji="0" lang="en-US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Illustrate the operation of partition on the array</a:t>
                </a:r>
                <a:endParaRPr lang="en-US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kumimoji="0" lang="en-US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(</a:t>
                </a:r>
                <a:r>
                  <a:rPr kumimoji="0" lang="en-US" sz="180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13</a:t>
                </a:r>
                <a:r>
                  <a:rPr kumimoji="0" lang="en-US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, 19, 9, 5, 12, 8, 7, 4, 11, 2, 6, 21)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lang="en-US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Task 2: </a:t>
                </a: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What value of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does partition return when all elements in the array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[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… 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] 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have the same value?</a:t>
                </a:r>
              </a:p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lang="en-US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Task 3: </a:t>
                </a: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What value of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does partition return when elements are sorted in the ascending order?</a:t>
                </a:r>
              </a:p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lang="en-US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Task 4: </a:t>
                </a: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How would you modify quicksort to sort in descending order?</a:t>
                </a:r>
                <a:endParaRPr lang="en-US" sz="1800" dirty="0">
                  <a:latin typeface="Cambria Math" panose="02040503050406030204" pitchFamily="18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Textfeld 2">
                <a:extLst>
                  <a:ext uri="{FF2B5EF4-FFF2-40B4-BE49-F238E27FC236}">
                    <a16:creationId xmlns:a16="http://schemas.microsoft.com/office/drawing/2014/main" id="{B1AB2DE2-BFB4-403B-9976-58C0812A0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605600"/>
                <a:ext cx="8229600" cy="2862322"/>
              </a:xfrm>
              <a:prstGeom prst="rect">
                <a:avLst/>
              </a:prstGeom>
              <a:blipFill>
                <a:blip r:embed="rId3"/>
                <a:stretch>
                  <a:fillRect l="-593" t="-1064" b="-2340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49932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6216"/>
            <a:ext cx="8229600" cy="1717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6600"/>
            <a:ext cx="8229300" cy="1144800"/>
          </a:xfrm>
        </p:spPr>
        <p:txBody>
          <a:bodyPr/>
          <a:lstStyle/>
          <a:p>
            <a:pPr algn="ctr"/>
            <a:r>
              <a:rPr lang="en-US" sz="44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Complexity of quicksort</a:t>
            </a:r>
            <a:endParaRPr lang="en-US" sz="4400" b="1" noProof="0" dirty="0"/>
          </a:p>
        </p:txBody>
      </p:sp>
    </p:spTree>
    <p:extLst>
      <p:ext uri="{BB962C8B-B14F-4D97-AF65-F5344CB8AC3E}">
        <p14:creationId xmlns:p14="http://schemas.microsoft.com/office/powerpoint/2010/main" val="8912094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Complexity of quicksort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platzhalter 2">
                <a:extLst>
                  <a:ext uri="{FF2B5EF4-FFF2-40B4-BE49-F238E27FC236}">
                    <a16:creationId xmlns:a16="http://schemas.microsoft.com/office/drawing/2014/main" id="{3C93FB07-64DE-4966-936D-5C84BF8BABB6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653135"/>
                <a:ext cx="8229300" cy="2627920"/>
              </a:xfrm>
            </p:spPr>
            <p:txBody>
              <a:bodyPr/>
              <a:lstStyle/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Partitioning is </a:t>
                </a:r>
                <a14:m>
                  <m:oMath xmlns:m="http://schemas.openxmlformats.org/officeDocument/2006/math"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i.e., in the worst case we need to go through all elements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 complexity of the quicksort is:</a:t>
                </a: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noProof="0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𝑂</m:t>
                      </m:r>
                      <m:r>
                        <a:rPr lang="en-US" sz="1800" i="1" noProof="0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(</m:t>
                      </m:r>
                      <m:r>
                        <a:rPr lang="de-DE" sz="1800" b="0" i="1" noProof="0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𝑛</m:t>
                      </m:r>
                      <m:r>
                        <a:rPr lang="de-DE" sz="1800" b="0" i="1" noProof="0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∗ #</m:t>
                      </m:r>
                      <m:r>
                        <a:rPr lang="en-US" sz="1800" i="1" noProof="0" dirty="0" err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𝑟𝑒𝑐𝑢𝑟𝑠𝑖𝑣𝑒</m:t>
                      </m:r>
                      <m:r>
                        <a:rPr lang="en-US" sz="1800" i="1" noProof="0" dirty="0" err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_</m:t>
                      </m:r>
                      <m:r>
                        <a:rPr lang="en-US" sz="1800" i="1" noProof="0" dirty="0" err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𝑐𝑎𝑙𝑙𝑠</m:t>
                      </m:r>
                      <m:r>
                        <a:rPr lang="en-US" sz="1800" i="1" noProof="0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)</m:t>
                      </m:r>
                    </m:oMath>
                  </m:oMathPara>
                </a14:m>
                <a:endParaRPr lang="en-US" sz="180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Number of recursive calls is equivalent to the height of the recursion tree </a:t>
                </a:r>
                <a14:m>
                  <m:oMath xmlns:m="http://schemas.openxmlformats.org/officeDocument/2006/math"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h</m:t>
                    </m:r>
                  </m:oMath>
                </a14:m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noProof="0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𝑂</m:t>
                      </m:r>
                      <m:r>
                        <a:rPr lang="en-US" sz="1800" i="1" noProof="0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(</m:t>
                      </m:r>
                      <m:r>
                        <a:rPr lang="en-US" sz="1800" i="1" noProof="0" dirty="0" err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𝑛</m:t>
                      </m:r>
                      <m:r>
                        <a:rPr lang="de-DE" sz="1800" b="0" i="1" noProof="0" dirty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h</m:t>
                      </m:r>
                      <m:r>
                        <a:rPr lang="en-US" sz="1800" i="1" noProof="0" dirty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)</m:t>
                      </m:r>
                    </m:oMath>
                  </m:oMathPara>
                </a14:m>
                <a:endParaRPr lang="en-US" sz="180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endParaRPr lang="en-US" sz="1800" b="1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" name="Textplatzhalter 2">
                <a:extLst>
                  <a:ext uri="{FF2B5EF4-FFF2-40B4-BE49-F238E27FC236}">
                    <a16:creationId xmlns:a16="http://schemas.microsoft.com/office/drawing/2014/main" id="{3C93FB07-64DE-4966-936D-5C84BF8BAB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53135"/>
                <a:ext cx="8229300" cy="2627920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26431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llipse 4">
            <a:extLst>
              <a:ext uri="{FF2B5EF4-FFF2-40B4-BE49-F238E27FC236}">
                <a16:creationId xmlns:a16="http://schemas.microsoft.com/office/drawing/2014/main" id="{76314C63-9824-4B5B-AF07-A257852AF4FD}"/>
              </a:ext>
            </a:extLst>
          </p:cNvPr>
          <p:cNvSpPr>
            <a:spLocks noChangeAspect="1"/>
          </p:cNvSpPr>
          <p:nvPr/>
        </p:nvSpPr>
        <p:spPr>
          <a:xfrm>
            <a:off x="4331360" y="15708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F2C242C1-4D9C-4C41-98B6-81C9B1301F6C}"/>
              </a:ext>
            </a:extLst>
          </p:cNvPr>
          <p:cNvSpPr>
            <a:spLocks noChangeAspect="1"/>
          </p:cNvSpPr>
          <p:nvPr/>
        </p:nvSpPr>
        <p:spPr>
          <a:xfrm>
            <a:off x="2531360" y="22908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5A6A383-6DE1-424E-8688-EC3C18FCFBDC}"/>
              </a:ext>
            </a:extLst>
          </p:cNvPr>
          <p:cNvSpPr>
            <a:spLocks noChangeAspect="1"/>
          </p:cNvSpPr>
          <p:nvPr/>
        </p:nvSpPr>
        <p:spPr>
          <a:xfrm>
            <a:off x="6131360" y="22908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8CE4888A-1AE0-4D1B-9501-A5FFEEBE2F9D}"/>
              </a:ext>
            </a:extLst>
          </p:cNvPr>
          <p:cNvSpPr>
            <a:spLocks noChangeAspect="1"/>
          </p:cNvSpPr>
          <p:nvPr/>
        </p:nvSpPr>
        <p:spPr>
          <a:xfrm>
            <a:off x="1451520" y="30108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1C71442B-4876-404C-97E4-02BBCD902007}"/>
              </a:ext>
            </a:extLst>
          </p:cNvPr>
          <p:cNvSpPr>
            <a:spLocks noChangeAspect="1"/>
          </p:cNvSpPr>
          <p:nvPr/>
        </p:nvSpPr>
        <p:spPr>
          <a:xfrm>
            <a:off x="3611360" y="30108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C88A0FC0-C4C3-41BC-B391-EE159FB1A72B}"/>
              </a:ext>
            </a:extLst>
          </p:cNvPr>
          <p:cNvSpPr>
            <a:spLocks noChangeAspect="1"/>
          </p:cNvSpPr>
          <p:nvPr/>
        </p:nvSpPr>
        <p:spPr>
          <a:xfrm>
            <a:off x="5051360" y="30108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7F43EA6C-E5AC-4B2E-A2A3-F1B0D97F459D}"/>
              </a:ext>
            </a:extLst>
          </p:cNvPr>
          <p:cNvSpPr>
            <a:spLocks noChangeAspect="1"/>
          </p:cNvSpPr>
          <p:nvPr/>
        </p:nvSpPr>
        <p:spPr>
          <a:xfrm>
            <a:off x="7211360" y="30108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21FC4BB9-C4AA-47C2-B5A5-BE7FF92DB746}"/>
              </a:ext>
            </a:extLst>
          </p:cNvPr>
          <p:cNvSpPr>
            <a:spLocks noChangeAspect="1"/>
          </p:cNvSpPr>
          <p:nvPr/>
        </p:nvSpPr>
        <p:spPr>
          <a:xfrm>
            <a:off x="731520" y="37308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11152CD3-585E-4C8D-9DE9-E1E79FA1C0F8}"/>
              </a:ext>
            </a:extLst>
          </p:cNvPr>
          <p:cNvSpPr>
            <a:spLocks noChangeAspect="1"/>
          </p:cNvSpPr>
          <p:nvPr/>
        </p:nvSpPr>
        <p:spPr>
          <a:xfrm>
            <a:off x="2171520" y="37308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7B6EA091-AFAF-49B7-B837-87B4550E234B}"/>
              </a:ext>
            </a:extLst>
          </p:cNvPr>
          <p:cNvSpPr>
            <a:spLocks noChangeAspect="1"/>
          </p:cNvSpPr>
          <p:nvPr/>
        </p:nvSpPr>
        <p:spPr>
          <a:xfrm>
            <a:off x="2891360" y="37308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425CCEB-64BD-479F-A5D2-4360DD72CC9D}"/>
                  </a:ext>
                </a:extLst>
              </p:cNvPr>
              <p:cNvSpPr/>
              <p:nvPr/>
            </p:nvSpPr>
            <p:spPr>
              <a:xfrm>
                <a:off x="4423267" y="1598302"/>
                <a:ext cx="45236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425CCEB-64BD-479F-A5D2-4360DD72CC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3267" y="1598302"/>
                <a:ext cx="452368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8FAE7ADB-08BB-4BB7-898A-F9BC295ED5A1}"/>
              </a:ext>
            </a:extLst>
          </p:cNvPr>
          <p:cNvCxnSpPr>
            <a:cxnSpLocks noChangeAspect="1"/>
            <a:stCxn id="5" idx="3"/>
            <a:endCxn id="9" idx="7"/>
          </p:cNvCxnSpPr>
          <p:nvPr/>
        </p:nvCxnSpPr>
        <p:spPr>
          <a:xfrm flipH="1">
            <a:off x="2992279" y="2031719"/>
            <a:ext cx="141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136AA771-6456-4E17-B948-227956EF2521}"/>
              </a:ext>
            </a:extLst>
          </p:cNvPr>
          <p:cNvCxnSpPr>
            <a:cxnSpLocks noChangeAspect="1"/>
            <a:stCxn id="5" idx="5"/>
            <a:endCxn id="11" idx="1"/>
          </p:cNvCxnSpPr>
          <p:nvPr/>
        </p:nvCxnSpPr>
        <p:spPr>
          <a:xfrm>
            <a:off x="4792279" y="2031719"/>
            <a:ext cx="141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D3E18822-FA59-4B1A-B248-33B9670B5158}"/>
              </a:ext>
            </a:extLst>
          </p:cNvPr>
          <p:cNvCxnSpPr>
            <a:cxnSpLocks noChangeAspect="1"/>
            <a:stCxn id="9" idx="3"/>
            <a:endCxn id="12" idx="7"/>
          </p:cNvCxnSpPr>
          <p:nvPr/>
        </p:nvCxnSpPr>
        <p:spPr>
          <a:xfrm flipH="1">
            <a:off x="1912439" y="2751719"/>
            <a:ext cx="69800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68D1951E-4D4C-4B73-9327-5B15618FD8FA}"/>
              </a:ext>
            </a:extLst>
          </p:cNvPr>
          <p:cNvCxnSpPr>
            <a:cxnSpLocks noChangeAspect="1"/>
            <a:stCxn id="9" idx="5"/>
            <a:endCxn id="13" idx="1"/>
          </p:cNvCxnSpPr>
          <p:nvPr/>
        </p:nvCxnSpPr>
        <p:spPr>
          <a:xfrm>
            <a:off x="2992279" y="2751719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7FFAB9FE-7191-488A-BBFF-1AB3DE387E39}"/>
              </a:ext>
            </a:extLst>
          </p:cNvPr>
          <p:cNvCxnSpPr>
            <a:cxnSpLocks noChangeAspect="1"/>
            <a:stCxn id="12" idx="3"/>
            <a:endCxn id="16" idx="7"/>
          </p:cNvCxnSpPr>
          <p:nvPr/>
        </p:nvCxnSpPr>
        <p:spPr>
          <a:xfrm flipH="1">
            <a:off x="1192439" y="3471719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31F27D5D-1535-431E-909F-5C77AEAA4B86}"/>
              </a:ext>
            </a:extLst>
          </p:cNvPr>
          <p:cNvCxnSpPr>
            <a:cxnSpLocks noChangeAspect="1"/>
            <a:stCxn id="12" idx="5"/>
            <a:endCxn id="17" idx="1"/>
          </p:cNvCxnSpPr>
          <p:nvPr/>
        </p:nvCxnSpPr>
        <p:spPr>
          <a:xfrm>
            <a:off x="1912439" y="3471719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948A29A-9A52-446A-8815-6126B9B0DD1B}"/>
              </a:ext>
            </a:extLst>
          </p:cNvPr>
          <p:cNvCxnSpPr>
            <a:stCxn id="13" idx="3"/>
            <a:endCxn id="18" idx="7"/>
          </p:cNvCxnSpPr>
          <p:nvPr/>
        </p:nvCxnSpPr>
        <p:spPr>
          <a:xfrm flipH="1">
            <a:off x="3352279" y="3471719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2FEBAD28-6B68-4D00-BE1F-828EBAAAB941}"/>
              </a:ext>
            </a:extLst>
          </p:cNvPr>
          <p:cNvCxnSpPr>
            <a:cxnSpLocks noChangeAspect="1"/>
            <a:stCxn id="11" idx="3"/>
            <a:endCxn id="14" idx="7"/>
          </p:cNvCxnSpPr>
          <p:nvPr/>
        </p:nvCxnSpPr>
        <p:spPr>
          <a:xfrm flipH="1">
            <a:off x="5512279" y="2751719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948256B9-48B5-4406-944C-132C3B4FE49A}"/>
              </a:ext>
            </a:extLst>
          </p:cNvPr>
          <p:cNvCxnSpPr>
            <a:cxnSpLocks noChangeAspect="1"/>
            <a:stCxn id="11" idx="5"/>
            <a:endCxn id="15" idx="1"/>
          </p:cNvCxnSpPr>
          <p:nvPr/>
        </p:nvCxnSpPr>
        <p:spPr>
          <a:xfrm>
            <a:off x="6592279" y="2751719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itel 1">
            <a:extLst>
              <a:ext uri="{FF2B5EF4-FFF2-40B4-BE49-F238E27FC236}">
                <a16:creationId xmlns:a16="http://schemas.microsoft.com/office/drawing/2014/main" id="{48FBEA2E-031D-425A-BC27-A33F024FBE0E}"/>
              </a:ext>
            </a:extLst>
          </p:cNvPr>
          <p:cNvSpPr txBox="1">
            <a:spLocks/>
          </p:cNvSpPr>
          <p:nvPr/>
        </p:nvSpPr>
        <p:spPr>
          <a:xfrm>
            <a:off x="609600" y="4260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endParaRPr lang="en-GB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432D69F1-9D62-4807-8F68-1E153F2E878E}"/>
              </a:ext>
            </a:extLst>
          </p:cNvPr>
          <p:cNvCxnSpPr>
            <a:cxnSpLocks/>
          </p:cNvCxnSpPr>
          <p:nvPr/>
        </p:nvCxnSpPr>
        <p:spPr>
          <a:xfrm>
            <a:off x="194789" y="1671220"/>
            <a:ext cx="0" cy="415598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61BF7C3B-5D93-4D13-9636-03DFAFBD0E07}"/>
                  </a:ext>
                </a:extLst>
              </p:cNvPr>
              <p:cNvSpPr/>
              <p:nvPr/>
            </p:nvSpPr>
            <p:spPr>
              <a:xfrm>
                <a:off x="283306" y="1545581"/>
                <a:ext cx="44755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𝒉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61BF7C3B-5D93-4D13-9636-03DFAFBD0E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306" y="1545581"/>
                <a:ext cx="447558" cy="461665"/>
              </a:xfrm>
              <a:prstGeom prst="rect">
                <a:avLst/>
              </a:prstGeom>
              <a:blipFill>
                <a:blip r:embed="rId4"/>
                <a:stretch>
                  <a:fillRect l="-4054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083E662B-5DB8-477C-B3EA-80E975849C61}"/>
              </a:ext>
            </a:extLst>
          </p:cNvPr>
          <p:cNvCxnSpPr>
            <a:cxnSpLocks/>
          </p:cNvCxnSpPr>
          <p:nvPr/>
        </p:nvCxnSpPr>
        <p:spPr>
          <a:xfrm>
            <a:off x="6776720" y="2489200"/>
            <a:ext cx="1595120" cy="0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698F5255-D063-47BF-8CBA-D76CDC338B71}"/>
              </a:ext>
            </a:extLst>
          </p:cNvPr>
          <p:cNvCxnSpPr>
            <a:cxnSpLocks/>
          </p:cNvCxnSpPr>
          <p:nvPr/>
        </p:nvCxnSpPr>
        <p:spPr>
          <a:xfrm>
            <a:off x="3621760" y="4000800"/>
            <a:ext cx="4750080" cy="0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2E1D0499-937B-4AD6-8DDA-57DA4A6D49E9}"/>
                  </a:ext>
                </a:extLst>
              </p:cNvPr>
              <p:cNvSpPr/>
              <p:nvPr/>
            </p:nvSpPr>
            <p:spPr>
              <a:xfrm>
                <a:off x="8437098" y="1598301"/>
                <a:ext cx="519723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2E1D0499-937B-4AD6-8DDA-57DA4A6D49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7098" y="1598301"/>
                <a:ext cx="51972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C51F681F-231F-4BD4-8F02-B37FB9BFD9E4}"/>
              </a:ext>
            </a:extLst>
          </p:cNvPr>
          <p:cNvCxnSpPr>
            <a:cxnSpLocks/>
          </p:cNvCxnSpPr>
          <p:nvPr/>
        </p:nvCxnSpPr>
        <p:spPr>
          <a:xfrm>
            <a:off x="7904480" y="3250320"/>
            <a:ext cx="467360" cy="0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4F9EAC37-11F2-4AB2-9B04-9736D50307EF}"/>
              </a:ext>
            </a:extLst>
          </p:cNvPr>
          <p:cNvCxnSpPr>
            <a:cxnSpLocks/>
          </p:cNvCxnSpPr>
          <p:nvPr/>
        </p:nvCxnSpPr>
        <p:spPr>
          <a:xfrm>
            <a:off x="4971600" y="1801632"/>
            <a:ext cx="3400240" cy="0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Rechteck 97">
                <a:extLst>
                  <a:ext uri="{FF2B5EF4-FFF2-40B4-BE49-F238E27FC236}">
                    <a16:creationId xmlns:a16="http://schemas.microsoft.com/office/drawing/2014/main" id="{4AF0683C-B193-4AF9-BA5C-C19C50A1CDD8}"/>
                  </a:ext>
                </a:extLst>
              </p:cNvPr>
              <p:cNvSpPr/>
              <p:nvPr/>
            </p:nvSpPr>
            <p:spPr>
              <a:xfrm>
                <a:off x="8437098" y="2258367"/>
                <a:ext cx="519723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98" name="Rechteck 97">
                <a:extLst>
                  <a:ext uri="{FF2B5EF4-FFF2-40B4-BE49-F238E27FC236}">
                    <a16:creationId xmlns:a16="http://schemas.microsoft.com/office/drawing/2014/main" id="{4AF0683C-B193-4AF9-BA5C-C19C50A1CD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7098" y="2258367"/>
                <a:ext cx="519723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21FF6601-7E56-4649-8B82-4560FA78BB8D}"/>
                  </a:ext>
                </a:extLst>
              </p:cNvPr>
              <p:cNvSpPr/>
              <p:nvPr/>
            </p:nvSpPr>
            <p:spPr>
              <a:xfrm>
                <a:off x="8437098" y="3025090"/>
                <a:ext cx="519723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21FF6601-7E56-4649-8B82-4560FA78BB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7098" y="3025090"/>
                <a:ext cx="519723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Rechteck 99">
                <a:extLst>
                  <a:ext uri="{FF2B5EF4-FFF2-40B4-BE49-F238E27FC236}">
                    <a16:creationId xmlns:a16="http://schemas.microsoft.com/office/drawing/2014/main" id="{528F95F1-F5B2-4FF4-B2F6-EBB8D16B4E35}"/>
                  </a:ext>
                </a:extLst>
              </p:cNvPr>
              <p:cNvSpPr/>
              <p:nvPr/>
            </p:nvSpPr>
            <p:spPr>
              <a:xfrm>
                <a:off x="8457417" y="3730800"/>
                <a:ext cx="519723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0" name="Rechteck 99">
                <a:extLst>
                  <a:ext uri="{FF2B5EF4-FFF2-40B4-BE49-F238E27FC236}">
                    <a16:creationId xmlns:a16="http://schemas.microsoft.com/office/drawing/2014/main" id="{528F95F1-F5B2-4FF4-B2F6-EBB8D16B4E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7417" y="3730800"/>
                <a:ext cx="519723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Rechteck 100">
                <a:extLst>
                  <a:ext uri="{FF2B5EF4-FFF2-40B4-BE49-F238E27FC236}">
                    <a16:creationId xmlns:a16="http://schemas.microsoft.com/office/drawing/2014/main" id="{5FFE39AC-E24D-4F78-BF7A-18CBA0D14899}"/>
                  </a:ext>
                </a:extLst>
              </p:cNvPr>
              <p:cNvSpPr/>
              <p:nvPr/>
            </p:nvSpPr>
            <p:spPr>
              <a:xfrm>
                <a:off x="2484375" y="2322309"/>
                <a:ext cx="734432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𝒏</m:t>
                          </m:r>
                        </m:e>
                        <m:sub>
                          <m: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𝟐𝟏</m:t>
                          </m:r>
                        </m:sub>
                      </m:sSub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1" name="Rechteck 100">
                <a:extLst>
                  <a:ext uri="{FF2B5EF4-FFF2-40B4-BE49-F238E27FC236}">
                    <a16:creationId xmlns:a16="http://schemas.microsoft.com/office/drawing/2014/main" id="{5FFE39AC-E24D-4F78-BF7A-18CBA0D148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4375" y="2322309"/>
                <a:ext cx="734432" cy="461665"/>
              </a:xfrm>
              <a:prstGeom prst="rect">
                <a:avLst/>
              </a:prstGeom>
              <a:blipFill>
                <a:blip r:embed="rId9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3E4B0EA7-4F1D-4291-B68A-A3FACE161371}"/>
                  </a:ext>
                </a:extLst>
              </p:cNvPr>
              <p:cNvSpPr/>
              <p:nvPr/>
            </p:nvSpPr>
            <p:spPr>
              <a:xfrm>
                <a:off x="6077960" y="2321279"/>
                <a:ext cx="734432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de-AT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𝒏</m:t>
                          </m:r>
                        </m:e>
                        <m:sub>
                          <m: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𝟐𝟐</m:t>
                          </m:r>
                        </m:sub>
                      </m:sSub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3E4B0EA7-4F1D-4291-B68A-A3FACE1613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960" y="2321279"/>
                <a:ext cx="734432" cy="461665"/>
              </a:xfrm>
              <a:prstGeom prst="rect">
                <a:avLst/>
              </a:prstGeom>
              <a:blipFill>
                <a:blip r:embed="rId10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Rechteck 102">
                <a:extLst>
                  <a:ext uri="{FF2B5EF4-FFF2-40B4-BE49-F238E27FC236}">
                    <a16:creationId xmlns:a16="http://schemas.microsoft.com/office/drawing/2014/main" id="{98744B79-845A-498B-8FBC-FF884AEE55AF}"/>
                  </a:ext>
                </a:extLst>
              </p:cNvPr>
              <p:cNvSpPr/>
              <p:nvPr/>
            </p:nvSpPr>
            <p:spPr>
              <a:xfrm>
                <a:off x="1416909" y="3019487"/>
                <a:ext cx="734432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de-AT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𝒏</m:t>
                          </m:r>
                        </m:e>
                        <m:sub>
                          <m: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𝟑</m:t>
                          </m:r>
                          <m:r>
                            <a:rPr lang="de-AT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3" name="Rechteck 102">
                <a:extLst>
                  <a:ext uri="{FF2B5EF4-FFF2-40B4-BE49-F238E27FC236}">
                    <a16:creationId xmlns:a16="http://schemas.microsoft.com/office/drawing/2014/main" id="{98744B79-845A-498B-8FBC-FF884AEE55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909" y="3019487"/>
                <a:ext cx="734432" cy="461665"/>
              </a:xfrm>
              <a:prstGeom prst="rect">
                <a:avLst/>
              </a:prstGeom>
              <a:blipFill>
                <a:blip r:embed="rId11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Rechteck 103">
                <a:extLst>
                  <a:ext uri="{FF2B5EF4-FFF2-40B4-BE49-F238E27FC236}">
                    <a16:creationId xmlns:a16="http://schemas.microsoft.com/office/drawing/2014/main" id="{F34E07A8-3DFE-4BF5-8736-79A6F942C04E}"/>
                  </a:ext>
                </a:extLst>
              </p:cNvPr>
              <p:cNvSpPr/>
              <p:nvPr/>
            </p:nvSpPr>
            <p:spPr>
              <a:xfrm>
                <a:off x="3571087" y="3019487"/>
                <a:ext cx="734432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de-AT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𝒏</m:t>
                          </m:r>
                        </m:e>
                        <m:sub>
                          <m: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𝟑𝟐</m:t>
                          </m:r>
                        </m:sub>
                      </m:sSub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4" name="Rechteck 103">
                <a:extLst>
                  <a:ext uri="{FF2B5EF4-FFF2-40B4-BE49-F238E27FC236}">
                    <a16:creationId xmlns:a16="http://schemas.microsoft.com/office/drawing/2014/main" id="{F34E07A8-3DFE-4BF5-8736-79A6F942C0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087" y="3019487"/>
                <a:ext cx="734432" cy="461665"/>
              </a:xfrm>
              <a:prstGeom prst="rect">
                <a:avLst/>
              </a:prstGeom>
              <a:blipFill>
                <a:blip r:embed="rId12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Rechteck 104">
                <a:extLst>
                  <a:ext uri="{FF2B5EF4-FFF2-40B4-BE49-F238E27FC236}">
                    <a16:creationId xmlns:a16="http://schemas.microsoft.com/office/drawing/2014/main" id="{69315C13-01AB-4387-9E12-368D1576085D}"/>
                  </a:ext>
                </a:extLst>
              </p:cNvPr>
              <p:cNvSpPr/>
              <p:nvPr/>
            </p:nvSpPr>
            <p:spPr>
              <a:xfrm>
                <a:off x="4978311" y="3033686"/>
                <a:ext cx="734432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de-AT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𝒏</m:t>
                          </m:r>
                        </m:e>
                        <m:sub>
                          <m: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𝟑𝟑</m:t>
                          </m:r>
                        </m:sub>
                      </m:sSub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5" name="Rechteck 104">
                <a:extLst>
                  <a:ext uri="{FF2B5EF4-FFF2-40B4-BE49-F238E27FC236}">
                    <a16:creationId xmlns:a16="http://schemas.microsoft.com/office/drawing/2014/main" id="{69315C13-01AB-4387-9E12-368D157608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8311" y="3033686"/>
                <a:ext cx="734432" cy="461665"/>
              </a:xfrm>
              <a:prstGeom prst="rect">
                <a:avLst/>
              </a:prstGeom>
              <a:blipFill>
                <a:blip r:embed="rId13"/>
                <a:stretch>
                  <a:fillRect b="-2667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Rechteck 105">
                <a:extLst>
                  <a:ext uri="{FF2B5EF4-FFF2-40B4-BE49-F238E27FC236}">
                    <a16:creationId xmlns:a16="http://schemas.microsoft.com/office/drawing/2014/main" id="{35500A08-D390-464D-A80A-9E03A8912ABE}"/>
                  </a:ext>
                </a:extLst>
              </p:cNvPr>
              <p:cNvSpPr/>
              <p:nvPr/>
            </p:nvSpPr>
            <p:spPr>
              <a:xfrm>
                <a:off x="7157960" y="3037725"/>
                <a:ext cx="734432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de-AT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𝒏</m:t>
                          </m:r>
                        </m:e>
                        <m:sub>
                          <m: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𝟑𝟒</m:t>
                          </m:r>
                        </m:sub>
                      </m:sSub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6" name="Rechteck 105">
                <a:extLst>
                  <a:ext uri="{FF2B5EF4-FFF2-40B4-BE49-F238E27FC236}">
                    <a16:creationId xmlns:a16="http://schemas.microsoft.com/office/drawing/2014/main" id="{35500A08-D390-464D-A80A-9E03A8912A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7960" y="3037725"/>
                <a:ext cx="734432" cy="461665"/>
              </a:xfrm>
              <a:prstGeom prst="rect">
                <a:avLst/>
              </a:prstGeom>
              <a:blipFill>
                <a:blip r:embed="rId1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7" name="Gerader Verbinder 106">
            <a:extLst>
              <a:ext uri="{FF2B5EF4-FFF2-40B4-BE49-F238E27FC236}">
                <a16:creationId xmlns:a16="http://schemas.microsoft.com/office/drawing/2014/main" id="{40E08EA0-8D32-4A9E-BF8E-A23CE681287E}"/>
              </a:ext>
            </a:extLst>
          </p:cNvPr>
          <p:cNvCxnSpPr>
            <a:cxnSpLocks noChangeAspect="1"/>
          </p:cNvCxnSpPr>
          <p:nvPr/>
        </p:nvCxnSpPr>
        <p:spPr>
          <a:xfrm flipH="1">
            <a:off x="4792120" y="3460800"/>
            <a:ext cx="338492" cy="338493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2C8118D6-AF05-44CC-AE97-AE6CDF7EBB30}"/>
              </a:ext>
            </a:extLst>
          </p:cNvPr>
          <p:cNvCxnSpPr>
            <a:cxnSpLocks noChangeAspect="1"/>
            <a:stCxn id="15" idx="3"/>
          </p:cNvCxnSpPr>
          <p:nvPr/>
        </p:nvCxnSpPr>
        <p:spPr>
          <a:xfrm flipH="1">
            <a:off x="6941360" y="3471719"/>
            <a:ext cx="349081" cy="31391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F2664FB9-A9A6-490C-8D12-C4305553F1CC}"/>
              </a:ext>
            </a:extLst>
          </p:cNvPr>
          <p:cNvCxnSpPr>
            <a:cxnSpLocks noChangeAspect="1"/>
            <a:stCxn id="15" idx="5"/>
          </p:cNvCxnSpPr>
          <p:nvPr/>
        </p:nvCxnSpPr>
        <p:spPr>
          <a:xfrm>
            <a:off x="7672279" y="3471719"/>
            <a:ext cx="370731" cy="32757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Ellipse 114">
            <a:extLst>
              <a:ext uri="{FF2B5EF4-FFF2-40B4-BE49-F238E27FC236}">
                <a16:creationId xmlns:a16="http://schemas.microsoft.com/office/drawing/2014/main" id="{E2CB1048-AF80-491F-A49C-9CFE5C44D6A3}"/>
              </a:ext>
            </a:extLst>
          </p:cNvPr>
          <p:cNvSpPr>
            <a:spLocks noChangeAspect="1"/>
          </p:cNvSpPr>
          <p:nvPr/>
        </p:nvSpPr>
        <p:spPr>
          <a:xfrm>
            <a:off x="2532880" y="52872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6" name="Ellipse 115">
            <a:extLst>
              <a:ext uri="{FF2B5EF4-FFF2-40B4-BE49-F238E27FC236}">
                <a16:creationId xmlns:a16="http://schemas.microsoft.com/office/drawing/2014/main" id="{910AC17E-A974-4C40-B323-8E3C915A8026}"/>
              </a:ext>
            </a:extLst>
          </p:cNvPr>
          <p:cNvSpPr>
            <a:spLocks noChangeAspect="1"/>
          </p:cNvSpPr>
          <p:nvPr/>
        </p:nvSpPr>
        <p:spPr>
          <a:xfrm>
            <a:off x="3972880" y="52872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F4C9CD20-BAAD-4411-BEF8-F45717AE1642}"/>
              </a:ext>
            </a:extLst>
          </p:cNvPr>
          <p:cNvCxnSpPr>
            <a:cxnSpLocks noChangeAspect="1"/>
            <a:endCxn id="115" idx="7"/>
          </p:cNvCxnSpPr>
          <p:nvPr/>
        </p:nvCxnSpPr>
        <p:spPr>
          <a:xfrm flipH="1">
            <a:off x="2993799" y="5028119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Gerader Verbinder 118">
            <a:extLst>
              <a:ext uri="{FF2B5EF4-FFF2-40B4-BE49-F238E27FC236}">
                <a16:creationId xmlns:a16="http://schemas.microsoft.com/office/drawing/2014/main" id="{D1481FD3-C736-43EE-BB2B-495AF6DBB241}"/>
              </a:ext>
            </a:extLst>
          </p:cNvPr>
          <p:cNvCxnSpPr>
            <a:cxnSpLocks noChangeAspect="1"/>
            <a:endCxn id="116" idx="1"/>
          </p:cNvCxnSpPr>
          <p:nvPr/>
        </p:nvCxnSpPr>
        <p:spPr>
          <a:xfrm>
            <a:off x="3713799" y="5028119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Gerader Verbinder 120">
            <a:extLst>
              <a:ext uri="{FF2B5EF4-FFF2-40B4-BE49-F238E27FC236}">
                <a16:creationId xmlns:a16="http://schemas.microsoft.com/office/drawing/2014/main" id="{24FAA573-B65E-475F-9681-D578D26564A5}"/>
              </a:ext>
            </a:extLst>
          </p:cNvPr>
          <p:cNvCxnSpPr>
            <a:cxnSpLocks noChangeAspect="1"/>
          </p:cNvCxnSpPr>
          <p:nvPr/>
        </p:nvCxnSpPr>
        <p:spPr>
          <a:xfrm flipH="1">
            <a:off x="484121" y="4191719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Gerader Verbinder 121">
            <a:extLst>
              <a:ext uri="{FF2B5EF4-FFF2-40B4-BE49-F238E27FC236}">
                <a16:creationId xmlns:a16="http://schemas.microsoft.com/office/drawing/2014/main" id="{5F5585E3-E4F0-48B4-B8E7-F4AB953FB2CC}"/>
              </a:ext>
            </a:extLst>
          </p:cNvPr>
          <p:cNvCxnSpPr>
            <a:cxnSpLocks noChangeAspect="1"/>
          </p:cNvCxnSpPr>
          <p:nvPr/>
        </p:nvCxnSpPr>
        <p:spPr>
          <a:xfrm>
            <a:off x="1204121" y="4191719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0FBE12C-9C35-4C45-B584-7A8E5AA60435}"/>
              </a:ext>
            </a:extLst>
          </p:cNvPr>
          <p:cNvCxnSpPr/>
          <p:nvPr/>
        </p:nvCxnSpPr>
        <p:spPr>
          <a:xfrm flipH="1">
            <a:off x="2643961" y="4191719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Rechteck 123">
                <a:extLst>
                  <a:ext uri="{FF2B5EF4-FFF2-40B4-BE49-F238E27FC236}">
                    <a16:creationId xmlns:a16="http://schemas.microsoft.com/office/drawing/2014/main" id="{B484F5A9-3CFF-4692-9DBC-5EE647420723}"/>
                  </a:ext>
                </a:extLst>
              </p:cNvPr>
              <p:cNvSpPr/>
              <p:nvPr/>
            </p:nvSpPr>
            <p:spPr>
              <a:xfrm>
                <a:off x="8437097" y="4529881"/>
                <a:ext cx="519723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≤</m:t>
                      </m:r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24" name="Rechteck 123">
                <a:extLst>
                  <a:ext uri="{FF2B5EF4-FFF2-40B4-BE49-F238E27FC236}">
                    <a16:creationId xmlns:a16="http://schemas.microsoft.com/office/drawing/2014/main" id="{B484F5A9-3CFF-4692-9DBC-5EE6474207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7097" y="4529881"/>
                <a:ext cx="519723" cy="461665"/>
              </a:xfrm>
              <a:prstGeom prst="rect">
                <a:avLst/>
              </a:prstGeom>
              <a:blipFill>
                <a:blip r:embed="rId15"/>
                <a:stretch>
                  <a:fillRect l="-25882" r="-7059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Rechteck 124">
                <a:extLst>
                  <a:ext uri="{FF2B5EF4-FFF2-40B4-BE49-F238E27FC236}">
                    <a16:creationId xmlns:a16="http://schemas.microsoft.com/office/drawing/2014/main" id="{64BD9E39-CBF5-40C2-A954-36278D181A1C}"/>
                  </a:ext>
                </a:extLst>
              </p:cNvPr>
              <p:cNvSpPr/>
              <p:nvPr/>
            </p:nvSpPr>
            <p:spPr>
              <a:xfrm>
                <a:off x="8371840" y="5217448"/>
                <a:ext cx="519723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𝟐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25" name="Rechteck 124">
                <a:extLst>
                  <a:ext uri="{FF2B5EF4-FFF2-40B4-BE49-F238E27FC236}">
                    <a16:creationId xmlns:a16="http://schemas.microsoft.com/office/drawing/2014/main" id="{64BD9E39-CBF5-40C2-A954-36278D181A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1840" y="5217448"/>
                <a:ext cx="519723" cy="46166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Rechteck 126">
                <a:extLst>
                  <a:ext uri="{FF2B5EF4-FFF2-40B4-BE49-F238E27FC236}">
                    <a16:creationId xmlns:a16="http://schemas.microsoft.com/office/drawing/2014/main" id="{7F8FF2FC-1872-4AA1-A43D-D06366589D87}"/>
                  </a:ext>
                </a:extLst>
              </p:cNvPr>
              <p:cNvSpPr/>
              <p:nvPr/>
            </p:nvSpPr>
            <p:spPr>
              <a:xfrm>
                <a:off x="2377924" y="4224359"/>
                <a:ext cx="519723" cy="76944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4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. . .</m:t>
                      </m:r>
                    </m:oMath>
                  </m:oMathPara>
                </a14:m>
                <a:endParaRPr lang="de-AT" sz="4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27" name="Rechteck 126">
                <a:extLst>
                  <a:ext uri="{FF2B5EF4-FFF2-40B4-BE49-F238E27FC236}">
                    <a16:creationId xmlns:a16="http://schemas.microsoft.com/office/drawing/2014/main" id="{7F8FF2FC-1872-4AA1-A43D-D06366589D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7924" y="4224359"/>
                <a:ext cx="519723" cy="76944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3B02F487-B272-48AE-AE4C-C7DCF82E6AA0}"/>
              </a:ext>
            </a:extLst>
          </p:cNvPr>
          <p:cNvCxnSpPr>
            <a:cxnSpLocks/>
          </p:cNvCxnSpPr>
          <p:nvPr/>
        </p:nvCxnSpPr>
        <p:spPr>
          <a:xfrm>
            <a:off x="3509850" y="4760713"/>
            <a:ext cx="4750080" cy="0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Rechteck 128">
                <a:extLst>
                  <a:ext uri="{FF2B5EF4-FFF2-40B4-BE49-F238E27FC236}">
                    <a16:creationId xmlns:a16="http://schemas.microsoft.com/office/drawing/2014/main" id="{B4DAD061-C90B-4444-A1DC-EDBA6C96A225}"/>
                  </a:ext>
                </a:extLst>
              </p:cNvPr>
              <p:cNvSpPr/>
              <p:nvPr/>
            </p:nvSpPr>
            <p:spPr>
              <a:xfrm>
                <a:off x="685176" y="3734028"/>
                <a:ext cx="734432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de-AT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𝒏</m:t>
                          </m:r>
                        </m:e>
                        <m:sub>
                          <m: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𝟒</m:t>
                          </m:r>
                          <m:r>
                            <a:rPr lang="de-AT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29" name="Rechteck 128">
                <a:extLst>
                  <a:ext uri="{FF2B5EF4-FFF2-40B4-BE49-F238E27FC236}">
                    <a16:creationId xmlns:a16="http://schemas.microsoft.com/office/drawing/2014/main" id="{B4DAD061-C90B-4444-A1DC-EDBA6C96A2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176" y="3734028"/>
                <a:ext cx="734432" cy="461665"/>
              </a:xfrm>
              <a:prstGeom prst="rect">
                <a:avLst/>
              </a:prstGeom>
              <a:blipFill>
                <a:blip r:embed="rId18"/>
                <a:stretch>
                  <a:fillRect b="-2667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Rechteck 129">
                <a:extLst>
                  <a:ext uri="{FF2B5EF4-FFF2-40B4-BE49-F238E27FC236}">
                    <a16:creationId xmlns:a16="http://schemas.microsoft.com/office/drawing/2014/main" id="{BFC94ADC-C61D-42F1-9959-FD5E3292E0BC}"/>
                  </a:ext>
                </a:extLst>
              </p:cNvPr>
              <p:cNvSpPr/>
              <p:nvPr/>
            </p:nvSpPr>
            <p:spPr>
              <a:xfrm>
                <a:off x="2130056" y="3743878"/>
                <a:ext cx="734432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de-AT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𝒏</m:t>
                          </m:r>
                        </m:e>
                        <m:sub>
                          <m: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𝟒𝟐</m:t>
                          </m:r>
                        </m:sub>
                      </m:sSub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30" name="Rechteck 129">
                <a:extLst>
                  <a:ext uri="{FF2B5EF4-FFF2-40B4-BE49-F238E27FC236}">
                    <a16:creationId xmlns:a16="http://schemas.microsoft.com/office/drawing/2014/main" id="{BFC94ADC-C61D-42F1-9959-FD5E3292E0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0056" y="3743878"/>
                <a:ext cx="734432" cy="461665"/>
              </a:xfrm>
              <a:prstGeom prst="rect">
                <a:avLst/>
              </a:prstGeom>
              <a:blipFill>
                <a:blip r:embed="rId19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Rechteck 130">
                <a:extLst>
                  <a:ext uri="{FF2B5EF4-FFF2-40B4-BE49-F238E27FC236}">
                    <a16:creationId xmlns:a16="http://schemas.microsoft.com/office/drawing/2014/main" id="{971A5FB7-0CE0-457B-8611-B7091E6CA4D3}"/>
                  </a:ext>
                </a:extLst>
              </p:cNvPr>
              <p:cNvSpPr/>
              <p:nvPr/>
            </p:nvSpPr>
            <p:spPr>
              <a:xfrm>
                <a:off x="2864488" y="3743505"/>
                <a:ext cx="734432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de-AT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𝒏</m:t>
                          </m:r>
                        </m:e>
                        <m:sub>
                          <m: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𝟒𝟑</m:t>
                          </m:r>
                        </m:sub>
                      </m:sSub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31" name="Rechteck 130">
                <a:extLst>
                  <a:ext uri="{FF2B5EF4-FFF2-40B4-BE49-F238E27FC236}">
                    <a16:creationId xmlns:a16="http://schemas.microsoft.com/office/drawing/2014/main" id="{971A5FB7-0CE0-457B-8611-B7091E6CA4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4488" y="3743505"/>
                <a:ext cx="734432" cy="461665"/>
              </a:xfrm>
              <a:prstGeom prst="rect">
                <a:avLst/>
              </a:prstGeom>
              <a:blipFill>
                <a:blip r:embed="rId20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Rechteck 131">
                <a:extLst>
                  <a:ext uri="{FF2B5EF4-FFF2-40B4-BE49-F238E27FC236}">
                    <a16:creationId xmlns:a16="http://schemas.microsoft.com/office/drawing/2014/main" id="{137C8732-A7AB-4795-8605-D178C845FEC0}"/>
                  </a:ext>
                </a:extLst>
              </p:cNvPr>
              <p:cNvSpPr/>
              <p:nvPr/>
            </p:nvSpPr>
            <p:spPr>
              <a:xfrm>
                <a:off x="2499069" y="5287200"/>
                <a:ext cx="74244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de-AT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𝒏</m:t>
                          </m:r>
                        </m:e>
                        <m:sub>
                          <m: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𝒉</m:t>
                          </m:r>
                          <m: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32" name="Rechteck 131">
                <a:extLst>
                  <a:ext uri="{FF2B5EF4-FFF2-40B4-BE49-F238E27FC236}">
                    <a16:creationId xmlns:a16="http://schemas.microsoft.com/office/drawing/2014/main" id="{137C8732-A7AB-4795-8605-D178C845FE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9069" y="5287200"/>
                <a:ext cx="742447" cy="461665"/>
              </a:xfrm>
              <a:prstGeom prst="rect">
                <a:avLst/>
              </a:prstGeom>
              <a:blipFill>
                <a:blip r:embed="rId21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Rechteck 132">
                <a:extLst>
                  <a:ext uri="{FF2B5EF4-FFF2-40B4-BE49-F238E27FC236}">
                    <a16:creationId xmlns:a16="http://schemas.microsoft.com/office/drawing/2014/main" id="{53C707BD-70F0-4F05-96AA-9BC53F310170}"/>
                  </a:ext>
                </a:extLst>
              </p:cNvPr>
              <p:cNvSpPr/>
              <p:nvPr/>
            </p:nvSpPr>
            <p:spPr>
              <a:xfrm>
                <a:off x="3934296" y="5299319"/>
                <a:ext cx="74244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de-AT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𝒏</m:t>
                          </m:r>
                        </m:e>
                        <m:sub>
                          <m: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𝒉</m:t>
                          </m:r>
                          <m:r>
                            <a:rPr lang="de-AT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33" name="Rechteck 132">
                <a:extLst>
                  <a:ext uri="{FF2B5EF4-FFF2-40B4-BE49-F238E27FC236}">
                    <a16:creationId xmlns:a16="http://schemas.microsoft.com/office/drawing/2014/main" id="{53C707BD-70F0-4F05-96AA-9BC53F3101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4296" y="5299319"/>
                <a:ext cx="742447" cy="461665"/>
              </a:xfrm>
              <a:prstGeom prst="rect">
                <a:avLst/>
              </a:prstGeom>
              <a:blipFill>
                <a:blip r:embed="rId22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platzhalter 2">
                <a:extLst>
                  <a:ext uri="{FF2B5EF4-FFF2-40B4-BE49-F238E27FC236}">
                    <a16:creationId xmlns:a16="http://schemas.microsoft.com/office/drawing/2014/main" id="{61213831-766E-41A3-B7BE-9735BC1D5BF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423267" y="5972074"/>
                <a:ext cx="962900" cy="381612"/>
              </a:xfrm>
            </p:spPr>
            <p:txBody>
              <a:bodyPr/>
              <a:lstStyle/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noProof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𝑂</m:t>
                      </m:r>
                      <m:r>
                        <a:rPr lang="en-US" sz="2400" i="1" noProof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(</m:t>
                      </m:r>
                      <m:r>
                        <a:rPr lang="en-US" sz="2400" i="1" noProof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𝑛h</m:t>
                      </m:r>
                      <m:r>
                        <a:rPr lang="en-US" sz="2400" i="1" noProof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)</m:t>
                      </m:r>
                    </m:oMath>
                  </m:oMathPara>
                </a14:m>
                <a:endParaRPr lang="en-US" sz="240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34" name="Textplatzhalter 2">
                <a:extLst>
                  <a:ext uri="{FF2B5EF4-FFF2-40B4-BE49-F238E27FC236}">
                    <a16:creationId xmlns:a16="http://schemas.microsoft.com/office/drawing/2014/main" id="{61213831-766E-41A3-B7BE-9735BC1D5B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423267" y="5972074"/>
                <a:ext cx="962900" cy="381612"/>
              </a:xfr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Titel 1">
            <a:extLst>
              <a:ext uri="{FF2B5EF4-FFF2-40B4-BE49-F238E27FC236}">
                <a16:creationId xmlns:a16="http://schemas.microsoft.com/office/drawing/2014/main" id="{93FC233C-DED6-49E6-AE2F-331464916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</p:spPr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Recursion tree</a:t>
            </a:r>
          </a:p>
        </p:txBody>
      </p:sp>
    </p:spTree>
    <p:extLst>
      <p:ext uri="{BB962C8B-B14F-4D97-AF65-F5344CB8AC3E}">
        <p14:creationId xmlns:p14="http://schemas.microsoft.com/office/powerpoint/2010/main" val="796513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llipse 4">
            <a:extLst>
              <a:ext uri="{FF2B5EF4-FFF2-40B4-BE49-F238E27FC236}">
                <a16:creationId xmlns:a16="http://schemas.microsoft.com/office/drawing/2014/main" id="{76314C63-9824-4B5B-AF07-A257852AF4FD}"/>
              </a:ext>
            </a:extLst>
          </p:cNvPr>
          <p:cNvSpPr>
            <a:spLocks noChangeAspect="1"/>
          </p:cNvSpPr>
          <p:nvPr/>
        </p:nvSpPr>
        <p:spPr>
          <a:xfrm>
            <a:off x="4331360" y="15708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F2C242C1-4D9C-4C41-98B6-81C9B1301F6C}"/>
              </a:ext>
            </a:extLst>
          </p:cNvPr>
          <p:cNvSpPr>
            <a:spLocks noChangeAspect="1"/>
          </p:cNvSpPr>
          <p:nvPr/>
        </p:nvSpPr>
        <p:spPr>
          <a:xfrm>
            <a:off x="2531360" y="22908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5A6A383-6DE1-424E-8688-EC3C18FCFBDC}"/>
              </a:ext>
            </a:extLst>
          </p:cNvPr>
          <p:cNvSpPr>
            <a:spLocks noChangeAspect="1"/>
          </p:cNvSpPr>
          <p:nvPr/>
        </p:nvSpPr>
        <p:spPr>
          <a:xfrm>
            <a:off x="6131360" y="22908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8CE4888A-1AE0-4D1B-9501-A5FFEEBE2F9D}"/>
              </a:ext>
            </a:extLst>
          </p:cNvPr>
          <p:cNvSpPr>
            <a:spLocks noChangeAspect="1"/>
          </p:cNvSpPr>
          <p:nvPr/>
        </p:nvSpPr>
        <p:spPr>
          <a:xfrm>
            <a:off x="1451520" y="30108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1C71442B-4876-404C-97E4-02BBCD902007}"/>
              </a:ext>
            </a:extLst>
          </p:cNvPr>
          <p:cNvSpPr>
            <a:spLocks noChangeAspect="1"/>
          </p:cNvSpPr>
          <p:nvPr/>
        </p:nvSpPr>
        <p:spPr>
          <a:xfrm>
            <a:off x="3611360" y="30108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C88A0FC0-C4C3-41BC-B391-EE159FB1A72B}"/>
              </a:ext>
            </a:extLst>
          </p:cNvPr>
          <p:cNvSpPr>
            <a:spLocks noChangeAspect="1"/>
          </p:cNvSpPr>
          <p:nvPr/>
        </p:nvSpPr>
        <p:spPr>
          <a:xfrm>
            <a:off x="5051360" y="30108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7F43EA6C-E5AC-4B2E-A2A3-F1B0D97F459D}"/>
              </a:ext>
            </a:extLst>
          </p:cNvPr>
          <p:cNvSpPr>
            <a:spLocks noChangeAspect="1"/>
          </p:cNvSpPr>
          <p:nvPr/>
        </p:nvSpPr>
        <p:spPr>
          <a:xfrm>
            <a:off x="7211360" y="30108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425CCEB-64BD-479F-A5D2-4360DD72CC9D}"/>
                  </a:ext>
                </a:extLst>
              </p:cNvPr>
              <p:cNvSpPr/>
              <p:nvPr/>
            </p:nvSpPr>
            <p:spPr>
              <a:xfrm>
                <a:off x="4423267" y="1598302"/>
                <a:ext cx="45236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425CCEB-64BD-479F-A5D2-4360DD72CC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3267" y="1598302"/>
                <a:ext cx="452368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8FAE7ADB-08BB-4BB7-898A-F9BC295ED5A1}"/>
              </a:ext>
            </a:extLst>
          </p:cNvPr>
          <p:cNvCxnSpPr>
            <a:cxnSpLocks noChangeAspect="1"/>
            <a:stCxn id="5" idx="3"/>
            <a:endCxn id="9" idx="7"/>
          </p:cNvCxnSpPr>
          <p:nvPr/>
        </p:nvCxnSpPr>
        <p:spPr>
          <a:xfrm flipH="1">
            <a:off x="2992279" y="2031719"/>
            <a:ext cx="141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136AA771-6456-4E17-B948-227956EF2521}"/>
              </a:ext>
            </a:extLst>
          </p:cNvPr>
          <p:cNvCxnSpPr>
            <a:cxnSpLocks noChangeAspect="1"/>
            <a:stCxn id="5" idx="5"/>
            <a:endCxn id="11" idx="1"/>
          </p:cNvCxnSpPr>
          <p:nvPr/>
        </p:nvCxnSpPr>
        <p:spPr>
          <a:xfrm>
            <a:off x="4792279" y="2031719"/>
            <a:ext cx="141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D3E18822-FA59-4B1A-B248-33B9670B5158}"/>
              </a:ext>
            </a:extLst>
          </p:cNvPr>
          <p:cNvCxnSpPr>
            <a:cxnSpLocks noChangeAspect="1"/>
            <a:stCxn id="9" idx="3"/>
            <a:endCxn id="12" idx="7"/>
          </p:cNvCxnSpPr>
          <p:nvPr/>
        </p:nvCxnSpPr>
        <p:spPr>
          <a:xfrm flipH="1">
            <a:off x="1912439" y="2751719"/>
            <a:ext cx="69800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68D1951E-4D4C-4B73-9327-5B15618FD8FA}"/>
              </a:ext>
            </a:extLst>
          </p:cNvPr>
          <p:cNvCxnSpPr>
            <a:cxnSpLocks noChangeAspect="1"/>
            <a:stCxn id="9" idx="5"/>
            <a:endCxn id="13" idx="1"/>
          </p:cNvCxnSpPr>
          <p:nvPr/>
        </p:nvCxnSpPr>
        <p:spPr>
          <a:xfrm>
            <a:off x="2992279" y="2751719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7FFAB9FE-7191-488A-BBFF-1AB3DE387E39}"/>
              </a:ext>
            </a:extLst>
          </p:cNvPr>
          <p:cNvCxnSpPr>
            <a:cxnSpLocks noChangeAspect="1"/>
            <a:stCxn id="12" idx="3"/>
          </p:cNvCxnSpPr>
          <p:nvPr/>
        </p:nvCxnSpPr>
        <p:spPr>
          <a:xfrm flipH="1">
            <a:off x="1192439" y="3471719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31F27D5D-1535-431E-909F-5C77AEAA4B86}"/>
              </a:ext>
            </a:extLst>
          </p:cNvPr>
          <p:cNvCxnSpPr>
            <a:cxnSpLocks noChangeAspect="1"/>
            <a:stCxn id="12" idx="5"/>
          </p:cNvCxnSpPr>
          <p:nvPr/>
        </p:nvCxnSpPr>
        <p:spPr>
          <a:xfrm>
            <a:off x="1912439" y="3471719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948A29A-9A52-446A-8815-6126B9B0DD1B}"/>
              </a:ext>
            </a:extLst>
          </p:cNvPr>
          <p:cNvCxnSpPr>
            <a:cxnSpLocks/>
            <a:stCxn id="13" idx="3"/>
          </p:cNvCxnSpPr>
          <p:nvPr/>
        </p:nvCxnSpPr>
        <p:spPr>
          <a:xfrm flipH="1">
            <a:off x="3352279" y="3471719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2FEBAD28-6B68-4D00-BE1F-828EBAAAB941}"/>
              </a:ext>
            </a:extLst>
          </p:cNvPr>
          <p:cNvCxnSpPr>
            <a:cxnSpLocks noChangeAspect="1"/>
            <a:stCxn id="11" idx="3"/>
            <a:endCxn id="14" idx="7"/>
          </p:cNvCxnSpPr>
          <p:nvPr/>
        </p:nvCxnSpPr>
        <p:spPr>
          <a:xfrm flipH="1">
            <a:off x="5512279" y="2751719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948256B9-48B5-4406-944C-132C3B4FE49A}"/>
              </a:ext>
            </a:extLst>
          </p:cNvPr>
          <p:cNvCxnSpPr>
            <a:cxnSpLocks noChangeAspect="1"/>
            <a:stCxn id="11" idx="5"/>
            <a:endCxn id="15" idx="1"/>
          </p:cNvCxnSpPr>
          <p:nvPr/>
        </p:nvCxnSpPr>
        <p:spPr>
          <a:xfrm>
            <a:off x="6592279" y="2751719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432D69F1-9D62-4807-8F68-1E153F2E878E}"/>
              </a:ext>
            </a:extLst>
          </p:cNvPr>
          <p:cNvCxnSpPr>
            <a:cxnSpLocks/>
          </p:cNvCxnSpPr>
          <p:nvPr/>
        </p:nvCxnSpPr>
        <p:spPr>
          <a:xfrm>
            <a:off x="447040" y="1671220"/>
            <a:ext cx="0" cy="415598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61BF7C3B-5D93-4D13-9636-03DFAFBD0E07}"/>
                  </a:ext>
                </a:extLst>
              </p:cNvPr>
              <p:cNvSpPr/>
              <p:nvPr/>
            </p:nvSpPr>
            <p:spPr>
              <a:xfrm>
                <a:off x="550675" y="1598301"/>
                <a:ext cx="101983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𝒍𝒐𝒈</m:t>
                      </m:r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61BF7C3B-5D93-4D13-9636-03DFAFBD0E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675" y="1598301"/>
                <a:ext cx="1019830" cy="461665"/>
              </a:xfrm>
              <a:prstGeom prst="rect">
                <a:avLst/>
              </a:prstGeom>
              <a:blipFill>
                <a:blip r:embed="rId4"/>
                <a:stretch>
                  <a:fillRect l="-4762" b="-18421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083E662B-5DB8-477C-B3EA-80E975849C61}"/>
              </a:ext>
            </a:extLst>
          </p:cNvPr>
          <p:cNvCxnSpPr>
            <a:cxnSpLocks/>
          </p:cNvCxnSpPr>
          <p:nvPr/>
        </p:nvCxnSpPr>
        <p:spPr>
          <a:xfrm>
            <a:off x="6776720" y="2489200"/>
            <a:ext cx="1595120" cy="0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2E1D0499-937B-4AD6-8DDA-57DA4A6D49E9}"/>
                  </a:ext>
                </a:extLst>
              </p:cNvPr>
              <p:cNvSpPr/>
              <p:nvPr/>
            </p:nvSpPr>
            <p:spPr>
              <a:xfrm>
                <a:off x="8437098" y="1598301"/>
                <a:ext cx="519723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2E1D0499-937B-4AD6-8DDA-57DA4A6D49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7098" y="1598301"/>
                <a:ext cx="51972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C51F681F-231F-4BD4-8F02-B37FB9BFD9E4}"/>
              </a:ext>
            </a:extLst>
          </p:cNvPr>
          <p:cNvCxnSpPr>
            <a:cxnSpLocks/>
          </p:cNvCxnSpPr>
          <p:nvPr/>
        </p:nvCxnSpPr>
        <p:spPr>
          <a:xfrm>
            <a:off x="7904480" y="3250320"/>
            <a:ext cx="467360" cy="0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4F9EAC37-11F2-4AB2-9B04-9736D50307EF}"/>
              </a:ext>
            </a:extLst>
          </p:cNvPr>
          <p:cNvCxnSpPr>
            <a:cxnSpLocks/>
          </p:cNvCxnSpPr>
          <p:nvPr/>
        </p:nvCxnSpPr>
        <p:spPr>
          <a:xfrm>
            <a:off x="4971600" y="1801632"/>
            <a:ext cx="3400240" cy="0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Rechteck 97">
                <a:extLst>
                  <a:ext uri="{FF2B5EF4-FFF2-40B4-BE49-F238E27FC236}">
                    <a16:creationId xmlns:a16="http://schemas.microsoft.com/office/drawing/2014/main" id="{4AF0683C-B193-4AF9-BA5C-C19C50A1CDD8}"/>
                  </a:ext>
                </a:extLst>
              </p:cNvPr>
              <p:cNvSpPr/>
              <p:nvPr/>
            </p:nvSpPr>
            <p:spPr>
              <a:xfrm>
                <a:off x="8437098" y="2258367"/>
                <a:ext cx="519723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98" name="Rechteck 97">
                <a:extLst>
                  <a:ext uri="{FF2B5EF4-FFF2-40B4-BE49-F238E27FC236}">
                    <a16:creationId xmlns:a16="http://schemas.microsoft.com/office/drawing/2014/main" id="{4AF0683C-B193-4AF9-BA5C-C19C50A1CD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7098" y="2258367"/>
                <a:ext cx="519723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21FF6601-7E56-4649-8B82-4560FA78BB8D}"/>
                  </a:ext>
                </a:extLst>
              </p:cNvPr>
              <p:cNvSpPr/>
              <p:nvPr/>
            </p:nvSpPr>
            <p:spPr>
              <a:xfrm>
                <a:off x="8437098" y="3025090"/>
                <a:ext cx="519723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21FF6601-7E56-4649-8B82-4560FA78BB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7098" y="3025090"/>
                <a:ext cx="519723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Rechteck 99">
                <a:extLst>
                  <a:ext uri="{FF2B5EF4-FFF2-40B4-BE49-F238E27FC236}">
                    <a16:creationId xmlns:a16="http://schemas.microsoft.com/office/drawing/2014/main" id="{528F95F1-F5B2-4FF4-B2F6-EBB8D16B4E35}"/>
                  </a:ext>
                </a:extLst>
              </p:cNvPr>
              <p:cNvSpPr/>
              <p:nvPr/>
            </p:nvSpPr>
            <p:spPr>
              <a:xfrm>
                <a:off x="8457417" y="3730800"/>
                <a:ext cx="519723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0" name="Rechteck 99">
                <a:extLst>
                  <a:ext uri="{FF2B5EF4-FFF2-40B4-BE49-F238E27FC236}">
                    <a16:creationId xmlns:a16="http://schemas.microsoft.com/office/drawing/2014/main" id="{528F95F1-F5B2-4FF4-B2F6-EBB8D16B4E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7417" y="3730800"/>
                <a:ext cx="519723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Rechteck 100">
                <a:extLst>
                  <a:ext uri="{FF2B5EF4-FFF2-40B4-BE49-F238E27FC236}">
                    <a16:creationId xmlns:a16="http://schemas.microsoft.com/office/drawing/2014/main" id="{5FFE39AC-E24D-4F78-BF7A-18CBA0D14899}"/>
                  </a:ext>
                </a:extLst>
              </p:cNvPr>
              <p:cNvSpPr/>
              <p:nvPr/>
            </p:nvSpPr>
            <p:spPr>
              <a:xfrm>
                <a:off x="2457894" y="2322309"/>
                <a:ext cx="78739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/</m:t>
                      </m:r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𝟐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1" name="Rechteck 100">
                <a:extLst>
                  <a:ext uri="{FF2B5EF4-FFF2-40B4-BE49-F238E27FC236}">
                    <a16:creationId xmlns:a16="http://schemas.microsoft.com/office/drawing/2014/main" id="{5FFE39AC-E24D-4F78-BF7A-18CBA0D148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7894" y="2322309"/>
                <a:ext cx="787395" cy="461665"/>
              </a:xfrm>
              <a:prstGeom prst="rect">
                <a:avLst/>
              </a:prstGeom>
              <a:blipFill>
                <a:blip r:embed="rId9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3E4B0EA7-4F1D-4291-B68A-A3FACE161371}"/>
                  </a:ext>
                </a:extLst>
              </p:cNvPr>
              <p:cNvSpPr/>
              <p:nvPr/>
            </p:nvSpPr>
            <p:spPr>
              <a:xfrm>
                <a:off x="6051479" y="2321279"/>
                <a:ext cx="78739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/</m:t>
                      </m:r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𝟐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3E4B0EA7-4F1D-4291-B68A-A3FACE1613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1479" y="2321279"/>
                <a:ext cx="787395" cy="461665"/>
              </a:xfrm>
              <a:prstGeom prst="rect">
                <a:avLst/>
              </a:prstGeom>
              <a:blipFill>
                <a:blip r:embed="rId10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Rechteck 102">
                <a:extLst>
                  <a:ext uri="{FF2B5EF4-FFF2-40B4-BE49-F238E27FC236}">
                    <a16:creationId xmlns:a16="http://schemas.microsoft.com/office/drawing/2014/main" id="{98744B79-845A-498B-8FBC-FF884AEE55AF}"/>
                  </a:ext>
                </a:extLst>
              </p:cNvPr>
              <p:cNvSpPr/>
              <p:nvPr/>
            </p:nvSpPr>
            <p:spPr>
              <a:xfrm>
                <a:off x="1390427" y="3019487"/>
                <a:ext cx="78739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/</m:t>
                      </m:r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𝟒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3" name="Rechteck 102">
                <a:extLst>
                  <a:ext uri="{FF2B5EF4-FFF2-40B4-BE49-F238E27FC236}">
                    <a16:creationId xmlns:a16="http://schemas.microsoft.com/office/drawing/2014/main" id="{98744B79-845A-498B-8FBC-FF884AEE55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0427" y="3019487"/>
                <a:ext cx="787395" cy="461665"/>
              </a:xfrm>
              <a:prstGeom prst="rect">
                <a:avLst/>
              </a:prstGeom>
              <a:blipFill>
                <a:blip r:embed="rId11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7" name="Gerader Verbinder 106">
            <a:extLst>
              <a:ext uri="{FF2B5EF4-FFF2-40B4-BE49-F238E27FC236}">
                <a16:creationId xmlns:a16="http://schemas.microsoft.com/office/drawing/2014/main" id="{40E08EA0-8D32-4A9E-BF8E-A23CE681287E}"/>
              </a:ext>
            </a:extLst>
          </p:cNvPr>
          <p:cNvCxnSpPr>
            <a:cxnSpLocks noChangeAspect="1"/>
          </p:cNvCxnSpPr>
          <p:nvPr/>
        </p:nvCxnSpPr>
        <p:spPr>
          <a:xfrm flipH="1">
            <a:off x="4792120" y="3460800"/>
            <a:ext cx="338492" cy="338493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2C8118D6-AF05-44CC-AE97-AE6CDF7EBB30}"/>
              </a:ext>
            </a:extLst>
          </p:cNvPr>
          <p:cNvCxnSpPr>
            <a:cxnSpLocks noChangeAspect="1"/>
            <a:stCxn id="15" idx="3"/>
          </p:cNvCxnSpPr>
          <p:nvPr/>
        </p:nvCxnSpPr>
        <p:spPr>
          <a:xfrm flipH="1">
            <a:off x="6941360" y="3471719"/>
            <a:ext cx="349081" cy="31391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F2664FB9-A9A6-490C-8D12-C4305553F1CC}"/>
              </a:ext>
            </a:extLst>
          </p:cNvPr>
          <p:cNvCxnSpPr>
            <a:cxnSpLocks noChangeAspect="1"/>
            <a:stCxn id="15" idx="5"/>
          </p:cNvCxnSpPr>
          <p:nvPr/>
        </p:nvCxnSpPr>
        <p:spPr>
          <a:xfrm>
            <a:off x="7672279" y="3471719"/>
            <a:ext cx="370731" cy="32757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Ellipse 114">
            <a:extLst>
              <a:ext uri="{FF2B5EF4-FFF2-40B4-BE49-F238E27FC236}">
                <a16:creationId xmlns:a16="http://schemas.microsoft.com/office/drawing/2014/main" id="{E2CB1048-AF80-491F-A49C-9CFE5C44D6A3}"/>
              </a:ext>
            </a:extLst>
          </p:cNvPr>
          <p:cNvSpPr>
            <a:spLocks noChangeAspect="1"/>
          </p:cNvSpPr>
          <p:nvPr/>
        </p:nvSpPr>
        <p:spPr>
          <a:xfrm>
            <a:off x="1903491" y="52876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6" name="Ellipse 115">
            <a:extLst>
              <a:ext uri="{FF2B5EF4-FFF2-40B4-BE49-F238E27FC236}">
                <a16:creationId xmlns:a16="http://schemas.microsoft.com/office/drawing/2014/main" id="{910AC17E-A974-4C40-B323-8E3C915A8026}"/>
              </a:ext>
            </a:extLst>
          </p:cNvPr>
          <p:cNvSpPr>
            <a:spLocks noChangeAspect="1"/>
          </p:cNvSpPr>
          <p:nvPr/>
        </p:nvSpPr>
        <p:spPr>
          <a:xfrm>
            <a:off x="3343491" y="52876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F4C9CD20-BAAD-4411-BEF8-F45717AE1642}"/>
              </a:ext>
            </a:extLst>
          </p:cNvPr>
          <p:cNvCxnSpPr>
            <a:cxnSpLocks noChangeAspect="1"/>
            <a:endCxn id="115" idx="7"/>
          </p:cNvCxnSpPr>
          <p:nvPr/>
        </p:nvCxnSpPr>
        <p:spPr>
          <a:xfrm flipH="1">
            <a:off x="2364410" y="5028519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Gerader Verbinder 118">
            <a:extLst>
              <a:ext uri="{FF2B5EF4-FFF2-40B4-BE49-F238E27FC236}">
                <a16:creationId xmlns:a16="http://schemas.microsoft.com/office/drawing/2014/main" id="{D1481FD3-C736-43EE-BB2B-495AF6DBB241}"/>
              </a:ext>
            </a:extLst>
          </p:cNvPr>
          <p:cNvCxnSpPr>
            <a:cxnSpLocks noChangeAspect="1"/>
            <a:endCxn id="116" idx="1"/>
          </p:cNvCxnSpPr>
          <p:nvPr/>
        </p:nvCxnSpPr>
        <p:spPr>
          <a:xfrm>
            <a:off x="3084410" y="5028519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Rechteck 126">
                <a:extLst>
                  <a:ext uri="{FF2B5EF4-FFF2-40B4-BE49-F238E27FC236}">
                    <a16:creationId xmlns:a16="http://schemas.microsoft.com/office/drawing/2014/main" id="{7F8FF2FC-1872-4AA1-A43D-D06366589D87}"/>
                  </a:ext>
                </a:extLst>
              </p:cNvPr>
              <p:cNvSpPr/>
              <p:nvPr/>
            </p:nvSpPr>
            <p:spPr>
              <a:xfrm>
                <a:off x="3842951" y="3429000"/>
                <a:ext cx="519723" cy="76944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4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. . .</m:t>
                      </m:r>
                    </m:oMath>
                  </m:oMathPara>
                </a14:m>
                <a:endParaRPr lang="de-AT" sz="4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27" name="Rechteck 126">
                <a:extLst>
                  <a:ext uri="{FF2B5EF4-FFF2-40B4-BE49-F238E27FC236}">
                    <a16:creationId xmlns:a16="http://schemas.microsoft.com/office/drawing/2014/main" id="{7F8FF2FC-1872-4AA1-A43D-D06366589D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2951" y="3429000"/>
                <a:ext cx="519723" cy="76944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3B02F487-B272-48AE-AE4C-C7DCF82E6AA0}"/>
              </a:ext>
            </a:extLst>
          </p:cNvPr>
          <p:cNvCxnSpPr>
            <a:cxnSpLocks/>
          </p:cNvCxnSpPr>
          <p:nvPr/>
        </p:nvCxnSpPr>
        <p:spPr>
          <a:xfrm>
            <a:off x="4649451" y="3968237"/>
            <a:ext cx="3722389" cy="0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Rechteck 131">
                <a:extLst>
                  <a:ext uri="{FF2B5EF4-FFF2-40B4-BE49-F238E27FC236}">
                    <a16:creationId xmlns:a16="http://schemas.microsoft.com/office/drawing/2014/main" id="{137C8732-A7AB-4795-8605-D178C845FEC0}"/>
                  </a:ext>
                </a:extLst>
              </p:cNvPr>
              <p:cNvSpPr/>
              <p:nvPr/>
            </p:nvSpPr>
            <p:spPr>
              <a:xfrm>
                <a:off x="1981577" y="5287600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32" name="Rechteck 131">
                <a:extLst>
                  <a:ext uri="{FF2B5EF4-FFF2-40B4-BE49-F238E27FC236}">
                    <a16:creationId xmlns:a16="http://schemas.microsoft.com/office/drawing/2014/main" id="{137C8732-A7AB-4795-8605-D178C845FE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577" y="5287600"/>
                <a:ext cx="437940" cy="461665"/>
              </a:xfrm>
              <a:prstGeom prst="rect">
                <a:avLst/>
              </a:prstGeom>
              <a:blipFill>
                <a:blip r:embed="rId13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Rechteck 132">
                <a:extLst>
                  <a:ext uri="{FF2B5EF4-FFF2-40B4-BE49-F238E27FC236}">
                    <a16:creationId xmlns:a16="http://schemas.microsoft.com/office/drawing/2014/main" id="{53C707BD-70F0-4F05-96AA-9BC53F310170}"/>
                  </a:ext>
                </a:extLst>
              </p:cNvPr>
              <p:cNvSpPr/>
              <p:nvPr/>
            </p:nvSpPr>
            <p:spPr>
              <a:xfrm>
                <a:off x="3422572" y="5334888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33" name="Rechteck 132">
                <a:extLst>
                  <a:ext uri="{FF2B5EF4-FFF2-40B4-BE49-F238E27FC236}">
                    <a16:creationId xmlns:a16="http://schemas.microsoft.com/office/drawing/2014/main" id="{53C707BD-70F0-4F05-96AA-9BC53F3101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2572" y="5334888"/>
                <a:ext cx="437940" cy="461665"/>
              </a:xfrm>
              <a:prstGeom prst="rect">
                <a:avLst/>
              </a:prstGeom>
              <a:blipFill>
                <a:blip r:embed="rId14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hteck 57">
                <a:extLst>
                  <a:ext uri="{FF2B5EF4-FFF2-40B4-BE49-F238E27FC236}">
                    <a16:creationId xmlns:a16="http://schemas.microsoft.com/office/drawing/2014/main" id="{06C0AD42-735D-40FF-ABC2-A66A1924587D}"/>
                  </a:ext>
                </a:extLst>
              </p:cNvPr>
              <p:cNvSpPr/>
              <p:nvPr/>
            </p:nvSpPr>
            <p:spPr>
              <a:xfrm>
                <a:off x="3517354" y="3037724"/>
                <a:ext cx="78739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/</m:t>
                      </m:r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𝟒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8" name="Rechteck 57">
                <a:extLst>
                  <a:ext uri="{FF2B5EF4-FFF2-40B4-BE49-F238E27FC236}">
                    <a16:creationId xmlns:a16="http://schemas.microsoft.com/office/drawing/2014/main" id="{06C0AD42-735D-40FF-ABC2-A66A192458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7354" y="3037724"/>
                <a:ext cx="787395" cy="461665"/>
              </a:xfrm>
              <a:prstGeom prst="rect">
                <a:avLst/>
              </a:prstGeom>
              <a:blipFill>
                <a:blip r:embed="rId1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hteck 58">
                <a:extLst>
                  <a:ext uri="{FF2B5EF4-FFF2-40B4-BE49-F238E27FC236}">
                    <a16:creationId xmlns:a16="http://schemas.microsoft.com/office/drawing/2014/main" id="{BA2C89BB-3E28-44D3-81B3-C321981831C8}"/>
                  </a:ext>
                </a:extLst>
              </p:cNvPr>
              <p:cNvSpPr/>
              <p:nvPr/>
            </p:nvSpPr>
            <p:spPr>
              <a:xfrm>
                <a:off x="4974396" y="3026869"/>
                <a:ext cx="78739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/</m:t>
                      </m:r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𝟒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9" name="Rechteck 58">
                <a:extLst>
                  <a:ext uri="{FF2B5EF4-FFF2-40B4-BE49-F238E27FC236}">
                    <a16:creationId xmlns:a16="http://schemas.microsoft.com/office/drawing/2014/main" id="{BA2C89BB-3E28-44D3-81B3-C321981831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4396" y="3026869"/>
                <a:ext cx="787395" cy="461665"/>
              </a:xfrm>
              <a:prstGeom prst="rect">
                <a:avLst/>
              </a:prstGeom>
              <a:blipFill>
                <a:blip r:embed="rId16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Rechteck 59">
                <a:extLst>
                  <a:ext uri="{FF2B5EF4-FFF2-40B4-BE49-F238E27FC236}">
                    <a16:creationId xmlns:a16="http://schemas.microsoft.com/office/drawing/2014/main" id="{4870B485-4375-4831-BF5A-DFDEEBF9818B}"/>
                  </a:ext>
                </a:extLst>
              </p:cNvPr>
              <p:cNvSpPr/>
              <p:nvPr/>
            </p:nvSpPr>
            <p:spPr>
              <a:xfrm>
                <a:off x="7122710" y="3037723"/>
                <a:ext cx="78739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/</m:t>
                      </m:r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𝟒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0" name="Rechteck 59">
                <a:extLst>
                  <a:ext uri="{FF2B5EF4-FFF2-40B4-BE49-F238E27FC236}">
                    <a16:creationId xmlns:a16="http://schemas.microsoft.com/office/drawing/2014/main" id="{4870B485-4375-4831-BF5A-DFDEEBF981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2710" y="3037723"/>
                <a:ext cx="787395" cy="461665"/>
              </a:xfrm>
              <a:prstGeom prst="rect">
                <a:avLst/>
              </a:prstGeom>
              <a:blipFill>
                <a:blip r:embed="rId17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Rechteck 61">
                <a:extLst>
                  <a:ext uri="{FF2B5EF4-FFF2-40B4-BE49-F238E27FC236}">
                    <a16:creationId xmlns:a16="http://schemas.microsoft.com/office/drawing/2014/main" id="{16C37559-DA9D-47A1-9F48-45ABD5650825}"/>
                  </a:ext>
                </a:extLst>
              </p:cNvPr>
              <p:cNvSpPr/>
              <p:nvPr/>
            </p:nvSpPr>
            <p:spPr>
              <a:xfrm>
                <a:off x="1236470" y="4991543"/>
                <a:ext cx="519723" cy="76944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4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. . .</m:t>
                      </m:r>
                    </m:oMath>
                  </m:oMathPara>
                </a14:m>
                <a:endParaRPr lang="de-AT" sz="4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2" name="Rechteck 61">
                <a:extLst>
                  <a:ext uri="{FF2B5EF4-FFF2-40B4-BE49-F238E27FC236}">
                    <a16:creationId xmlns:a16="http://schemas.microsoft.com/office/drawing/2014/main" id="{16C37559-DA9D-47A1-9F48-45ABD56508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6470" y="4991543"/>
                <a:ext cx="519723" cy="76944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Rechteck 62">
                <a:extLst>
                  <a:ext uri="{FF2B5EF4-FFF2-40B4-BE49-F238E27FC236}">
                    <a16:creationId xmlns:a16="http://schemas.microsoft.com/office/drawing/2014/main" id="{555FBC1F-977A-40D7-A8B9-641F735E0C30}"/>
                  </a:ext>
                </a:extLst>
              </p:cNvPr>
              <p:cNvSpPr/>
              <p:nvPr/>
            </p:nvSpPr>
            <p:spPr>
              <a:xfrm>
                <a:off x="3842951" y="4112440"/>
                <a:ext cx="519723" cy="76944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4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. . .</m:t>
                      </m:r>
                    </m:oMath>
                  </m:oMathPara>
                </a14:m>
                <a:endParaRPr lang="de-AT" sz="4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3" name="Rechteck 62">
                <a:extLst>
                  <a:ext uri="{FF2B5EF4-FFF2-40B4-BE49-F238E27FC236}">
                    <a16:creationId xmlns:a16="http://schemas.microsoft.com/office/drawing/2014/main" id="{555FBC1F-977A-40D7-A8B9-641F735E0C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2951" y="4112440"/>
                <a:ext cx="519723" cy="769441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Rechteck 63">
                <a:extLst>
                  <a:ext uri="{FF2B5EF4-FFF2-40B4-BE49-F238E27FC236}">
                    <a16:creationId xmlns:a16="http://schemas.microsoft.com/office/drawing/2014/main" id="{E5B42108-0135-4E78-92F3-54261636A430}"/>
                  </a:ext>
                </a:extLst>
              </p:cNvPr>
              <p:cNvSpPr/>
              <p:nvPr/>
            </p:nvSpPr>
            <p:spPr>
              <a:xfrm>
                <a:off x="4004079" y="4983731"/>
                <a:ext cx="519723" cy="76944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4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. . .</m:t>
                      </m:r>
                    </m:oMath>
                  </m:oMathPara>
                </a14:m>
                <a:endParaRPr lang="de-AT" sz="4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4" name="Rechteck 63">
                <a:extLst>
                  <a:ext uri="{FF2B5EF4-FFF2-40B4-BE49-F238E27FC236}">
                    <a16:creationId xmlns:a16="http://schemas.microsoft.com/office/drawing/2014/main" id="{E5B42108-0135-4E78-92F3-54261636A4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4079" y="4983731"/>
                <a:ext cx="519723" cy="76944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Ellipse 64">
            <a:extLst>
              <a:ext uri="{FF2B5EF4-FFF2-40B4-BE49-F238E27FC236}">
                <a16:creationId xmlns:a16="http://schemas.microsoft.com/office/drawing/2014/main" id="{5F6D2E74-6B05-4029-85EB-CB699A9CC6E0}"/>
              </a:ext>
            </a:extLst>
          </p:cNvPr>
          <p:cNvSpPr>
            <a:spLocks noChangeAspect="1"/>
          </p:cNvSpPr>
          <p:nvPr/>
        </p:nvSpPr>
        <p:spPr>
          <a:xfrm>
            <a:off x="4868476" y="5222034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983E2AFB-0B83-4240-B1EC-E447B42ABED2}"/>
              </a:ext>
            </a:extLst>
          </p:cNvPr>
          <p:cNvSpPr>
            <a:spLocks noChangeAspect="1"/>
          </p:cNvSpPr>
          <p:nvPr/>
        </p:nvSpPr>
        <p:spPr>
          <a:xfrm>
            <a:off x="6308476" y="5222034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2BC3478-48B1-4A7F-9378-311835727727}"/>
              </a:ext>
            </a:extLst>
          </p:cNvPr>
          <p:cNvCxnSpPr>
            <a:cxnSpLocks noChangeAspect="1"/>
            <a:endCxn id="65" idx="7"/>
          </p:cNvCxnSpPr>
          <p:nvPr/>
        </p:nvCxnSpPr>
        <p:spPr>
          <a:xfrm flipH="1">
            <a:off x="5329395" y="4962953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0A576108-44CE-4A94-94C9-716F773EF443}"/>
              </a:ext>
            </a:extLst>
          </p:cNvPr>
          <p:cNvCxnSpPr>
            <a:cxnSpLocks noChangeAspect="1"/>
          </p:cNvCxnSpPr>
          <p:nvPr/>
        </p:nvCxnSpPr>
        <p:spPr>
          <a:xfrm>
            <a:off x="6049395" y="4962953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Rechteck 69">
                <a:extLst>
                  <a:ext uri="{FF2B5EF4-FFF2-40B4-BE49-F238E27FC236}">
                    <a16:creationId xmlns:a16="http://schemas.microsoft.com/office/drawing/2014/main" id="{5BE9F59B-287B-421A-A196-27521D244E88}"/>
                  </a:ext>
                </a:extLst>
              </p:cNvPr>
              <p:cNvSpPr/>
              <p:nvPr/>
            </p:nvSpPr>
            <p:spPr>
              <a:xfrm>
                <a:off x="4946562" y="5222034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0" name="Rechteck 69">
                <a:extLst>
                  <a:ext uri="{FF2B5EF4-FFF2-40B4-BE49-F238E27FC236}">
                    <a16:creationId xmlns:a16="http://schemas.microsoft.com/office/drawing/2014/main" id="{5BE9F59B-287B-421A-A196-27521D244E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6562" y="5222034"/>
                <a:ext cx="437940" cy="461665"/>
              </a:xfrm>
              <a:prstGeom prst="rect">
                <a:avLst/>
              </a:prstGeom>
              <a:blipFill>
                <a:blip r:embed="rId21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Rechteck 70">
                <a:extLst>
                  <a:ext uri="{FF2B5EF4-FFF2-40B4-BE49-F238E27FC236}">
                    <a16:creationId xmlns:a16="http://schemas.microsoft.com/office/drawing/2014/main" id="{ADB835BC-AE11-4E95-A5AE-A9A47B742FC0}"/>
                  </a:ext>
                </a:extLst>
              </p:cNvPr>
              <p:cNvSpPr/>
              <p:nvPr/>
            </p:nvSpPr>
            <p:spPr>
              <a:xfrm>
                <a:off x="6387557" y="5269322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1" name="Rechteck 70">
                <a:extLst>
                  <a:ext uri="{FF2B5EF4-FFF2-40B4-BE49-F238E27FC236}">
                    <a16:creationId xmlns:a16="http://schemas.microsoft.com/office/drawing/2014/main" id="{ADB835BC-AE11-4E95-A5AE-A9A47B742F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7557" y="5269322"/>
                <a:ext cx="437940" cy="461665"/>
              </a:xfrm>
              <a:prstGeom prst="rect">
                <a:avLst/>
              </a:prstGeom>
              <a:blipFill>
                <a:blip r:embed="rId22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Rechteck 72">
                <a:extLst>
                  <a:ext uri="{FF2B5EF4-FFF2-40B4-BE49-F238E27FC236}">
                    <a16:creationId xmlns:a16="http://schemas.microsoft.com/office/drawing/2014/main" id="{F9BC0886-B8EA-4DA2-9BAD-ABD331EA03B8}"/>
                  </a:ext>
                </a:extLst>
              </p:cNvPr>
              <p:cNvSpPr/>
              <p:nvPr/>
            </p:nvSpPr>
            <p:spPr>
              <a:xfrm>
                <a:off x="7003737" y="5000615"/>
                <a:ext cx="519723" cy="76944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4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. . .</m:t>
                      </m:r>
                    </m:oMath>
                  </m:oMathPara>
                </a14:m>
                <a:endParaRPr lang="de-AT" sz="4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3" name="Rechteck 72">
                <a:extLst>
                  <a:ext uri="{FF2B5EF4-FFF2-40B4-BE49-F238E27FC236}">
                    <a16:creationId xmlns:a16="http://schemas.microsoft.com/office/drawing/2014/main" id="{F9BC0886-B8EA-4DA2-9BAD-ABD331EA03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3737" y="5000615"/>
                <a:ext cx="519723" cy="769441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4" name="Gerade Verbindung mit Pfeil 73">
            <a:extLst>
              <a:ext uri="{FF2B5EF4-FFF2-40B4-BE49-F238E27FC236}">
                <a16:creationId xmlns:a16="http://schemas.microsoft.com/office/drawing/2014/main" id="{C524F826-5E6E-4878-86B4-4E797CD60667}"/>
              </a:ext>
            </a:extLst>
          </p:cNvPr>
          <p:cNvCxnSpPr>
            <a:cxnSpLocks/>
          </p:cNvCxnSpPr>
          <p:nvPr/>
        </p:nvCxnSpPr>
        <p:spPr>
          <a:xfrm>
            <a:off x="7672279" y="5560118"/>
            <a:ext cx="704857" cy="0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Rechteck 74">
                <a:extLst>
                  <a:ext uri="{FF2B5EF4-FFF2-40B4-BE49-F238E27FC236}">
                    <a16:creationId xmlns:a16="http://schemas.microsoft.com/office/drawing/2014/main" id="{EC38225A-A904-41A9-A92C-F8B1DFFBAB5A}"/>
                  </a:ext>
                </a:extLst>
              </p:cNvPr>
              <p:cNvSpPr/>
              <p:nvPr/>
            </p:nvSpPr>
            <p:spPr>
              <a:xfrm>
                <a:off x="8442394" y="5334888"/>
                <a:ext cx="519723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5" name="Rechteck 74">
                <a:extLst>
                  <a:ext uri="{FF2B5EF4-FFF2-40B4-BE49-F238E27FC236}">
                    <a16:creationId xmlns:a16="http://schemas.microsoft.com/office/drawing/2014/main" id="{EC38225A-A904-41A9-A92C-F8B1DFFBAB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2394" y="5334888"/>
                <a:ext cx="519723" cy="46166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platzhalter 2">
                <a:extLst>
                  <a:ext uri="{FF2B5EF4-FFF2-40B4-BE49-F238E27FC236}">
                    <a16:creationId xmlns:a16="http://schemas.microsoft.com/office/drawing/2014/main" id="{805CB138-347A-4A5B-BAFA-CF57D8C8F94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423267" y="5972074"/>
                <a:ext cx="962900" cy="381612"/>
              </a:xfrm>
            </p:spPr>
            <p:txBody>
              <a:bodyPr/>
              <a:lstStyle/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noProof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𝑂</m:t>
                      </m:r>
                      <m:r>
                        <a:rPr lang="en-US" sz="2400" i="1" noProof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(</m:t>
                      </m:r>
                      <m:r>
                        <a:rPr lang="en-US" sz="2400" i="1" noProof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𝑛</m:t>
                      </m:r>
                      <m:func>
                        <m:funcPr>
                          <m:ctrlPr>
                            <a:rPr lang="en-US" sz="2400" b="0" i="1" noProof="0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noProof="0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log</m:t>
                          </m:r>
                        </m:fName>
                        <m:e>
                          <m:r>
                            <a:rPr lang="en-US" sz="2400" b="0" i="1" noProof="0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e>
                      </m:func>
                      <m:r>
                        <a:rPr lang="en-US" sz="2400" i="1" noProof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)</m:t>
                      </m:r>
                    </m:oMath>
                  </m:oMathPara>
                </a14:m>
                <a:endParaRPr lang="en-US" sz="240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6" name="Textplatzhalter 2">
                <a:extLst>
                  <a:ext uri="{FF2B5EF4-FFF2-40B4-BE49-F238E27FC236}">
                    <a16:creationId xmlns:a16="http://schemas.microsoft.com/office/drawing/2014/main" id="{805CB138-347A-4A5B-BAFA-CF57D8C8F9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423267" y="5972074"/>
                <a:ext cx="962900" cy="381612"/>
              </a:xfrm>
              <a:blipFill>
                <a:blip r:embed="rId25"/>
                <a:stretch>
                  <a:fillRect r="-46835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9" name="Titel 1">
            <a:extLst>
              <a:ext uri="{FF2B5EF4-FFF2-40B4-BE49-F238E27FC236}">
                <a16:creationId xmlns:a16="http://schemas.microsoft.com/office/drawing/2014/main" id="{0B1F4BB3-448B-4936-9CCC-9DDFEA959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</p:spPr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Recursion tree: best case</a:t>
            </a:r>
          </a:p>
        </p:txBody>
      </p:sp>
    </p:spTree>
    <p:extLst>
      <p:ext uri="{BB962C8B-B14F-4D97-AF65-F5344CB8AC3E}">
        <p14:creationId xmlns:p14="http://schemas.microsoft.com/office/powerpoint/2010/main" val="33178900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llipse 4">
            <a:extLst>
              <a:ext uri="{FF2B5EF4-FFF2-40B4-BE49-F238E27FC236}">
                <a16:creationId xmlns:a16="http://schemas.microsoft.com/office/drawing/2014/main" id="{76314C63-9824-4B5B-AF07-A257852AF4FD}"/>
              </a:ext>
            </a:extLst>
          </p:cNvPr>
          <p:cNvSpPr>
            <a:spLocks noChangeAspect="1"/>
          </p:cNvSpPr>
          <p:nvPr/>
        </p:nvSpPr>
        <p:spPr>
          <a:xfrm>
            <a:off x="1806364" y="1602333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F2C242C1-4D9C-4C41-98B6-81C9B1301F6C}"/>
              </a:ext>
            </a:extLst>
          </p:cNvPr>
          <p:cNvSpPr>
            <a:spLocks noChangeAspect="1"/>
          </p:cNvSpPr>
          <p:nvPr/>
        </p:nvSpPr>
        <p:spPr>
          <a:xfrm>
            <a:off x="615600" y="22644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5A6A383-6DE1-424E-8688-EC3C18FCFBDC}"/>
              </a:ext>
            </a:extLst>
          </p:cNvPr>
          <p:cNvSpPr>
            <a:spLocks noChangeAspect="1"/>
          </p:cNvSpPr>
          <p:nvPr/>
        </p:nvSpPr>
        <p:spPr>
          <a:xfrm>
            <a:off x="3113232" y="2264959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C88A0FC0-C4C3-41BC-B391-EE159FB1A72B}"/>
              </a:ext>
            </a:extLst>
          </p:cNvPr>
          <p:cNvSpPr>
            <a:spLocks noChangeAspect="1"/>
          </p:cNvSpPr>
          <p:nvPr/>
        </p:nvSpPr>
        <p:spPr>
          <a:xfrm>
            <a:off x="2033232" y="2984959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7F43EA6C-E5AC-4B2E-A2A3-F1B0D97F459D}"/>
              </a:ext>
            </a:extLst>
          </p:cNvPr>
          <p:cNvSpPr>
            <a:spLocks noChangeAspect="1"/>
          </p:cNvSpPr>
          <p:nvPr/>
        </p:nvSpPr>
        <p:spPr>
          <a:xfrm>
            <a:off x="4193232" y="2984959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425CCEB-64BD-479F-A5D2-4360DD72CC9D}"/>
                  </a:ext>
                </a:extLst>
              </p:cNvPr>
              <p:cNvSpPr/>
              <p:nvPr/>
            </p:nvSpPr>
            <p:spPr>
              <a:xfrm>
                <a:off x="1898271" y="1598302"/>
                <a:ext cx="45236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425CCEB-64BD-479F-A5D2-4360DD72CC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8271" y="1598302"/>
                <a:ext cx="452368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8FAE7ADB-08BB-4BB7-898A-F9BC295ED5A1}"/>
              </a:ext>
            </a:extLst>
          </p:cNvPr>
          <p:cNvCxnSpPr>
            <a:cxnSpLocks noChangeAspect="1"/>
            <a:stCxn id="5" idx="3"/>
            <a:endCxn id="9" idx="7"/>
          </p:cNvCxnSpPr>
          <p:nvPr/>
        </p:nvCxnSpPr>
        <p:spPr>
          <a:xfrm flipH="1">
            <a:off x="1076519" y="2063252"/>
            <a:ext cx="808926" cy="28022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136AA771-6456-4E17-B948-227956EF2521}"/>
              </a:ext>
            </a:extLst>
          </p:cNvPr>
          <p:cNvCxnSpPr>
            <a:cxnSpLocks noChangeAspect="1"/>
            <a:stCxn id="5" idx="5"/>
            <a:endCxn id="11" idx="1"/>
          </p:cNvCxnSpPr>
          <p:nvPr/>
        </p:nvCxnSpPr>
        <p:spPr>
          <a:xfrm>
            <a:off x="2267283" y="2063252"/>
            <a:ext cx="925030" cy="28078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2FEBAD28-6B68-4D00-BE1F-828EBAAAB941}"/>
              </a:ext>
            </a:extLst>
          </p:cNvPr>
          <p:cNvCxnSpPr>
            <a:cxnSpLocks noChangeAspect="1"/>
            <a:stCxn id="11" idx="3"/>
            <a:endCxn id="14" idx="7"/>
          </p:cNvCxnSpPr>
          <p:nvPr/>
        </p:nvCxnSpPr>
        <p:spPr>
          <a:xfrm flipH="1">
            <a:off x="2494151" y="2725878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948256B9-48B5-4406-944C-132C3B4FE49A}"/>
              </a:ext>
            </a:extLst>
          </p:cNvPr>
          <p:cNvCxnSpPr>
            <a:cxnSpLocks noChangeAspect="1"/>
            <a:stCxn id="11" idx="5"/>
            <a:endCxn id="15" idx="1"/>
          </p:cNvCxnSpPr>
          <p:nvPr/>
        </p:nvCxnSpPr>
        <p:spPr>
          <a:xfrm>
            <a:off x="3574151" y="2725878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432D69F1-9D62-4807-8F68-1E153F2E878E}"/>
              </a:ext>
            </a:extLst>
          </p:cNvPr>
          <p:cNvCxnSpPr>
            <a:cxnSpLocks/>
          </p:cNvCxnSpPr>
          <p:nvPr/>
        </p:nvCxnSpPr>
        <p:spPr>
          <a:xfrm>
            <a:off x="374073" y="1598301"/>
            <a:ext cx="1" cy="483991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61BF7C3B-5D93-4D13-9636-03DFAFBD0E07}"/>
                  </a:ext>
                </a:extLst>
              </p:cNvPr>
              <p:cNvSpPr/>
              <p:nvPr/>
            </p:nvSpPr>
            <p:spPr>
              <a:xfrm>
                <a:off x="530858" y="1598301"/>
                <a:ext cx="45236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61BF7C3B-5D93-4D13-9636-03DFAFBD0E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858" y="1598301"/>
                <a:ext cx="452368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083E662B-5DB8-477C-B3EA-80E975849C61}"/>
              </a:ext>
            </a:extLst>
          </p:cNvPr>
          <p:cNvCxnSpPr>
            <a:cxnSpLocks/>
          </p:cNvCxnSpPr>
          <p:nvPr/>
        </p:nvCxnSpPr>
        <p:spPr>
          <a:xfrm>
            <a:off x="3736943" y="2489200"/>
            <a:ext cx="4634897" cy="0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2E1D0499-937B-4AD6-8DDA-57DA4A6D49E9}"/>
                  </a:ext>
                </a:extLst>
              </p:cNvPr>
              <p:cNvSpPr/>
              <p:nvPr/>
            </p:nvSpPr>
            <p:spPr>
              <a:xfrm>
                <a:off x="8437098" y="1598301"/>
                <a:ext cx="519723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2E1D0499-937B-4AD6-8DDA-57DA4A6D49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7098" y="1598301"/>
                <a:ext cx="51972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C51F681F-231F-4BD4-8F02-B37FB9BFD9E4}"/>
              </a:ext>
            </a:extLst>
          </p:cNvPr>
          <p:cNvCxnSpPr>
            <a:cxnSpLocks/>
          </p:cNvCxnSpPr>
          <p:nvPr/>
        </p:nvCxnSpPr>
        <p:spPr>
          <a:xfrm>
            <a:off x="4871689" y="3241634"/>
            <a:ext cx="3495138" cy="10588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4F9EAC37-11F2-4AB2-9B04-9736D50307EF}"/>
              </a:ext>
            </a:extLst>
          </p:cNvPr>
          <p:cNvCxnSpPr>
            <a:cxnSpLocks/>
          </p:cNvCxnSpPr>
          <p:nvPr/>
        </p:nvCxnSpPr>
        <p:spPr>
          <a:xfrm flipV="1">
            <a:off x="2554376" y="1801632"/>
            <a:ext cx="5817464" cy="27501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Rechteck 97">
                <a:extLst>
                  <a:ext uri="{FF2B5EF4-FFF2-40B4-BE49-F238E27FC236}">
                    <a16:creationId xmlns:a16="http://schemas.microsoft.com/office/drawing/2014/main" id="{4AF0683C-B193-4AF9-BA5C-C19C50A1CDD8}"/>
                  </a:ext>
                </a:extLst>
              </p:cNvPr>
              <p:cNvSpPr/>
              <p:nvPr/>
            </p:nvSpPr>
            <p:spPr>
              <a:xfrm>
                <a:off x="8437098" y="2258367"/>
                <a:ext cx="519723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98" name="Rechteck 97">
                <a:extLst>
                  <a:ext uri="{FF2B5EF4-FFF2-40B4-BE49-F238E27FC236}">
                    <a16:creationId xmlns:a16="http://schemas.microsoft.com/office/drawing/2014/main" id="{4AF0683C-B193-4AF9-BA5C-C19C50A1CD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7098" y="2258367"/>
                <a:ext cx="519723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21FF6601-7E56-4649-8B82-4560FA78BB8D}"/>
                  </a:ext>
                </a:extLst>
              </p:cNvPr>
              <p:cNvSpPr/>
              <p:nvPr/>
            </p:nvSpPr>
            <p:spPr>
              <a:xfrm>
                <a:off x="8356742" y="2965762"/>
                <a:ext cx="965056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−</m:t>
                      </m:r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21FF6601-7E56-4649-8B82-4560FA78BB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742" y="2965762"/>
                <a:ext cx="965056" cy="461665"/>
              </a:xfrm>
              <a:prstGeom prst="rect">
                <a:avLst/>
              </a:prstGeom>
              <a:blipFill>
                <a:blip r:embed="rId7"/>
                <a:stretch>
                  <a:fillRect l="-633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3E4B0EA7-4F1D-4291-B68A-A3FACE161371}"/>
                  </a:ext>
                </a:extLst>
              </p:cNvPr>
              <p:cNvSpPr/>
              <p:nvPr/>
            </p:nvSpPr>
            <p:spPr>
              <a:xfrm>
                <a:off x="3079724" y="2295572"/>
                <a:ext cx="63350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de-AT" sz="2400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𝒏</m:t>
                    </m:r>
                  </m:oMath>
                </a14:m>
                <a:r>
                  <a:rPr lang="de-AT" sz="2400" b="1" dirty="0">
                    <a:solidFill>
                      <a:schemeClr val="tx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-1</a:t>
                </a:r>
              </a:p>
            </p:txBody>
          </p:sp>
        </mc:Choice>
        <mc:Fallback xmlns=""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3E4B0EA7-4F1D-4291-B68A-A3FACE1613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9724" y="2295572"/>
                <a:ext cx="633508" cy="461665"/>
              </a:xfrm>
              <a:prstGeom prst="rect">
                <a:avLst/>
              </a:prstGeom>
              <a:blipFill>
                <a:blip r:embed="rId8"/>
                <a:stretch>
                  <a:fillRect t="-10667" r="-14423" b="-30667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2C8118D6-AF05-44CC-AE97-AE6CDF7EBB30}"/>
              </a:ext>
            </a:extLst>
          </p:cNvPr>
          <p:cNvCxnSpPr>
            <a:cxnSpLocks noChangeAspect="1"/>
            <a:stCxn id="15" idx="3"/>
          </p:cNvCxnSpPr>
          <p:nvPr/>
        </p:nvCxnSpPr>
        <p:spPr>
          <a:xfrm flipH="1">
            <a:off x="3923232" y="3445878"/>
            <a:ext cx="349081" cy="31391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F2664FB9-A9A6-490C-8D12-C4305553F1CC}"/>
              </a:ext>
            </a:extLst>
          </p:cNvPr>
          <p:cNvCxnSpPr>
            <a:cxnSpLocks noChangeAspect="1"/>
            <a:stCxn id="15" idx="5"/>
          </p:cNvCxnSpPr>
          <p:nvPr/>
        </p:nvCxnSpPr>
        <p:spPr>
          <a:xfrm>
            <a:off x="4654151" y="3445878"/>
            <a:ext cx="370731" cy="32757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Ellipse 114">
            <a:extLst>
              <a:ext uri="{FF2B5EF4-FFF2-40B4-BE49-F238E27FC236}">
                <a16:creationId xmlns:a16="http://schemas.microsoft.com/office/drawing/2014/main" id="{E2CB1048-AF80-491F-A49C-9CFE5C44D6A3}"/>
              </a:ext>
            </a:extLst>
          </p:cNvPr>
          <p:cNvSpPr>
            <a:spLocks noChangeAspect="1"/>
          </p:cNvSpPr>
          <p:nvPr/>
        </p:nvSpPr>
        <p:spPr>
          <a:xfrm>
            <a:off x="5260511" y="5898218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F4C9CD20-BAAD-4411-BEF8-F45717AE1642}"/>
              </a:ext>
            </a:extLst>
          </p:cNvPr>
          <p:cNvCxnSpPr>
            <a:cxnSpLocks noChangeAspect="1"/>
            <a:endCxn id="115" idx="7"/>
          </p:cNvCxnSpPr>
          <p:nvPr/>
        </p:nvCxnSpPr>
        <p:spPr>
          <a:xfrm flipH="1">
            <a:off x="5721430" y="5639137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3B02F487-B272-48AE-AE4C-C7DCF82E6AA0}"/>
              </a:ext>
            </a:extLst>
          </p:cNvPr>
          <p:cNvCxnSpPr>
            <a:cxnSpLocks/>
          </p:cNvCxnSpPr>
          <p:nvPr/>
        </p:nvCxnSpPr>
        <p:spPr>
          <a:xfrm>
            <a:off x="7263598" y="3968237"/>
            <a:ext cx="1108242" cy="0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Rechteck 131">
                <a:extLst>
                  <a:ext uri="{FF2B5EF4-FFF2-40B4-BE49-F238E27FC236}">
                    <a16:creationId xmlns:a16="http://schemas.microsoft.com/office/drawing/2014/main" id="{137C8732-A7AB-4795-8605-D178C845FEC0}"/>
                  </a:ext>
                </a:extLst>
              </p:cNvPr>
              <p:cNvSpPr/>
              <p:nvPr/>
            </p:nvSpPr>
            <p:spPr>
              <a:xfrm>
                <a:off x="5338597" y="5898218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32" name="Rechteck 131">
                <a:extLst>
                  <a:ext uri="{FF2B5EF4-FFF2-40B4-BE49-F238E27FC236}">
                    <a16:creationId xmlns:a16="http://schemas.microsoft.com/office/drawing/2014/main" id="{137C8732-A7AB-4795-8605-D178C845FE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597" y="5898218"/>
                <a:ext cx="437940" cy="461665"/>
              </a:xfrm>
              <a:prstGeom prst="rect">
                <a:avLst/>
              </a:prstGeom>
              <a:blipFill>
                <a:blip r:embed="rId9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Rechteck 59">
                <a:extLst>
                  <a:ext uri="{FF2B5EF4-FFF2-40B4-BE49-F238E27FC236}">
                    <a16:creationId xmlns:a16="http://schemas.microsoft.com/office/drawing/2014/main" id="{4870B485-4375-4831-BF5A-DFDEEBF9818B}"/>
                  </a:ext>
                </a:extLst>
              </p:cNvPr>
              <p:cNvSpPr/>
              <p:nvPr/>
            </p:nvSpPr>
            <p:spPr>
              <a:xfrm>
                <a:off x="4169495" y="3021808"/>
                <a:ext cx="63350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de-AT" sz="2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𝒏</m:t>
                    </m:r>
                  </m:oMath>
                </a14:m>
                <a:r>
                  <a:rPr lang="de-AT" sz="2400" b="1" dirty="0">
                    <a:solidFill>
                      <a:schemeClr val="tx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-2</a:t>
                </a:r>
              </a:p>
            </p:txBody>
          </p:sp>
        </mc:Choice>
        <mc:Fallback xmlns="">
          <p:sp>
            <p:nvSpPr>
              <p:cNvPr id="60" name="Rechteck 59">
                <a:extLst>
                  <a:ext uri="{FF2B5EF4-FFF2-40B4-BE49-F238E27FC236}">
                    <a16:creationId xmlns:a16="http://schemas.microsoft.com/office/drawing/2014/main" id="{4870B485-4375-4831-BF5A-DFDEEBF981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9495" y="3021808"/>
                <a:ext cx="633508" cy="461665"/>
              </a:xfrm>
              <a:prstGeom prst="rect">
                <a:avLst/>
              </a:prstGeom>
              <a:blipFill>
                <a:blip r:embed="rId10"/>
                <a:stretch>
                  <a:fillRect t="-10667" r="-14423" b="-30667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Rechteck 63">
                <a:extLst>
                  <a:ext uri="{FF2B5EF4-FFF2-40B4-BE49-F238E27FC236}">
                    <a16:creationId xmlns:a16="http://schemas.microsoft.com/office/drawing/2014/main" id="{E5B42108-0135-4E78-92F3-54261636A430}"/>
                  </a:ext>
                </a:extLst>
              </p:cNvPr>
              <p:cNvSpPr/>
              <p:nvPr/>
            </p:nvSpPr>
            <p:spPr>
              <a:xfrm>
                <a:off x="5384439" y="4247325"/>
                <a:ext cx="519723" cy="76944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4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. . .</m:t>
                      </m:r>
                    </m:oMath>
                  </m:oMathPara>
                </a14:m>
                <a:endParaRPr lang="de-AT" sz="4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4" name="Rechteck 63">
                <a:extLst>
                  <a:ext uri="{FF2B5EF4-FFF2-40B4-BE49-F238E27FC236}">
                    <a16:creationId xmlns:a16="http://schemas.microsoft.com/office/drawing/2014/main" id="{E5B42108-0135-4E78-92F3-54261636A4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4439" y="4247325"/>
                <a:ext cx="519723" cy="76944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Ellipse 64">
            <a:extLst>
              <a:ext uri="{FF2B5EF4-FFF2-40B4-BE49-F238E27FC236}">
                <a16:creationId xmlns:a16="http://schemas.microsoft.com/office/drawing/2014/main" id="{5F6D2E74-6B05-4029-85EB-CB699A9CC6E0}"/>
              </a:ext>
            </a:extLst>
          </p:cNvPr>
          <p:cNvSpPr>
            <a:spLocks noChangeAspect="1"/>
          </p:cNvSpPr>
          <p:nvPr/>
        </p:nvSpPr>
        <p:spPr>
          <a:xfrm>
            <a:off x="4206356" y="4467952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983E2AFB-0B83-4240-B1EC-E447B42ABED2}"/>
              </a:ext>
            </a:extLst>
          </p:cNvPr>
          <p:cNvSpPr>
            <a:spLocks noChangeAspect="1"/>
          </p:cNvSpPr>
          <p:nvPr/>
        </p:nvSpPr>
        <p:spPr>
          <a:xfrm>
            <a:off x="6607703" y="5899114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2BC3478-48B1-4A7F-9378-311835727727}"/>
              </a:ext>
            </a:extLst>
          </p:cNvPr>
          <p:cNvCxnSpPr>
            <a:cxnSpLocks noChangeAspect="1"/>
            <a:endCxn id="65" idx="7"/>
          </p:cNvCxnSpPr>
          <p:nvPr/>
        </p:nvCxnSpPr>
        <p:spPr>
          <a:xfrm flipH="1">
            <a:off x="4667275" y="4208871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0A576108-44CE-4A94-94C9-716F773EF443}"/>
              </a:ext>
            </a:extLst>
          </p:cNvPr>
          <p:cNvCxnSpPr>
            <a:cxnSpLocks noChangeAspect="1"/>
          </p:cNvCxnSpPr>
          <p:nvPr/>
        </p:nvCxnSpPr>
        <p:spPr>
          <a:xfrm>
            <a:off x="6348622" y="5640033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Rechteck 69">
                <a:extLst>
                  <a:ext uri="{FF2B5EF4-FFF2-40B4-BE49-F238E27FC236}">
                    <a16:creationId xmlns:a16="http://schemas.microsoft.com/office/drawing/2014/main" id="{5BE9F59B-287B-421A-A196-27521D244E88}"/>
                  </a:ext>
                </a:extLst>
              </p:cNvPr>
              <p:cNvSpPr/>
              <p:nvPr/>
            </p:nvSpPr>
            <p:spPr>
              <a:xfrm>
                <a:off x="4284442" y="4467952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0" name="Rechteck 69">
                <a:extLst>
                  <a:ext uri="{FF2B5EF4-FFF2-40B4-BE49-F238E27FC236}">
                    <a16:creationId xmlns:a16="http://schemas.microsoft.com/office/drawing/2014/main" id="{5BE9F59B-287B-421A-A196-27521D244E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4442" y="4467952"/>
                <a:ext cx="437940" cy="461665"/>
              </a:xfrm>
              <a:prstGeom prst="rect">
                <a:avLst/>
              </a:prstGeom>
              <a:blipFill>
                <a:blip r:embed="rId12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Rechteck 70">
                <a:extLst>
                  <a:ext uri="{FF2B5EF4-FFF2-40B4-BE49-F238E27FC236}">
                    <a16:creationId xmlns:a16="http://schemas.microsoft.com/office/drawing/2014/main" id="{ADB835BC-AE11-4E95-A5AE-A9A47B742FC0}"/>
                  </a:ext>
                </a:extLst>
              </p:cNvPr>
              <p:cNvSpPr/>
              <p:nvPr/>
            </p:nvSpPr>
            <p:spPr>
              <a:xfrm>
                <a:off x="6686784" y="5946402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1" name="Rechteck 70">
                <a:extLst>
                  <a:ext uri="{FF2B5EF4-FFF2-40B4-BE49-F238E27FC236}">
                    <a16:creationId xmlns:a16="http://schemas.microsoft.com/office/drawing/2014/main" id="{ADB835BC-AE11-4E95-A5AE-A9A47B742F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6784" y="5946402"/>
                <a:ext cx="437940" cy="461665"/>
              </a:xfrm>
              <a:prstGeom prst="rect">
                <a:avLst/>
              </a:prstGeom>
              <a:blipFill>
                <a:blip r:embed="rId13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4" name="Gerade Verbindung mit Pfeil 73">
            <a:extLst>
              <a:ext uri="{FF2B5EF4-FFF2-40B4-BE49-F238E27FC236}">
                <a16:creationId xmlns:a16="http://schemas.microsoft.com/office/drawing/2014/main" id="{C524F826-5E6E-4878-86B4-4E797CD60667}"/>
              </a:ext>
            </a:extLst>
          </p:cNvPr>
          <p:cNvCxnSpPr>
            <a:cxnSpLocks/>
          </p:cNvCxnSpPr>
          <p:nvPr/>
        </p:nvCxnSpPr>
        <p:spPr>
          <a:xfrm>
            <a:off x="6686784" y="5502539"/>
            <a:ext cx="1685056" cy="0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Rechteck 74">
                <a:extLst>
                  <a:ext uri="{FF2B5EF4-FFF2-40B4-BE49-F238E27FC236}">
                    <a16:creationId xmlns:a16="http://schemas.microsoft.com/office/drawing/2014/main" id="{EC38225A-A904-41A9-A92C-F8B1DFFBAB5A}"/>
                  </a:ext>
                </a:extLst>
              </p:cNvPr>
              <p:cNvSpPr/>
              <p:nvPr/>
            </p:nvSpPr>
            <p:spPr>
              <a:xfrm>
                <a:off x="8436598" y="5256553"/>
                <a:ext cx="519723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𝟑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5" name="Rechteck 74">
                <a:extLst>
                  <a:ext uri="{FF2B5EF4-FFF2-40B4-BE49-F238E27FC236}">
                    <a16:creationId xmlns:a16="http://schemas.microsoft.com/office/drawing/2014/main" id="{EC38225A-A904-41A9-A92C-F8B1DFFBAB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6598" y="5256553"/>
                <a:ext cx="519723" cy="46166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platzhalter 2">
                <a:extLst>
                  <a:ext uri="{FF2B5EF4-FFF2-40B4-BE49-F238E27FC236}">
                    <a16:creationId xmlns:a16="http://schemas.microsoft.com/office/drawing/2014/main" id="{805CB138-347A-4A5B-BAFA-CF57D8C8F94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908002" y="4613478"/>
                <a:ext cx="1970280" cy="381612"/>
              </a:xfrm>
            </p:spPr>
            <p:txBody>
              <a:bodyPr/>
              <a:lstStyle/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noProof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𝑂</m:t>
                      </m:r>
                      <m:r>
                        <a:rPr lang="en-US" sz="2400" i="1" noProof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(</m:t>
                      </m:r>
                      <m:sSup>
                        <m:sSup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en-US" sz="2400" b="0" i="1" noProof="0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e>
                        <m:sup>
                          <m:r>
                            <a:rPr lang="en-US" sz="2400" b="0" i="1" noProof="0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noProof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)</m:t>
                      </m:r>
                    </m:oMath>
                  </m:oMathPara>
                </a14:m>
                <a:endParaRPr lang="en-US" sz="240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6" name="Textplatzhalter 2">
                <a:extLst>
                  <a:ext uri="{FF2B5EF4-FFF2-40B4-BE49-F238E27FC236}">
                    <a16:creationId xmlns:a16="http://schemas.microsoft.com/office/drawing/2014/main" id="{805CB138-347A-4A5B-BAFA-CF57D8C8F9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908002" y="4613478"/>
                <a:ext cx="1970280" cy="381612"/>
              </a:xfr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Ellipse 60">
            <a:extLst>
              <a:ext uri="{FF2B5EF4-FFF2-40B4-BE49-F238E27FC236}">
                <a16:creationId xmlns:a16="http://schemas.microsoft.com/office/drawing/2014/main" id="{EFC3AAEF-4AB2-4F92-AB09-1EC9732BDF62}"/>
              </a:ext>
            </a:extLst>
          </p:cNvPr>
          <p:cNvSpPr>
            <a:spLocks noChangeAspect="1"/>
          </p:cNvSpPr>
          <p:nvPr/>
        </p:nvSpPr>
        <p:spPr>
          <a:xfrm>
            <a:off x="3443232" y="3677112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Rechteck 77">
                <a:extLst>
                  <a:ext uri="{FF2B5EF4-FFF2-40B4-BE49-F238E27FC236}">
                    <a16:creationId xmlns:a16="http://schemas.microsoft.com/office/drawing/2014/main" id="{4B15AFCA-FCA4-4CCF-896D-D27CFDFE5C62}"/>
                  </a:ext>
                </a:extLst>
              </p:cNvPr>
              <p:cNvSpPr/>
              <p:nvPr/>
            </p:nvSpPr>
            <p:spPr>
              <a:xfrm>
                <a:off x="689032" y="2295573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8" name="Rechteck 77">
                <a:extLst>
                  <a:ext uri="{FF2B5EF4-FFF2-40B4-BE49-F238E27FC236}">
                    <a16:creationId xmlns:a16="http://schemas.microsoft.com/office/drawing/2014/main" id="{4B15AFCA-FCA4-4CCF-896D-D27CFDFE5C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032" y="2295573"/>
                <a:ext cx="437940" cy="461665"/>
              </a:xfrm>
              <a:prstGeom prst="rect">
                <a:avLst/>
              </a:prstGeom>
              <a:blipFill>
                <a:blip r:embed="rId16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Rechteck 78">
                <a:extLst>
                  <a:ext uri="{FF2B5EF4-FFF2-40B4-BE49-F238E27FC236}">
                    <a16:creationId xmlns:a16="http://schemas.microsoft.com/office/drawing/2014/main" id="{DE200208-278C-405C-B084-9FEF49E0BDFA}"/>
                  </a:ext>
                </a:extLst>
              </p:cNvPr>
              <p:cNvSpPr/>
              <p:nvPr/>
            </p:nvSpPr>
            <p:spPr>
              <a:xfrm>
                <a:off x="2116436" y="3011882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9" name="Rechteck 78">
                <a:extLst>
                  <a:ext uri="{FF2B5EF4-FFF2-40B4-BE49-F238E27FC236}">
                    <a16:creationId xmlns:a16="http://schemas.microsoft.com/office/drawing/2014/main" id="{DE200208-278C-405C-B084-9FEF49E0BD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6436" y="3011882"/>
                <a:ext cx="437940" cy="461665"/>
              </a:xfrm>
              <a:prstGeom prst="rect">
                <a:avLst/>
              </a:prstGeom>
              <a:blipFill>
                <a:blip r:embed="rId17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Rechteck 80">
                <a:extLst>
                  <a:ext uri="{FF2B5EF4-FFF2-40B4-BE49-F238E27FC236}">
                    <a16:creationId xmlns:a16="http://schemas.microsoft.com/office/drawing/2014/main" id="{BC20931A-A33F-47C2-A8D6-AE67D088CFCB}"/>
                  </a:ext>
                </a:extLst>
              </p:cNvPr>
              <p:cNvSpPr/>
              <p:nvPr/>
            </p:nvSpPr>
            <p:spPr>
              <a:xfrm>
                <a:off x="3517973" y="3687991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1" name="Rechteck 80">
                <a:extLst>
                  <a:ext uri="{FF2B5EF4-FFF2-40B4-BE49-F238E27FC236}">
                    <a16:creationId xmlns:a16="http://schemas.microsoft.com/office/drawing/2014/main" id="{BC20931A-A33F-47C2-A8D6-AE67D088CF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7973" y="3687991"/>
                <a:ext cx="437940" cy="461665"/>
              </a:xfrm>
              <a:prstGeom prst="rect">
                <a:avLst/>
              </a:prstGeom>
              <a:blipFill>
                <a:blip r:embed="rId18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Ellipse 81">
            <a:extLst>
              <a:ext uri="{FF2B5EF4-FFF2-40B4-BE49-F238E27FC236}">
                <a16:creationId xmlns:a16="http://schemas.microsoft.com/office/drawing/2014/main" id="{91BF32A5-8570-44F0-A7BE-D49F3B7005C7}"/>
              </a:ext>
            </a:extLst>
          </p:cNvPr>
          <p:cNvSpPr>
            <a:spLocks noChangeAspect="1"/>
          </p:cNvSpPr>
          <p:nvPr/>
        </p:nvSpPr>
        <p:spPr>
          <a:xfrm>
            <a:off x="4909428" y="3732628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Rechteck 82">
                <a:extLst>
                  <a:ext uri="{FF2B5EF4-FFF2-40B4-BE49-F238E27FC236}">
                    <a16:creationId xmlns:a16="http://schemas.microsoft.com/office/drawing/2014/main" id="{DE9CD65E-15BC-4787-BDB2-D32A33BC692D}"/>
                  </a:ext>
                </a:extLst>
              </p:cNvPr>
              <p:cNvSpPr/>
              <p:nvPr/>
            </p:nvSpPr>
            <p:spPr>
              <a:xfrm>
                <a:off x="4862674" y="3738983"/>
                <a:ext cx="63350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de-AT" sz="2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𝒏</m:t>
                    </m:r>
                  </m:oMath>
                </a14:m>
                <a:r>
                  <a:rPr lang="de-AT" sz="2400" b="1" dirty="0">
                    <a:solidFill>
                      <a:schemeClr val="tx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-3</a:t>
                </a:r>
              </a:p>
            </p:txBody>
          </p:sp>
        </mc:Choice>
        <mc:Fallback xmlns="">
          <p:sp>
            <p:nvSpPr>
              <p:cNvPr id="83" name="Rechteck 82">
                <a:extLst>
                  <a:ext uri="{FF2B5EF4-FFF2-40B4-BE49-F238E27FC236}">
                    <a16:creationId xmlns:a16="http://schemas.microsoft.com/office/drawing/2014/main" id="{DE9CD65E-15BC-4787-BDB2-D32A33BC69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674" y="3738983"/>
                <a:ext cx="633508" cy="461665"/>
              </a:xfrm>
              <a:prstGeom prst="rect">
                <a:avLst/>
              </a:prstGeom>
              <a:blipFill>
                <a:blip r:embed="rId19"/>
                <a:stretch>
                  <a:fillRect t="-10526" r="-13462" b="-28947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Ellipse 83">
            <a:extLst>
              <a:ext uri="{FF2B5EF4-FFF2-40B4-BE49-F238E27FC236}">
                <a16:creationId xmlns:a16="http://schemas.microsoft.com/office/drawing/2014/main" id="{D125DEA6-46A1-4FCB-883A-BCA7273D1A6F}"/>
              </a:ext>
            </a:extLst>
          </p:cNvPr>
          <p:cNvSpPr>
            <a:spLocks noChangeAspect="1"/>
          </p:cNvSpPr>
          <p:nvPr/>
        </p:nvSpPr>
        <p:spPr>
          <a:xfrm>
            <a:off x="5947959" y="5256553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621D72EB-6290-43F2-A5AF-9DE6CD16D282}"/>
              </a:ext>
            </a:extLst>
          </p:cNvPr>
          <p:cNvCxnSpPr>
            <a:cxnSpLocks noChangeAspect="1"/>
          </p:cNvCxnSpPr>
          <p:nvPr/>
        </p:nvCxnSpPr>
        <p:spPr>
          <a:xfrm>
            <a:off x="5876970" y="4919882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Rechteck 85">
                <a:extLst>
                  <a:ext uri="{FF2B5EF4-FFF2-40B4-BE49-F238E27FC236}">
                    <a16:creationId xmlns:a16="http://schemas.microsoft.com/office/drawing/2014/main" id="{77D35C32-DD8C-47FE-98D4-55DFBB58A511}"/>
                  </a:ext>
                </a:extLst>
              </p:cNvPr>
              <p:cNvSpPr/>
              <p:nvPr/>
            </p:nvSpPr>
            <p:spPr>
              <a:xfrm>
                <a:off x="6038152" y="5291507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𝟐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6" name="Rechteck 85">
                <a:extLst>
                  <a:ext uri="{FF2B5EF4-FFF2-40B4-BE49-F238E27FC236}">
                    <a16:creationId xmlns:a16="http://schemas.microsoft.com/office/drawing/2014/main" id="{77D35C32-DD8C-47FE-98D4-55DFBB58A5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8152" y="5291507"/>
                <a:ext cx="437940" cy="461665"/>
              </a:xfrm>
              <a:prstGeom prst="rect">
                <a:avLst/>
              </a:prstGeom>
              <a:blipFill>
                <a:blip r:embed="rId20"/>
                <a:stretch>
                  <a:fillRect l="-2817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C1426048-8631-415A-B552-9014253F7C0F}"/>
              </a:ext>
            </a:extLst>
          </p:cNvPr>
          <p:cNvCxnSpPr>
            <a:cxnSpLocks/>
          </p:cNvCxnSpPr>
          <p:nvPr/>
        </p:nvCxnSpPr>
        <p:spPr>
          <a:xfrm>
            <a:off x="7406784" y="6141077"/>
            <a:ext cx="965056" cy="0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Rechteck 88">
                <a:extLst>
                  <a:ext uri="{FF2B5EF4-FFF2-40B4-BE49-F238E27FC236}">
                    <a16:creationId xmlns:a16="http://schemas.microsoft.com/office/drawing/2014/main" id="{7C004236-0D07-4E27-819E-30BB6130DA91}"/>
                  </a:ext>
                </a:extLst>
              </p:cNvPr>
              <p:cNvSpPr/>
              <p:nvPr/>
            </p:nvSpPr>
            <p:spPr>
              <a:xfrm>
                <a:off x="8436598" y="5895091"/>
                <a:ext cx="519723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𝟐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9" name="Rechteck 88">
                <a:extLst>
                  <a:ext uri="{FF2B5EF4-FFF2-40B4-BE49-F238E27FC236}">
                    <a16:creationId xmlns:a16="http://schemas.microsoft.com/office/drawing/2014/main" id="{7C004236-0D07-4E27-819E-30BB6130DA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6598" y="5895091"/>
                <a:ext cx="519723" cy="46166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Ellipse 89">
            <a:extLst>
              <a:ext uri="{FF2B5EF4-FFF2-40B4-BE49-F238E27FC236}">
                <a16:creationId xmlns:a16="http://schemas.microsoft.com/office/drawing/2014/main" id="{9161C088-1B6B-4637-BF38-6B7A5AA38836}"/>
              </a:ext>
            </a:extLst>
          </p:cNvPr>
          <p:cNvSpPr>
            <a:spLocks noChangeAspect="1"/>
          </p:cNvSpPr>
          <p:nvPr/>
        </p:nvSpPr>
        <p:spPr>
          <a:xfrm>
            <a:off x="4754882" y="526176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86B88183-8322-438B-8543-8C07DE479B2D}"/>
              </a:ext>
            </a:extLst>
          </p:cNvPr>
          <p:cNvCxnSpPr>
            <a:cxnSpLocks noChangeAspect="1"/>
            <a:endCxn id="90" idx="7"/>
          </p:cNvCxnSpPr>
          <p:nvPr/>
        </p:nvCxnSpPr>
        <p:spPr>
          <a:xfrm flipH="1">
            <a:off x="5215801" y="5002679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Rechteck 91">
                <a:extLst>
                  <a:ext uri="{FF2B5EF4-FFF2-40B4-BE49-F238E27FC236}">
                    <a16:creationId xmlns:a16="http://schemas.microsoft.com/office/drawing/2014/main" id="{EDF982C4-1BC2-4441-94D9-9E337399B94D}"/>
                  </a:ext>
                </a:extLst>
              </p:cNvPr>
              <p:cNvSpPr/>
              <p:nvPr/>
            </p:nvSpPr>
            <p:spPr>
              <a:xfrm>
                <a:off x="4834061" y="5289233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92" name="Rechteck 91">
                <a:extLst>
                  <a:ext uri="{FF2B5EF4-FFF2-40B4-BE49-F238E27FC236}">
                    <a16:creationId xmlns:a16="http://schemas.microsoft.com/office/drawing/2014/main" id="{EDF982C4-1BC2-4441-94D9-9E337399B9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4061" y="5289233"/>
                <a:ext cx="437940" cy="461665"/>
              </a:xfrm>
              <a:prstGeom prst="rect">
                <a:avLst/>
              </a:prstGeom>
              <a:blipFill>
                <a:blip r:embed="rId22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Rechteck 92">
                <a:extLst>
                  <a:ext uri="{FF2B5EF4-FFF2-40B4-BE49-F238E27FC236}">
                    <a16:creationId xmlns:a16="http://schemas.microsoft.com/office/drawing/2014/main" id="{9B20CE85-D959-45F9-8437-6EA49DB49E09}"/>
                  </a:ext>
                </a:extLst>
              </p:cNvPr>
              <p:cNvSpPr/>
              <p:nvPr/>
            </p:nvSpPr>
            <p:spPr>
              <a:xfrm>
                <a:off x="8276277" y="3694146"/>
                <a:ext cx="965056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de-AT" sz="2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𝒏</m:t>
                    </m:r>
                    <m:r>
                      <a:rPr lang="de-AT" sz="2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−</m:t>
                    </m:r>
                  </m:oMath>
                </a14:m>
                <a:r>
                  <a:rPr lang="de-AT" sz="2400" b="1" dirty="0">
                    <a:solidFill>
                      <a:schemeClr val="tx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</a:t>
                </a:r>
              </a:p>
            </p:txBody>
          </p:sp>
        </mc:Choice>
        <mc:Fallback xmlns="">
          <p:sp>
            <p:nvSpPr>
              <p:cNvPr id="93" name="Rechteck 92">
                <a:extLst>
                  <a:ext uri="{FF2B5EF4-FFF2-40B4-BE49-F238E27FC236}">
                    <a16:creationId xmlns:a16="http://schemas.microsoft.com/office/drawing/2014/main" id="{9B20CE85-D959-45F9-8437-6EA49DB49E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277" y="3694146"/>
                <a:ext cx="965056" cy="461665"/>
              </a:xfrm>
              <a:prstGeom prst="rect">
                <a:avLst/>
              </a:prstGeom>
              <a:blipFill>
                <a:blip r:embed="rId23"/>
                <a:stretch>
                  <a:fillRect t="-10526" r="-2532" b="-28947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Titel 1">
            <a:extLst>
              <a:ext uri="{FF2B5EF4-FFF2-40B4-BE49-F238E27FC236}">
                <a16:creationId xmlns:a16="http://schemas.microsoft.com/office/drawing/2014/main" id="{A92E53F2-AB70-4AC3-AE5C-D3286B70E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</p:spPr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Recursion tree: worst case</a:t>
            </a:r>
          </a:p>
        </p:txBody>
      </p:sp>
    </p:spTree>
    <p:extLst>
      <p:ext uri="{BB962C8B-B14F-4D97-AF65-F5344CB8AC3E}">
        <p14:creationId xmlns:p14="http://schemas.microsoft.com/office/powerpoint/2010/main" val="29713920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6216"/>
            <a:ext cx="8229600" cy="1717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6600"/>
            <a:ext cx="8229300" cy="1144800"/>
          </a:xfrm>
        </p:spPr>
        <p:txBody>
          <a:bodyPr/>
          <a:lstStyle/>
          <a:p>
            <a:pPr algn="ctr"/>
            <a:r>
              <a:rPr lang="en-US" sz="44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en-US" sz="4400" b="1" noProof="0" dirty="0"/>
          </a:p>
        </p:txBody>
      </p:sp>
    </p:spTree>
    <p:extLst>
      <p:ext uri="{BB962C8B-B14F-4D97-AF65-F5344CB8AC3E}">
        <p14:creationId xmlns:p14="http://schemas.microsoft.com/office/powerpoint/2010/main" val="13937635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2">
                <a:extLst>
                  <a:ext uri="{FF2B5EF4-FFF2-40B4-BE49-F238E27FC236}">
                    <a16:creationId xmlns:a16="http://schemas.microsoft.com/office/drawing/2014/main" id="{B1AB2DE2-BFB4-403B-9976-58C0812A00AF}"/>
                  </a:ext>
                </a:extLst>
              </p:cNvPr>
              <p:cNvSpPr txBox="1"/>
              <p:nvPr/>
            </p:nvSpPr>
            <p:spPr>
              <a:xfrm>
                <a:off x="457200" y="1605600"/>
                <a:ext cx="8229600" cy="1477328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lang="en-US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Task 5: </a:t>
                </a: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What recursion case do we have when all elements in the array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[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… 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] 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have the same value?</a:t>
                </a:r>
              </a:p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lvl="0">
                  <a:defRPr/>
                </a:pPr>
                <a:r>
                  <a:rPr lang="en-US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Task 6: </a:t>
                </a: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What recursion case  do we have when elements are sorted in the ascending order?</a:t>
                </a:r>
              </a:p>
            </p:txBody>
          </p:sp>
        </mc:Choice>
        <mc:Fallback xmlns="">
          <p:sp>
            <p:nvSpPr>
              <p:cNvPr id="4" name="Textfeld 2">
                <a:extLst>
                  <a:ext uri="{FF2B5EF4-FFF2-40B4-BE49-F238E27FC236}">
                    <a16:creationId xmlns:a16="http://schemas.microsoft.com/office/drawing/2014/main" id="{B1AB2DE2-BFB4-403B-9976-58C0812A0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605600"/>
                <a:ext cx="8229600" cy="1477328"/>
              </a:xfrm>
              <a:prstGeom prst="rect">
                <a:avLst/>
              </a:prstGeom>
              <a:blipFill>
                <a:blip r:embed="rId3"/>
                <a:stretch>
                  <a:fillRect l="-593" t="-2058" r="-1111" b="-5350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68407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6216"/>
            <a:ext cx="8229600" cy="1717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6600"/>
            <a:ext cx="8229300" cy="1144800"/>
          </a:xfrm>
        </p:spPr>
        <p:txBody>
          <a:bodyPr/>
          <a:lstStyle/>
          <a:p>
            <a:pPr algn="ctr"/>
            <a:r>
              <a:rPr lang="en-US" sz="44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Exercise: Hoare’s partitioning</a:t>
            </a:r>
            <a:endParaRPr lang="en-US" sz="4400" b="1" noProof="0" dirty="0"/>
          </a:p>
        </p:txBody>
      </p:sp>
    </p:spTree>
    <p:extLst>
      <p:ext uri="{BB962C8B-B14F-4D97-AF65-F5344CB8AC3E}">
        <p14:creationId xmlns:p14="http://schemas.microsoft.com/office/powerpoint/2010/main" val="36791654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520262" y="1233534"/>
            <a:ext cx="8229600" cy="120032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US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Task 7: 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What we used so far for quicksort is a so-called </a:t>
            </a:r>
            <a:r>
              <a:rPr lang="en-US" sz="1800" b="1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Lomuto‘s</a:t>
            </a:r>
            <a:r>
              <a:rPr lang="en-US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partitioning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scheme. This scheme is a bit more intuitive than the original </a:t>
            </a:r>
            <a:r>
              <a:rPr lang="en-US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Hoare‘s partitioning 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scheme, which is typically slightly faster on a certain kind of input. Here is the Python implementation of the Hoare‘s partitioning scheme. 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372B707-F0B5-4DA2-9258-9880AD9FBE1E}"/>
              </a:ext>
            </a:extLst>
          </p:cNvPr>
          <p:cNvSpPr/>
          <p:nvPr/>
        </p:nvSpPr>
        <p:spPr>
          <a:xfrm>
            <a:off x="654090" y="2502577"/>
            <a:ext cx="7835519" cy="3908903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def partition(a, p, r):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pivot = a[p]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</a:t>
            </a:r>
            <a:r>
              <a:rPr lang="en-US" sz="16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</a:t>
            </a:r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p - 1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j = r + 1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while True: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j -= 1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</a:t>
            </a:r>
            <a:r>
              <a:rPr lang="en-US" sz="16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</a:t>
            </a:r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+= 1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while a[j] &gt; pivot: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    j -= 1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while a[</a:t>
            </a:r>
            <a:r>
              <a:rPr lang="en-US" sz="16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</a:t>
            </a:r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] &lt; pivot: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6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</a:t>
            </a:r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+= 1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if </a:t>
            </a:r>
            <a:r>
              <a:rPr lang="en-US" sz="16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</a:t>
            </a:r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&gt;= j: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    return j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a[</a:t>
            </a:r>
            <a:r>
              <a:rPr lang="en-US" sz="16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</a:t>
            </a:r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], a[j] = a[j], a[</a:t>
            </a:r>
            <a:r>
              <a:rPr lang="en-US" sz="16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</a:t>
            </a:r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40128955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2">
                <a:extLst>
                  <a:ext uri="{FF2B5EF4-FFF2-40B4-BE49-F238E27FC236}">
                    <a16:creationId xmlns:a16="http://schemas.microsoft.com/office/drawing/2014/main" id="{B1AB2DE2-BFB4-403B-9976-58C0812A00AF}"/>
                  </a:ext>
                </a:extLst>
              </p:cNvPr>
              <p:cNvSpPr txBox="1"/>
              <p:nvPr/>
            </p:nvSpPr>
            <p:spPr>
              <a:xfrm>
                <a:off x="520262" y="1233534"/>
                <a:ext cx="8229600" cy="1200329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lang="en-US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Task 7 (continued): </a:t>
                </a: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Using the array below and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=0, 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=7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 illustrate how this partitioning scheme works. What can you conclude from the illustration? What is different than in </a:t>
                </a:r>
                <a:r>
                  <a:rPr lang="en-US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Lomuto‘s</a:t>
                </a: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partitioning scheme? Why do you think Hoare‘s partitioning scheme may work slightly faster in practice?</a:t>
                </a:r>
              </a:p>
            </p:txBody>
          </p:sp>
        </mc:Choice>
        <mc:Fallback xmlns="">
          <p:sp>
            <p:nvSpPr>
              <p:cNvPr id="4" name="Textfeld 2">
                <a:extLst>
                  <a:ext uri="{FF2B5EF4-FFF2-40B4-BE49-F238E27FC236}">
                    <a16:creationId xmlns:a16="http://schemas.microsoft.com/office/drawing/2014/main" id="{B1AB2DE2-BFB4-403B-9976-58C0812A0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262" y="1233534"/>
                <a:ext cx="8229600" cy="1200329"/>
              </a:xfrm>
              <a:prstGeom prst="rect">
                <a:avLst/>
              </a:prstGeom>
              <a:blipFill>
                <a:blip r:embed="rId3"/>
                <a:stretch>
                  <a:fillRect l="-593" t="-2538" b="-7107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661B24DC-4993-4853-ACCF-DA07423305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0795865"/>
              </p:ext>
            </p:extLst>
          </p:nvPr>
        </p:nvGraphicFramePr>
        <p:xfrm>
          <a:off x="2810679" y="307031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10E5020D-2043-4041-87CC-D9B863A1D4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329065"/>
              </p:ext>
            </p:extLst>
          </p:nvPr>
        </p:nvGraphicFramePr>
        <p:xfrm>
          <a:off x="2810679" y="2699477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feld 2">
            <a:extLst>
              <a:ext uri="{FF2B5EF4-FFF2-40B4-BE49-F238E27FC236}">
                <a16:creationId xmlns:a16="http://schemas.microsoft.com/office/drawing/2014/main" id="{5119162B-98A5-4F61-BD8B-15D31294344B}"/>
              </a:ext>
            </a:extLst>
          </p:cNvPr>
          <p:cNvSpPr txBox="1"/>
          <p:nvPr/>
        </p:nvSpPr>
        <p:spPr>
          <a:xfrm>
            <a:off x="507811" y="3738149"/>
            <a:ext cx="8229600" cy="646331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US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Task 8: 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When using Hoare‘s partitioning scheme we need to slightly modify our implementation of the quicksort.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0B890DC-F325-4E9B-A4D5-223BF00F62EB}"/>
              </a:ext>
            </a:extLst>
          </p:cNvPr>
          <p:cNvSpPr/>
          <p:nvPr/>
        </p:nvSpPr>
        <p:spPr>
          <a:xfrm>
            <a:off x="850981" y="4503122"/>
            <a:ext cx="7835519" cy="1557144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quicksort(a, p, r):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if p &lt; r: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q = partition(a, p, r)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quicksort(a, p, q)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quicksort(a, q + 1, r)</a:t>
            </a:r>
          </a:p>
        </p:txBody>
      </p:sp>
    </p:spTree>
    <p:extLst>
      <p:ext uri="{BB962C8B-B14F-4D97-AF65-F5344CB8AC3E}">
        <p14:creationId xmlns:p14="http://schemas.microsoft.com/office/powerpoint/2010/main" val="3142016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2">
                <a:extLst>
                  <a:ext uri="{FF2B5EF4-FFF2-40B4-BE49-F238E27FC236}">
                    <a16:creationId xmlns:a16="http://schemas.microsoft.com/office/drawing/2014/main" id="{B1AB2DE2-BFB4-403B-9976-58C0812A00AF}"/>
                  </a:ext>
                </a:extLst>
              </p:cNvPr>
              <p:cNvSpPr txBox="1"/>
              <p:nvPr/>
            </p:nvSpPr>
            <p:spPr>
              <a:xfrm>
                <a:off x="520262" y="1233534"/>
                <a:ext cx="8229600" cy="341632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lvl="0">
                  <a:defRPr/>
                </a:pPr>
                <a:r>
                  <a:rPr lang="en-US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Task 8 (continued): </a:t>
                </a: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Why the first recursive call in Hoare‘s scheme is </a:t>
                </a:r>
              </a:p>
              <a:p>
                <a:pPr lvl="0" algn="ctr">
                  <a:defRPr/>
                </a:pPr>
                <a:r>
                  <a:rPr lang="en-US" sz="1800" spc="-1" dirty="0">
                    <a:solidFill>
                      <a:srgbClr val="0F0F0F"/>
                    </a:solidFill>
                    <a:latin typeface="Consolas" panose="020B0609020204030204" pitchFamily="49" charset="0"/>
                  </a:rPr>
                  <a:t>quicksort(a, p, q)</a:t>
                </a:r>
              </a:p>
              <a:p>
                <a:pPr lvl="0">
                  <a:defRPr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Instead of </a:t>
                </a:r>
              </a:p>
              <a:p>
                <a:pPr algn="ctr">
                  <a:defRPr/>
                </a:pPr>
                <a:r>
                  <a:rPr lang="en-US" sz="1800" spc="-1" dirty="0">
                    <a:solidFill>
                      <a:srgbClr val="0F0F0F"/>
                    </a:solidFill>
                    <a:latin typeface="Consolas" panose="020B0609020204030204" pitchFamily="49" charset="0"/>
                  </a:rPr>
                  <a:t>quicksort(a, p, q - 1)</a:t>
                </a:r>
              </a:p>
              <a:p>
                <a:pPr lvl="0">
                  <a:defRPr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as in </a:t>
                </a:r>
                <a:r>
                  <a:rPr lang="en-US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Lomuto‘s</a:t>
                </a: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scheme?</a:t>
                </a:r>
              </a:p>
              <a:p>
                <a:pPr lvl="0">
                  <a:defRPr/>
                </a:pPr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>
                  <a:defRPr/>
                </a:pPr>
                <a:r>
                  <a:rPr lang="en-US" sz="18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Task 9: </a:t>
                </a: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Suppose that the last element of our array is also the largest one. What will happen if we pick the last element as a pivot in this case? Discuss both Hoare‘s and </a:t>
                </a:r>
                <a:r>
                  <a:rPr lang="en-US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Lomuto‘s</a:t>
                </a: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scheme.</a:t>
                </a:r>
              </a:p>
              <a:p>
                <a:pPr lvl="0">
                  <a:defRPr/>
                </a:pPr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>
                  <a:defRPr/>
                </a:pPr>
                <a:r>
                  <a:rPr lang="en-US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Task 10: </a:t>
                </a: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What recursion case do we have in Hoare‘s scheme when all elements in the array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[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𝑝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… 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] 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have the same value?</a:t>
                </a:r>
              </a:p>
            </p:txBody>
          </p:sp>
        </mc:Choice>
        <mc:Fallback xmlns="">
          <p:sp>
            <p:nvSpPr>
              <p:cNvPr id="4" name="Textfeld 2">
                <a:extLst>
                  <a:ext uri="{FF2B5EF4-FFF2-40B4-BE49-F238E27FC236}">
                    <a16:creationId xmlns:a16="http://schemas.microsoft.com/office/drawing/2014/main" id="{B1AB2DE2-BFB4-403B-9976-58C0812A0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262" y="1233534"/>
                <a:ext cx="8229600" cy="3416320"/>
              </a:xfrm>
              <a:prstGeom prst="rect">
                <a:avLst/>
              </a:prstGeom>
              <a:blipFill>
                <a:blip r:embed="rId3"/>
                <a:stretch>
                  <a:fillRect l="-593" t="-891" r="-148" b="-1783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platzhalter 2">
            <a:extLst>
              <a:ext uri="{FF2B5EF4-FFF2-40B4-BE49-F238E27FC236}">
                <a16:creationId xmlns:a16="http://schemas.microsoft.com/office/drawing/2014/main" id="{AEEB415F-1A7B-4517-94A6-294AE1637A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0562" y="4902520"/>
            <a:ext cx="8229300" cy="583880"/>
          </a:xfrm>
        </p:spPr>
        <p:txBody>
          <a:bodyPr/>
          <a:lstStyle/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18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4"/>
              </a:rPr>
              <a:t>Notebook example</a:t>
            </a:r>
            <a:endParaRPr lang="en-US" sz="18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46903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6216"/>
            <a:ext cx="8229600" cy="1717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6600"/>
            <a:ext cx="8229300" cy="1144800"/>
          </a:xfrm>
        </p:spPr>
        <p:txBody>
          <a:bodyPr/>
          <a:lstStyle/>
          <a:p>
            <a:pPr algn="ctr"/>
            <a:r>
              <a:rPr lang="en-US" sz="44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Average case complexity</a:t>
            </a:r>
            <a:endParaRPr lang="en-US" sz="4400" b="1" noProof="0" dirty="0"/>
          </a:p>
        </p:txBody>
      </p:sp>
    </p:spTree>
    <p:extLst>
      <p:ext uri="{BB962C8B-B14F-4D97-AF65-F5344CB8AC3E}">
        <p14:creationId xmlns:p14="http://schemas.microsoft.com/office/powerpoint/2010/main" val="12321062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platzhalter 2">
                <a:extLst>
                  <a:ext uri="{FF2B5EF4-FFF2-40B4-BE49-F238E27FC236}">
                    <a16:creationId xmlns:a16="http://schemas.microsoft.com/office/drawing/2014/main" id="{8CEA290E-797F-4002-8325-6DFFB96B7276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653135"/>
                <a:ext cx="8229300" cy="2627920"/>
              </a:xfrm>
            </p:spPr>
            <p:txBody>
              <a:bodyPr/>
              <a:lstStyle/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 saw that the worst-case of quicksort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𝑖𝑠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sSup>
                      <m:sSupPr>
                        <m:ctrlPr>
                          <a:rPr lang="en-US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DE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  <m:sup>
                        <m:r>
                          <a:rPr lang="de-DE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2</m:t>
                        </m:r>
                      </m:sup>
                    </m:sSup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For example, the worst-case arises when the list is sorted in ascending order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 best-case is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log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⁡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For example, when we always split in half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 average case will be between those two cases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It turns out that the average case is much closer to the best than to the worst case</a:t>
                </a:r>
              </a:p>
            </p:txBody>
          </p:sp>
        </mc:Choice>
        <mc:Fallback xmlns="">
          <p:sp>
            <p:nvSpPr>
              <p:cNvPr id="56" name="Textplatzhalter 2">
                <a:extLst>
                  <a:ext uri="{FF2B5EF4-FFF2-40B4-BE49-F238E27FC236}">
                    <a16:creationId xmlns:a16="http://schemas.microsoft.com/office/drawing/2014/main" id="{8CEA290E-797F-4002-8325-6DFFB96B72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53135"/>
                <a:ext cx="8229300" cy="2627920"/>
              </a:xfrm>
              <a:blipFill>
                <a:blip r:embed="rId3"/>
                <a:stretch>
                  <a:fillRect b="-1449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el 1">
            <a:extLst>
              <a:ext uri="{FF2B5EF4-FFF2-40B4-BE49-F238E27FC236}">
                <a16:creationId xmlns:a16="http://schemas.microsoft.com/office/drawing/2014/main" id="{6E914DC6-18C3-458C-8F5E-522BEF0E4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</p:spPr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Average case</a:t>
            </a:r>
          </a:p>
        </p:txBody>
      </p:sp>
    </p:spTree>
    <p:extLst>
      <p:ext uri="{BB962C8B-B14F-4D97-AF65-F5344CB8AC3E}">
        <p14:creationId xmlns:p14="http://schemas.microsoft.com/office/powerpoint/2010/main" val="28070260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platzhalter 2">
            <a:extLst>
              <a:ext uri="{FF2B5EF4-FFF2-40B4-BE49-F238E27FC236}">
                <a16:creationId xmlns:a16="http://schemas.microsoft.com/office/drawing/2014/main" id="{8CEA290E-797F-4002-8325-6DFFB96B72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2551472"/>
          </a:xfrm>
        </p:spPr>
        <p:txBody>
          <a:bodyPr/>
          <a:lstStyle/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18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Balanced partitioning is a partitioning </a:t>
            </a:r>
            <a:r>
              <a:rPr lang="en-US" sz="1800" noProof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s.t.</a:t>
            </a:r>
            <a:r>
              <a:rPr lang="en-US" sz="18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two 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sublists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are of similar sizes</a:t>
            </a: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 example, 47% and 53% split is balanced</a:t>
            </a: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unbalanced partitioning the two 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sublists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differ substantially in their sizes</a:t>
            </a: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18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 example, 10% and 90% split is unbalanced</a:t>
            </a: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18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Let us investigate the recursion tree for an unbalanced split</a:t>
            </a: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0CF7F489-02FC-48F7-BE3D-2FF35DD1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</p:spPr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Balanced vs. unbalanced partitioning</a:t>
            </a:r>
          </a:p>
        </p:txBody>
      </p:sp>
    </p:spTree>
    <p:extLst>
      <p:ext uri="{BB962C8B-B14F-4D97-AF65-F5344CB8AC3E}">
        <p14:creationId xmlns:p14="http://schemas.microsoft.com/office/powerpoint/2010/main" val="4309993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llipse 4">
            <a:extLst>
              <a:ext uri="{FF2B5EF4-FFF2-40B4-BE49-F238E27FC236}">
                <a16:creationId xmlns:a16="http://schemas.microsoft.com/office/drawing/2014/main" id="{76314C63-9824-4B5B-AF07-A257852AF4FD}"/>
              </a:ext>
            </a:extLst>
          </p:cNvPr>
          <p:cNvSpPr>
            <a:spLocks noChangeAspect="1"/>
          </p:cNvSpPr>
          <p:nvPr/>
        </p:nvSpPr>
        <p:spPr>
          <a:xfrm>
            <a:off x="3235114" y="1602333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F2C242C1-4D9C-4C41-98B6-81C9B1301F6C}"/>
              </a:ext>
            </a:extLst>
          </p:cNvPr>
          <p:cNvSpPr>
            <a:spLocks noChangeAspect="1"/>
          </p:cNvSpPr>
          <p:nvPr/>
        </p:nvSpPr>
        <p:spPr>
          <a:xfrm>
            <a:off x="2044350" y="22644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5A6A383-6DE1-424E-8688-EC3C18FCFBDC}"/>
              </a:ext>
            </a:extLst>
          </p:cNvPr>
          <p:cNvSpPr>
            <a:spLocks noChangeAspect="1"/>
          </p:cNvSpPr>
          <p:nvPr/>
        </p:nvSpPr>
        <p:spPr>
          <a:xfrm>
            <a:off x="4541982" y="2264959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C88A0FC0-C4C3-41BC-B391-EE159FB1A72B}"/>
              </a:ext>
            </a:extLst>
          </p:cNvPr>
          <p:cNvSpPr>
            <a:spLocks noChangeAspect="1"/>
          </p:cNvSpPr>
          <p:nvPr/>
        </p:nvSpPr>
        <p:spPr>
          <a:xfrm>
            <a:off x="3682013" y="3033911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7F43EA6C-E5AC-4B2E-A2A3-F1B0D97F459D}"/>
              </a:ext>
            </a:extLst>
          </p:cNvPr>
          <p:cNvSpPr>
            <a:spLocks noChangeAspect="1"/>
          </p:cNvSpPr>
          <p:nvPr/>
        </p:nvSpPr>
        <p:spPr>
          <a:xfrm>
            <a:off x="5383897" y="3025869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425CCEB-64BD-479F-A5D2-4360DD72CC9D}"/>
                  </a:ext>
                </a:extLst>
              </p:cNvPr>
              <p:cNvSpPr/>
              <p:nvPr/>
            </p:nvSpPr>
            <p:spPr>
              <a:xfrm>
                <a:off x="3359700" y="1693571"/>
                <a:ext cx="364202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16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425CCEB-64BD-479F-A5D2-4360DD72CC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9700" y="1693571"/>
                <a:ext cx="364202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8FAE7ADB-08BB-4BB7-898A-F9BC295ED5A1}"/>
              </a:ext>
            </a:extLst>
          </p:cNvPr>
          <p:cNvCxnSpPr>
            <a:cxnSpLocks noChangeAspect="1"/>
            <a:stCxn id="5" idx="3"/>
            <a:endCxn id="9" idx="7"/>
          </p:cNvCxnSpPr>
          <p:nvPr/>
        </p:nvCxnSpPr>
        <p:spPr>
          <a:xfrm flipH="1">
            <a:off x="2505269" y="2063252"/>
            <a:ext cx="808926" cy="28022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136AA771-6456-4E17-B948-227956EF2521}"/>
              </a:ext>
            </a:extLst>
          </p:cNvPr>
          <p:cNvCxnSpPr>
            <a:cxnSpLocks noChangeAspect="1"/>
            <a:stCxn id="5" idx="5"/>
            <a:endCxn id="11" idx="1"/>
          </p:cNvCxnSpPr>
          <p:nvPr/>
        </p:nvCxnSpPr>
        <p:spPr>
          <a:xfrm>
            <a:off x="3696033" y="2063252"/>
            <a:ext cx="925030" cy="28078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2FEBAD28-6B68-4D00-BE1F-828EBAAAB941}"/>
              </a:ext>
            </a:extLst>
          </p:cNvPr>
          <p:cNvCxnSpPr>
            <a:cxnSpLocks noChangeAspect="1"/>
            <a:stCxn id="11" idx="3"/>
            <a:endCxn id="14" idx="7"/>
          </p:cNvCxnSpPr>
          <p:nvPr/>
        </p:nvCxnSpPr>
        <p:spPr>
          <a:xfrm flipH="1">
            <a:off x="4142932" y="2725878"/>
            <a:ext cx="478131" cy="38711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948256B9-48B5-4406-944C-132C3B4FE49A}"/>
              </a:ext>
            </a:extLst>
          </p:cNvPr>
          <p:cNvCxnSpPr>
            <a:cxnSpLocks noChangeAspect="1"/>
            <a:stCxn id="11" idx="5"/>
            <a:endCxn id="15" idx="1"/>
          </p:cNvCxnSpPr>
          <p:nvPr/>
        </p:nvCxnSpPr>
        <p:spPr>
          <a:xfrm>
            <a:off x="5002901" y="2725878"/>
            <a:ext cx="460077" cy="37907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432D69F1-9D62-4807-8F68-1E153F2E878E}"/>
              </a:ext>
            </a:extLst>
          </p:cNvPr>
          <p:cNvCxnSpPr>
            <a:cxnSpLocks/>
          </p:cNvCxnSpPr>
          <p:nvPr/>
        </p:nvCxnSpPr>
        <p:spPr>
          <a:xfrm flipH="1">
            <a:off x="552749" y="1671145"/>
            <a:ext cx="8941" cy="2675191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61BF7C3B-5D93-4D13-9636-03DFAFBD0E07}"/>
                  </a:ext>
                </a:extLst>
              </p:cNvPr>
              <p:cNvSpPr/>
              <p:nvPr/>
            </p:nvSpPr>
            <p:spPr>
              <a:xfrm>
                <a:off x="625596" y="1608840"/>
                <a:ext cx="1234569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𝒍𝒐</m:t>
                      </m:r>
                      <m:sSub>
                        <m:sSubPr>
                          <m:ctrlPr>
                            <a:rPr lang="de-AT" sz="2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de-AT" sz="2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𝒈</m:t>
                          </m:r>
                        </m:e>
                        <m:sub>
                          <m:r>
                            <a:rPr lang="de-AT" sz="2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𝟏𝟎</m:t>
                          </m:r>
                        </m:sub>
                      </m:sSub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61BF7C3B-5D93-4D13-9636-03DFAFBD0E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596" y="1608840"/>
                <a:ext cx="1234569" cy="461665"/>
              </a:xfrm>
              <a:prstGeom prst="rect">
                <a:avLst/>
              </a:prstGeom>
              <a:blipFill>
                <a:blip r:embed="rId4"/>
                <a:stretch>
                  <a:fillRect l="-990" b="-10526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083E662B-5DB8-477C-B3EA-80E975849C61}"/>
              </a:ext>
            </a:extLst>
          </p:cNvPr>
          <p:cNvCxnSpPr>
            <a:cxnSpLocks/>
          </p:cNvCxnSpPr>
          <p:nvPr/>
        </p:nvCxnSpPr>
        <p:spPr>
          <a:xfrm>
            <a:off x="5260511" y="2473033"/>
            <a:ext cx="3111329" cy="16167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2E1D0499-937B-4AD6-8DDA-57DA4A6D49E9}"/>
                  </a:ext>
                </a:extLst>
              </p:cNvPr>
              <p:cNvSpPr/>
              <p:nvPr/>
            </p:nvSpPr>
            <p:spPr>
              <a:xfrm>
                <a:off x="8437098" y="1598301"/>
                <a:ext cx="519723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2E1D0499-937B-4AD6-8DDA-57DA4A6D49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7098" y="1598301"/>
                <a:ext cx="51972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C51F681F-231F-4BD4-8F02-B37FB9BFD9E4}"/>
              </a:ext>
            </a:extLst>
          </p:cNvPr>
          <p:cNvCxnSpPr>
            <a:cxnSpLocks/>
          </p:cNvCxnSpPr>
          <p:nvPr/>
        </p:nvCxnSpPr>
        <p:spPr>
          <a:xfrm>
            <a:off x="6265106" y="3245624"/>
            <a:ext cx="2101721" cy="6598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4F9EAC37-11F2-4AB2-9B04-9736D50307EF}"/>
              </a:ext>
            </a:extLst>
          </p:cNvPr>
          <p:cNvCxnSpPr>
            <a:cxnSpLocks/>
          </p:cNvCxnSpPr>
          <p:nvPr/>
        </p:nvCxnSpPr>
        <p:spPr>
          <a:xfrm>
            <a:off x="3923232" y="1839673"/>
            <a:ext cx="4433510" cy="10989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Rechteck 97">
                <a:extLst>
                  <a:ext uri="{FF2B5EF4-FFF2-40B4-BE49-F238E27FC236}">
                    <a16:creationId xmlns:a16="http://schemas.microsoft.com/office/drawing/2014/main" id="{4AF0683C-B193-4AF9-BA5C-C19C50A1CDD8}"/>
                  </a:ext>
                </a:extLst>
              </p:cNvPr>
              <p:cNvSpPr/>
              <p:nvPr/>
            </p:nvSpPr>
            <p:spPr>
              <a:xfrm>
                <a:off x="8437098" y="2258367"/>
                <a:ext cx="519723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98" name="Rechteck 97">
                <a:extLst>
                  <a:ext uri="{FF2B5EF4-FFF2-40B4-BE49-F238E27FC236}">
                    <a16:creationId xmlns:a16="http://schemas.microsoft.com/office/drawing/2014/main" id="{4AF0683C-B193-4AF9-BA5C-C19C50A1CD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7098" y="2258367"/>
                <a:ext cx="519723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21FF6601-7E56-4649-8B82-4560FA78BB8D}"/>
                  </a:ext>
                </a:extLst>
              </p:cNvPr>
              <p:cNvSpPr/>
              <p:nvPr/>
            </p:nvSpPr>
            <p:spPr>
              <a:xfrm>
                <a:off x="8214431" y="2974147"/>
                <a:ext cx="965056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21FF6601-7E56-4649-8B82-4560FA78BB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431" y="2974147"/>
                <a:ext cx="965056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2C8118D6-AF05-44CC-AE97-AE6CDF7EBB30}"/>
              </a:ext>
            </a:extLst>
          </p:cNvPr>
          <p:cNvCxnSpPr>
            <a:cxnSpLocks noChangeAspect="1"/>
            <a:stCxn id="15" idx="3"/>
          </p:cNvCxnSpPr>
          <p:nvPr/>
        </p:nvCxnSpPr>
        <p:spPr>
          <a:xfrm flipH="1">
            <a:off x="5113897" y="3486788"/>
            <a:ext cx="349081" cy="31391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F2664FB9-A9A6-490C-8D12-C4305553F1CC}"/>
              </a:ext>
            </a:extLst>
          </p:cNvPr>
          <p:cNvCxnSpPr>
            <a:cxnSpLocks noChangeAspect="1"/>
            <a:stCxn id="15" idx="5"/>
          </p:cNvCxnSpPr>
          <p:nvPr/>
        </p:nvCxnSpPr>
        <p:spPr>
          <a:xfrm>
            <a:off x="5844816" y="3486788"/>
            <a:ext cx="370731" cy="32757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3B02F487-B272-48AE-AE4C-C7DCF82E6AA0}"/>
              </a:ext>
            </a:extLst>
          </p:cNvPr>
          <p:cNvCxnSpPr>
            <a:cxnSpLocks/>
          </p:cNvCxnSpPr>
          <p:nvPr/>
        </p:nvCxnSpPr>
        <p:spPr>
          <a:xfrm>
            <a:off x="7263598" y="3968237"/>
            <a:ext cx="1108242" cy="0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Rechteck 63">
                <a:extLst>
                  <a:ext uri="{FF2B5EF4-FFF2-40B4-BE49-F238E27FC236}">
                    <a16:creationId xmlns:a16="http://schemas.microsoft.com/office/drawing/2014/main" id="{E5B42108-0135-4E78-92F3-54261636A430}"/>
                  </a:ext>
                </a:extLst>
              </p:cNvPr>
              <p:cNvSpPr/>
              <p:nvPr/>
            </p:nvSpPr>
            <p:spPr>
              <a:xfrm>
                <a:off x="1945867" y="3506597"/>
                <a:ext cx="519723" cy="76944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4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. . .</m:t>
                      </m:r>
                    </m:oMath>
                  </m:oMathPara>
                </a14:m>
                <a:endParaRPr lang="de-AT" sz="4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4" name="Rechteck 63">
                <a:extLst>
                  <a:ext uri="{FF2B5EF4-FFF2-40B4-BE49-F238E27FC236}">
                    <a16:creationId xmlns:a16="http://schemas.microsoft.com/office/drawing/2014/main" id="{E5B42108-0135-4E78-92F3-54261636A4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5867" y="3506597"/>
                <a:ext cx="519723" cy="76944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Ellipse 65">
            <a:extLst>
              <a:ext uri="{FF2B5EF4-FFF2-40B4-BE49-F238E27FC236}">
                <a16:creationId xmlns:a16="http://schemas.microsoft.com/office/drawing/2014/main" id="{983E2AFB-0B83-4240-B1EC-E447B42ABED2}"/>
              </a:ext>
            </a:extLst>
          </p:cNvPr>
          <p:cNvSpPr>
            <a:spLocks noChangeAspect="1"/>
          </p:cNvSpPr>
          <p:nvPr/>
        </p:nvSpPr>
        <p:spPr>
          <a:xfrm>
            <a:off x="6738923" y="5232539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2BC3478-48B1-4A7F-9378-311835727727}"/>
              </a:ext>
            </a:extLst>
          </p:cNvPr>
          <p:cNvCxnSpPr>
            <a:cxnSpLocks noChangeAspect="1"/>
          </p:cNvCxnSpPr>
          <p:nvPr/>
        </p:nvCxnSpPr>
        <p:spPr>
          <a:xfrm flipH="1">
            <a:off x="5884269" y="4183486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0A576108-44CE-4A94-94C9-716F773EF443}"/>
              </a:ext>
            </a:extLst>
          </p:cNvPr>
          <p:cNvCxnSpPr>
            <a:cxnSpLocks noChangeAspect="1"/>
          </p:cNvCxnSpPr>
          <p:nvPr/>
        </p:nvCxnSpPr>
        <p:spPr>
          <a:xfrm>
            <a:off x="6479842" y="4973458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 Verbindung mit Pfeil 73">
            <a:extLst>
              <a:ext uri="{FF2B5EF4-FFF2-40B4-BE49-F238E27FC236}">
                <a16:creationId xmlns:a16="http://schemas.microsoft.com/office/drawing/2014/main" id="{C524F826-5E6E-4878-86B4-4E797CD60667}"/>
              </a:ext>
            </a:extLst>
          </p:cNvPr>
          <p:cNvCxnSpPr>
            <a:cxnSpLocks/>
          </p:cNvCxnSpPr>
          <p:nvPr/>
        </p:nvCxnSpPr>
        <p:spPr>
          <a:xfrm>
            <a:off x="7519307" y="5502539"/>
            <a:ext cx="852533" cy="0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platzhalter 2">
                <a:extLst>
                  <a:ext uri="{FF2B5EF4-FFF2-40B4-BE49-F238E27FC236}">
                    <a16:creationId xmlns:a16="http://schemas.microsoft.com/office/drawing/2014/main" id="{805CB138-347A-4A5B-BAFA-CF57D8C8F94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752124" y="5786493"/>
                <a:ext cx="1970280" cy="381612"/>
              </a:xfrm>
            </p:spPr>
            <p:txBody>
              <a:bodyPr/>
              <a:lstStyle/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noProof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𝑂</m:t>
                      </m:r>
                      <m:r>
                        <a:rPr lang="en-US" sz="2400" i="1" noProof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(</m:t>
                      </m:r>
                      <m:r>
                        <a:rPr lang="de-AT" sz="2400" b="0" i="1" noProof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𝑛</m:t>
                      </m:r>
                      <m:func>
                        <m:funcPr>
                          <m:ctrlPr>
                            <a:rPr lang="de-AT" sz="2400" b="0" i="1" noProof="0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AT" sz="2400" b="0" i="0" noProof="0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log</m:t>
                          </m:r>
                        </m:fName>
                        <m:e>
                          <m:r>
                            <a:rPr lang="de-AT" sz="2400" b="0" i="1" noProof="0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e>
                      </m:func>
                      <m:r>
                        <a:rPr lang="en-US" sz="2400" i="1" noProof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)</m:t>
                      </m:r>
                    </m:oMath>
                  </m:oMathPara>
                </a14:m>
                <a:endParaRPr lang="en-US" sz="240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6" name="Textplatzhalter 2">
                <a:extLst>
                  <a:ext uri="{FF2B5EF4-FFF2-40B4-BE49-F238E27FC236}">
                    <a16:creationId xmlns:a16="http://schemas.microsoft.com/office/drawing/2014/main" id="{805CB138-347A-4A5B-BAFA-CF57D8C8F9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752124" y="5786493"/>
                <a:ext cx="1970280" cy="381612"/>
              </a:xfr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Ellipse 60">
            <a:extLst>
              <a:ext uri="{FF2B5EF4-FFF2-40B4-BE49-F238E27FC236}">
                <a16:creationId xmlns:a16="http://schemas.microsoft.com/office/drawing/2014/main" id="{EFC3AAEF-4AB2-4F92-AB09-1EC9732BDF62}"/>
              </a:ext>
            </a:extLst>
          </p:cNvPr>
          <p:cNvSpPr>
            <a:spLocks noChangeAspect="1"/>
          </p:cNvSpPr>
          <p:nvPr/>
        </p:nvSpPr>
        <p:spPr>
          <a:xfrm>
            <a:off x="4662745" y="371636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Rechteck 77">
                <a:extLst>
                  <a:ext uri="{FF2B5EF4-FFF2-40B4-BE49-F238E27FC236}">
                    <a16:creationId xmlns:a16="http://schemas.microsoft.com/office/drawing/2014/main" id="{4B15AFCA-FCA4-4CCF-896D-D27CFDFE5C62}"/>
                  </a:ext>
                </a:extLst>
              </p:cNvPr>
              <p:cNvSpPr/>
              <p:nvPr/>
            </p:nvSpPr>
            <p:spPr>
              <a:xfrm>
                <a:off x="2098635" y="2270288"/>
                <a:ext cx="478015" cy="51757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AT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𝒏</m:t>
                          </m:r>
                        </m:num>
                        <m:den>
                          <m:r>
                            <a:rPr lang="de-AT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𝟏𝟎</m:t>
                          </m:r>
                        </m:den>
                      </m:f>
                    </m:oMath>
                  </m:oMathPara>
                </a14:m>
                <a:endParaRPr lang="de-AT" sz="16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8" name="Rechteck 77">
                <a:extLst>
                  <a:ext uri="{FF2B5EF4-FFF2-40B4-BE49-F238E27FC236}">
                    <a16:creationId xmlns:a16="http://schemas.microsoft.com/office/drawing/2014/main" id="{4B15AFCA-FCA4-4CCF-896D-D27CFDFE5C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8635" y="2270288"/>
                <a:ext cx="478015" cy="517578"/>
              </a:xfrm>
              <a:prstGeom prst="rect">
                <a:avLst/>
              </a:prstGeom>
              <a:blipFill>
                <a:blip r:embed="rId10"/>
                <a:stretch>
                  <a:fillRect b="-3529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Ellipse 81">
            <a:extLst>
              <a:ext uri="{FF2B5EF4-FFF2-40B4-BE49-F238E27FC236}">
                <a16:creationId xmlns:a16="http://schemas.microsoft.com/office/drawing/2014/main" id="{91BF32A5-8570-44F0-A7BE-D49F3B7005C7}"/>
              </a:ext>
            </a:extLst>
          </p:cNvPr>
          <p:cNvSpPr>
            <a:spLocks noChangeAspect="1"/>
          </p:cNvSpPr>
          <p:nvPr/>
        </p:nvSpPr>
        <p:spPr>
          <a:xfrm>
            <a:off x="6096025" y="3698804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621D72EB-6290-43F2-A5AF-9DE6CD16D282}"/>
              </a:ext>
            </a:extLst>
          </p:cNvPr>
          <p:cNvCxnSpPr>
            <a:cxnSpLocks noChangeAspect="1"/>
          </p:cNvCxnSpPr>
          <p:nvPr/>
        </p:nvCxnSpPr>
        <p:spPr>
          <a:xfrm>
            <a:off x="6565793" y="4149082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Rechteck 92">
                <a:extLst>
                  <a:ext uri="{FF2B5EF4-FFF2-40B4-BE49-F238E27FC236}">
                    <a16:creationId xmlns:a16="http://schemas.microsoft.com/office/drawing/2014/main" id="{9B20CE85-D959-45F9-8437-6EA49DB49E09}"/>
                  </a:ext>
                </a:extLst>
              </p:cNvPr>
              <p:cNvSpPr/>
              <p:nvPr/>
            </p:nvSpPr>
            <p:spPr>
              <a:xfrm>
                <a:off x="8214431" y="3695103"/>
                <a:ext cx="965056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93" name="Rechteck 92">
                <a:extLst>
                  <a:ext uri="{FF2B5EF4-FFF2-40B4-BE49-F238E27FC236}">
                    <a16:creationId xmlns:a16="http://schemas.microsoft.com/office/drawing/2014/main" id="{9B20CE85-D959-45F9-8437-6EA49DB49E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431" y="3695103"/>
                <a:ext cx="965056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Ellipse 72">
            <a:extLst>
              <a:ext uri="{FF2B5EF4-FFF2-40B4-BE49-F238E27FC236}">
                <a16:creationId xmlns:a16="http://schemas.microsoft.com/office/drawing/2014/main" id="{EE0D92CE-D44C-4D32-8B74-935CB28DA07A}"/>
              </a:ext>
            </a:extLst>
          </p:cNvPr>
          <p:cNvSpPr>
            <a:spLocks noChangeAspect="1"/>
          </p:cNvSpPr>
          <p:nvPr/>
        </p:nvSpPr>
        <p:spPr>
          <a:xfrm>
            <a:off x="1369337" y="3037081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72AEEDD3-97C7-4335-A815-63A545E80F84}"/>
              </a:ext>
            </a:extLst>
          </p:cNvPr>
          <p:cNvCxnSpPr>
            <a:cxnSpLocks noChangeAspect="1"/>
            <a:endCxn id="73" idx="7"/>
          </p:cNvCxnSpPr>
          <p:nvPr/>
        </p:nvCxnSpPr>
        <p:spPr>
          <a:xfrm flipH="1">
            <a:off x="1830256" y="2778000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Ellipse 93">
            <a:extLst>
              <a:ext uri="{FF2B5EF4-FFF2-40B4-BE49-F238E27FC236}">
                <a16:creationId xmlns:a16="http://schemas.microsoft.com/office/drawing/2014/main" id="{97E1ED99-B2B5-4D54-AF4E-20B7F2343E10}"/>
              </a:ext>
            </a:extLst>
          </p:cNvPr>
          <p:cNvSpPr>
            <a:spLocks noChangeAspect="1"/>
          </p:cNvSpPr>
          <p:nvPr/>
        </p:nvSpPr>
        <p:spPr>
          <a:xfrm>
            <a:off x="2716529" y="3037977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B7241B01-9CDA-4AD2-BA94-809E516B941F}"/>
              </a:ext>
            </a:extLst>
          </p:cNvPr>
          <p:cNvCxnSpPr>
            <a:cxnSpLocks noChangeAspect="1"/>
          </p:cNvCxnSpPr>
          <p:nvPr/>
        </p:nvCxnSpPr>
        <p:spPr>
          <a:xfrm>
            <a:off x="2457448" y="2778896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Ellipse 95">
            <a:extLst>
              <a:ext uri="{FF2B5EF4-FFF2-40B4-BE49-F238E27FC236}">
                <a16:creationId xmlns:a16="http://schemas.microsoft.com/office/drawing/2014/main" id="{442D466D-2CEE-4718-94B0-E8563A22C9A2}"/>
              </a:ext>
            </a:extLst>
          </p:cNvPr>
          <p:cNvSpPr>
            <a:spLocks noChangeAspect="1"/>
          </p:cNvSpPr>
          <p:nvPr/>
        </p:nvSpPr>
        <p:spPr>
          <a:xfrm>
            <a:off x="678110" y="3761416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B423749D-D5D2-42A1-9CFA-753D0D5EB898}"/>
              </a:ext>
            </a:extLst>
          </p:cNvPr>
          <p:cNvCxnSpPr>
            <a:cxnSpLocks noChangeAspect="1"/>
            <a:stCxn id="73" idx="3"/>
            <a:endCxn id="96" idx="7"/>
          </p:cNvCxnSpPr>
          <p:nvPr/>
        </p:nvCxnSpPr>
        <p:spPr>
          <a:xfrm flipH="1">
            <a:off x="1139029" y="3498000"/>
            <a:ext cx="309389" cy="34249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4D6521D5-AD18-4EE8-AA02-BBF687BFFA70}"/>
              </a:ext>
            </a:extLst>
          </p:cNvPr>
          <p:cNvCxnSpPr>
            <a:cxnSpLocks noChangeAspect="1"/>
            <a:stCxn id="73" idx="5"/>
          </p:cNvCxnSpPr>
          <p:nvPr/>
        </p:nvCxnSpPr>
        <p:spPr>
          <a:xfrm>
            <a:off x="1830256" y="3498000"/>
            <a:ext cx="299875" cy="34234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Rechteck 100">
                <a:extLst>
                  <a:ext uri="{FF2B5EF4-FFF2-40B4-BE49-F238E27FC236}">
                    <a16:creationId xmlns:a16="http://schemas.microsoft.com/office/drawing/2014/main" id="{B59D9E2C-D89D-4D3C-9DAC-94BDE4D9B376}"/>
                  </a:ext>
                </a:extLst>
              </p:cNvPr>
              <p:cNvSpPr/>
              <p:nvPr/>
            </p:nvSpPr>
            <p:spPr>
              <a:xfrm>
                <a:off x="1346724" y="3015386"/>
                <a:ext cx="601447" cy="51757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AT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𝒏</m:t>
                          </m:r>
                        </m:num>
                        <m:den>
                          <m:r>
                            <a:rPr lang="de-AT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de-AT" sz="16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1" name="Rechteck 100">
                <a:extLst>
                  <a:ext uri="{FF2B5EF4-FFF2-40B4-BE49-F238E27FC236}">
                    <a16:creationId xmlns:a16="http://schemas.microsoft.com/office/drawing/2014/main" id="{B59D9E2C-D89D-4D3C-9DAC-94BDE4D9B3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6724" y="3015386"/>
                <a:ext cx="601447" cy="517578"/>
              </a:xfrm>
              <a:prstGeom prst="rect">
                <a:avLst/>
              </a:prstGeom>
              <a:blipFill>
                <a:blip r:embed="rId12"/>
                <a:stretch>
                  <a:fillRect b="-3529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Rechteck 102">
                <a:extLst>
                  <a:ext uri="{FF2B5EF4-FFF2-40B4-BE49-F238E27FC236}">
                    <a16:creationId xmlns:a16="http://schemas.microsoft.com/office/drawing/2014/main" id="{3AD65292-CECB-426C-ADC9-0572A7CEBF62}"/>
                  </a:ext>
                </a:extLst>
              </p:cNvPr>
              <p:cNvSpPr/>
              <p:nvPr/>
            </p:nvSpPr>
            <p:spPr>
              <a:xfrm>
                <a:off x="801388" y="3841901"/>
                <a:ext cx="354584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</m:t>
                      </m:r>
                    </m:oMath>
                  </m:oMathPara>
                </a14:m>
                <a:endParaRPr lang="de-AT" sz="16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3" name="Rechteck 102">
                <a:extLst>
                  <a:ext uri="{FF2B5EF4-FFF2-40B4-BE49-F238E27FC236}">
                    <a16:creationId xmlns:a16="http://schemas.microsoft.com/office/drawing/2014/main" id="{3AD65292-CECB-426C-ADC9-0572A7CEBF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388" y="3841901"/>
                <a:ext cx="354584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Rechteck 103">
                <a:extLst>
                  <a:ext uri="{FF2B5EF4-FFF2-40B4-BE49-F238E27FC236}">
                    <a16:creationId xmlns:a16="http://schemas.microsoft.com/office/drawing/2014/main" id="{664C4E7F-82F2-413C-96BF-F05D8F2E97E4}"/>
                  </a:ext>
                </a:extLst>
              </p:cNvPr>
              <p:cNvSpPr/>
              <p:nvPr/>
            </p:nvSpPr>
            <p:spPr>
              <a:xfrm>
                <a:off x="2707160" y="3018951"/>
                <a:ext cx="601447" cy="55496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AT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𝟗</m:t>
                          </m:r>
                          <m:r>
                            <a:rPr lang="de-AT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𝒏</m:t>
                          </m:r>
                        </m:num>
                        <m:den>
                          <m:r>
                            <a:rPr lang="de-AT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de-AT" sz="16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4" name="Rechteck 103">
                <a:extLst>
                  <a:ext uri="{FF2B5EF4-FFF2-40B4-BE49-F238E27FC236}">
                    <a16:creationId xmlns:a16="http://schemas.microsoft.com/office/drawing/2014/main" id="{664C4E7F-82F2-413C-96BF-F05D8F2E97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7160" y="3018951"/>
                <a:ext cx="601447" cy="55496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Rechteck 104">
                <a:extLst>
                  <a:ext uri="{FF2B5EF4-FFF2-40B4-BE49-F238E27FC236}">
                    <a16:creationId xmlns:a16="http://schemas.microsoft.com/office/drawing/2014/main" id="{5BBE3DBF-70C6-47B6-843F-82E8DC0CCDC9}"/>
                  </a:ext>
                </a:extLst>
              </p:cNvPr>
              <p:cNvSpPr/>
              <p:nvPr/>
            </p:nvSpPr>
            <p:spPr>
              <a:xfrm>
                <a:off x="4594348" y="2264400"/>
                <a:ext cx="487634" cy="55496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AT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𝟗</m:t>
                          </m:r>
                          <m:r>
                            <a:rPr lang="de-AT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𝒏</m:t>
                          </m:r>
                        </m:num>
                        <m:den>
                          <m:r>
                            <a:rPr lang="de-AT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𝟏𝟎</m:t>
                          </m:r>
                        </m:den>
                      </m:f>
                    </m:oMath>
                  </m:oMathPara>
                </a14:m>
                <a:endParaRPr lang="de-AT" sz="16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5" name="Rechteck 104">
                <a:extLst>
                  <a:ext uri="{FF2B5EF4-FFF2-40B4-BE49-F238E27FC236}">
                    <a16:creationId xmlns:a16="http://schemas.microsoft.com/office/drawing/2014/main" id="{5BBE3DBF-70C6-47B6-843F-82E8DC0CCD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4348" y="2264400"/>
                <a:ext cx="487634" cy="55496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Rechteck 105">
                <a:extLst>
                  <a:ext uri="{FF2B5EF4-FFF2-40B4-BE49-F238E27FC236}">
                    <a16:creationId xmlns:a16="http://schemas.microsoft.com/office/drawing/2014/main" id="{500FA98A-69D9-4BD9-918A-C6A0EE7383B3}"/>
                  </a:ext>
                </a:extLst>
              </p:cNvPr>
              <p:cNvSpPr/>
              <p:nvPr/>
            </p:nvSpPr>
            <p:spPr>
              <a:xfrm>
                <a:off x="3682198" y="3015011"/>
                <a:ext cx="601447" cy="55496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AT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𝟗</m:t>
                          </m:r>
                          <m:r>
                            <a:rPr lang="de-AT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𝒏</m:t>
                          </m:r>
                        </m:num>
                        <m:den>
                          <m:r>
                            <a:rPr lang="de-AT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de-AT" sz="16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6" name="Rechteck 105">
                <a:extLst>
                  <a:ext uri="{FF2B5EF4-FFF2-40B4-BE49-F238E27FC236}">
                    <a16:creationId xmlns:a16="http://schemas.microsoft.com/office/drawing/2014/main" id="{500FA98A-69D9-4BD9-918A-C6A0EE7383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2198" y="3015011"/>
                <a:ext cx="601447" cy="55496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Rechteck 106">
                <a:extLst>
                  <a:ext uri="{FF2B5EF4-FFF2-40B4-BE49-F238E27FC236}">
                    <a16:creationId xmlns:a16="http://schemas.microsoft.com/office/drawing/2014/main" id="{1E0F72B0-CBC7-481A-BC46-6AE907455412}"/>
                  </a:ext>
                </a:extLst>
              </p:cNvPr>
              <p:cNvSpPr/>
              <p:nvPr/>
            </p:nvSpPr>
            <p:spPr>
              <a:xfrm>
                <a:off x="5367685" y="3026431"/>
                <a:ext cx="611065" cy="55496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AT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𝟖𝟏</m:t>
                          </m:r>
                          <m:r>
                            <a:rPr lang="de-AT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𝒏</m:t>
                          </m:r>
                        </m:num>
                        <m:den>
                          <m:r>
                            <a:rPr lang="de-AT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de-AT" sz="16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7" name="Rechteck 106">
                <a:extLst>
                  <a:ext uri="{FF2B5EF4-FFF2-40B4-BE49-F238E27FC236}">
                    <a16:creationId xmlns:a16="http://schemas.microsoft.com/office/drawing/2014/main" id="{1E0F72B0-CBC7-481A-BC46-6AE9074554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7685" y="3026431"/>
                <a:ext cx="611065" cy="55496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Rechteck 107">
                <a:extLst>
                  <a:ext uri="{FF2B5EF4-FFF2-40B4-BE49-F238E27FC236}">
                    <a16:creationId xmlns:a16="http://schemas.microsoft.com/office/drawing/2014/main" id="{FA84119B-113B-4105-B135-BC63AB52B207}"/>
                  </a:ext>
                </a:extLst>
              </p:cNvPr>
              <p:cNvSpPr/>
              <p:nvPr/>
            </p:nvSpPr>
            <p:spPr>
              <a:xfrm>
                <a:off x="4660003" y="3769648"/>
                <a:ext cx="585417" cy="43922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AT" sz="12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2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𝟖𝟏</m:t>
                          </m:r>
                          <m:r>
                            <a:rPr lang="de-AT" sz="12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𝒏</m:t>
                          </m:r>
                        </m:num>
                        <m:den>
                          <m:r>
                            <a:rPr lang="de-AT" sz="12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𝟏𝟎𝟎𝟎</m:t>
                          </m:r>
                        </m:den>
                      </m:f>
                    </m:oMath>
                  </m:oMathPara>
                </a14:m>
                <a:endParaRPr lang="de-AT" sz="12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8" name="Rechteck 107">
                <a:extLst>
                  <a:ext uri="{FF2B5EF4-FFF2-40B4-BE49-F238E27FC236}">
                    <a16:creationId xmlns:a16="http://schemas.microsoft.com/office/drawing/2014/main" id="{FA84119B-113B-4105-B135-BC63AB52B2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003" y="3769648"/>
                <a:ext cx="585417" cy="439223"/>
              </a:xfrm>
              <a:prstGeom prst="rect">
                <a:avLst/>
              </a:prstGeom>
              <a:blipFill>
                <a:blip r:embed="rId18"/>
                <a:stretch>
                  <a:fillRect b="-1389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Rechteck 109">
                <a:extLst>
                  <a:ext uri="{FF2B5EF4-FFF2-40B4-BE49-F238E27FC236}">
                    <a16:creationId xmlns:a16="http://schemas.microsoft.com/office/drawing/2014/main" id="{810D3246-009C-40AF-A4B9-F08AD441DE19}"/>
                  </a:ext>
                </a:extLst>
              </p:cNvPr>
              <p:cNvSpPr/>
              <p:nvPr/>
            </p:nvSpPr>
            <p:spPr>
              <a:xfrm>
                <a:off x="6102159" y="3744263"/>
                <a:ext cx="593431" cy="43922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AT" sz="12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2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𝟕𝟐𝟗</m:t>
                          </m:r>
                          <m:r>
                            <a:rPr lang="de-AT" sz="12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𝒏</m:t>
                          </m:r>
                        </m:num>
                        <m:den>
                          <m:r>
                            <a:rPr lang="de-AT" sz="12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𝟏𝟎𝟎𝟎</m:t>
                          </m:r>
                        </m:den>
                      </m:f>
                    </m:oMath>
                  </m:oMathPara>
                </a14:m>
                <a:endParaRPr lang="de-AT" sz="12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10" name="Rechteck 109">
                <a:extLst>
                  <a:ext uri="{FF2B5EF4-FFF2-40B4-BE49-F238E27FC236}">
                    <a16:creationId xmlns:a16="http://schemas.microsoft.com/office/drawing/2014/main" id="{810D3246-009C-40AF-A4B9-F08AD441DE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2159" y="3744263"/>
                <a:ext cx="593431" cy="439223"/>
              </a:xfrm>
              <a:prstGeom prst="rect">
                <a:avLst/>
              </a:prstGeom>
              <a:blipFill>
                <a:blip r:embed="rId19"/>
                <a:stretch>
                  <a:fillRect b="-1389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A302ED3D-F6E3-45E4-91C2-EF1FDD054A3F}"/>
              </a:ext>
            </a:extLst>
          </p:cNvPr>
          <p:cNvCxnSpPr>
            <a:cxnSpLocks noChangeAspect="1"/>
          </p:cNvCxnSpPr>
          <p:nvPr/>
        </p:nvCxnSpPr>
        <p:spPr>
          <a:xfrm flipH="1">
            <a:off x="4439889" y="4211659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9316EAF4-DA48-42FD-A28E-792818E63851}"/>
              </a:ext>
            </a:extLst>
          </p:cNvPr>
          <p:cNvCxnSpPr>
            <a:cxnSpLocks noChangeAspect="1"/>
          </p:cNvCxnSpPr>
          <p:nvPr/>
        </p:nvCxnSpPr>
        <p:spPr>
          <a:xfrm>
            <a:off x="5121413" y="4177255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Rechteck 113">
                <a:extLst>
                  <a:ext uri="{FF2B5EF4-FFF2-40B4-BE49-F238E27FC236}">
                    <a16:creationId xmlns:a16="http://schemas.microsoft.com/office/drawing/2014/main" id="{5E32E352-755A-42F1-A55A-70214A4CC29A}"/>
                  </a:ext>
                </a:extLst>
              </p:cNvPr>
              <p:cNvSpPr/>
              <p:nvPr/>
            </p:nvSpPr>
            <p:spPr>
              <a:xfrm>
                <a:off x="6096025" y="4264069"/>
                <a:ext cx="519723" cy="76944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4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. . .</m:t>
                      </m:r>
                    </m:oMath>
                  </m:oMathPara>
                </a14:m>
                <a:endParaRPr lang="de-AT" sz="4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14" name="Rechteck 113">
                <a:extLst>
                  <a:ext uri="{FF2B5EF4-FFF2-40B4-BE49-F238E27FC236}">
                    <a16:creationId xmlns:a16="http://schemas.microsoft.com/office/drawing/2014/main" id="{5E32E352-755A-42F1-A55A-70214A4CC2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25" y="4264069"/>
                <a:ext cx="519723" cy="76944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Rechteck 115">
                <a:extLst>
                  <a:ext uri="{FF2B5EF4-FFF2-40B4-BE49-F238E27FC236}">
                    <a16:creationId xmlns:a16="http://schemas.microsoft.com/office/drawing/2014/main" id="{677B7EDE-294C-4BC0-80C1-9133AE8794B3}"/>
                  </a:ext>
                </a:extLst>
              </p:cNvPr>
              <p:cNvSpPr/>
              <p:nvPr/>
            </p:nvSpPr>
            <p:spPr>
              <a:xfrm>
                <a:off x="4729945" y="4275679"/>
                <a:ext cx="519723" cy="76944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4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. . .</m:t>
                      </m:r>
                    </m:oMath>
                  </m:oMathPara>
                </a14:m>
                <a:endParaRPr lang="de-AT" sz="4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16" name="Rechteck 115">
                <a:extLst>
                  <a:ext uri="{FF2B5EF4-FFF2-40B4-BE49-F238E27FC236}">
                    <a16:creationId xmlns:a16="http://schemas.microsoft.com/office/drawing/2014/main" id="{677B7EDE-294C-4BC0-80C1-9133AE8794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9945" y="4275679"/>
                <a:ext cx="519723" cy="769441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Rechteck 116">
                <a:extLst>
                  <a:ext uri="{FF2B5EF4-FFF2-40B4-BE49-F238E27FC236}">
                    <a16:creationId xmlns:a16="http://schemas.microsoft.com/office/drawing/2014/main" id="{4A4E575C-33FB-46EF-A0B7-62008F02ABC0}"/>
                  </a:ext>
                </a:extLst>
              </p:cNvPr>
              <p:cNvSpPr/>
              <p:nvPr/>
            </p:nvSpPr>
            <p:spPr>
              <a:xfrm>
                <a:off x="6846481" y="5333262"/>
                <a:ext cx="354584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</m:t>
                      </m:r>
                    </m:oMath>
                  </m:oMathPara>
                </a14:m>
                <a:endParaRPr lang="de-AT" sz="16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17" name="Rechteck 116">
                <a:extLst>
                  <a:ext uri="{FF2B5EF4-FFF2-40B4-BE49-F238E27FC236}">
                    <a16:creationId xmlns:a16="http://schemas.microsoft.com/office/drawing/2014/main" id="{4A4E575C-33FB-46EF-A0B7-62008F02AB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6481" y="5333262"/>
                <a:ext cx="354584" cy="33855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Rechteck 118">
                <a:extLst>
                  <a:ext uri="{FF2B5EF4-FFF2-40B4-BE49-F238E27FC236}">
                    <a16:creationId xmlns:a16="http://schemas.microsoft.com/office/drawing/2014/main" id="{BAB3DF8E-686F-42D9-9FB6-2CB8C3797BA8}"/>
                  </a:ext>
                </a:extLst>
              </p:cNvPr>
              <p:cNvSpPr/>
              <p:nvPr/>
            </p:nvSpPr>
            <p:spPr>
              <a:xfrm>
                <a:off x="8579038" y="5271706"/>
                <a:ext cx="519723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≤</m:t>
                      </m:r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19" name="Rechteck 118">
                <a:extLst>
                  <a:ext uri="{FF2B5EF4-FFF2-40B4-BE49-F238E27FC236}">
                    <a16:creationId xmlns:a16="http://schemas.microsoft.com/office/drawing/2014/main" id="{BAB3DF8E-686F-42D9-9FB6-2CB8C3797B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9038" y="5271706"/>
                <a:ext cx="519723" cy="461665"/>
              </a:xfrm>
              <a:prstGeom prst="rect">
                <a:avLst/>
              </a:prstGeom>
              <a:blipFill>
                <a:blip r:embed="rId23"/>
                <a:stretch>
                  <a:fillRect l="-25581" r="-6977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B49C6A3C-78BF-47FA-82D0-43A840AB47A0}"/>
              </a:ext>
            </a:extLst>
          </p:cNvPr>
          <p:cNvCxnSpPr>
            <a:cxnSpLocks/>
          </p:cNvCxnSpPr>
          <p:nvPr/>
        </p:nvCxnSpPr>
        <p:spPr>
          <a:xfrm>
            <a:off x="7504209" y="4800315"/>
            <a:ext cx="852533" cy="0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Rechteck 120">
                <a:extLst>
                  <a:ext uri="{FF2B5EF4-FFF2-40B4-BE49-F238E27FC236}">
                    <a16:creationId xmlns:a16="http://schemas.microsoft.com/office/drawing/2014/main" id="{7312D98D-93FE-416B-B633-12F8E6C751CD}"/>
                  </a:ext>
                </a:extLst>
              </p:cNvPr>
              <p:cNvSpPr/>
              <p:nvPr/>
            </p:nvSpPr>
            <p:spPr>
              <a:xfrm>
                <a:off x="8563940" y="4569482"/>
                <a:ext cx="519723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≤</m:t>
                      </m:r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21" name="Rechteck 120">
                <a:extLst>
                  <a:ext uri="{FF2B5EF4-FFF2-40B4-BE49-F238E27FC236}">
                    <a16:creationId xmlns:a16="http://schemas.microsoft.com/office/drawing/2014/main" id="{7312D98D-93FE-416B-B633-12F8E6C751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3940" y="4569482"/>
                <a:ext cx="519723" cy="461665"/>
              </a:xfrm>
              <a:prstGeom prst="rect">
                <a:avLst/>
              </a:prstGeom>
              <a:blipFill>
                <a:blip r:embed="rId24"/>
                <a:stretch>
                  <a:fillRect l="-25882" r="-7059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C7AD578D-A977-45FD-A6B9-4F4D99D0E246}"/>
              </a:ext>
            </a:extLst>
          </p:cNvPr>
          <p:cNvCxnSpPr>
            <a:cxnSpLocks/>
          </p:cNvCxnSpPr>
          <p:nvPr/>
        </p:nvCxnSpPr>
        <p:spPr>
          <a:xfrm flipH="1">
            <a:off x="257654" y="1693571"/>
            <a:ext cx="8068" cy="4250029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Rechteck 122">
                <a:extLst>
                  <a:ext uri="{FF2B5EF4-FFF2-40B4-BE49-F238E27FC236}">
                    <a16:creationId xmlns:a16="http://schemas.microsoft.com/office/drawing/2014/main" id="{12492C70-B693-4286-98FF-DC8E10BBD5E0}"/>
                  </a:ext>
                </a:extLst>
              </p:cNvPr>
              <p:cNvSpPr/>
              <p:nvPr/>
            </p:nvSpPr>
            <p:spPr>
              <a:xfrm>
                <a:off x="412878" y="4663709"/>
                <a:ext cx="1234569" cy="4948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𝒍𝒐</m:t>
                      </m:r>
                      <m:sSub>
                        <m:sSubPr>
                          <m:ctrlPr>
                            <a:rPr lang="de-AT" sz="2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de-AT" sz="2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𝒈</m:t>
                          </m:r>
                        </m:e>
                        <m:sub>
                          <m:r>
                            <a:rPr lang="de-AT" sz="2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𝟏𝟎</m:t>
                          </m:r>
                          <m:r>
                            <a:rPr lang="de-AT" sz="2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/</m:t>
                          </m:r>
                          <m:r>
                            <a:rPr lang="de-AT" sz="2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𝟗</m:t>
                          </m:r>
                        </m:sub>
                      </m:sSub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𝒏</m:t>
                      </m:r>
                    </m:oMath>
                  </m:oMathPara>
                </a14:m>
                <a:endParaRPr lang="de-AT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23" name="Rechteck 122">
                <a:extLst>
                  <a:ext uri="{FF2B5EF4-FFF2-40B4-BE49-F238E27FC236}">
                    <a16:creationId xmlns:a16="http://schemas.microsoft.com/office/drawing/2014/main" id="{12492C70-B693-4286-98FF-DC8E10BBD5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878" y="4663709"/>
                <a:ext cx="1234569" cy="494815"/>
              </a:xfrm>
              <a:prstGeom prst="rect">
                <a:avLst/>
              </a:prstGeom>
              <a:blipFill>
                <a:blip r:embed="rId25"/>
                <a:stretch>
                  <a:fillRect l="-11386" r="-3465" b="-12346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Titel 1">
            <a:extLst>
              <a:ext uri="{FF2B5EF4-FFF2-40B4-BE49-F238E27FC236}">
                <a16:creationId xmlns:a16="http://schemas.microsoft.com/office/drawing/2014/main" id="{4B1E172D-7C38-42D8-804E-EE5419C2E6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</p:spPr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Recursion tree: unbalanced partitioning, 9-to-1 split</a:t>
            </a:r>
          </a:p>
        </p:txBody>
      </p:sp>
    </p:spTree>
    <p:extLst>
      <p:ext uri="{BB962C8B-B14F-4D97-AF65-F5344CB8AC3E}">
        <p14:creationId xmlns:p14="http://schemas.microsoft.com/office/powerpoint/2010/main" val="14963611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platzhalter 2">
                <a:extLst>
                  <a:ext uri="{FF2B5EF4-FFF2-40B4-BE49-F238E27FC236}">
                    <a16:creationId xmlns:a16="http://schemas.microsoft.com/office/drawing/2014/main" id="{8CEA290E-797F-4002-8325-6DFFB96B7276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350" y="1242945"/>
                <a:ext cx="8229300" cy="5059883"/>
              </a:xfrm>
            </p:spPr>
            <p:txBody>
              <a:bodyPr/>
              <a:lstStyle/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When we split in half, i.e. the new sizes are </a:t>
                </a:r>
                <a14:m>
                  <m:oMath xmlns:m="http://schemas.openxmlformats.org/officeDocument/2006/math"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/2,</m:t>
                    </m:r>
                  </m:oMath>
                </a14:m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the height of the tree is:</a:t>
                </a: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pPr>
                            <m:e>
                              <m:r>
                                <a:rPr lang="de-AT" sz="1800" b="0" i="1" noProof="0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de-AT" sz="1800" b="0" i="1" noProof="0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h</m:t>
                              </m:r>
                            </m:sup>
                          </m:sSup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=(</m:t>
                          </m:r>
                          <m:f>
                            <m:fPr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fPr>
                            <m:num>
                              <m:r>
                                <a:rPr lang="de-AT" sz="1800" b="0" i="1" noProof="0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AT" sz="1800" b="0" i="1" noProof="0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1/2</m:t>
                              </m:r>
                            </m:den>
                          </m:f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)</m:t>
                          </m:r>
                        </m:e>
                        <m:sup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h</m:t>
                          </m:r>
                        </m:sup>
                      </m:sSup>
                      <m:r>
                        <a:rPr lang="de-AT" sz="1800" b="0" i="1" noProof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=</m:t>
                      </m:r>
                      <m:r>
                        <a:rPr lang="de-AT" sz="1800" b="0" i="1" noProof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𝑛</m:t>
                      </m:r>
                    </m:oMath>
                  </m:oMathPara>
                </a14:m>
                <a:endParaRPr lang="en-US" sz="180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1800" b="0" i="1" noProof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h</m:t>
                      </m:r>
                      <m:r>
                        <a:rPr lang="de-AT" sz="1800" b="0" i="1" noProof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=</m:t>
                      </m:r>
                      <m:func>
                        <m:funcPr>
                          <m:ctrlPr>
                            <a:rPr lang="de-AT" sz="1800" b="0" i="1" noProof="0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de-AT" sz="1800" b="0" i="1" noProof="0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AT" sz="1800" b="0" i="0" noProof="0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de-AT" sz="1800" b="0" i="0" noProof="0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de-AT" sz="1800" b="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 case of an unbalanced s</a:t>
                </a:r>
                <a:r>
                  <a:rPr lang="en-US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plit</a:t>
                </a: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e.g.,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/10 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9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/10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the minimal leaf depth is:</a:t>
                </a: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fPr>
                            <m:num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1/</m:t>
                              </m:r>
                              <m:r>
                                <a:rPr lang="de-AT" sz="18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)</m:t>
                          </m:r>
                        </m:e>
                        <m:sup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h</m:t>
                          </m:r>
                        </m:sup>
                      </m:sSup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= </m:t>
                      </m:r>
                      <m:sSup>
                        <m:sSupPr>
                          <m:ctrlP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10</m:t>
                          </m:r>
                        </m:e>
                        <m:sup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h</m:t>
                          </m:r>
                        </m:sup>
                      </m:sSup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=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𝑛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h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=</m:t>
                      </m:r>
                      <m:func>
                        <m:funcPr>
                          <m:ctrlP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de-AT" sz="18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AT" sz="180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de-AT" sz="18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en-US" sz="180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 maximal leaf depth is then:</a:t>
                </a: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fPr>
                            <m:num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AT" sz="18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9</m:t>
                              </m:r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/10</m:t>
                              </m:r>
                            </m:den>
                          </m:f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)</m:t>
                          </m:r>
                        </m:e>
                        <m:sup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h</m:t>
                          </m:r>
                        </m:sup>
                      </m:sSup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= </m:t>
                      </m:r>
                      <m:sSup>
                        <m:sSupPr>
                          <m:ctrlP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de-AT" sz="18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fPr>
                            <m:num>
                              <m:r>
                                <a:rPr lang="de-AT" sz="18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de-AT" sz="18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)</m:t>
                          </m:r>
                        </m:e>
                        <m:sup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h</m:t>
                          </m:r>
                        </m:sup>
                      </m:sSup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=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𝑛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h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=</m:t>
                      </m:r>
                      <m:func>
                        <m:funcPr>
                          <m:ctrlP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AT" sz="180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10</m:t>
                              </m:r>
                              <m:r>
                                <a:rPr lang="de-AT" sz="18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/9</m:t>
                              </m:r>
                            </m:sub>
                          </m:sSub>
                        </m:fName>
                        <m:e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 maximal depth is still </a:t>
                </a:r>
                <a14:m>
                  <m:oMath xmlns:m="http://schemas.openxmlformats.org/officeDocument/2006/math"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func>
                      <m:funcPr>
                        <m:ctrlPr>
                          <a:rPr lang="de-AT" sz="1800" b="0" i="1" noProof="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 i="0" noProof="0" dirty="0" err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log</m:t>
                        </m:r>
                      </m:fName>
                      <m:e>
                        <m:r>
                          <a:rPr lang="de-AT" sz="1800" b="0" i="1" noProof="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</m:func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en-US" sz="180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6" name="Textplatzhalter 2">
                <a:extLst>
                  <a:ext uri="{FF2B5EF4-FFF2-40B4-BE49-F238E27FC236}">
                    <a16:creationId xmlns:a16="http://schemas.microsoft.com/office/drawing/2014/main" id="{8CEA290E-797F-4002-8325-6DFFB96B72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350" y="1242945"/>
                <a:ext cx="8229300" cy="5059883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el 1">
            <a:extLst>
              <a:ext uri="{FF2B5EF4-FFF2-40B4-BE49-F238E27FC236}">
                <a16:creationId xmlns:a16="http://schemas.microsoft.com/office/drawing/2014/main" id="{7D89EEF6-4025-41C6-A245-6FE32B626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</p:spPr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Unbalanced partitioning, 9-to-1 split</a:t>
            </a:r>
          </a:p>
        </p:txBody>
      </p:sp>
    </p:spTree>
    <p:extLst>
      <p:ext uri="{BB962C8B-B14F-4D97-AF65-F5344CB8AC3E}">
        <p14:creationId xmlns:p14="http://schemas.microsoft.com/office/powerpoint/2010/main" val="680978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6216"/>
            <a:ext cx="8229600" cy="1717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6600"/>
            <a:ext cx="8229300" cy="1144800"/>
          </a:xfrm>
        </p:spPr>
        <p:txBody>
          <a:bodyPr/>
          <a:lstStyle/>
          <a:p>
            <a:pPr algn="ctr"/>
            <a:r>
              <a:rPr lang="en-US" sz="44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en-US" sz="4400" b="1" noProof="0" dirty="0"/>
          </a:p>
        </p:txBody>
      </p:sp>
    </p:spTree>
    <p:extLst>
      <p:ext uri="{BB962C8B-B14F-4D97-AF65-F5344CB8AC3E}">
        <p14:creationId xmlns:p14="http://schemas.microsoft.com/office/powerpoint/2010/main" val="38762111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2">
                <a:extLst>
                  <a:ext uri="{FF2B5EF4-FFF2-40B4-BE49-F238E27FC236}">
                    <a16:creationId xmlns:a16="http://schemas.microsoft.com/office/drawing/2014/main" id="{B1AB2DE2-BFB4-403B-9976-58C0812A00AF}"/>
                  </a:ext>
                </a:extLst>
              </p:cNvPr>
              <p:cNvSpPr txBox="1"/>
              <p:nvPr/>
            </p:nvSpPr>
            <p:spPr>
              <a:xfrm>
                <a:off x="457200" y="1605600"/>
                <a:ext cx="8229600" cy="1365374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lang="en-US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Task 11: </a:t>
                </a: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Suppose that the splits at every level of quicksort are in the proportion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𝛼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to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1 − 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𝛼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 where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0&lt; 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𝛼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&lt;1/2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is a constant. Using the previous argumentation about the minimum and maximum leaf depth show that the minimum leaf depth is approximately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−</m:t>
                    </m:r>
                    <m:f>
                      <m:f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de-AT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AT" sz="18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𝑛</m:t>
                            </m:r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de-AT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AT" sz="18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𝛼</m:t>
                            </m:r>
                          </m:e>
                        </m:func>
                      </m:den>
                    </m:f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and the maximum leaf depth is approximately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−</m:t>
                    </m:r>
                    <m:f>
                      <m:f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de-AT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AT" sz="18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𝑛</m:t>
                            </m:r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de-AT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AT" sz="18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(1 − </m:t>
                            </m:r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𝛼</m:t>
                            </m:r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)</m:t>
                            </m:r>
                          </m:e>
                        </m:func>
                      </m:den>
                    </m:f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4" name="Textfeld 2">
                <a:extLst>
                  <a:ext uri="{FF2B5EF4-FFF2-40B4-BE49-F238E27FC236}">
                    <a16:creationId xmlns:a16="http://schemas.microsoft.com/office/drawing/2014/main" id="{B1AB2DE2-BFB4-403B-9976-58C0812A0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605600"/>
                <a:ext cx="8229600" cy="1365374"/>
              </a:xfrm>
              <a:prstGeom prst="rect">
                <a:avLst/>
              </a:prstGeom>
              <a:blipFill>
                <a:blip r:embed="rId3"/>
                <a:stretch>
                  <a:fillRect l="-593" t="-2232" b="-1786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91844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platzhalter 2">
                <a:extLst>
                  <a:ext uri="{FF2B5EF4-FFF2-40B4-BE49-F238E27FC236}">
                    <a16:creationId xmlns:a16="http://schemas.microsoft.com/office/drawing/2014/main" id="{8CEA290E-797F-4002-8325-6DFFB96B7276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653133"/>
                <a:ext cx="8229300" cy="4510903"/>
              </a:xfrm>
            </p:spPr>
            <p:txBody>
              <a:bodyPr/>
              <a:lstStyle/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Suppose now that the “good” and “bad” splits alternate during execution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Here, we are assuming that “good” and “bad” splits are equally likely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One “bad” split followed by one “good” split produces three arrays with sizes</a:t>
                </a: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1,</m:t>
                      </m:r>
                      <m:f>
                        <m:fPr>
                          <m:ctrlP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−1</m:t>
                          </m:r>
                        </m:num>
                        <m:den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2</m:t>
                          </m:r>
                        </m:den>
                      </m:f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,</m:t>
                      </m:r>
                      <m:f>
                        <m:fPr>
                          <m:ctrlP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−1</m:t>
                          </m:r>
                        </m:num>
                        <m:den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 total cost is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−1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which is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This situation is now even slightly better than a single “good” split:</a:t>
                </a: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−1</m:t>
                          </m:r>
                        </m:num>
                        <m:den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2</m:t>
                          </m:r>
                        </m:den>
                      </m:f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+1,</m:t>
                      </m:r>
                      <m:f>
                        <m:fPr>
                          <m:ctrlP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−1</m:t>
                          </m:r>
                        </m:num>
                        <m:den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 cost is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which is again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However, the first example is completely balanced in a recursion subtree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Intuitively, the cost of the “bad” split is absorbed in the cost of a “good” split</a:t>
                </a:r>
              </a:p>
            </p:txBody>
          </p:sp>
        </mc:Choice>
        <mc:Fallback xmlns="">
          <p:sp>
            <p:nvSpPr>
              <p:cNvPr id="56" name="Textplatzhalter 2">
                <a:extLst>
                  <a:ext uri="{FF2B5EF4-FFF2-40B4-BE49-F238E27FC236}">
                    <a16:creationId xmlns:a16="http://schemas.microsoft.com/office/drawing/2014/main" id="{8CEA290E-797F-4002-8325-6DFFB96B72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53133"/>
                <a:ext cx="8229300" cy="4510903"/>
              </a:xfrm>
              <a:blipFill>
                <a:blip r:embed="rId3"/>
                <a:stretch>
                  <a:fillRect t="-843" b="-2528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el 1">
            <a:extLst>
              <a:ext uri="{FF2B5EF4-FFF2-40B4-BE49-F238E27FC236}">
                <a16:creationId xmlns:a16="http://schemas.microsoft.com/office/drawing/2014/main" id="{B4BD6107-13AD-4A8E-A75D-5F5A524E9E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</p:spPr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Average case</a:t>
            </a:r>
          </a:p>
        </p:txBody>
      </p:sp>
    </p:spTree>
    <p:extLst>
      <p:ext uri="{BB962C8B-B14F-4D97-AF65-F5344CB8AC3E}">
        <p14:creationId xmlns:p14="http://schemas.microsoft.com/office/powerpoint/2010/main" val="2924163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platzhalter 2">
                <a:extLst>
                  <a:ext uri="{FF2B5EF4-FFF2-40B4-BE49-F238E27FC236}">
                    <a16:creationId xmlns:a16="http://schemas.microsoft.com/office/drawing/2014/main" id="{8CEA290E-797F-4002-8325-6DFFB96B7276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653134"/>
                <a:ext cx="8229300" cy="3163795"/>
              </a:xfrm>
            </p:spPr>
            <p:txBody>
              <a:bodyPr/>
              <a:lstStyle/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Hence, even unbalanced splits have the complexity of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log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⁡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 can make another argument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When we run quicksort the splits will not be same at every level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Some of the splits will be “good” balanced splits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Some of the splits will be “bad” unbalanced splits, e.g., long portions of same number or presorted parts of the array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 the average case partition produces a mix of “good” and “bad” splits</a:t>
                </a:r>
              </a:p>
            </p:txBody>
          </p:sp>
        </mc:Choice>
        <mc:Fallback xmlns="">
          <p:sp>
            <p:nvSpPr>
              <p:cNvPr id="56" name="Textplatzhalter 2">
                <a:extLst>
                  <a:ext uri="{FF2B5EF4-FFF2-40B4-BE49-F238E27FC236}">
                    <a16:creationId xmlns:a16="http://schemas.microsoft.com/office/drawing/2014/main" id="{8CEA290E-797F-4002-8325-6DFFB96B72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53134"/>
                <a:ext cx="8229300" cy="3163795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8D2EF1AB-A396-4E5B-9ED2-5287AED0349A}"/>
              </a:ext>
            </a:extLst>
          </p:cNvPr>
          <p:cNvSpPr txBox="1">
            <a:spLocks/>
          </p:cNvSpPr>
          <p:nvPr/>
        </p:nvSpPr>
        <p:spPr>
          <a:xfrm>
            <a:off x="527658" y="4901731"/>
            <a:ext cx="8229600" cy="10745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Remark 2: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Important</a:t>
            </a:r>
            <a:r>
              <a:rPr kumimoji="0" lang="en-US" sz="1800" b="0" i="0" u="none" strike="noStrike" kern="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assumption that we are making: all 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permutations are equally likely. Some of these permutations will produce “good” splits and some will produce “bad” splits.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4E2842C7-D1DD-4B2B-95CA-8835ECCF20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</p:spPr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Average case</a:t>
            </a:r>
          </a:p>
        </p:txBody>
      </p:sp>
    </p:spTree>
    <p:extLst>
      <p:ext uri="{BB962C8B-B14F-4D97-AF65-F5344CB8AC3E}">
        <p14:creationId xmlns:p14="http://schemas.microsoft.com/office/powerpoint/2010/main" val="2622197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6216"/>
            <a:ext cx="8229600" cy="1717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6600"/>
            <a:ext cx="8229300" cy="1144800"/>
          </a:xfrm>
        </p:spPr>
        <p:txBody>
          <a:bodyPr/>
          <a:lstStyle/>
          <a:p>
            <a:pPr algn="ctr"/>
            <a:r>
              <a:rPr lang="en-US" sz="44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Randomized quicksort</a:t>
            </a:r>
            <a:endParaRPr lang="en-US" sz="4400" b="1" noProof="0" dirty="0"/>
          </a:p>
        </p:txBody>
      </p:sp>
    </p:spTree>
    <p:extLst>
      <p:ext uri="{BB962C8B-B14F-4D97-AF65-F5344CB8AC3E}">
        <p14:creationId xmlns:p14="http://schemas.microsoft.com/office/powerpoint/2010/main" val="207883107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platzhalter 2">
            <a:extLst>
              <a:ext uri="{FF2B5EF4-FFF2-40B4-BE49-F238E27FC236}">
                <a16:creationId xmlns:a16="http://schemas.microsoft.com/office/drawing/2014/main" id="{8CEA290E-797F-4002-8325-6DFFB96B72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4"/>
            <a:ext cx="8229300" cy="3408723"/>
          </a:xfrm>
        </p:spPr>
        <p:txBody>
          <a:bodyPr/>
          <a:lstStyle/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real situations, we can not expect that all permutations are equally likely</a:t>
            </a: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many applications, we will have larger presorted parts of the array</a:t>
            </a: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 example, transaction data sorted for each day combined in monthly data</a:t>
            </a: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these cases we can use a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randomized algorithm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impose a distribution</a:t>
            </a: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There are two basic possibilities to have a randomized quicksort:</a:t>
            </a:r>
          </a:p>
          <a:p>
            <a:pPr marL="857250" lvl="1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Before sorting we randomly permute the input array</a:t>
            </a:r>
          </a:p>
          <a:p>
            <a:pPr marL="857250" lvl="1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randomly select the pivot when partitioning</a:t>
            </a: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Notebook example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269C7EC7-4A10-4E58-BB71-517B06881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</p:spPr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Randomized quicksort</a:t>
            </a:r>
          </a:p>
        </p:txBody>
      </p:sp>
    </p:spTree>
    <p:extLst>
      <p:ext uri="{BB962C8B-B14F-4D97-AF65-F5344CB8AC3E}">
        <p14:creationId xmlns:p14="http://schemas.microsoft.com/office/powerpoint/2010/main" val="1326190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platzhalter 2">
                <a:extLst>
                  <a:ext uri="{FF2B5EF4-FFF2-40B4-BE49-F238E27FC236}">
                    <a16:creationId xmlns:a16="http://schemas.microsoft.com/office/drawing/2014/main" id="{8CEA290E-797F-4002-8325-6DFFB96B7276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653134"/>
                <a:ext cx="8229300" cy="2045287"/>
              </a:xfrm>
            </p:spPr>
            <p:txBody>
              <a:bodyPr/>
              <a:lstStyle/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This analysis is same for both versions of the randomized quicksort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 will assume that all input numbers are distinct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This simplifies the analysis but the concept generalizes for the alternative case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 define rank of a number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𝑥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a set as the number of elements less or equal to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𝑥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6" name="Textplatzhalter 2">
                <a:extLst>
                  <a:ext uri="{FF2B5EF4-FFF2-40B4-BE49-F238E27FC236}">
                    <a16:creationId xmlns:a16="http://schemas.microsoft.com/office/drawing/2014/main" id="{8CEA290E-797F-4002-8325-6DFFB96B72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53134"/>
                <a:ext cx="8229300" cy="2045287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2FDB70E3-8B51-4044-AEFE-D6DEB95CFA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036668"/>
              </p:ext>
            </p:extLst>
          </p:nvPr>
        </p:nvGraphicFramePr>
        <p:xfrm>
          <a:off x="2647394" y="3878581"/>
          <a:ext cx="3623872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4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4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4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4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4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4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4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4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77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1EE346DB-2FDD-4E25-A4DF-3313F40141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1357525"/>
              </p:ext>
            </p:extLst>
          </p:nvPr>
        </p:nvGraphicFramePr>
        <p:xfrm>
          <a:off x="2647394" y="4316005"/>
          <a:ext cx="3623864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52983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400113474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883156179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2515628111"/>
                    </a:ext>
                  </a:extLst>
                </a:gridCol>
                <a:gridCol w="452983">
                  <a:extLst>
                    <a:ext uri="{9D8B030D-6E8A-4147-A177-3AD203B41FA5}">
                      <a16:colId xmlns:a16="http://schemas.microsoft.com/office/drawing/2014/main" val="10437245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2" name="Textfeld 1">
            <a:extLst>
              <a:ext uri="{FF2B5EF4-FFF2-40B4-BE49-F238E27FC236}">
                <a16:creationId xmlns:a16="http://schemas.microsoft.com/office/drawing/2014/main" id="{44472D1D-80DA-43B6-9F69-A231F51F5B36}"/>
              </a:ext>
            </a:extLst>
          </p:cNvPr>
          <p:cNvSpPr txBox="1"/>
          <p:nvPr/>
        </p:nvSpPr>
        <p:spPr>
          <a:xfrm>
            <a:off x="1379764" y="3878581"/>
            <a:ext cx="957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Number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CA0424E7-6B05-4EC5-B515-F8D409A98A58}"/>
              </a:ext>
            </a:extLst>
          </p:cNvPr>
          <p:cNvSpPr txBox="1"/>
          <p:nvPr/>
        </p:nvSpPr>
        <p:spPr>
          <a:xfrm>
            <a:off x="1379764" y="431600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platzhalter 2">
                <a:extLst>
                  <a:ext uri="{FF2B5EF4-FFF2-40B4-BE49-F238E27FC236}">
                    <a16:creationId xmlns:a16="http://schemas.microsoft.com/office/drawing/2014/main" id="{C8F14778-69E3-4421-9E08-91A3318AD15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7957" y="5020200"/>
                <a:ext cx="8229300" cy="74378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Probability of picking a number as the pivot with any rank is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1/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Probability of the pivot having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𝑟𝑎𝑛𝑘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𝑥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 = </m:t>
                    </m:r>
                    <m:r>
                      <a:rPr lang="en-US" sz="1800" i="1" dirty="0" err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</m:t>
                    </m:r>
                    <m:r>
                      <a:rPr lang="en-US" sz="1800" i="1" dirty="0" err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=1, 2, …, 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1/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 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9" name="Textplatzhalter 2">
                <a:extLst>
                  <a:ext uri="{FF2B5EF4-FFF2-40B4-BE49-F238E27FC236}">
                    <a16:creationId xmlns:a16="http://schemas.microsoft.com/office/drawing/2014/main" id="{C8F14778-69E3-4421-9E08-91A3318AD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57" y="5020200"/>
                <a:ext cx="8229300" cy="743786"/>
              </a:xfrm>
              <a:prstGeom prst="rect">
                <a:avLst/>
              </a:prstGeom>
              <a:blipFill>
                <a:blip r:embed="rId4"/>
                <a:stretch>
                  <a:fillRect t="-7377" b="-1639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itel 1">
            <a:extLst>
              <a:ext uri="{FF2B5EF4-FFF2-40B4-BE49-F238E27FC236}">
                <a16:creationId xmlns:a16="http://schemas.microsoft.com/office/drawing/2014/main" id="{D12E5D1D-34BE-4BAD-A415-F99C0880F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</p:spPr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Analysis of randomized quicksort</a:t>
            </a:r>
          </a:p>
        </p:txBody>
      </p:sp>
    </p:spTree>
    <p:extLst>
      <p:ext uri="{BB962C8B-B14F-4D97-AF65-F5344CB8AC3E}">
        <p14:creationId xmlns:p14="http://schemas.microsoft.com/office/powerpoint/2010/main" val="7254280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platzhalter 2">
                <a:extLst>
                  <a:ext uri="{FF2B5EF4-FFF2-40B4-BE49-F238E27FC236}">
                    <a16:creationId xmlns:a16="http://schemas.microsoft.com/office/drawing/2014/main" id="{8CEA290E-797F-4002-8325-6DFFB96B7276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350" y="1216480"/>
                <a:ext cx="8229300" cy="5215520"/>
              </a:xfrm>
            </p:spPr>
            <p:txBody>
              <a:bodyPr/>
              <a:lstStyle/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Let us now compute the probability of partitioning outcomes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𝑟𝑎𝑛𝑘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𝑥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 = 1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Index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stops at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𝑝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index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𝑗</m:t>
                    </m:r>
                    <m:r>
                      <a:rPr lang="en-US" sz="18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also stops at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𝑝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AT" sz="1800" b="0" i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pivot</m:t>
                    </m:r>
                    <m:r>
                      <a:rPr lang="de-AT" sz="1800" b="0" i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de-AT" sz="18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𝑥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is smallest)</a:t>
                </a:r>
              </a:p>
              <a:p>
                <a:pPr marL="857250" lvl="1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 return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𝑗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𝑝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the left partition has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1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element and the right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−1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elements</a:t>
                </a:r>
              </a:p>
              <a:p>
                <a:pPr marL="857250" lvl="1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This event occurs with probability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1/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This is the probability that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𝑟𝑎𝑛𝑘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𝑥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 = 1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𝑟𝑎𝑛𝑘</m:t>
                    </m:r>
                    <m:d>
                      <m:dPr>
                        <m:ctrlPr>
                          <a:rPr lang="en-US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</m:d>
                    <m:r>
                      <a:rPr lang="de-AT" sz="18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≥ </m:t>
                    </m:r>
                    <m:r>
                      <a:rPr lang="en-US" sz="18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2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 left partition will have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𝑟𝑎𝑛𝑘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𝑥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 – 1 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elements</a:t>
                </a:r>
              </a:p>
              <a:p>
                <a:pPr marL="857250" lvl="1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For each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=1, 2, …, 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−1 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 probability the left side has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elements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en-US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num>
                      <m:den>
                        <m:r>
                          <a:rPr lang="en-US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den>
                    </m:f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Combining those two cases the probability of the left partition having:</a:t>
                </a:r>
              </a:p>
              <a:p>
                <a:pPr marL="857250" lvl="1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One element is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2/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Having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elements (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=2, 3, …, 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−1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 is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1/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6" name="Textplatzhalter 2">
                <a:extLst>
                  <a:ext uri="{FF2B5EF4-FFF2-40B4-BE49-F238E27FC236}">
                    <a16:creationId xmlns:a16="http://schemas.microsoft.com/office/drawing/2014/main" id="{8CEA290E-797F-4002-8325-6DFFB96B72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350" y="1216480"/>
                <a:ext cx="8229300" cy="5215520"/>
              </a:xfrm>
              <a:blipFill>
                <a:blip r:embed="rId3"/>
                <a:stretch>
                  <a:fillRect t="-243" r="-1080" b="-1703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el 1">
            <a:extLst>
              <a:ext uri="{FF2B5EF4-FFF2-40B4-BE49-F238E27FC236}">
                <a16:creationId xmlns:a16="http://schemas.microsoft.com/office/drawing/2014/main" id="{D5FFBCD7-15E8-40A1-86E1-D5A8F1945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</p:spPr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Analysis of randomized quicksort</a:t>
            </a:r>
          </a:p>
        </p:txBody>
      </p:sp>
    </p:spTree>
    <p:extLst>
      <p:ext uri="{BB962C8B-B14F-4D97-AF65-F5344CB8AC3E}">
        <p14:creationId xmlns:p14="http://schemas.microsoft.com/office/powerpoint/2010/main" val="16054025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platzhalter 2">
                <a:extLst>
                  <a:ext uri="{FF2B5EF4-FFF2-40B4-BE49-F238E27FC236}">
                    <a16:creationId xmlns:a16="http://schemas.microsoft.com/office/drawing/2014/main" id="{8CEA290E-797F-4002-8325-6DFFB96B7276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350" y="1570799"/>
                <a:ext cx="8229300" cy="2274580"/>
              </a:xfrm>
            </p:spPr>
            <p:txBody>
              <a:bodyPr/>
              <a:lstStyle/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Let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0&lt;</m:t>
                    </m:r>
                    <m:r>
                      <a:rPr lang="de-AT" sz="18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de-AT" sz="1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𝛼</m:t>
                    </m:r>
                    <m:r>
                      <a:rPr lang="de-AT" sz="1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≤1/2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be the fraction of the array size occupied by the left partition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Let us compute the probability of having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𝛼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, 1−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𝑎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split:</a:t>
                </a: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2</m:t>
                          </m:r>
                        </m:num>
                        <m:den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den>
                      </m:f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+</m:t>
                      </m:r>
                      <m:f>
                        <m:fPr>
                          <m:ctrlP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den>
                      </m:f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+</m:t>
                      </m:r>
                      <m:f>
                        <m:fPr>
                          <m:ctrlP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den>
                      </m:f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+</m:t>
                      </m:r>
                      <m:f>
                        <m:fPr>
                          <m:ctrlP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den>
                      </m:f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+</m:t>
                      </m:r>
                      <m:f>
                        <m:fPr>
                          <m:ctrlP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den>
                      </m:f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 … +</m:t>
                      </m:r>
                      <m:f>
                        <m:fPr>
                          <m:ctrlP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den>
                      </m:f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+</m:t>
                      </m:r>
                      <m:f>
                        <m:fPr>
                          <m:ctrlP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den>
                      </m:f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+</m:t>
                      </m:r>
                      <m:f>
                        <m:fPr>
                          <m:ctrlP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den>
                      </m:f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+</m:t>
                      </m:r>
                      <m:f>
                        <m:fPr>
                          <m:ctrlP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den>
                      </m:f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+</m:t>
                      </m:r>
                      <m:f>
                        <m:fPr>
                          <m:ctrlP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6" name="Textplatzhalter 2">
                <a:extLst>
                  <a:ext uri="{FF2B5EF4-FFF2-40B4-BE49-F238E27FC236}">
                    <a16:creationId xmlns:a16="http://schemas.microsoft.com/office/drawing/2014/main" id="{8CEA290E-797F-4002-8325-6DFFB96B72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350" y="1570799"/>
                <a:ext cx="8229300" cy="2274580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platzhalter 2">
                <a:extLst>
                  <a:ext uri="{FF2B5EF4-FFF2-40B4-BE49-F238E27FC236}">
                    <a16:creationId xmlns:a16="http://schemas.microsoft.com/office/drawing/2014/main" id="{810531D8-1FB0-4C52-8587-18A4776067F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97473" y="2957949"/>
                <a:ext cx="1185461" cy="6504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de-AT" sz="32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de-AT" sz="320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groupChrPr>
                            <m:e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             </m:t>
                              </m:r>
                            </m:e>
                          </m:groupChr>
                        </m:e>
                        <m:lim>
                          <m:eqArr>
                            <m:eqArrPr>
                              <m:ctrlPr>
                                <a:rPr lang="de-AT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 panose="020F0502020204030204" pitchFamily="34" charset="0"/>
                                </a:rPr>
                              </m:ctrlPr>
                            </m:eqArrPr>
                            <m:e/>
                            <m:e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𝛼</m:t>
                              </m:r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𝑛</m:t>
                              </m:r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−1</m:t>
                              </m:r>
                            </m:e>
                          </m:eqArr>
                        </m:lim>
                      </m:limLow>
                    </m:oMath>
                  </m:oMathPara>
                </a14:m>
                <a:endParaRPr lang="de-AT" sz="3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Textplatzhalter 2">
                <a:extLst>
                  <a:ext uri="{FF2B5EF4-FFF2-40B4-BE49-F238E27FC236}">
                    <a16:creationId xmlns:a16="http://schemas.microsoft.com/office/drawing/2014/main" id="{810531D8-1FB0-4C52-8587-18A477606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7473" y="2957949"/>
                <a:ext cx="1185461" cy="650466"/>
              </a:xfrm>
              <a:prstGeom prst="rect">
                <a:avLst/>
              </a:prstGeom>
              <a:blipFill>
                <a:blip r:embed="rId4"/>
                <a:stretch>
                  <a:fillRect l="-7368" t="-45283" r="-23158" b="-415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platzhalter 2">
                <a:extLst>
                  <a:ext uri="{FF2B5EF4-FFF2-40B4-BE49-F238E27FC236}">
                    <a16:creationId xmlns:a16="http://schemas.microsoft.com/office/drawing/2014/main" id="{1FA0F0DE-9B43-4FB9-90B7-CDC6274F591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96628" y="3401856"/>
                <a:ext cx="1185461" cy="6504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1</m:t>
                      </m:r>
                    </m:oMath>
                  </m:oMathPara>
                </a14:m>
                <a:endParaRPr lang="de-AT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" name="Textplatzhalter 2">
                <a:extLst>
                  <a:ext uri="{FF2B5EF4-FFF2-40B4-BE49-F238E27FC236}">
                    <a16:creationId xmlns:a16="http://schemas.microsoft.com/office/drawing/2014/main" id="{1FA0F0DE-9B43-4FB9-90B7-CDC6274F59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6628" y="3401856"/>
                <a:ext cx="1185461" cy="65046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platzhalter 2">
                <a:extLst>
                  <a:ext uri="{FF2B5EF4-FFF2-40B4-BE49-F238E27FC236}">
                    <a16:creationId xmlns:a16="http://schemas.microsoft.com/office/drawing/2014/main" id="{D0D0BA30-28EE-439C-B8AC-E71EAB70FC9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94800" y="2962818"/>
                <a:ext cx="1185461" cy="6504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de-AT" sz="32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de-AT" sz="320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groupChrPr>
                            <m:e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              </m:t>
                              </m:r>
                            </m:e>
                          </m:groupChr>
                        </m:e>
                        <m:lim>
                          <m:eqArr>
                            <m:eqArrPr>
                              <m:ctrlPr>
                                <a:rPr lang="de-AT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 panose="020F0502020204030204" pitchFamily="34" charset="0"/>
                                </a:rPr>
                              </m:ctrlPr>
                            </m:eqArrPr>
                            <m:e/>
                            <m:e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𝛼</m:t>
                              </m:r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𝑛</m:t>
                              </m:r>
                            </m:e>
                          </m:eqArr>
                        </m:lim>
                      </m:limLow>
                    </m:oMath>
                  </m:oMathPara>
                </a14:m>
                <a:endParaRPr lang="de-AT" sz="3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" name="Textplatzhalter 2">
                <a:extLst>
                  <a:ext uri="{FF2B5EF4-FFF2-40B4-BE49-F238E27FC236}">
                    <a16:creationId xmlns:a16="http://schemas.microsoft.com/office/drawing/2014/main" id="{D0D0BA30-28EE-439C-B8AC-E71EAB70FC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4800" y="2962818"/>
                <a:ext cx="1185461" cy="650466"/>
              </a:xfrm>
              <a:prstGeom prst="rect">
                <a:avLst/>
              </a:prstGeom>
              <a:blipFill>
                <a:blip r:embed="rId6"/>
                <a:stretch>
                  <a:fillRect l="-8511" t="-44231" r="-30851" b="-3653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platzhalter 2">
                <a:extLst>
                  <a:ext uri="{FF2B5EF4-FFF2-40B4-BE49-F238E27FC236}">
                    <a16:creationId xmlns:a16="http://schemas.microsoft.com/office/drawing/2014/main" id="{6B1BB155-06B2-4747-B976-8755EC9BC21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96458" y="2954580"/>
                <a:ext cx="1281728" cy="6504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de-AT" sz="32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de-AT" sz="320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groupChrPr>
                            <m:e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                </m:t>
                              </m:r>
                            </m:e>
                          </m:groupChr>
                        </m:e>
                        <m:lim>
                          <m:eqArr>
                            <m:eqArrPr>
                              <m:ctrlP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eqArrPr>
                            <m:e/>
                            <m:e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𝑛</m:t>
                              </m:r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 −1 −2</m:t>
                              </m:r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𝛼</m:t>
                              </m:r>
                              <m:r>
                                <a:rPr lang="de-AT" sz="32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𝑛</m:t>
                              </m:r>
                            </m:e>
                          </m:eqArr>
                        </m:lim>
                      </m:limLow>
                    </m:oMath>
                  </m:oMathPara>
                </a14:m>
                <a:endParaRPr lang="de-AT" sz="3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platzhalter 2">
                <a:extLst>
                  <a:ext uri="{FF2B5EF4-FFF2-40B4-BE49-F238E27FC236}">
                    <a16:creationId xmlns:a16="http://schemas.microsoft.com/office/drawing/2014/main" id="{6B1BB155-06B2-4747-B976-8755EC9BC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6458" y="2954580"/>
                <a:ext cx="1281728" cy="650466"/>
              </a:xfrm>
              <a:prstGeom prst="rect">
                <a:avLst/>
              </a:prstGeom>
              <a:blipFill>
                <a:blip r:embed="rId7"/>
                <a:stretch>
                  <a:fillRect l="-4950" t="-46154" r="-39604" b="-5961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platzhalter 2">
                <a:extLst>
                  <a:ext uri="{FF2B5EF4-FFF2-40B4-BE49-F238E27FC236}">
                    <a16:creationId xmlns:a16="http://schemas.microsoft.com/office/drawing/2014/main" id="{60596BBD-7A99-45FC-9A00-106302E05E1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350" y="3839581"/>
                <a:ext cx="8229300" cy="22745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− 1 −2</m:t>
                    </m:r>
                    <m:r>
                      <a:rPr lang="de-AT" sz="1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𝛼</m:t>
                    </m:r>
                    <m:r>
                      <a:rPr lang="de-AT" sz="1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𝑛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partitions in the middle are better balanced than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𝛼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, 1−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𝑎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split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Probability of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𝛼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, 1−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𝑎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split:</a:t>
                </a: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2</m:t>
                          </m:r>
                        </m:num>
                        <m:den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den>
                      </m:f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+</m:t>
                      </m:r>
                      <m:f>
                        <m:fPr>
                          <m:ctrlPr>
                            <a:rPr lang="de-AT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de-AT" sz="18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de-AT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𝛼</m:t>
                              </m:r>
                              <m:r>
                                <a:rPr lang="de-AT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𝑛</m:t>
                              </m:r>
                              <m:r>
                                <a:rPr lang="de-AT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 −1</m:t>
                              </m:r>
                            </m:e>
                          </m:d>
                        </m:num>
                        <m:den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𝑛</m:t>
                          </m:r>
                        </m:den>
                      </m:f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+</m:t>
                      </m:r>
                      <m:f>
                        <m:fPr>
                          <m:ctrlPr>
                            <a:rPr lang="de-AT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𝑎𝑛</m:t>
                          </m:r>
                        </m:num>
                        <m:den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𝑛</m:t>
                          </m:r>
                        </m:den>
                      </m:f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  <m:f>
                        <m:fPr>
                          <m:ctrlPr>
                            <a:rPr lang="de-AT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𝑛</m:t>
                          </m:r>
                        </m:den>
                      </m:f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+2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𝛼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For large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num>
                      <m:den>
                        <m: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tends to zero and this probability tends to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2</m:t>
                    </m:r>
                    <m:r>
                      <a:rPr lang="en-US" sz="18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𝛼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Probability of having a more balanced split: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1</m:t>
                    </m:r>
                    <m:r>
                      <a:rPr lang="de-AT" sz="18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−2</m:t>
                    </m:r>
                    <m:r>
                      <a:rPr lang="de-AT" sz="1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𝛼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Textplatzhalter 2">
                <a:extLst>
                  <a:ext uri="{FF2B5EF4-FFF2-40B4-BE49-F238E27FC236}">
                    <a16:creationId xmlns:a16="http://schemas.microsoft.com/office/drawing/2014/main" id="{60596BBD-7A99-45FC-9A00-106302E05E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350" y="3839581"/>
                <a:ext cx="8229300" cy="2274580"/>
              </a:xfrm>
              <a:prstGeom prst="rect">
                <a:avLst/>
              </a:prstGeom>
              <a:blipFill>
                <a:blip r:embed="rId8"/>
                <a:stretch>
                  <a:fillRect t="-3485" b="-643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itel 1">
            <a:extLst>
              <a:ext uri="{FF2B5EF4-FFF2-40B4-BE49-F238E27FC236}">
                <a16:creationId xmlns:a16="http://schemas.microsoft.com/office/drawing/2014/main" id="{D754DA59-907A-4D4C-89AF-E28B087E8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</p:spPr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Analysis of randomized quicksort</a:t>
            </a:r>
          </a:p>
        </p:txBody>
      </p:sp>
    </p:spTree>
    <p:extLst>
      <p:ext uri="{BB962C8B-B14F-4D97-AF65-F5344CB8AC3E}">
        <p14:creationId xmlns:p14="http://schemas.microsoft.com/office/powerpoint/2010/main" val="19288567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6216"/>
            <a:ext cx="8229600" cy="1717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6600"/>
            <a:ext cx="8229300" cy="1144800"/>
          </a:xfrm>
        </p:spPr>
        <p:txBody>
          <a:bodyPr/>
          <a:lstStyle/>
          <a:p>
            <a:pPr algn="ctr"/>
            <a:r>
              <a:rPr lang="en-US" sz="44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en-US" sz="4400" b="1" noProof="0" dirty="0"/>
          </a:p>
        </p:txBody>
      </p:sp>
    </p:spTree>
    <p:extLst>
      <p:ext uri="{BB962C8B-B14F-4D97-AF65-F5344CB8AC3E}">
        <p14:creationId xmlns:p14="http://schemas.microsoft.com/office/powerpoint/2010/main" val="424311721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2">
                <a:extLst>
                  <a:ext uri="{FF2B5EF4-FFF2-40B4-BE49-F238E27FC236}">
                    <a16:creationId xmlns:a16="http://schemas.microsoft.com/office/drawing/2014/main" id="{B1AB2DE2-BFB4-403B-9976-58C0812A00AF}"/>
                  </a:ext>
                </a:extLst>
              </p:cNvPr>
              <p:cNvSpPr txBox="1"/>
              <p:nvPr/>
            </p:nvSpPr>
            <p:spPr>
              <a:xfrm>
                <a:off x="457200" y="1605600"/>
                <a:ext cx="8229600" cy="1477328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lvl="0">
                  <a:defRPr/>
                </a:pPr>
                <a:r>
                  <a:rPr lang="en-US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Task 12: </a:t>
                </a: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Using the last result for a probability of a more balanced split than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𝛼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, 1−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𝑎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compute the probability that we will get more balanced splits than 0.1, 0.9.</a:t>
                </a:r>
              </a:p>
              <a:p>
                <a:pPr lvl="0">
                  <a:defRPr/>
                </a:pPr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>
                  <a:defRPr/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US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Task 13: </a:t>
                </a: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Using the last result for a probability of a more balanced split than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𝛼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, 1−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𝑎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compute the probability that we will get more balanced splits than 0.25, 0.75.</a:t>
                </a:r>
              </a:p>
            </p:txBody>
          </p:sp>
        </mc:Choice>
        <mc:Fallback xmlns="">
          <p:sp>
            <p:nvSpPr>
              <p:cNvPr id="4" name="Textfeld 2">
                <a:extLst>
                  <a:ext uri="{FF2B5EF4-FFF2-40B4-BE49-F238E27FC236}">
                    <a16:creationId xmlns:a16="http://schemas.microsoft.com/office/drawing/2014/main" id="{B1AB2DE2-BFB4-403B-9976-58C0812A0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605600"/>
                <a:ext cx="8229600" cy="1477328"/>
              </a:xfrm>
              <a:prstGeom prst="rect">
                <a:avLst/>
              </a:prstGeom>
              <a:blipFill>
                <a:blip r:embed="rId3"/>
                <a:stretch>
                  <a:fillRect l="-593" t="-2058" b="-5350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014769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platzhalter 2">
                <a:extLst>
                  <a:ext uri="{FF2B5EF4-FFF2-40B4-BE49-F238E27FC236}">
                    <a16:creationId xmlns:a16="http://schemas.microsoft.com/office/drawing/2014/main" id="{8CEA290E-797F-4002-8325-6DFFB96B7276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350" y="1570799"/>
                <a:ext cx="8229300" cy="2617480"/>
              </a:xfrm>
            </p:spPr>
            <p:txBody>
              <a:bodyPr/>
              <a:lstStyle/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 computed that there is 50% chance (probability of 0.5) that the splits are between the first and the third quartile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Hence, there is 50% chance that we obtain a balanced („good“) split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And there is 50% chance that we obtain an unbalanced („bad“) split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 expectation we will obtain 50% of „bad“ and 50% of „good“ splits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Our analysis of the average case showed that in this case we have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log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⁡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6" name="Textplatzhalter 2">
                <a:extLst>
                  <a:ext uri="{FF2B5EF4-FFF2-40B4-BE49-F238E27FC236}">
                    <a16:creationId xmlns:a16="http://schemas.microsoft.com/office/drawing/2014/main" id="{8CEA290E-797F-4002-8325-6DFFB96B72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350" y="1570799"/>
                <a:ext cx="8229300" cy="2617480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el 1">
            <a:extLst>
              <a:ext uri="{FF2B5EF4-FFF2-40B4-BE49-F238E27FC236}">
                <a16:creationId xmlns:a16="http://schemas.microsoft.com/office/drawing/2014/main" id="{EDE7F8C7-0D06-4D08-9E87-A8828076E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</p:spPr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Analysis of randomized quicksort</a:t>
            </a:r>
          </a:p>
        </p:txBody>
      </p:sp>
    </p:spTree>
    <p:extLst>
      <p:ext uri="{BB962C8B-B14F-4D97-AF65-F5344CB8AC3E}">
        <p14:creationId xmlns:p14="http://schemas.microsoft.com/office/powerpoint/2010/main" val="45076431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8DEA5-EB2E-A0C5-EEBC-0759081EC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platzhalter 2">
            <a:extLst>
              <a:ext uri="{FF2B5EF4-FFF2-40B4-BE49-F238E27FC236}">
                <a16:creationId xmlns:a16="http://schemas.microsoft.com/office/drawing/2014/main" id="{F33E7480-C7F8-CF41-021A-2F1719D045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350" y="1570799"/>
            <a:ext cx="8229300" cy="2617480"/>
          </a:xfrm>
        </p:spPr>
        <p:txBody>
          <a:bodyPr/>
          <a:lstStyle/>
          <a:p>
            <a:pPr marL="114300" indent="0">
              <a:spcBef>
                <a:spcPts val="600"/>
              </a:spcBef>
              <a:spcAft>
                <a:spcPts val="600"/>
              </a:spcAft>
            </a:pPr>
            <a:r>
              <a:rPr lang="en-GB" sz="1800" dirty="0"/>
              <a:t>Chapter 7 Quicksort</a:t>
            </a:r>
          </a:p>
          <a:p>
            <a:pPr marL="114300" indent="0">
              <a:spcBef>
                <a:spcPts val="600"/>
              </a:spcBef>
              <a:spcAft>
                <a:spcPts val="600"/>
              </a:spcAft>
            </a:pPr>
            <a:r>
              <a:rPr lang="en-GB" sz="1800" dirty="0" err="1"/>
              <a:t>Cormen</a:t>
            </a:r>
            <a:r>
              <a:rPr lang="en-GB" sz="1800" dirty="0"/>
              <a:t>, T. H., </a:t>
            </a:r>
            <a:r>
              <a:rPr lang="en-GB" sz="1800" dirty="0" err="1"/>
              <a:t>Leiserson</a:t>
            </a:r>
            <a:r>
              <a:rPr lang="en-GB" sz="1800" dirty="0"/>
              <a:t>, C. E., Rivest, R. L., &amp; Stein, C. (2022). </a:t>
            </a:r>
            <a:r>
              <a:rPr lang="en-GB" sz="1800" i="1" dirty="0"/>
              <a:t>Introduction to Algorithms</a:t>
            </a:r>
            <a:r>
              <a:rPr lang="en-GB" sz="1800" dirty="0"/>
              <a:t> (4th ed.). MIT Press, Cambridge, MA.</a:t>
            </a:r>
          </a:p>
          <a:p>
            <a:pPr marL="114300" indent="0">
              <a:spcBef>
                <a:spcPts val="600"/>
              </a:spcBef>
              <a:spcAft>
                <a:spcPts val="600"/>
              </a:spcAft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7208F71C-B10F-5E69-A6A2-AE22B59BA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</p:spPr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Further Reading</a:t>
            </a:r>
          </a:p>
        </p:txBody>
      </p:sp>
    </p:spTree>
    <p:extLst>
      <p:ext uri="{BB962C8B-B14F-4D97-AF65-F5344CB8AC3E}">
        <p14:creationId xmlns:p14="http://schemas.microsoft.com/office/powerpoint/2010/main" val="261658456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6216"/>
            <a:ext cx="8229600" cy="1717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6600"/>
            <a:ext cx="8229300" cy="1144800"/>
          </a:xfrm>
        </p:spPr>
        <p:txBody>
          <a:bodyPr/>
          <a:lstStyle/>
          <a:p>
            <a:pPr algn="ctr"/>
            <a:r>
              <a:rPr lang="en-US" sz="44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en-US" sz="4400" b="1" noProof="0" dirty="0"/>
          </a:p>
        </p:txBody>
      </p:sp>
    </p:spTree>
    <p:extLst>
      <p:ext uri="{BB962C8B-B14F-4D97-AF65-F5344CB8AC3E}">
        <p14:creationId xmlns:p14="http://schemas.microsoft.com/office/powerpoint/2010/main" val="242278381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2">
                <a:extLst>
                  <a:ext uri="{FF2B5EF4-FFF2-40B4-BE49-F238E27FC236}">
                    <a16:creationId xmlns:a16="http://schemas.microsoft.com/office/drawing/2014/main" id="{B1AB2DE2-BFB4-403B-9976-58C0812A00AF}"/>
                  </a:ext>
                </a:extLst>
              </p:cNvPr>
              <p:cNvSpPr txBox="1"/>
              <p:nvPr/>
            </p:nvSpPr>
            <p:spPr>
              <a:xfrm>
                <a:off x="457200" y="1605600"/>
                <a:ext cx="8229600" cy="1365374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lvl="0">
                  <a:defRPr/>
                </a:pPr>
                <a:r>
                  <a:rPr lang="en-US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Task 14: </a:t>
                </a: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Using our previous result that the maximum leaf depth of the recursion tree is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−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𝑛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(1 − 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𝛼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)</m:t>
                            </m:r>
                          </m:e>
                        </m:func>
                      </m:den>
                    </m:f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compute this depth for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𝛼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f>
                      <m:f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1</m:t>
                        </m:r>
                      </m:num>
                      <m:den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.</a:t>
                </a:r>
              </a:p>
              <a:p>
                <a:pPr lvl="0">
                  <a:defRPr/>
                </a:pPr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lvl="0">
                  <a:defRPr/>
                </a:pPr>
                <a:r>
                  <a:rPr lang="en-US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Task 15: </a:t>
                </a: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Implement both versions of the randomized quicksort.</a:t>
                </a:r>
              </a:p>
            </p:txBody>
          </p:sp>
        </mc:Choice>
        <mc:Fallback xmlns="">
          <p:sp>
            <p:nvSpPr>
              <p:cNvPr id="4" name="Textfeld 2">
                <a:extLst>
                  <a:ext uri="{FF2B5EF4-FFF2-40B4-BE49-F238E27FC236}">
                    <a16:creationId xmlns:a16="http://schemas.microsoft.com/office/drawing/2014/main" id="{B1AB2DE2-BFB4-403B-9976-58C0812A0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605600"/>
                <a:ext cx="8229600" cy="1365374"/>
              </a:xfrm>
              <a:prstGeom prst="rect">
                <a:avLst/>
              </a:prstGeom>
              <a:blipFill>
                <a:blip r:embed="rId3"/>
                <a:stretch>
                  <a:fillRect l="-593" t="-2232" b="-6250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3114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a7251f83-1282-459b-9f3b-cc4b28f1078e}" enabled="0" method="" siteId="{a7251f83-1282-459b-9f3b-cc4b28f1078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3343</TotalTime>
  <Words>3355</Words>
  <Application>Microsoft Macintosh PowerPoint</Application>
  <PresentationFormat>On-screen Show (4:3)</PresentationFormat>
  <Paragraphs>694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56</vt:i4>
      </vt:variant>
    </vt:vector>
  </HeadingPairs>
  <TitlesOfParts>
    <vt:vector size="64" baseType="lpstr">
      <vt:lpstr>Arial</vt:lpstr>
      <vt:lpstr>Consolas</vt:lpstr>
      <vt:lpstr>Calibri</vt:lpstr>
      <vt:lpstr>Cambria Math</vt:lpstr>
      <vt:lpstr>Blackadder ITC</vt:lpstr>
      <vt:lpstr>Wingdings</vt:lpstr>
      <vt:lpstr>Office Theme</vt:lpstr>
      <vt:lpstr>1_Office Theme</vt:lpstr>
      <vt:lpstr>Algorithms and Data Structures </vt:lpstr>
      <vt:lpstr>Outline</vt:lpstr>
      <vt:lpstr>Quicksort</vt:lpstr>
      <vt:lpstr>Quicksort</vt:lpstr>
      <vt:lpstr>Quicksort</vt:lpstr>
      <vt:lpstr>Partitioning</vt:lpstr>
      <vt:lpstr>Partitioning the array</vt:lpstr>
      <vt:lpstr>Partitioning the array</vt:lpstr>
      <vt:lpstr>Partitioning the array</vt:lpstr>
      <vt:lpstr>Partitioning the array</vt:lpstr>
      <vt:lpstr>Partitioning the array</vt:lpstr>
      <vt:lpstr>Partitioning the array</vt:lpstr>
      <vt:lpstr>Partitioning the array</vt:lpstr>
      <vt:lpstr>Partitioning the array</vt:lpstr>
      <vt:lpstr>Partitioning the array</vt:lpstr>
      <vt:lpstr>Partitioning the array</vt:lpstr>
      <vt:lpstr>Partitioning the array</vt:lpstr>
      <vt:lpstr>Partitioning the array</vt:lpstr>
      <vt:lpstr>Partitioning the array</vt:lpstr>
      <vt:lpstr>Partitioning the array</vt:lpstr>
      <vt:lpstr>Partitioning the array</vt:lpstr>
      <vt:lpstr>4 regions during execution</vt:lpstr>
      <vt:lpstr>Quicksort: Partition</vt:lpstr>
      <vt:lpstr>Exercise</vt:lpstr>
      <vt:lpstr>Student task</vt:lpstr>
      <vt:lpstr>Complexity of quicksort</vt:lpstr>
      <vt:lpstr>Complexity of quicksort</vt:lpstr>
      <vt:lpstr>Recursion tree</vt:lpstr>
      <vt:lpstr>Recursion tree: best case</vt:lpstr>
      <vt:lpstr>Recursion tree: worst case</vt:lpstr>
      <vt:lpstr>Exercise</vt:lpstr>
      <vt:lpstr>Student task</vt:lpstr>
      <vt:lpstr>Exercise: Hoare’s partitioning</vt:lpstr>
      <vt:lpstr>Student task</vt:lpstr>
      <vt:lpstr>Student task</vt:lpstr>
      <vt:lpstr>Student task</vt:lpstr>
      <vt:lpstr>Average case complexity</vt:lpstr>
      <vt:lpstr>Average case</vt:lpstr>
      <vt:lpstr>Balanced vs. unbalanced partitioning</vt:lpstr>
      <vt:lpstr>Recursion tree: unbalanced partitioning, 9-to-1 split</vt:lpstr>
      <vt:lpstr>Unbalanced partitioning, 9-to-1 split</vt:lpstr>
      <vt:lpstr>Exercise</vt:lpstr>
      <vt:lpstr>Student task</vt:lpstr>
      <vt:lpstr>Average case</vt:lpstr>
      <vt:lpstr>Average case</vt:lpstr>
      <vt:lpstr>Randomized quicksort</vt:lpstr>
      <vt:lpstr>Randomized quicksort</vt:lpstr>
      <vt:lpstr>Analysis of randomized quicksort</vt:lpstr>
      <vt:lpstr>Analysis of randomized quicksort</vt:lpstr>
      <vt:lpstr>Analysis of randomized quicksort</vt:lpstr>
      <vt:lpstr>Exercise</vt:lpstr>
      <vt:lpstr>Student task</vt:lpstr>
      <vt:lpstr>Analysis of randomized quicksort</vt:lpstr>
      <vt:lpstr>Further Reading</vt:lpstr>
      <vt:lpstr>Exercise</vt:lpstr>
      <vt:lpstr>Student task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 Basics of Computer Programming</dc:title>
  <dc:creator>Lyndon Nixon</dc:creator>
  <cp:lastModifiedBy>Ingo Frommholz</cp:lastModifiedBy>
  <cp:revision>933</cp:revision>
  <dcterms:modified xsi:type="dcterms:W3CDTF">2026-03-02T13:31:46Z</dcterms:modified>
</cp:coreProperties>
</file>