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  <p:sldMasterId id="2147483651" r:id="rId2"/>
  </p:sldMasterIdLst>
  <p:notesMasterIdLst>
    <p:notesMasterId r:id="rId43"/>
  </p:notesMasterIdLst>
  <p:handoutMasterIdLst>
    <p:handoutMasterId r:id="rId44"/>
  </p:handoutMasterIdLst>
  <p:sldIdLst>
    <p:sldId id="256" r:id="rId3"/>
    <p:sldId id="257" r:id="rId4"/>
    <p:sldId id="647" r:id="rId5"/>
    <p:sldId id="723" r:id="rId6"/>
    <p:sldId id="961" r:id="rId7"/>
    <p:sldId id="962" r:id="rId8"/>
    <p:sldId id="963" r:id="rId9"/>
    <p:sldId id="964" r:id="rId10"/>
    <p:sldId id="965" r:id="rId11"/>
    <p:sldId id="966" r:id="rId12"/>
    <p:sldId id="967" r:id="rId13"/>
    <p:sldId id="968" r:id="rId14"/>
    <p:sldId id="971" r:id="rId15"/>
    <p:sldId id="969" r:id="rId16"/>
    <p:sldId id="970" r:id="rId17"/>
    <p:sldId id="972" r:id="rId18"/>
    <p:sldId id="973" r:id="rId19"/>
    <p:sldId id="974" r:id="rId20"/>
    <p:sldId id="975" r:id="rId21"/>
    <p:sldId id="976" r:id="rId22"/>
    <p:sldId id="977" r:id="rId23"/>
    <p:sldId id="978" r:id="rId24"/>
    <p:sldId id="979" r:id="rId25"/>
    <p:sldId id="980" r:id="rId26"/>
    <p:sldId id="981" r:id="rId27"/>
    <p:sldId id="982" r:id="rId28"/>
    <p:sldId id="983" r:id="rId29"/>
    <p:sldId id="984" r:id="rId30"/>
    <p:sldId id="985" r:id="rId31"/>
    <p:sldId id="986" r:id="rId32"/>
    <p:sldId id="987" r:id="rId33"/>
    <p:sldId id="988" r:id="rId34"/>
    <p:sldId id="989" r:id="rId35"/>
    <p:sldId id="990" r:id="rId36"/>
    <p:sldId id="991" r:id="rId37"/>
    <p:sldId id="994" r:id="rId38"/>
    <p:sldId id="995" r:id="rId39"/>
    <p:sldId id="996" r:id="rId40"/>
    <p:sldId id="992" r:id="rId41"/>
    <p:sldId id="993" r:id="rId42"/>
  </p:sldIdLst>
  <p:sldSz cx="9144000" cy="6858000" type="screen4x3"/>
  <p:notesSz cx="7099300" cy="10234613"/>
  <p:embeddedFontLst>
    <p:embeddedFont>
      <p:font typeface="Blackadder ITC" pitchFamily="82" charset="77"/>
      <p:regular r:id="rId45"/>
    </p:embeddedFont>
    <p:embeddedFont>
      <p:font typeface="Cambria Math" panose="02040503050406030204" pitchFamily="18" charset="0"/>
      <p:regular r:id="rId46"/>
    </p:embeddedFont>
    <p:embeddedFont>
      <p:font typeface="Consolas" panose="020B0609020204030204" pitchFamily="49" charset="0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102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E0B4"/>
    <a:srgbClr val="F8D7CD"/>
    <a:srgbClr val="A9D18E"/>
    <a:srgbClr val="E2F0D9"/>
    <a:srgbClr val="EAEFF7"/>
    <a:srgbClr val="E7E6E6"/>
    <a:srgbClr val="F2E6DC"/>
    <a:srgbClr val="ED7D31"/>
    <a:srgbClr val="AE5A21"/>
    <a:srgbClr val="7DC1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95"/>
    <p:restoredTop sz="94658"/>
  </p:normalViewPr>
  <p:slideViewPr>
    <p:cSldViewPr snapToGrid="0">
      <p:cViewPr varScale="1">
        <p:scale>
          <a:sx n="115" d="100"/>
          <a:sy n="115" d="100"/>
        </p:scale>
        <p:origin x="1168" y="304"/>
      </p:cViewPr>
      <p:guideLst>
        <p:guide orient="horz" pos="2183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104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1.fntdata"/><Relationship Id="rId102" Type="http://customschemas.google.com/relationships/presentationmetadata" Target="metadata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8" Type="http://schemas.openxmlformats.org/officeDocument/2006/relationships/font" Target="fonts/font4.fntdata"/><Relationship Id="rId10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2.fntdata"/><Relationship Id="rId103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5.fntdata"/><Relationship Id="rId106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64A2C434-A054-4EBF-8388-E049AC0EAE3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>
              <a:latin typeface="Blackadder ITC" panose="04020505051007020D02" pitchFamily="82" charset="0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6BE634D-62FB-45E6-853B-82932D9990A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D981-3C41-4E48-8B75-4D8577123F2D}" type="datetimeFigureOut">
              <a:rPr lang="de-AT" sz="1400" smtClean="0">
                <a:latin typeface="Calibri" panose="020F0502020204030204" pitchFamily="34" charset="0"/>
                <a:cs typeface="Calibri" panose="020F0502020204030204" pitchFamily="34" charset="0"/>
              </a:rPr>
              <a:t>27.04.26</a:t>
            </a:fld>
            <a:endParaRPr lang="de-AT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19ACCF7-6517-46DE-B295-84FC964BBC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>
              <a:latin typeface="Blackadder ITC" panose="04020505051007020D02" pitchFamily="82" charset="0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E50896-C0DC-4B6A-AB93-D800C089ED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5CC917-7134-4DD0-998C-C7645B2DB20B}" type="slidenum">
              <a:rPr lang="de-AT" sz="1400" smtClean="0"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endParaRPr lang="de-AT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36807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200" b="0" i="0" u="none" strike="noStrike" cap="none">
        <a:solidFill>
          <a:srgbClr val="000000"/>
        </a:solidFill>
        <a:latin typeface="Blackadder ITC" panose="04020505051007020D02" pitchFamily="82" charset="0"/>
        <a:ea typeface="Blackadder ITC" panose="04020505051007020D02" pitchFamily="82" charset="0"/>
        <a:cs typeface="Calibri" panose="020F0502020204030204" pitchFamily="34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de-DE" sz="1400" b="0" i="0" u="none" strike="noStrike" cap="none">
                <a:solidFill>
                  <a:srgbClr val="000000"/>
                </a:solidFill>
                <a:latin typeface="Blackadder ITC" panose="04020505051007020D02" pitchFamily="82" charset="0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Blackadder ITC" panose="04020505051007020D02" pitchFamily="82" charset="0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203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65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61295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0683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0730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9536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52190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5386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17609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753536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923445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4451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48752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25754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26137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7066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47659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33561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733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668849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77601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45849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20660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51610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841032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85477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02957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78558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982536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946449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178765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izenplatzhalter 1">
            <a:extLst>
              <a:ext uri="{FF2B5EF4-FFF2-40B4-BE49-F238E27FC236}">
                <a16:creationId xmlns:a16="http://schemas.microsoft.com/office/drawing/2014/main" id="{A14A66DA-A0F8-4692-887E-F0D42C8A9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438141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izenplatzhalter 1">
            <a:extLst>
              <a:ext uri="{FF2B5EF4-FFF2-40B4-BE49-F238E27FC236}">
                <a16:creationId xmlns:a16="http://schemas.microsoft.com/office/drawing/2014/main" id="{A14A66DA-A0F8-4692-887E-F0D42C8A9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5669957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izenplatzhalter 1">
            <a:extLst>
              <a:ext uri="{FF2B5EF4-FFF2-40B4-BE49-F238E27FC236}">
                <a16:creationId xmlns:a16="http://schemas.microsoft.com/office/drawing/2014/main" id="{A14A66DA-A0F8-4692-887E-F0D42C8A9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4934678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izenplatzhalter 1">
            <a:extLst>
              <a:ext uri="{FF2B5EF4-FFF2-40B4-BE49-F238E27FC236}">
                <a16:creationId xmlns:a16="http://schemas.microsoft.com/office/drawing/2014/main" id="{A14A66DA-A0F8-4692-887E-F0D42C8A9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7423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97795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1826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34758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baseline="0" smtClean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/ 39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72798" y="6415123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9509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 preserve="1">
  <p:cSld name="1_Title, Conten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619431" y="2142979"/>
            <a:ext cx="7934633" cy="3525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33200"/>
            <a:ext cx="12328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z="1600" smtClean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‹#›</a:t>
            </a:fld>
            <a:r>
              <a:rPr lang="de-AT" sz="16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9592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Blackadder ITC" panose="04020505051007020D02" pitchFamily="82" charset="0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22453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slide" Target="slide28.xml"/><Relationship Id="rId4" Type="http://schemas.openxmlformats.org/officeDocument/2006/relationships/slide" Target="slide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27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35.png"/><Relationship Id="rId5" Type="http://schemas.openxmlformats.org/officeDocument/2006/relationships/image" Target="../media/image47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56.png"/><Relationship Id="rId3" Type="http://schemas.openxmlformats.org/officeDocument/2006/relationships/image" Target="../media/image51.png"/><Relationship Id="rId7" Type="http://schemas.openxmlformats.org/officeDocument/2006/relationships/image" Target="../media/image20.png"/><Relationship Id="rId12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54.png"/><Relationship Id="rId5" Type="http://schemas.openxmlformats.org/officeDocument/2006/relationships/image" Target="../media/image53.png"/><Relationship Id="rId15" Type="http://schemas.openxmlformats.org/officeDocument/2006/relationships/image" Target="../media/image36.png"/><Relationship Id="rId10" Type="http://schemas.openxmlformats.org/officeDocument/2006/relationships/image" Target="../media/image23.png"/><Relationship Id="rId4" Type="http://schemas.openxmlformats.org/officeDocument/2006/relationships/image" Target="../media/image52.png"/><Relationship Id="rId9" Type="http://schemas.openxmlformats.org/officeDocument/2006/relationships/image" Target="../media/image22.png"/><Relationship Id="rId14" Type="http://schemas.openxmlformats.org/officeDocument/2006/relationships/image" Target="../media/image5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42.png"/><Relationship Id="rId4" Type="http://schemas.openxmlformats.org/officeDocument/2006/relationships/image" Target="../media/image6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fromm/dsa/blob/main/notebooks/trees.ipynb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noProof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Algorithms and Data Structures</a:t>
            </a:r>
            <a:endParaRPr lang="en-US" sz="4400" b="1" noProof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3367621" y="5175674"/>
            <a:ext cx="2640148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6</a:t>
            </a:r>
            <a:r>
              <a:rPr lang="en-US" sz="3200" noProof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Trees</a:t>
            </a:r>
            <a:endParaRPr lang="en-US" sz="3200" b="0" i="0" u="none" strike="noStrike" cap="none" noProof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>
              <a:latin typeface="Blackadder ITC" panose="04020505051007020D02" pitchFamily="82" charset="0"/>
            </a:endParaRPr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9E762BB-C30C-4581-B3C1-7319E93FAD44}"/>
              </a:ext>
            </a:extLst>
          </p:cNvPr>
          <p:cNvSpPr txBox="1"/>
          <p:nvPr/>
        </p:nvSpPr>
        <p:spPr>
          <a:xfrm>
            <a:off x="457200" y="1701579"/>
            <a:ext cx="75338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Graphs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Trees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Binary search trees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>
                <a:latin typeface="Calibri" panose="020F0502020204030204" pitchFamily="34" charset="0"/>
                <a:cs typeface="Calibri" panose="020F0502020204030204" pitchFamily="34" charset="0"/>
              </a:rPr>
              <a:t>Graphs</a:t>
            </a:r>
            <a:endParaRPr lang="en-US" sz="4400" noProof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4144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1530219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Graph G is a pair of sets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is a set of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vertices (nodes)</a:t>
                </a:r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is a set of </a:t>
                </a:r>
                <a:r>
                  <a:rPr lang="en-US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edges (links)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is a binary relation on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</m:t>
                    </m:r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i.e. </a:t>
                </a:r>
                <a14:m>
                  <m:oMath xmlns:m="http://schemas.openxmlformats.org/officeDocument/2006/math">
                    <m:r>
                      <a:rPr lang="en-US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de-AT" sz="1800" b="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⊆</m:t>
                    </m:r>
                    <m:r>
                      <a:rPr lang="de-AT" sz="1800" b="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de-AT" sz="1800" b="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×</m:t>
                    </m:r>
                    <m:r>
                      <a:rPr lang="de-AT" sz="1800" b="0" i="1" noProof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𝑉</m:t>
                    </m:r>
                  </m:oMath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1530219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565AF7CF-3DD5-4E13-8F04-C400B4BC9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2440" y="3173310"/>
            <a:ext cx="3554756" cy="2857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199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Undirected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1530219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an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undirected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graph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links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pairs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de-AT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{1, 2, 3, 4, 5}</m:t>
                    </m:r>
                  </m:oMath>
                </a14:m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de-AT" sz="1800" i="1" noProof="0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 noProof="0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{{1, 2}, {1, 5}, {2, 3}, {2, 4}, {3, 4}, {3, 5}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1530219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Grafik 15">
            <a:extLst>
              <a:ext uri="{FF2B5EF4-FFF2-40B4-BE49-F238E27FC236}">
                <a16:creationId xmlns:a16="http://schemas.microsoft.com/office/drawing/2014/main" id="{565AF7CF-3DD5-4E13-8F04-C400B4BC9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2440" y="3173310"/>
            <a:ext cx="3554756" cy="2857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10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sz="2800" b="1" noProof="0" err="1">
                <a:latin typeface="Calibri" panose="020F0502020204030204" pitchFamily="34" charset="0"/>
                <a:cs typeface="Calibri" panose="020F0502020204030204" pitchFamily="34" charset="0"/>
              </a:rPr>
              <a:t>irected</a:t>
            </a:r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 graphs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1530219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directed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graph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links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ordered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pairs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de-AT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{1, 2, 3, 4, 5}</m:t>
                    </m:r>
                  </m:oMath>
                </a14:m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de-AT" sz="1800" i="1" noProof="0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 noProof="0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{</m:t>
                    </m:r>
                    <m:d>
                      <m:d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1, </m:t>
                        </m:r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3</m:t>
                        </m:r>
                      </m:e>
                    </m:d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d>
                      <m:d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2,</m:t>
                        </m:r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e>
                    </m:d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d>
                      <m:d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2, 3</m:t>
                        </m:r>
                      </m:e>
                    </m:d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d>
                      <m:d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2, </m:t>
                        </m:r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5</m:t>
                        </m:r>
                      </m:e>
                    </m:d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d>
                      <m:d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3, </m:t>
                        </m:r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</m:d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d>
                      <m:d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e>
                    </m:d>
                    <m:r>
                      <a:rPr lang="de-AT" sz="18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d>
                      <m:d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4, 5</m:t>
                        </m:r>
                      </m:e>
                    </m:d>
                    <m:r>
                      <a:rPr lang="de-AT" sz="18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d>
                      <m:dPr>
                        <m:ctrlP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5, 2</m:t>
                        </m:r>
                      </m:e>
                    </m:d>
                    <m:r>
                      <a:rPr lang="de-AT" sz="1800" b="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(5, 3)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}</m:t>
                    </m:r>
                  </m:oMath>
                </a14:m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1530219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fik 3">
            <a:extLst>
              <a:ext uri="{FF2B5EF4-FFF2-40B4-BE49-F238E27FC236}">
                <a16:creationId xmlns:a16="http://schemas.microsoft.com/office/drawing/2014/main" id="{04DB4A9A-AC94-439D-8AE5-5B7B02523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3114" y="3005376"/>
            <a:ext cx="3606191" cy="2897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324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Some further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178378"/>
                <a:ext cx="8229300" cy="1701180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b="1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Simple </a:t>
                </a:r>
                <a:r>
                  <a:rPr lang="de-AT" sz="1800" b="1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graphs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self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-links and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loops</a:t>
                </a:r>
                <a:endParaRPr lang="de-AT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Number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=|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|</m:t>
                    </m:r>
                  </m:oMath>
                </a14:m>
                <a:endParaRPr lang="de-AT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Number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links: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𝑚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=|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|</m:t>
                    </m:r>
                  </m:oMath>
                </a14:m>
                <a:endParaRPr lang="de-AT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Degree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 dirty="0" err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</m:t>
                        </m:r>
                      </m:e>
                      <m:sub>
                        <m:r>
                          <a:rPr lang="de-AT" sz="1800" i="1" dirty="0" err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links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connected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it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178378"/>
                <a:ext cx="8229300" cy="1701180"/>
              </a:xfrm>
              <a:blipFill>
                <a:blip r:embed="rId3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3F29C22C-C646-4440-8BEE-17C52F0C00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2441" y="2807368"/>
            <a:ext cx="2962297" cy="238126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platzhalter 2">
                <a:extLst>
                  <a:ext uri="{FF2B5EF4-FFF2-40B4-BE49-F238E27FC236}">
                    <a16:creationId xmlns:a16="http://schemas.microsoft.com/office/drawing/2014/main" id="{2ACFE9C9-CA4A-482E-A9E9-F165147EF8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13197" y="5287884"/>
                <a:ext cx="8229300" cy="92785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=5</m:t>
                    </m:r>
                    <m:r>
                      <a:rPr lang="de-AT" sz="1800" b="0" i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𝑚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=6</m:t>
                    </m:r>
                  </m:oMath>
                </a14:m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</m:t>
                        </m:r>
                      </m:e>
                      <m:sub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=2, </m:t>
                    </m:r>
                    <m:sSub>
                      <m:sSubPr>
                        <m:ctrlP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</m:t>
                        </m:r>
                      </m:e>
                      <m:sub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2</m:t>
                        </m:r>
                      </m:sub>
                    </m:sSub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=3, </m:t>
                    </m:r>
                    <m:sSub>
                      <m:sSubPr>
                        <m:ctrlP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</m:t>
                        </m:r>
                      </m:e>
                      <m:sub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3</m:t>
                        </m:r>
                      </m:sub>
                    </m:sSub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=3, </m:t>
                    </m:r>
                    <m:sSub>
                      <m:sSubPr>
                        <m:ctrlP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</m:t>
                        </m:r>
                      </m:e>
                      <m:sub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4</m:t>
                        </m:r>
                      </m:sub>
                    </m:sSub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=2, </m:t>
                    </m:r>
                    <m:sSub>
                      <m:sSubPr>
                        <m:ctrlP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𝑑</m:t>
                        </m:r>
                      </m:e>
                      <m:sub>
                        <m: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5</m:t>
                        </m:r>
                      </m:sub>
                    </m:sSub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=2</m:t>
                    </m:r>
                  </m:oMath>
                </a14:m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Textplatzhalter 2">
                <a:extLst>
                  <a:ext uri="{FF2B5EF4-FFF2-40B4-BE49-F238E27FC236}">
                    <a16:creationId xmlns:a16="http://schemas.microsoft.com/office/drawing/2014/main" id="{2ACFE9C9-CA4A-482E-A9E9-F165147EF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197" y="5287884"/>
                <a:ext cx="8229300" cy="92785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936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Paths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418400"/>
            <a:ext cx="8229300" cy="2680358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Often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travel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across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links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</a:t>
            </a:r>
            <a:endParaRPr lang="de-AT" sz="1800" noProof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packets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travel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Internet</a:t>
            </a:r>
            <a:endParaRPr lang="de-AT" sz="1800" noProof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such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consecutive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pair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link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(MIT, BBN, RAND, UCLA)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early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Internet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(CASE, LINC, MIT, UTAH, SRI, UCSB)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also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(LINC, BBN, HARV, CARN)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68C198-349C-431F-BF77-CB2FFF4E3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948" y="3976090"/>
            <a:ext cx="6420849" cy="24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807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Paths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61004"/>
            <a:ext cx="8229300" cy="2005980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a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endParaRPr lang="de-AT" sz="1800" noProof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(SRI, STAN, UCLA, SRI, UTAH, MIT)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SRI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include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repeated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simple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68C198-349C-431F-BF77-CB2FFF4E3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948" y="3909589"/>
            <a:ext cx="6420849" cy="24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008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Cycles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731830"/>
            <a:ext cx="8229300" cy="2005980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kind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nonsimple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paths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cycle</a:t>
            </a:r>
            <a:endParaRPr lang="de-AT" sz="1800" noProof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Cycle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at least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links, in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last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same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(SRI, STAN, UCLA, SRI)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cycle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early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Internet: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cycle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robust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68C198-349C-431F-BF77-CB2FFF4E3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948" y="3909589"/>
            <a:ext cx="6420849" cy="24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99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Path length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61004"/>
            <a:ext cx="8229300" cy="2005980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property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s: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their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length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number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links in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(MIT, BBN, RAND, UCL)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3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(MIT, UTAH)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- 1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68C198-349C-431F-BF77-CB2FFF4E3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948" y="3909589"/>
            <a:ext cx="6420849" cy="24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008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Distance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61004"/>
            <a:ext cx="8229300" cy="2005980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b="1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Distance</a:t>
            </a:r>
            <a:r>
              <a:rPr lang="de-AT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lang="de-AT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i="1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shortest</a:t>
            </a:r>
            <a:r>
              <a:rPr lang="de-AT" sz="1800" i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i="1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r>
              <a:rPr lang="de-AT" sz="1800" i="1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between</a:t>
            </a:r>
            <a:r>
              <a:rPr lang="de-AT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AT" sz="18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endParaRPr lang="de-AT" sz="18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LINC and SRI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distance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3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UTAH and RAND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distance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UTAH and SRI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distance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1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68C198-349C-431F-BF77-CB2FFF4E3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948" y="3909589"/>
            <a:ext cx="6420849" cy="24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452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Connectivity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61004"/>
            <a:ext cx="8229300" cy="2005980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property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reach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path</a:t>
            </a:r>
            <a:endParaRPr lang="de-AT" sz="1800" noProof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connected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Otherwise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connected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early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Internet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A68C198-349C-431F-BF77-CB2FFF4E3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948" y="3909589"/>
            <a:ext cx="6420849" cy="24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8567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/>
          </a:p>
        </p:txBody>
      </p:sp>
    </p:spTree>
    <p:extLst>
      <p:ext uri="{BB962C8B-B14F-4D97-AF65-F5344CB8AC3E}">
        <p14:creationId xmlns:p14="http://schemas.microsoft.com/office/powerpoint/2010/main" val="2469940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519423" y="1589970"/>
                <a:ext cx="8229600" cy="3895554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Task</a:t>
                </a: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1: 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Show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sum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degrees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in an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undirected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graph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equal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two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times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links in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graph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i.e.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en-US" sz="180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de-AT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  <m:t>𝑖</m:t>
                          </m:r>
                          <m:r>
                            <a:rPr kumimoji="0" lang="de-AT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  <m:t>=1</m:t>
                          </m:r>
                        </m:sub>
                        <m:sup>
                          <m:r>
                            <a:rPr kumimoji="0" lang="de-AT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sz="180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kumimoji="0" lang="de-AT" sz="1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  <a:sym typeface="Arial"/>
                                </a:rPr>
                                <m:t>𝑑</m:t>
                              </m:r>
                            </m:e>
                            <m:sub>
                              <m:r>
                                <a:rPr kumimoji="0" lang="de-AT" sz="1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Calibri" panose="020F0502020204030204" pitchFamily="34" charset="0"/>
                                  <a:sym typeface="Arial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kumimoji="0" lang="de-AT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Calibri" panose="020F0502020204030204" pitchFamily="34" charset="0"/>
                          <a:sym typeface="Arial"/>
                        </a:rPr>
                        <m:t>=2</m:t>
                      </m:r>
                      <m:r>
                        <a:rPr kumimoji="0" lang="de-AT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Calibri" panose="020F0502020204030204" pitchFamily="34" charset="0"/>
                          <a:sym typeface="Arial"/>
                        </a:rPr>
                        <m:t>𝑚</m:t>
                      </m:r>
                    </m:oMath>
                  </m:oMathPara>
                </a14:m>
                <a:endParaRPr kumimoji="0" lang="en-US" sz="18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lang="en-US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Task 2: 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Our definition of a cycle says that in a cycle, there must be at least 3 links (there are other definitions that allow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fewer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links and also self-loops). Why does this property make the early Internet more robust?</a:t>
                </a:r>
                <a:endParaRPr lang="en-US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en-US" sz="18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Task 3: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Show that if a graph contains a path between two nodes, then it also contains a simple path between those two nodes.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endParaRPr kumimoji="0" lang="en-US" sz="18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/>
                  <a:buNone/>
                  <a:tabLst/>
                  <a:defRPr/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Task 4: 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Show that any connected, undirected graph satisfies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𝑚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≥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− 1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  <a:endParaRPr kumimoji="0" lang="en-US" sz="18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23" y="1589970"/>
                <a:ext cx="8229600" cy="3895554"/>
              </a:xfrm>
              <a:prstGeom prst="rect">
                <a:avLst/>
              </a:prstGeom>
              <a:blipFill>
                <a:blip r:embed="rId3"/>
                <a:stretch>
                  <a:fillRect l="-616" t="-8117" r="-154" b="-1299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5905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>
                <a:latin typeface="Calibri" panose="020F0502020204030204" pitchFamily="34" charset="0"/>
                <a:cs typeface="Calibri" panose="020F0502020204030204" pitchFamily="34" charset="0"/>
              </a:rPr>
              <a:t>Trees</a:t>
            </a:r>
            <a:endParaRPr lang="en-US" sz="4400" noProof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899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Trees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330778"/>
            <a:ext cx="8229300" cy="1530219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de-AT" sz="1800" b="1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ree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connected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acyclic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undirected</a:t>
            </a:r>
            <a:r>
              <a:rPr lang="de-AT" sz="1800" noProof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noProof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</a:t>
            </a:r>
            <a:endParaRPr lang="de-AT" sz="1800" noProof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undirected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acyclic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but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disconnected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forest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Can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classify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graphs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  <a:endParaRPr lang="en-US" sz="1800" noProof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40133BB9-E206-475C-8360-074EA21F1BA2}"/>
              </a:ext>
            </a:extLst>
          </p:cNvPr>
          <p:cNvSpPr/>
          <p:nvPr/>
        </p:nvSpPr>
        <p:spPr>
          <a:xfrm>
            <a:off x="184485" y="3529263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A0AB723C-FD2D-41E4-9174-05929BFFA311}"/>
              </a:ext>
            </a:extLst>
          </p:cNvPr>
          <p:cNvSpPr/>
          <p:nvPr/>
        </p:nvSpPr>
        <p:spPr>
          <a:xfrm>
            <a:off x="778043" y="3729789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BF69732-A1C5-4BB9-BA1D-E096E594F8E9}"/>
              </a:ext>
            </a:extLst>
          </p:cNvPr>
          <p:cNvSpPr/>
          <p:nvPr/>
        </p:nvSpPr>
        <p:spPr>
          <a:xfrm>
            <a:off x="830179" y="3144252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86F340D2-F190-4263-A925-17DDDE7B5AFF}"/>
              </a:ext>
            </a:extLst>
          </p:cNvPr>
          <p:cNvSpPr/>
          <p:nvPr/>
        </p:nvSpPr>
        <p:spPr>
          <a:xfrm>
            <a:off x="1203160" y="3585409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63D529CF-2E28-4889-94A8-582D7667E9B2}"/>
              </a:ext>
            </a:extLst>
          </p:cNvPr>
          <p:cNvSpPr/>
          <p:nvPr/>
        </p:nvSpPr>
        <p:spPr>
          <a:xfrm>
            <a:off x="673770" y="4219073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3C57F43E-908D-447E-BD00-7C9E4FB4CF92}"/>
              </a:ext>
            </a:extLst>
          </p:cNvPr>
          <p:cNvSpPr/>
          <p:nvPr/>
        </p:nvSpPr>
        <p:spPr>
          <a:xfrm>
            <a:off x="569497" y="4708357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63E2F70B-A870-44BF-B662-57904D63E659}"/>
              </a:ext>
            </a:extLst>
          </p:cNvPr>
          <p:cNvSpPr/>
          <p:nvPr/>
        </p:nvSpPr>
        <p:spPr>
          <a:xfrm>
            <a:off x="96252" y="4499810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3F3BB83C-EA79-4BC9-8EF4-475D1B1124BA}"/>
              </a:ext>
            </a:extLst>
          </p:cNvPr>
          <p:cNvSpPr/>
          <p:nvPr/>
        </p:nvSpPr>
        <p:spPr>
          <a:xfrm>
            <a:off x="288758" y="5213684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B6878556-E567-48C5-8A0B-682A10C1F41F}"/>
              </a:ext>
            </a:extLst>
          </p:cNvPr>
          <p:cNvSpPr/>
          <p:nvPr/>
        </p:nvSpPr>
        <p:spPr>
          <a:xfrm>
            <a:off x="1475876" y="4006406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E59084D-560A-426D-9EF6-B25D35D2E1E9}"/>
              </a:ext>
            </a:extLst>
          </p:cNvPr>
          <p:cNvSpPr/>
          <p:nvPr/>
        </p:nvSpPr>
        <p:spPr>
          <a:xfrm>
            <a:off x="1151022" y="4555956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1F8B365F-9917-4F23-BEBD-5DFED53A2BFD}"/>
              </a:ext>
            </a:extLst>
          </p:cNvPr>
          <p:cNvSpPr/>
          <p:nvPr/>
        </p:nvSpPr>
        <p:spPr>
          <a:xfrm>
            <a:off x="1941097" y="4339389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EA951024-0134-471E-B09E-FB15C29A1871}"/>
              </a:ext>
            </a:extLst>
          </p:cNvPr>
          <p:cNvSpPr/>
          <p:nvPr/>
        </p:nvSpPr>
        <p:spPr>
          <a:xfrm>
            <a:off x="2045370" y="4916904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1ABEE50-5B23-4EAF-9CAB-E13AAD5D6D80}"/>
              </a:ext>
            </a:extLst>
          </p:cNvPr>
          <p:cNvSpPr/>
          <p:nvPr/>
        </p:nvSpPr>
        <p:spPr>
          <a:xfrm>
            <a:off x="2358191" y="4037108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1675DF7D-B474-4520-8F78-02F7F65B46C6}"/>
              </a:ext>
            </a:extLst>
          </p:cNvPr>
          <p:cNvSpPr/>
          <p:nvPr/>
        </p:nvSpPr>
        <p:spPr>
          <a:xfrm>
            <a:off x="2253918" y="3548055"/>
            <a:ext cx="104273" cy="9625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44E64E2C-5070-4398-9572-8D36E9009577}"/>
              </a:ext>
            </a:extLst>
          </p:cNvPr>
          <p:cNvCxnSpPr>
            <a:cxnSpLocks/>
            <a:stCxn id="3" idx="6"/>
            <a:endCxn id="6" idx="1"/>
          </p:cNvCxnSpPr>
          <p:nvPr/>
        </p:nvCxnSpPr>
        <p:spPr>
          <a:xfrm>
            <a:off x="288758" y="3577390"/>
            <a:ext cx="504555" cy="16649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6D8AD468-F7FC-4B5D-B99D-9C0AC46B6B65}"/>
              </a:ext>
            </a:extLst>
          </p:cNvPr>
          <p:cNvCxnSpPr>
            <a:cxnSpLocks/>
            <a:endCxn id="7" idx="4"/>
          </p:cNvCxnSpPr>
          <p:nvPr/>
        </p:nvCxnSpPr>
        <p:spPr>
          <a:xfrm flipV="1">
            <a:off x="842210" y="3240505"/>
            <a:ext cx="40106" cy="48029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2D26670-C38B-4818-AA78-EE18C19978C3}"/>
              </a:ext>
            </a:extLst>
          </p:cNvPr>
          <p:cNvCxnSpPr>
            <a:cxnSpLocks/>
          </p:cNvCxnSpPr>
          <p:nvPr/>
        </p:nvCxnSpPr>
        <p:spPr>
          <a:xfrm flipV="1">
            <a:off x="867046" y="3642044"/>
            <a:ext cx="336884" cy="13587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2E35CD3-7B78-4FF0-980C-94E1C3935C52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275734" y="3667566"/>
            <a:ext cx="215412" cy="352936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37E60FDC-4621-4F20-9D1E-72AE3B5CBAD7}"/>
              </a:ext>
            </a:extLst>
          </p:cNvPr>
          <p:cNvCxnSpPr>
            <a:cxnSpLocks/>
            <a:stCxn id="6" idx="4"/>
            <a:endCxn id="9" idx="0"/>
          </p:cNvCxnSpPr>
          <p:nvPr/>
        </p:nvCxnSpPr>
        <p:spPr>
          <a:xfrm flipH="1">
            <a:off x="725907" y="3826042"/>
            <a:ext cx="104273" cy="39303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D37728F-2106-4712-8BA9-5BD040693D05}"/>
              </a:ext>
            </a:extLst>
          </p:cNvPr>
          <p:cNvCxnSpPr>
            <a:cxnSpLocks/>
            <a:stCxn id="9" idx="4"/>
          </p:cNvCxnSpPr>
          <p:nvPr/>
        </p:nvCxnSpPr>
        <p:spPr>
          <a:xfrm flipH="1">
            <a:off x="627649" y="4315326"/>
            <a:ext cx="98258" cy="39303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EBFDE6EC-6912-4A8A-9261-1A7509D1B0EE}"/>
              </a:ext>
            </a:extLst>
          </p:cNvPr>
          <p:cNvCxnSpPr>
            <a:cxnSpLocks/>
            <a:endCxn id="11" idx="2"/>
          </p:cNvCxnSpPr>
          <p:nvPr/>
        </p:nvCxnSpPr>
        <p:spPr>
          <a:xfrm>
            <a:off x="200530" y="4563979"/>
            <a:ext cx="368967" cy="19250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71065E-CD92-4283-9E41-C77689AC8CEE}"/>
              </a:ext>
            </a:extLst>
          </p:cNvPr>
          <p:cNvCxnSpPr>
            <a:cxnSpLocks/>
            <a:stCxn id="11" idx="4"/>
            <a:endCxn id="13" idx="7"/>
          </p:cNvCxnSpPr>
          <p:nvPr/>
        </p:nvCxnSpPr>
        <p:spPr>
          <a:xfrm flipH="1">
            <a:off x="377761" y="4804610"/>
            <a:ext cx="243873" cy="42317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09A5B15E-F412-4B73-BB54-AA489DF70E4D}"/>
              </a:ext>
            </a:extLst>
          </p:cNvPr>
          <p:cNvCxnSpPr>
            <a:cxnSpLocks/>
            <a:endCxn id="15" idx="7"/>
          </p:cNvCxnSpPr>
          <p:nvPr/>
        </p:nvCxnSpPr>
        <p:spPr>
          <a:xfrm flipH="1">
            <a:off x="1240025" y="4103221"/>
            <a:ext cx="247884" cy="46683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BD04659F-F659-4D4A-BD11-6A97050FB46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568116" y="4078704"/>
            <a:ext cx="388251" cy="27478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FE4EEE50-AE31-4091-9C7B-03A85B3155B5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1993234" y="4442689"/>
            <a:ext cx="104273" cy="474215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E5C69D45-170B-4B70-BE71-769C097D5CDD}"/>
              </a:ext>
            </a:extLst>
          </p:cNvPr>
          <p:cNvCxnSpPr>
            <a:cxnSpLocks/>
            <a:stCxn id="19" idx="3"/>
            <a:endCxn id="17" idx="7"/>
          </p:cNvCxnSpPr>
          <p:nvPr/>
        </p:nvCxnSpPr>
        <p:spPr>
          <a:xfrm flipH="1">
            <a:off x="2030100" y="4119265"/>
            <a:ext cx="343361" cy="23422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16912C85-A1D5-4058-A74A-DAAA99D41BBD}"/>
              </a:ext>
            </a:extLst>
          </p:cNvPr>
          <p:cNvCxnSpPr>
            <a:cxnSpLocks/>
            <a:stCxn id="20" idx="4"/>
            <a:endCxn id="19" idx="0"/>
          </p:cNvCxnSpPr>
          <p:nvPr/>
        </p:nvCxnSpPr>
        <p:spPr>
          <a:xfrm>
            <a:off x="2306055" y="3644308"/>
            <a:ext cx="104273" cy="3928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Ellipse 57">
            <a:extLst>
              <a:ext uri="{FF2B5EF4-FFF2-40B4-BE49-F238E27FC236}">
                <a16:creationId xmlns:a16="http://schemas.microsoft.com/office/drawing/2014/main" id="{81AC1CC0-F2DE-4618-BF38-8E896ADE2B5A}"/>
              </a:ext>
            </a:extLst>
          </p:cNvPr>
          <p:cNvSpPr/>
          <p:nvPr/>
        </p:nvSpPr>
        <p:spPr>
          <a:xfrm>
            <a:off x="3200403" y="3495232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CF4C9299-AB7E-4FC8-97E4-92C62C084D1E}"/>
              </a:ext>
            </a:extLst>
          </p:cNvPr>
          <p:cNvSpPr/>
          <p:nvPr/>
        </p:nvSpPr>
        <p:spPr>
          <a:xfrm>
            <a:off x="3793961" y="3695758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EAC34550-35EE-4D8C-BA5D-B1D80F53183E}"/>
              </a:ext>
            </a:extLst>
          </p:cNvPr>
          <p:cNvSpPr/>
          <p:nvPr/>
        </p:nvSpPr>
        <p:spPr>
          <a:xfrm>
            <a:off x="3846097" y="3110221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395B0A13-B5BC-45E4-811F-9FAFCC5DF560}"/>
              </a:ext>
            </a:extLst>
          </p:cNvPr>
          <p:cNvSpPr/>
          <p:nvPr/>
        </p:nvSpPr>
        <p:spPr>
          <a:xfrm>
            <a:off x="4219078" y="3551378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2B9333BD-903B-488B-A21D-1B0CE7964FDE}"/>
              </a:ext>
            </a:extLst>
          </p:cNvPr>
          <p:cNvSpPr/>
          <p:nvPr/>
        </p:nvSpPr>
        <p:spPr>
          <a:xfrm>
            <a:off x="3689688" y="4185042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3" name="Ellipse 62">
            <a:extLst>
              <a:ext uri="{FF2B5EF4-FFF2-40B4-BE49-F238E27FC236}">
                <a16:creationId xmlns:a16="http://schemas.microsoft.com/office/drawing/2014/main" id="{C1DCDCD9-A9E1-43AB-B819-5C748D0A63B9}"/>
              </a:ext>
            </a:extLst>
          </p:cNvPr>
          <p:cNvSpPr/>
          <p:nvPr/>
        </p:nvSpPr>
        <p:spPr>
          <a:xfrm>
            <a:off x="3585415" y="4674326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4" name="Ellipse 63">
            <a:extLst>
              <a:ext uri="{FF2B5EF4-FFF2-40B4-BE49-F238E27FC236}">
                <a16:creationId xmlns:a16="http://schemas.microsoft.com/office/drawing/2014/main" id="{6166CC18-F5A0-40F9-BBD8-25F24FA6BB60}"/>
              </a:ext>
            </a:extLst>
          </p:cNvPr>
          <p:cNvSpPr/>
          <p:nvPr/>
        </p:nvSpPr>
        <p:spPr>
          <a:xfrm>
            <a:off x="3112170" y="4465779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38254247-FB5A-4F7C-875F-91BC70C8AA83}"/>
              </a:ext>
            </a:extLst>
          </p:cNvPr>
          <p:cNvSpPr/>
          <p:nvPr/>
        </p:nvSpPr>
        <p:spPr>
          <a:xfrm>
            <a:off x="3304676" y="5179653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43109881-26F4-4719-A455-FB998F820294}"/>
              </a:ext>
            </a:extLst>
          </p:cNvPr>
          <p:cNvSpPr/>
          <p:nvPr/>
        </p:nvSpPr>
        <p:spPr>
          <a:xfrm>
            <a:off x="4491794" y="3972375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3F243277-E4ED-4D6D-A0FD-C655AE6CDDD7}"/>
              </a:ext>
            </a:extLst>
          </p:cNvPr>
          <p:cNvSpPr/>
          <p:nvPr/>
        </p:nvSpPr>
        <p:spPr>
          <a:xfrm>
            <a:off x="4166940" y="4521925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14EDD126-6796-4023-A24C-670FDEB60070}"/>
              </a:ext>
            </a:extLst>
          </p:cNvPr>
          <p:cNvSpPr/>
          <p:nvPr/>
        </p:nvSpPr>
        <p:spPr>
          <a:xfrm>
            <a:off x="4957015" y="4305358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9" name="Ellipse 68">
            <a:extLst>
              <a:ext uri="{FF2B5EF4-FFF2-40B4-BE49-F238E27FC236}">
                <a16:creationId xmlns:a16="http://schemas.microsoft.com/office/drawing/2014/main" id="{8768856F-D7DC-43A3-8FFB-8649920C851E}"/>
              </a:ext>
            </a:extLst>
          </p:cNvPr>
          <p:cNvSpPr/>
          <p:nvPr/>
        </p:nvSpPr>
        <p:spPr>
          <a:xfrm>
            <a:off x="5061288" y="4882873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4DBB3E91-7704-49A6-A84D-491ABBC59E55}"/>
              </a:ext>
            </a:extLst>
          </p:cNvPr>
          <p:cNvSpPr/>
          <p:nvPr/>
        </p:nvSpPr>
        <p:spPr>
          <a:xfrm>
            <a:off x="5374109" y="4003077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1" name="Ellipse 70">
            <a:extLst>
              <a:ext uri="{FF2B5EF4-FFF2-40B4-BE49-F238E27FC236}">
                <a16:creationId xmlns:a16="http://schemas.microsoft.com/office/drawing/2014/main" id="{42D1FB8B-79C0-4827-8125-6EB498061476}"/>
              </a:ext>
            </a:extLst>
          </p:cNvPr>
          <p:cNvSpPr/>
          <p:nvPr/>
        </p:nvSpPr>
        <p:spPr>
          <a:xfrm>
            <a:off x="5269836" y="3514024"/>
            <a:ext cx="104273" cy="96253"/>
          </a:xfrm>
          <a:prstGeom prst="ellipse">
            <a:avLst/>
          </a:prstGeom>
          <a:solidFill>
            <a:schemeClr val="accent2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DD7817A0-547E-49A4-B379-5B40BDD7123A}"/>
              </a:ext>
            </a:extLst>
          </p:cNvPr>
          <p:cNvCxnSpPr>
            <a:cxnSpLocks/>
            <a:stCxn id="58" idx="6"/>
            <a:endCxn id="59" idx="1"/>
          </p:cNvCxnSpPr>
          <p:nvPr/>
        </p:nvCxnSpPr>
        <p:spPr>
          <a:xfrm>
            <a:off x="3304676" y="3543359"/>
            <a:ext cx="504555" cy="166495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67F8AC01-CB8E-4475-A4BC-CCF5D43652B0}"/>
              </a:ext>
            </a:extLst>
          </p:cNvPr>
          <p:cNvCxnSpPr>
            <a:cxnSpLocks/>
            <a:endCxn id="60" idx="4"/>
          </p:cNvCxnSpPr>
          <p:nvPr/>
        </p:nvCxnSpPr>
        <p:spPr>
          <a:xfrm flipV="1">
            <a:off x="3858128" y="3206474"/>
            <a:ext cx="40106" cy="480290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9B4B3A9E-9078-489D-B5A4-79589A134444}"/>
              </a:ext>
            </a:extLst>
          </p:cNvPr>
          <p:cNvCxnSpPr>
            <a:cxnSpLocks/>
          </p:cNvCxnSpPr>
          <p:nvPr/>
        </p:nvCxnSpPr>
        <p:spPr>
          <a:xfrm flipV="1">
            <a:off x="3882964" y="3608013"/>
            <a:ext cx="336884" cy="135871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16418CEF-5A87-4404-B7B0-8648D3F519E6}"/>
              </a:ext>
            </a:extLst>
          </p:cNvPr>
          <p:cNvCxnSpPr>
            <a:cxnSpLocks/>
            <a:stCxn id="59" idx="4"/>
            <a:endCxn id="62" idx="0"/>
          </p:cNvCxnSpPr>
          <p:nvPr/>
        </p:nvCxnSpPr>
        <p:spPr>
          <a:xfrm flipH="1">
            <a:off x="3741825" y="3792011"/>
            <a:ext cx="104273" cy="393031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6450068E-44FC-4116-94BC-75F86F90F2E4}"/>
              </a:ext>
            </a:extLst>
          </p:cNvPr>
          <p:cNvCxnSpPr>
            <a:cxnSpLocks/>
            <a:stCxn id="62" idx="4"/>
          </p:cNvCxnSpPr>
          <p:nvPr/>
        </p:nvCxnSpPr>
        <p:spPr>
          <a:xfrm flipH="1">
            <a:off x="3643567" y="4281295"/>
            <a:ext cx="98258" cy="393031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BA18AD88-6AF6-41F6-8E22-09DA5DD72061}"/>
              </a:ext>
            </a:extLst>
          </p:cNvPr>
          <p:cNvCxnSpPr>
            <a:cxnSpLocks/>
            <a:endCxn id="63" idx="2"/>
          </p:cNvCxnSpPr>
          <p:nvPr/>
        </p:nvCxnSpPr>
        <p:spPr>
          <a:xfrm>
            <a:off x="3216448" y="4529948"/>
            <a:ext cx="368967" cy="192505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3AADECFD-F211-44ED-B543-7E5B3C857E01}"/>
              </a:ext>
            </a:extLst>
          </p:cNvPr>
          <p:cNvCxnSpPr>
            <a:cxnSpLocks/>
            <a:stCxn id="63" idx="4"/>
            <a:endCxn id="65" idx="7"/>
          </p:cNvCxnSpPr>
          <p:nvPr/>
        </p:nvCxnSpPr>
        <p:spPr>
          <a:xfrm flipH="1">
            <a:off x="3393679" y="4770579"/>
            <a:ext cx="243873" cy="423170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2B88717-8DF6-4692-8B6A-6FE384267C02}"/>
              </a:ext>
            </a:extLst>
          </p:cNvPr>
          <p:cNvCxnSpPr>
            <a:cxnSpLocks/>
            <a:endCxn id="67" idx="7"/>
          </p:cNvCxnSpPr>
          <p:nvPr/>
        </p:nvCxnSpPr>
        <p:spPr>
          <a:xfrm flipH="1">
            <a:off x="4255943" y="4069190"/>
            <a:ext cx="247884" cy="466831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C5146FC1-471D-4B3F-B442-1976DB2404A4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4584034" y="4044673"/>
            <a:ext cx="388251" cy="274781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BB6CA038-6936-4B50-A950-861A05337A41}"/>
              </a:ext>
            </a:extLst>
          </p:cNvPr>
          <p:cNvCxnSpPr>
            <a:cxnSpLocks/>
            <a:endCxn id="69" idx="0"/>
          </p:cNvCxnSpPr>
          <p:nvPr/>
        </p:nvCxnSpPr>
        <p:spPr>
          <a:xfrm>
            <a:off x="5009152" y="4408658"/>
            <a:ext cx="104273" cy="474215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770D0317-7791-4AB1-A154-7E456BC281DC}"/>
              </a:ext>
            </a:extLst>
          </p:cNvPr>
          <p:cNvCxnSpPr>
            <a:cxnSpLocks/>
            <a:stCxn id="71" idx="4"/>
            <a:endCxn id="70" idx="0"/>
          </p:cNvCxnSpPr>
          <p:nvPr/>
        </p:nvCxnSpPr>
        <p:spPr>
          <a:xfrm>
            <a:off x="5321973" y="3610277"/>
            <a:ext cx="104273" cy="392800"/>
          </a:xfrm>
          <a:prstGeom prst="line">
            <a:avLst/>
          </a:prstGeom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Ellipse 97">
            <a:extLst>
              <a:ext uri="{FF2B5EF4-FFF2-40B4-BE49-F238E27FC236}">
                <a16:creationId xmlns:a16="http://schemas.microsoft.com/office/drawing/2014/main" id="{D6A02F8E-E706-41BE-B808-493E24255943}"/>
              </a:ext>
            </a:extLst>
          </p:cNvPr>
          <p:cNvSpPr/>
          <p:nvPr/>
        </p:nvSpPr>
        <p:spPr>
          <a:xfrm>
            <a:off x="6369662" y="3384885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9" name="Ellipse 98">
            <a:extLst>
              <a:ext uri="{FF2B5EF4-FFF2-40B4-BE49-F238E27FC236}">
                <a16:creationId xmlns:a16="http://schemas.microsoft.com/office/drawing/2014/main" id="{A23493E2-2968-4F46-99FE-2B27678F4DCF}"/>
              </a:ext>
            </a:extLst>
          </p:cNvPr>
          <p:cNvSpPr/>
          <p:nvPr/>
        </p:nvSpPr>
        <p:spPr>
          <a:xfrm>
            <a:off x="6963220" y="3585411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78E80A3C-B24E-4494-8839-632C4D69B3D6}"/>
              </a:ext>
            </a:extLst>
          </p:cNvPr>
          <p:cNvSpPr/>
          <p:nvPr/>
        </p:nvSpPr>
        <p:spPr>
          <a:xfrm>
            <a:off x="7015356" y="2999874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1" name="Ellipse 100">
            <a:extLst>
              <a:ext uri="{FF2B5EF4-FFF2-40B4-BE49-F238E27FC236}">
                <a16:creationId xmlns:a16="http://schemas.microsoft.com/office/drawing/2014/main" id="{5175E711-51DA-4AEF-B146-F2434DE73713}"/>
              </a:ext>
            </a:extLst>
          </p:cNvPr>
          <p:cNvSpPr/>
          <p:nvPr/>
        </p:nvSpPr>
        <p:spPr>
          <a:xfrm>
            <a:off x="7388337" y="3441031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2" name="Ellipse 101">
            <a:extLst>
              <a:ext uri="{FF2B5EF4-FFF2-40B4-BE49-F238E27FC236}">
                <a16:creationId xmlns:a16="http://schemas.microsoft.com/office/drawing/2014/main" id="{F83FB37B-BA8B-4FAC-931B-6116B67101D4}"/>
              </a:ext>
            </a:extLst>
          </p:cNvPr>
          <p:cNvSpPr/>
          <p:nvPr/>
        </p:nvSpPr>
        <p:spPr>
          <a:xfrm>
            <a:off x="6858947" y="4074695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3" name="Ellipse 102">
            <a:extLst>
              <a:ext uri="{FF2B5EF4-FFF2-40B4-BE49-F238E27FC236}">
                <a16:creationId xmlns:a16="http://schemas.microsoft.com/office/drawing/2014/main" id="{822AF341-78DD-46C9-8AE7-D0F50A406C9A}"/>
              </a:ext>
            </a:extLst>
          </p:cNvPr>
          <p:cNvSpPr/>
          <p:nvPr/>
        </p:nvSpPr>
        <p:spPr>
          <a:xfrm>
            <a:off x="6754674" y="4563979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4" name="Ellipse 103">
            <a:extLst>
              <a:ext uri="{FF2B5EF4-FFF2-40B4-BE49-F238E27FC236}">
                <a16:creationId xmlns:a16="http://schemas.microsoft.com/office/drawing/2014/main" id="{B893BC4D-34FD-40C8-82A9-43890C72BF75}"/>
              </a:ext>
            </a:extLst>
          </p:cNvPr>
          <p:cNvSpPr/>
          <p:nvPr/>
        </p:nvSpPr>
        <p:spPr>
          <a:xfrm>
            <a:off x="6281429" y="4355432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5" name="Ellipse 104">
            <a:extLst>
              <a:ext uri="{FF2B5EF4-FFF2-40B4-BE49-F238E27FC236}">
                <a16:creationId xmlns:a16="http://schemas.microsoft.com/office/drawing/2014/main" id="{700AA415-AA37-454A-B062-C5E19A7C5855}"/>
              </a:ext>
            </a:extLst>
          </p:cNvPr>
          <p:cNvSpPr/>
          <p:nvPr/>
        </p:nvSpPr>
        <p:spPr>
          <a:xfrm>
            <a:off x="6473935" y="5069306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866CB59A-1C4D-4B8D-952B-F55EB1018E5A}"/>
              </a:ext>
            </a:extLst>
          </p:cNvPr>
          <p:cNvSpPr/>
          <p:nvPr/>
        </p:nvSpPr>
        <p:spPr>
          <a:xfrm>
            <a:off x="7661053" y="3862028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5BFC323D-52A6-470E-8092-136CB141DED9}"/>
              </a:ext>
            </a:extLst>
          </p:cNvPr>
          <p:cNvSpPr/>
          <p:nvPr/>
        </p:nvSpPr>
        <p:spPr>
          <a:xfrm>
            <a:off x="7336199" y="4411578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8" name="Ellipse 107">
            <a:extLst>
              <a:ext uri="{FF2B5EF4-FFF2-40B4-BE49-F238E27FC236}">
                <a16:creationId xmlns:a16="http://schemas.microsoft.com/office/drawing/2014/main" id="{B98B7F03-E435-4182-8962-68B981B94AA8}"/>
              </a:ext>
            </a:extLst>
          </p:cNvPr>
          <p:cNvSpPr/>
          <p:nvPr/>
        </p:nvSpPr>
        <p:spPr>
          <a:xfrm>
            <a:off x="8126274" y="4195011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09" name="Ellipse 108">
            <a:extLst>
              <a:ext uri="{FF2B5EF4-FFF2-40B4-BE49-F238E27FC236}">
                <a16:creationId xmlns:a16="http://schemas.microsoft.com/office/drawing/2014/main" id="{4E938270-4D20-4E10-9C4B-74172617021C}"/>
              </a:ext>
            </a:extLst>
          </p:cNvPr>
          <p:cNvSpPr/>
          <p:nvPr/>
        </p:nvSpPr>
        <p:spPr>
          <a:xfrm>
            <a:off x="8230547" y="4772526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0" name="Ellipse 109">
            <a:extLst>
              <a:ext uri="{FF2B5EF4-FFF2-40B4-BE49-F238E27FC236}">
                <a16:creationId xmlns:a16="http://schemas.microsoft.com/office/drawing/2014/main" id="{29FAEED2-19AB-4B73-8F83-5E4E3674956B}"/>
              </a:ext>
            </a:extLst>
          </p:cNvPr>
          <p:cNvSpPr/>
          <p:nvPr/>
        </p:nvSpPr>
        <p:spPr>
          <a:xfrm>
            <a:off x="8543368" y="3892730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1" name="Ellipse 110">
            <a:extLst>
              <a:ext uri="{FF2B5EF4-FFF2-40B4-BE49-F238E27FC236}">
                <a16:creationId xmlns:a16="http://schemas.microsoft.com/office/drawing/2014/main" id="{BEFC6F95-83BC-41BC-8B18-51ECCBE2230A}"/>
              </a:ext>
            </a:extLst>
          </p:cNvPr>
          <p:cNvSpPr/>
          <p:nvPr/>
        </p:nvSpPr>
        <p:spPr>
          <a:xfrm>
            <a:off x="8439095" y="3403677"/>
            <a:ext cx="104273" cy="96253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F3F8F2AA-5FB3-451B-AD29-C495BD566F2F}"/>
              </a:ext>
            </a:extLst>
          </p:cNvPr>
          <p:cNvCxnSpPr>
            <a:cxnSpLocks/>
            <a:stCxn id="98" idx="6"/>
            <a:endCxn id="99" idx="1"/>
          </p:cNvCxnSpPr>
          <p:nvPr/>
        </p:nvCxnSpPr>
        <p:spPr>
          <a:xfrm>
            <a:off x="6473935" y="3433012"/>
            <a:ext cx="504555" cy="166495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EACABF17-E42F-4F64-9FC0-B95A28907563}"/>
              </a:ext>
            </a:extLst>
          </p:cNvPr>
          <p:cNvCxnSpPr>
            <a:cxnSpLocks/>
            <a:endCxn id="100" idx="4"/>
          </p:cNvCxnSpPr>
          <p:nvPr/>
        </p:nvCxnSpPr>
        <p:spPr>
          <a:xfrm flipV="1">
            <a:off x="7027387" y="3096127"/>
            <a:ext cx="40106" cy="48029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8DA06641-C554-45C9-842D-C39E2C9363FA}"/>
              </a:ext>
            </a:extLst>
          </p:cNvPr>
          <p:cNvCxnSpPr>
            <a:cxnSpLocks/>
          </p:cNvCxnSpPr>
          <p:nvPr/>
        </p:nvCxnSpPr>
        <p:spPr>
          <a:xfrm flipV="1">
            <a:off x="7052223" y="3497666"/>
            <a:ext cx="336884" cy="135871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C6C18135-DFFE-44AA-BEC5-B7206CE1EB2F}"/>
              </a:ext>
            </a:extLst>
          </p:cNvPr>
          <p:cNvCxnSpPr>
            <a:cxnSpLocks/>
            <a:endCxn id="106" idx="1"/>
          </p:cNvCxnSpPr>
          <p:nvPr/>
        </p:nvCxnSpPr>
        <p:spPr>
          <a:xfrm>
            <a:off x="7460911" y="3523188"/>
            <a:ext cx="215412" cy="352936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5873FE3-D3B1-4798-B4AE-1856BEF4141F}"/>
              </a:ext>
            </a:extLst>
          </p:cNvPr>
          <p:cNvCxnSpPr>
            <a:cxnSpLocks/>
            <a:stCxn id="99" idx="4"/>
            <a:endCxn id="102" idx="0"/>
          </p:cNvCxnSpPr>
          <p:nvPr/>
        </p:nvCxnSpPr>
        <p:spPr>
          <a:xfrm flipH="1">
            <a:off x="6911084" y="3681664"/>
            <a:ext cx="104273" cy="393031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285EFF28-81D2-40C0-B4DB-702112C01AE8}"/>
              </a:ext>
            </a:extLst>
          </p:cNvPr>
          <p:cNvCxnSpPr>
            <a:cxnSpLocks/>
            <a:stCxn id="102" idx="4"/>
          </p:cNvCxnSpPr>
          <p:nvPr/>
        </p:nvCxnSpPr>
        <p:spPr>
          <a:xfrm flipH="1">
            <a:off x="6812826" y="4170948"/>
            <a:ext cx="98258" cy="393031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14F3A2F2-D26A-47C1-A686-8A019229E4D3}"/>
              </a:ext>
            </a:extLst>
          </p:cNvPr>
          <p:cNvCxnSpPr>
            <a:cxnSpLocks/>
            <a:endCxn id="103" idx="2"/>
          </p:cNvCxnSpPr>
          <p:nvPr/>
        </p:nvCxnSpPr>
        <p:spPr>
          <a:xfrm>
            <a:off x="6385707" y="4419601"/>
            <a:ext cx="368967" cy="192505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5FD5F061-A3E6-487D-8EF9-8326B0294C5D}"/>
              </a:ext>
            </a:extLst>
          </p:cNvPr>
          <p:cNvCxnSpPr>
            <a:cxnSpLocks/>
            <a:stCxn id="103" idx="4"/>
            <a:endCxn id="105" idx="7"/>
          </p:cNvCxnSpPr>
          <p:nvPr/>
        </p:nvCxnSpPr>
        <p:spPr>
          <a:xfrm flipH="1">
            <a:off x="6562938" y="4660232"/>
            <a:ext cx="243873" cy="42317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Gerader Verbinder 119">
            <a:extLst>
              <a:ext uri="{FF2B5EF4-FFF2-40B4-BE49-F238E27FC236}">
                <a16:creationId xmlns:a16="http://schemas.microsoft.com/office/drawing/2014/main" id="{7C5A6C11-20E2-40B4-8C6E-85F788DE4D79}"/>
              </a:ext>
            </a:extLst>
          </p:cNvPr>
          <p:cNvCxnSpPr>
            <a:cxnSpLocks/>
            <a:endCxn id="107" idx="7"/>
          </p:cNvCxnSpPr>
          <p:nvPr/>
        </p:nvCxnSpPr>
        <p:spPr>
          <a:xfrm flipH="1">
            <a:off x="7425202" y="3958843"/>
            <a:ext cx="247884" cy="466831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0B5BC154-2476-4AD1-B838-2D1606EAB6BF}"/>
              </a:ext>
            </a:extLst>
          </p:cNvPr>
          <p:cNvCxnSpPr>
            <a:cxnSpLocks/>
            <a:endCxn id="108" idx="1"/>
          </p:cNvCxnSpPr>
          <p:nvPr/>
        </p:nvCxnSpPr>
        <p:spPr>
          <a:xfrm>
            <a:off x="7753293" y="3934326"/>
            <a:ext cx="388251" cy="274781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B19BD6B5-0B68-44F6-B9DA-1CBC904C3D6F}"/>
              </a:ext>
            </a:extLst>
          </p:cNvPr>
          <p:cNvCxnSpPr>
            <a:cxnSpLocks/>
            <a:endCxn id="109" idx="0"/>
          </p:cNvCxnSpPr>
          <p:nvPr/>
        </p:nvCxnSpPr>
        <p:spPr>
          <a:xfrm>
            <a:off x="8178411" y="4298311"/>
            <a:ext cx="104273" cy="474215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C76DEF20-06FB-4FD6-ADC9-448A163E2CC7}"/>
              </a:ext>
            </a:extLst>
          </p:cNvPr>
          <p:cNvCxnSpPr>
            <a:cxnSpLocks/>
            <a:stCxn id="110" idx="3"/>
            <a:endCxn id="108" idx="7"/>
          </p:cNvCxnSpPr>
          <p:nvPr/>
        </p:nvCxnSpPr>
        <p:spPr>
          <a:xfrm flipH="1">
            <a:off x="8215277" y="3974887"/>
            <a:ext cx="343361" cy="23422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Gerader Verbinder 123">
            <a:extLst>
              <a:ext uri="{FF2B5EF4-FFF2-40B4-BE49-F238E27FC236}">
                <a16:creationId xmlns:a16="http://schemas.microsoft.com/office/drawing/2014/main" id="{2A7FFE29-A13B-43BF-8320-77440BFEAD86}"/>
              </a:ext>
            </a:extLst>
          </p:cNvPr>
          <p:cNvCxnSpPr>
            <a:cxnSpLocks/>
            <a:stCxn id="111" idx="4"/>
            <a:endCxn id="110" idx="0"/>
          </p:cNvCxnSpPr>
          <p:nvPr/>
        </p:nvCxnSpPr>
        <p:spPr>
          <a:xfrm>
            <a:off x="8491232" y="3499930"/>
            <a:ext cx="104273" cy="39280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Gerader Verbinder 124">
            <a:extLst>
              <a:ext uri="{FF2B5EF4-FFF2-40B4-BE49-F238E27FC236}">
                <a16:creationId xmlns:a16="http://schemas.microsoft.com/office/drawing/2014/main" id="{83C4E664-389C-406B-92AA-D68DFF51601A}"/>
              </a:ext>
            </a:extLst>
          </p:cNvPr>
          <p:cNvCxnSpPr>
            <a:cxnSpLocks/>
          </p:cNvCxnSpPr>
          <p:nvPr/>
        </p:nvCxnSpPr>
        <p:spPr>
          <a:xfrm>
            <a:off x="6943552" y="4166935"/>
            <a:ext cx="388251" cy="274781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4994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Properties of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595474"/>
                <a:ext cx="8229300" cy="3513938"/>
              </a:xfrm>
            </p:spPr>
            <p:txBody>
              <a:bodyPr/>
              <a:lstStyle/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Let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𝐺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𝑉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 </m:t>
                    </m:r>
                  </m:oMath>
                </a14:m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undirected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graph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The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following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statements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equivalent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 noProof="0" dirty="0"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𝐺</m:t>
                    </m:r>
                  </m:oMath>
                </a14:m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endParaRPr lang="de-AT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Any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two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connected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unique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simple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 noProof="0" dirty="0"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𝐺</m:t>
                    </m:r>
                  </m:oMath>
                </a14:m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connected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but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any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link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moved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𝐺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becomes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disconnected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 dirty="0"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𝐺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connected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𝑚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=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– 1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 dirty="0"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𝐺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acyclic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𝑚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=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– 1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 dirty="0"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𝐺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acyclic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but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link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added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𝐸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, 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𝐺</m:t>
                    </m:r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contains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cycle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595474"/>
                <a:ext cx="8229300" cy="3513938"/>
              </a:xfrm>
              <a:blipFill>
                <a:blip r:embed="rId3"/>
                <a:stretch>
                  <a:fillRect l="-463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6481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/>
          </a:p>
        </p:txBody>
      </p:sp>
    </p:spTree>
    <p:extLst>
      <p:ext uri="{BB962C8B-B14F-4D97-AF65-F5344CB8AC3E}">
        <p14:creationId xmlns:p14="http://schemas.microsoft.com/office/powerpoint/2010/main" val="1724753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519423" y="1589970"/>
            <a:ext cx="8229600" cy="3693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en-US" sz="1800" b="1"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5: 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Show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(1) </a:t>
            </a:r>
            <a:r>
              <a:rPr lang="de-AT" sz="1800"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</a:rPr>
              <a:t>⇒ 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(2), 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(2) </a:t>
            </a:r>
            <a:r>
              <a:rPr lang="de-AT" sz="1800"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</a:rPr>
              <a:t>⇒ 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(3), 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(3) </a:t>
            </a:r>
            <a:r>
              <a:rPr lang="de-AT" sz="1800"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</a:rPr>
              <a:t>⇒ 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(4), 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(4) </a:t>
            </a:r>
            <a:r>
              <a:rPr lang="de-AT" sz="1800"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</a:rPr>
              <a:t>⇒ 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(5), 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(5) </a:t>
            </a:r>
            <a:r>
              <a:rPr lang="de-AT" sz="1800"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</a:rPr>
              <a:t>⇒ 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(6), and 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(6) </a:t>
            </a:r>
            <a:r>
              <a:rPr lang="de-AT" sz="1800">
                <a:latin typeface="Cambria Math" panose="02040503050406030204" pitchFamily="18" charset="0"/>
                <a:ea typeface="Cambria Math" panose="02040503050406030204" pitchFamily="18" charset="0"/>
                <a:cs typeface="Calibri" panose="020F0502020204030204" pitchFamily="34" charset="0"/>
              </a:rPr>
              <a:t>⇒ 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(1).</a:t>
            </a:r>
            <a:endParaRPr kumimoji="0" lang="en-US" sz="18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13005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Rooted trees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95474"/>
            <a:ext cx="8229300" cy="722926"/>
          </a:xfrm>
        </p:spPr>
        <p:txBody>
          <a:bodyPr/>
          <a:lstStyle/>
          <a:p>
            <a:pPr marL="114300" indent="0">
              <a:spcBef>
                <a:spcPts val="600"/>
              </a:spcBef>
              <a:spcAft>
                <a:spcPts val="600"/>
              </a:spcAft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rooted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distinguished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others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81CF42C-A58C-4643-BF96-7685CD7D83D9}"/>
              </a:ext>
            </a:extLst>
          </p:cNvPr>
          <p:cNvSpPr>
            <a:spLocks noChangeAspect="1"/>
          </p:cNvSpPr>
          <p:nvPr/>
        </p:nvSpPr>
        <p:spPr>
          <a:xfrm>
            <a:off x="4387507" y="248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B83DE34-8B94-48BC-852B-52463E17F95D}"/>
              </a:ext>
            </a:extLst>
          </p:cNvPr>
          <p:cNvSpPr>
            <a:spLocks noChangeAspect="1"/>
          </p:cNvSpPr>
          <p:nvPr/>
        </p:nvSpPr>
        <p:spPr>
          <a:xfrm>
            <a:off x="2587507" y="320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222B8A7-7804-4D0E-81AF-989CF4D9998A}"/>
              </a:ext>
            </a:extLst>
          </p:cNvPr>
          <p:cNvSpPr>
            <a:spLocks noChangeAspect="1"/>
          </p:cNvSpPr>
          <p:nvPr/>
        </p:nvSpPr>
        <p:spPr>
          <a:xfrm>
            <a:off x="6187507" y="320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490473D-8B2E-45F9-8E13-6B1131B76159}"/>
              </a:ext>
            </a:extLst>
          </p:cNvPr>
          <p:cNvSpPr>
            <a:spLocks noChangeAspect="1"/>
          </p:cNvSpPr>
          <p:nvPr/>
        </p:nvSpPr>
        <p:spPr>
          <a:xfrm>
            <a:off x="1507667" y="392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DE336E6-FF22-479E-AE8F-8BBF7F81D3C2}"/>
              </a:ext>
            </a:extLst>
          </p:cNvPr>
          <p:cNvSpPr>
            <a:spLocks noChangeAspect="1"/>
          </p:cNvSpPr>
          <p:nvPr/>
        </p:nvSpPr>
        <p:spPr>
          <a:xfrm>
            <a:off x="3667507" y="392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8BAF0A9-11A0-4FD3-8D17-8BBF552ADDAB}"/>
              </a:ext>
            </a:extLst>
          </p:cNvPr>
          <p:cNvSpPr>
            <a:spLocks noChangeAspect="1"/>
          </p:cNvSpPr>
          <p:nvPr/>
        </p:nvSpPr>
        <p:spPr>
          <a:xfrm>
            <a:off x="5107507" y="392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23C12F1-3023-46D6-9ADA-B7911F977871}"/>
              </a:ext>
            </a:extLst>
          </p:cNvPr>
          <p:cNvSpPr>
            <a:spLocks noChangeAspect="1"/>
          </p:cNvSpPr>
          <p:nvPr/>
        </p:nvSpPr>
        <p:spPr>
          <a:xfrm>
            <a:off x="7267507" y="392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68F113AF-5AC4-4D82-B6A1-615EEB86968F}"/>
              </a:ext>
            </a:extLst>
          </p:cNvPr>
          <p:cNvSpPr>
            <a:spLocks noChangeAspect="1"/>
          </p:cNvSpPr>
          <p:nvPr/>
        </p:nvSpPr>
        <p:spPr>
          <a:xfrm>
            <a:off x="787667" y="464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A3C544A-2288-4538-9DD1-A5D1891BB813}"/>
              </a:ext>
            </a:extLst>
          </p:cNvPr>
          <p:cNvSpPr>
            <a:spLocks noChangeAspect="1"/>
          </p:cNvSpPr>
          <p:nvPr/>
        </p:nvSpPr>
        <p:spPr>
          <a:xfrm>
            <a:off x="2227667" y="464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21E580C-AD67-47A8-A104-0709BA40DE47}"/>
              </a:ext>
            </a:extLst>
          </p:cNvPr>
          <p:cNvSpPr>
            <a:spLocks noChangeAspect="1"/>
          </p:cNvSpPr>
          <p:nvPr/>
        </p:nvSpPr>
        <p:spPr>
          <a:xfrm>
            <a:off x="2947507" y="464520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3848416-D902-40EC-8ECC-B44B37760336}"/>
              </a:ext>
            </a:extLst>
          </p:cNvPr>
          <p:cNvSpPr/>
          <p:nvPr/>
        </p:nvSpPr>
        <p:spPr>
          <a:xfrm>
            <a:off x="4494884" y="2521585"/>
            <a:ext cx="340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EAA12B9-5F9C-4CB6-931B-C7DE581F36E8}"/>
              </a:ext>
            </a:extLst>
          </p:cNvPr>
          <p:cNvCxnSpPr>
            <a:cxnSpLocks noChangeAspect="1"/>
            <a:stCxn id="4" idx="3"/>
            <a:endCxn id="5" idx="7"/>
          </p:cNvCxnSpPr>
          <p:nvPr/>
        </p:nvCxnSpPr>
        <p:spPr>
          <a:xfrm flipH="1">
            <a:off x="3048426" y="2946119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38A7063E-03C5-4BF3-87C9-4573F4326F25}"/>
              </a:ext>
            </a:extLst>
          </p:cNvPr>
          <p:cNvCxnSpPr>
            <a:cxnSpLocks noChangeAspect="1"/>
            <a:stCxn id="4" idx="5"/>
            <a:endCxn id="6" idx="1"/>
          </p:cNvCxnSpPr>
          <p:nvPr/>
        </p:nvCxnSpPr>
        <p:spPr>
          <a:xfrm>
            <a:off x="4848426" y="2946119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2C532942-294D-4C38-8C59-6E7E0C7EA543}"/>
              </a:ext>
            </a:extLst>
          </p:cNvPr>
          <p:cNvCxnSpPr>
            <a:cxnSpLocks noChangeAspect="1"/>
            <a:stCxn id="5" idx="3"/>
            <a:endCxn id="7" idx="7"/>
          </p:cNvCxnSpPr>
          <p:nvPr/>
        </p:nvCxnSpPr>
        <p:spPr>
          <a:xfrm flipH="1">
            <a:off x="1968586" y="3666119"/>
            <a:ext cx="69800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F428961-18ED-4D8F-8A60-E61CFC76E7BD}"/>
              </a:ext>
            </a:extLst>
          </p:cNvPr>
          <p:cNvCxnSpPr>
            <a:cxnSpLocks noChangeAspect="1"/>
            <a:stCxn id="5" idx="5"/>
            <a:endCxn id="8" idx="1"/>
          </p:cNvCxnSpPr>
          <p:nvPr/>
        </p:nvCxnSpPr>
        <p:spPr>
          <a:xfrm>
            <a:off x="3048426" y="36661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ABC7295-8EC2-4547-8BD8-4CBA21611C0F}"/>
              </a:ext>
            </a:extLst>
          </p:cNvPr>
          <p:cNvCxnSpPr>
            <a:cxnSpLocks noChangeAspect="1"/>
            <a:stCxn id="7" idx="3"/>
            <a:endCxn id="12" idx="7"/>
          </p:cNvCxnSpPr>
          <p:nvPr/>
        </p:nvCxnSpPr>
        <p:spPr>
          <a:xfrm flipH="1">
            <a:off x="1248586" y="43861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E225817-2B55-46CB-B5E0-E0BBAF14BB40}"/>
              </a:ext>
            </a:extLst>
          </p:cNvPr>
          <p:cNvCxnSpPr>
            <a:cxnSpLocks noChangeAspect="1"/>
            <a:stCxn id="7" idx="5"/>
            <a:endCxn id="13" idx="1"/>
          </p:cNvCxnSpPr>
          <p:nvPr/>
        </p:nvCxnSpPr>
        <p:spPr>
          <a:xfrm>
            <a:off x="1968586" y="43861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D3C9B74-5E7B-4E08-89ED-DEDAA19813DB}"/>
              </a:ext>
            </a:extLst>
          </p:cNvPr>
          <p:cNvCxnSpPr>
            <a:stCxn id="8" idx="3"/>
            <a:endCxn id="14" idx="7"/>
          </p:cNvCxnSpPr>
          <p:nvPr/>
        </p:nvCxnSpPr>
        <p:spPr>
          <a:xfrm flipH="1">
            <a:off x="3408426" y="438611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BCDFE71D-DAC4-4836-AF4A-964357B3E342}"/>
              </a:ext>
            </a:extLst>
          </p:cNvPr>
          <p:cNvCxnSpPr>
            <a:cxnSpLocks noChangeAspect="1"/>
            <a:stCxn id="6" idx="3"/>
            <a:endCxn id="9" idx="7"/>
          </p:cNvCxnSpPr>
          <p:nvPr/>
        </p:nvCxnSpPr>
        <p:spPr>
          <a:xfrm flipH="1">
            <a:off x="5568426" y="36661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06710FB-92DB-4A1D-AC77-819F69ED5259}"/>
              </a:ext>
            </a:extLst>
          </p:cNvPr>
          <p:cNvCxnSpPr>
            <a:cxnSpLocks noChangeAspect="1"/>
            <a:stCxn id="6" idx="5"/>
            <a:endCxn id="11" idx="1"/>
          </p:cNvCxnSpPr>
          <p:nvPr/>
        </p:nvCxnSpPr>
        <p:spPr>
          <a:xfrm>
            <a:off x="6648426" y="366611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/>
              <p:nvPr/>
            </p:nvSpPr>
            <p:spPr>
              <a:xfrm>
                <a:off x="2688768" y="3236709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𝟑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8768" y="3236709"/>
                <a:ext cx="437940" cy="461665"/>
              </a:xfrm>
              <a:prstGeom prst="rect">
                <a:avLst/>
              </a:prstGeom>
              <a:blipFill>
                <a:blip r:embed="rId3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/>
              <p:nvPr/>
            </p:nvSpPr>
            <p:spPr>
              <a:xfrm>
                <a:off x="6282353" y="3235679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2353" y="3235679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/>
              <p:nvPr/>
            </p:nvSpPr>
            <p:spPr>
              <a:xfrm>
                <a:off x="1598237" y="3948086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𝟖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8237" y="3948086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/>
              <p:nvPr/>
            </p:nvSpPr>
            <p:spPr>
              <a:xfrm>
                <a:off x="3656177" y="3964368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6177" y="3964368"/>
                <a:ext cx="622286" cy="461665"/>
              </a:xfrm>
              <a:prstGeom prst="rect">
                <a:avLst/>
              </a:prstGeom>
              <a:blipFill>
                <a:blip r:embed="rId6"/>
                <a:stretch>
                  <a:fillRect l="-2041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/>
              <p:nvPr/>
            </p:nvSpPr>
            <p:spPr>
              <a:xfrm>
                <a:off x="5107507" y="3964367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7507" y="3964367"/>
                <a:ext cx="622286" cy="461665"/>
              </a:xfrm>
              <a:prstGeom prst="rect">
                <a:avLst/>
              </a:prstGeom>
              <a:blipFill>
                <a:blip r:embed="rId7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/>
              <p:nvPr/>
            </p:nvSpPr>
            <p:spPr>
              <a:xfrm>
                <a:off x="7362353" y="395212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2353" y="3952125"/>
                <a:ext cx="437940" cy="461665"/>
              </a:xfrm>
              <a:prstGeom prst="rect">
                <a:avLst/>
              </a:prstGeom>
              <a:blipFill>
                <a:blip r:embed="rId8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/>
              <p:nvPr/>
            </p:nvSpPr>
            <p:spPr>
              <a:xfrm>
                <a:off x="889727" y="4684367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𝟔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727" y="4684367"/>
                <a:ext cx="437940" cy="461665"/>
              </a:xfrm>
              <a:prstGeom prst="rect">
                <a:avLst/>
              </a:prstGeom>
              <a:blipFill>
                <a:blip r:embed="rId9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/>
              <p:nvPr/>
            </p:nvSpPr>
            <p:spPr>
              <a:xfrm>
                <a:off x="2307470" y="4684366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7470" y="4684366"/>
                <a:ext cx="437940" cy="461665"/>
              </a:xfrm>
              <a:prstGeom prst="rect">
                <a:avLst/>
              </a:prstGeom>
              <a:blipFill>
                <a:blip r:embed="rId10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/>
              <p:nvPr/>
            </p:nvSpPr>
            <p:spPr>
              <a:xfrm>
                <a:off x="3026748" y="468436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48" y="4684365"/>
                <a:ext cx="437940" cy="461665"/>
              </a:xfrm>
              <a:prstGeom prst="rect">
                <a:avLst/>
              </a:prstGeom>
              <a:blipFill>
                <a:blip r:embed="rId11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Ellipse 37">
            <a:extLst>
              <a:ext uri="{FF2B5EF4-FFF2-40B4-BE49-F238E27FC236}">
                <a16:creationId xmlns:a16="http://schemas.microsoft.com/office/drawing/2014/main" id="{54AE0E30-EB9D-41C6-A957-EB50C234F546}"/>
              </a:ext>
            </a:extLst>
          </p:cNvPr>
          <p:cNvSpPr>
            <a:spLocks noChangeAspect="1"/>
          </p:cNvSpPr>
          <p:nvPr/>
        </p:nvSpPr>
        <p:spPr>
          <a:xfrm>
            <a:off x="4396517" y="3269368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4F5F0B8B-9536-461E-AD98-C8D18DBB69BC}"/>
                  </a:ext>
                </a:extLst>
              </p:cNvPr>
              <p:cNvSpPr/>
              <p:nvPr/>
            </p:nvSpPr>
            <p:spPr>
              <a:xfrm>
                <a:off x="4396517" y="3308535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𝟏𝟎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4F5F0B8B-9536-461E-AD98-C8D18DBB69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6517" y="3308535"/>
                <a:ext cx="622286" cy="461665"/>
              </a:xfrm>
              <a:prstGeom prst="rect">
                <a:avLst/>
              </a:prstGeom>
              <a:blipFill>
                <a:blip r:embed="rId12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CE58B99-1E4C-4C8E-BE25-D4C752EFC7DF}"/>
              </a:ext>
            </a:extLst>
          </p:cNvPr>
          <p:cNvCxnSpPr>
            <a:cxnSpLocks/>
            <a:stCxn id="4" idx="4"/>
            <a:endCxn id="38" idx="0"/>
          </p:cNvCxnSpPr>
          <p:nvPr/>
        </p:nvCxnSpPr>
        <p:spPr>
          <a:xfrm>
            <a:off x="4657507" y="3025200"/>
            <a:ext cx="9010" cy="24416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55E9D1EA-08D5-482E-AE4C-2E21A61661C7}"/>
              </a:ext>
            </a:extLst>
          </p:cNvPr>
          <p:cNvSpPr txBox="1"/>
          <p:nvPr/>
        </p:nvSpPr>
        <p:spPr>
          <a:xfrm>
            <a:off x="7893863" y="2485200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0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7C9B5D71-B2DE-4872-8A56-D69D3461D9DA}"/>
              </a:ext>
            </a:extLst>
          </p:cNvPr>
          <p:cNvSpPr txBox="1"/>
          <p:nvPr/>
        </p:nvSpPr>
        <p:spPr>
          <a:xfrm>
            <a:off x="7893863" y="3205200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1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AEFCEB8-3B10-4129-9A47-59F3FBCA95F5}"/>
              </a:ext>
            </a:extLst>
          </p:cNvPr>
          <p:cNvSpPr txBox="1"/>
          <p:nvPr/>
        </p:nvSpPr>
        <p:spPr>
          <a:xfrm>
            <a:off x="7902353" y="3978836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14D4375E-C97A-4D1D-B2E7-3095DEB8AA81}"/>
              </a:ext>
            </a:extLst>
          </p:cNvPr>
          <p:cNvSpPr txBox="1"/>
          <p:nvPr/>
        </p:nvSpPr>
        <p:spPr>
          <a:xfrm>
            <a:off x="7902353" y="4684365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3</a:t>
            </a:r>
          </a:p>
        </p:txBody>
      </p:sp>
    </p:spTree>
    <p:extLst>
      <p:ext uri="{BB962C8B-B14F-4D97-AF65-F5344CB8AC3E}">
        <p14:creationId xmlns:p14="http://schemas.microsoft.com/office/powerpoint/2010/main" val="964737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Rooted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303512"/>
                <a:ext cx="8229300" cy="2189988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Consider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a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rooted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root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</m:oMath>
                </a14:m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Any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𝑦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unique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𝑟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called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 </a:t>
                </a:r>
                <a:r>
                  <a:rPr lang="de-AT" sz="1800" b="1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ancestor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y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ancestor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b="1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descendant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𝑦</m:t>
                    </m:r>
                  </m:oMath>
                </a14:m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8, 3, 7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ancestors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6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5, 6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descendents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8</a:t>
                </a: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303512"/>
                <a:ext cx="8229300" cy="2189988"/>
              </a:xfrm>
              <a:blipFill>
                <a:blip r:embed="rId3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Ellipse 3">
            <a:extLst>
              <a:ext uri="{FF2B5EF4-FFF2-40B4-BE49-F238E27FC236}">
                <a16:creationId xmlns:a16="http://schemas.microsoft.com/office/drawing/2014/main" id="{A81CF42C-A58C-4643-BF96-7685CD7D83D9}"/>
              </a:ext>
            </a:extLst>
          </p:cNvPr>
          <p:cNvSpPr>
            <a:spLocks noChangeAspect="1"/>
          </p:cNvSpPr>
          <p:nvPr/>
        </p:nvSpPr>
        <p:spPr>
          <a:xfrm>
            <a:off x="4337629" y="364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B83DE34-8B94-48BC-852B-52463E17F95D}"/>
              </a:ext>
            </a:extLst>
          </p:cNvPr>
          <p:cNvSpPr>
            <a:spLocks noChangeAspect="1"/>
          </p:cNvSpPr>
          <p:nvPr/>
        </p:nvSpPr>
        <p:spPr>
          <a:xfrm>
            <a:off x="2537629" y="436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222B8A7-7804-4D0E-81AF-989CF4D9998A}"/>
              </a:ext>
            </a:extLst>
          </p:cNvPr>
          <p:cNvSpPr>
            <a:spLocks noChangeAspect="1"/>
          </p:cNvSpPr>
          <p:nvPr/>
        </p:nvSpPr>
        <p:spPr>
          <a:xfrm>
            <a:off x="6137629" y="436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490473D-8B2E-45F9-8E13-6B1131B76159}"/>
              </a:ext>
            </a:extLst>
          </p:cNvPr>
          <p:cNvSpPr>
            <a:spLocks noChangeAspect="1"/>
          </p:cNvSpPr>
          <p:nvPr/>
        </p:nvSpPr>
        <p:spPr>
          <a:xfrm>
            <a:off x="1457789" y="508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DE336E6-FF22-479E-AE8F-8BBF7F81D3C2}"/>
              </a:ext>
            </a:extLst>
          </p:cNvPr>
          <p:cNvSpPr>
            <a:spLocks noChangeAspect="1"/>
          </p:cNvSpPr>
          <p:nvPr/>
        </p:nvSpPr>
        <p:spPr>
          <a:xfrm>
            <a:off x="3617629" y="508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8BAF0A9-11A0-4FD3-8D17-8BBF552ADDAB}"/>
              </a:ext>
            </a:extLst>
          </p:cNvPr>
          <p:cNvSpPr>
            <a:spLocks noChangeAspect="1"/>
          </p:cNvSpPr>
          <p:nvPr/>
        </p:nvSpPr>
        <p:spPr>
          <a:xfrm>
            <a:off x="5057629" y="508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23C12F1-3023-46D6-9ADA-B7911F977871}"/>
              </a:ext>
            </a:extLst>
          </p:cNvPr>
          <p:cNvSpPr>
            <a:spLocks noChangeAspect="1"/>
          </p:cNvSpPr>
          <p:nvPr/>
        </p:nvSpPr>
        <p:spPr>
          <a:xfrm>
            <a:off x="7217629" y="508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68F113AF-5AC4-4D82-B6A1-615EEB86968F}"/>
              </a:ext>
            </a:extLst>
          </p:cNvPr>
          <p:cNvSpPr>
            <a:spLocks noChangeAspect="1"/>
          </p:cNvSpPr>
          <p:nvPr/>
        </p:nvSpPr>
        <p:spPr>
          <a:xfrm>
            <a:off x="737789" y="580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A3C544A-2288-4538-9DD1-A5D1891BB813}"/>
              </a:ext>
            </a:extLst>
          </p:cNvPr>
          <p:cNvSpPr>
            <a:spLocks noChangeAspect="1"/>
          </p:cNvSpPr>
          <p:nvPr/>
        </p:nvSpPr>
        <p:spPr>
          <a:xfrm>
            <a:off x="2177789" y="580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21E580C-AD67-47A8-A104-0709BA40DE47}"/>
              </a:ext>
            </a:extLst>
          </p:cNvPr>
          <p:cNvSpPr>
            <a:spLocks noChangeAspect="1"/>
          </p:cNvSpPr>
          <p:nvPr/>
        </p:nvSpPr>
        <p:spPr>
          <a:xfrm>
            <a:off x="2897629" y="5804741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3848416-D902-40EC-8ECC-B44B37760336}"/>
              </a:ext>
            </a:extLst>
          </p:cNvPr>
          <p:cNvSpPr/>
          <p:nvPr/>
        </p:nvSpPr>
        <p:spPr>
          <a:xfrm>
            <a:off x="4445006" y="3681126"/>
            <a:ext cx="340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EAA12B9-5F9C-4CB6-931B-C7DE581F36E8}"/>
              </a:ext>
            </a:extLst>
          </p:cNvPr>
          <p:cNvCxnSpPr>
            <a:cxnSpLocks noChangeAspect="1"/>
            <a:stCxn id="4" idx="3"/>
            <a:endCxn id="5" idx="7"/>
          </p:cNvCxnSpPr>
          <p:nvPr/>
        </p:nvCxnSpPr>
        <p:spPr>
          <a:xfrm flipH="1">
            <a:off x="2998548" y="4105660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38A7063E-03C5-4BF3-87C9-4573F4326F25}"/>
              </a:ext>
            </a:extLst>
          </p:cNvPr>
          <p:cNvCxnSpPr>
            <a:cxnSpLocks noChangeAspect="1"/>
            <a:stCxn id="4" idx="5"/>
            <a:endCxn id="6" idx="1"/>
          </p:cNvCxnSpPr>
          <p:nvPr/>
        </p:nvCxnSpPr>
        <p:spPr>
          <a:xfrm>
            <a:off x="4798548" y="4105660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2C532942-294D-4C38-8C59-6E7E0C7EA543}"/>
              </a:ext>
            </a:extLst>
          </p:cNvPr>
          <p:cNvCxnSpPr>
            <a:cxnSpLocks noChangeAspect="1"/>
            <a:stCxn id="5" idx="3"/>
            <a:endCxn id="7" idx="7"/>
          </p:cNvCxnSpPr>
          <p:nvPr/>
        </p:nvCxnSpPr>
        <p:spPr>
          <a:xfrm flipH="1">
            <a:off x="1918708" y="4825660"/>
            <a:ext cx="69800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F428961-18ED-4D8F-8A60-E61CFC76E7BD}"/>
              </a:ext>
            </a:extLst>
          </p:cNvPr>
          <p:cNvCxnSpPr>
            <a:cxnSpLocks noChangeAspect="1"/>
            <a:stCxn id="5" idx="5"/>
            <a:endCxn id="8" idx="1"/>
          </p:cNvCxnSpPr>
          <p:nvPr/>
        </p:nvCxnSpPr>
        <p:spPr>
          <a:xfrm>
            <a:off x="2998548" y="4825660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ABC7295-8EC2-4547-8BD8-4CBA21611C0F}"/>
              </a:ext>
            </a:extLst>
          </p:cNvPr>
          <p:cNvCxnSpPr>
            <a:cxnSpLocks noChangeAspect="1"/>
            <a:stCxn id="7" idx="3"/>
            <a:endCxn id="12" idx="7"/>
          </p:cNvCxnSpPr>
          <p:nvPr/>
        </p:nvCxnSpPr>
        <p:spPr>
          <a:xfrm flipH="1">
            <a:off x="1198708" y="5545660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E225817-2B55-46CB-B5E0-E0BBAF14BB40}"/>
              </a:ext>
            </a:extLst>
          </p:cNvPr>
          <p:cNvCxnSpPr>
            <a:cxnSpLocks noChangeAspect="1"/>
            <a:stCxn id="7" idx="5"/>
            <a:endCxn id="13" idx="1"/>
          </p:cNvCxnSpPr>
          <p:nvPr/>
        </p:nvCxnSpPr>
        <p:spPr>
          <a:xfrm>
            <a:off x="1918708" y="5545660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D3C9B74-5E7B-4E08-89ED-DEDAA19813DB}"/>
              </a:ext>
            </a:extLst>
          </p:cNvPr>
          <p:cNvCxnSpPr>
            <a:stCxn id="8" idx="3"/>
            <a:endCxn id="14" idx="7"/>
          </p:cNvCxnSpPr>
          <p:nvPr/>
        </p:nvCxnSpPr>
        <p:spPr>
          <a:xfrm flipH="1">
            <a:off x="3358548" y="5545660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BCDFE71D-DAC4-4836-AF4A-964357B3E342}"/>
              </a:ext>
            </a:extLst>
          </p:cNvPr>
          <p:cNvCxnSpPr>
            <a:cxnSpLocks noChangeAspect="1"/>
            <a:stCxn id="6" idx="3"/>
            <a:endCxn id="9" idx="7"/>
          </p:cNvCxnSpPr>
          <p:nvPr/>
        </p:nvCxnSpPr>
        <p:spPr>
          <a:xfrm flipH="1">
            <a:off x="5518548" y="4825660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06710FB-92DB-4A1D-AC77-819F69ED5259}"/>
              </a:ext>
            </a:extLst>
          </p:cNvPr>
          <p:cNvCxnSpPr>
            <a:cxnSpLocks noChangeAspect="1"/>
            <a:stCxn id="6" idx="5"/>
            <a:endCxn id="11" idx="1"/>
          </p:cNvCxnSpPr>
          <p:nvPr/>
        </p:nvCxnSpPr>
        <p:spPr>
          <a:xfrm>
            <a:off x="6598548" y="4825660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/>
              <p:nvPr/>
            </p:nvSpPr>
            <p:spPr>
              <a:xfrm>
                <a:off x="2638890" y="4396250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𝟑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8890" y="4396250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/>
              <p:nvPr/>
            </p:nvSpPr>
            <p:spPr>
              <a:xfrm>
                <a:off x="6232475" y="4395220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2475" y="4395220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/>
              <p:nvPr/>
            </p:nvSpPr>
            <p:spPr>
              <a:xfrm>
                <a:off x="1548359" y="5107627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𝟖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359" y="5107627"/>
                <a:ext cx="437940" cy="461665"/>
              </a:xfrm>
              <a:prstGeom prst="rect">
                <a:avLst/>
              </a:prstGeom>
              <a:blipFill>
                <a:blip r:embed="rId6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/>
              <p:nvPr/>
            </p:nvSpPr>
            <p:spPr>
              <a:xfrm>
                <a:off x="3606299" y="5123909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6299" y="5123909"/>
                <a:ext cx="622286" cy="461665"/>
              </a:xfrm>
              <a:prstGeom prst="rect">
                <a:avLst/>
              </a:prstGeom>
              <a:blipFill>
                <a:blip r:embed="rId7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/>
              <p:nvPr/>
            </p:nvSpPr>
            <p:spPr>
              <a:xfrm>
                <a:off x="5057629" y="5123908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629" y="5123908"/>
                <a:ext cx="622286" cy="461665"/>
              </a:xfrm>
              <a:prstGeom prst="rect">
                <a:avLst/>
              </a:prstGeom>
              <a:blipFill>
                <a:blip r:embed="rId8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/>
              <p:nvPr/>
            </p:nvSpPr>
            <p:spPr>
              <a:xfrm>
                <a:off x="7312475" y="5111666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2475" y="5111666"/>
                <a:ext cx="437940" cy="461665"/>
              </a:xfrm>
              <a:prstGeom prst="rect">
                <a:avLst/>
              </a:prstGeom>
              <a:blipFill>
                <a:blip r:embed="rId9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/>
              <p:nvPr/>
            </p:nvSpPr>
            <p:spPr>
              <a:xfrm>
                <a:off x="839849" y="5843908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𝟔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9" y="5843908"/>
                <a:ext cx="437940" cy="461665"/>
              </a:xfrm>
              <a:prstGeom prst="rect">
                <a:avLst/>
              </a:prstGeom>
              <a:blipFill>
                <a:blip r:embed="rId10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/>
              <p:nvPr/>
            </p:nvSpPr>
            <p:spPr>
              <a:xfrm>
                <a:off x="2257592" y="5843907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592" y="5843907"/>
                <a:ext cx="437940" cy="461665"/>
              </a:xfrm>
              <a:prstGeom prst="rect">
                <a:avLst/>
              </a:prstGeom>
              <a:blipFill>
                <a:blip r:embed="rId11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/>
              <p:nvPr/>
            </p:nvSpPr>
            <p:spPr>
              <a:xfrm>
                <a:off x="2976870" y="5843906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6870" y="5843906"/>
                <a:ext cx="437940" cy="461665"/>
              </a:xfrm>
              <a:prstGeom prst="rect">
                <a:avLst/>
              </a:prstGeom>
              <a:blipFill>
                <a:blip r:embed="rId12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Ellipse 37">
            <a:extLst>
              <a:ext uri="{FF2B5EF4-FFF2-40B4-BE49-F238E27FC236}">
                <a16:creationId xmlns:a16="http://schemas.microsoft.com/office/drawing/2014/main" id="{54AE0E30-EB9D-41C6-A957-EB50C234F546}"/>
              </a:ext>
            </a:extLst>
          </p:cNvPr>
          <p:cNvSpPr>
            <a:spLocks noChangeAspect="1"/>
          </p:cNvSpPr>
          <p:nvPr/>
        </p:nvSpPr>
        <p:spPr>
          <a:xfrm>
            <a:off x="4346639" y="442890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4F5F0B8B-9536-461E-AD98-C8D18DBB69BC}"/>
                  </a:ext>
                </a:extLst>
              </p:cNvPr>
              <p:cNvSpPr/>
              <p:nvPr/>
            </p:nvSpPr>
            <p:spPr>
              <a:xfrm>
                <a:off x="4346639" y="4468076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𝟏𝟎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4F5F0B8B-9536-461E-AD98-C8D18DBB69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6639" y="4468076"/>
                <a:ext cx="622286" cy="461665"/>
              </a:xfrm>
              <a:prstGeom prst="rect">
                <a:avLst/>
              </a:prstGeom>
              <a:blipFill>
                <a:blip r:embed="rId13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CE58B99-1E4C-4C8E-BE25-D4C752EFC7DF}"/>
              </a:ext>
            </a:extLst>
          </p:cNvPr>
          <p:cNvCxnSpPr>
            <a:cxnSpLocks/>
            <a:stCxn id="4" idx="4"/>
            <a:endCxn id="38" idx="0"/>
          </p:cNvCxnSpPr>
          <p:nvPr/>
        </p:nvCxnSpPr>
        <p:spPr>
          <a:xfrm>
            <a:off x="4607629" y="4184741"/>
            <a:ext cx="9010" cy="24416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55E9D1EA-08D5-482E-AE4C-2E21A61661C7}"/>
              </a:ext>
            </a:extLst>
          </p:cNvPr>
          <p:cNvSpPr txBox="1"/>
          <p:nvPr/>
        </p:nvSpPr>
        <p:spPr>
          <a:xfrm>
            <a:off x="7843985" y="3644741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0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7C9B5D71-B2DE-4872-8A56-D69D3461D9DA}"/>
              </a:ext>
            </a:extLst>
          </p:cNvPr>
          <p:cNvSpPr txBox="1"/>
          <p:nvPr/>
        </p:nvSpPr>
        <p:spPr>
          <a:xfrm>
            <a:off x="7843985" y="4364741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1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AEFCEB8-3B10-4129-9A47-59F3FBCA95F5}"/>
              </a:ext>
            </a:extLst>
          </p:cNvPr>
          <p:cNvSpPr txBox="1"/>
          <p:nvPr/>
        </p:nvSpPr>
        <p:spPr>
          <a:xfrm>
            <a:off x="7852475" y="5138377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14D4375E-C97A-4D1D-B2E7-3095DEB8AA81}"/>
              </a:ext>
            </a:extLst>
          </p:cNvPr>
          <p:cNvSpPr txBox="1"/>
          <p:nvPr/>
        </p:nvSpPr>
        <p:spPr>
          <a:xfrm>
            <a:off x="7852475" y="5843906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3</a:t>
            </a:r>
          </a:p>
        </p:txBody>
      </p:sp>
    </p:spTree>
    <p:extLst>
      <p:ext uri="{BB962C8B-B14F-4D97-AF65-F5344CB8AC3E}">
        <p14:creationId xmlns:p14="http://schemas.microsoft.com/office/powerpoint/2010/main" val="76764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Rooted trees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2857" y="1606323"/>
            <a:ext cx="8229300" cy="1970075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Direct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ancestors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descendants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parents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children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respectively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Siblings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same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parent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children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leaf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nonleaf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81CF42C-A58C-4643-BF96-7685CD7D83D9}"/>
              </a:ext>
            </a:extLst>
          </p:cNvPr>
          <p:cNvSpPr>
            <a:spLocks noChangeAspect="1"/>
          </p:cNvSpPr>
          <p:nvPr/>
        </p:nvSpPr>
        <p:spPr>
          <a:xfrm>
            <a:off x="4370881" y="369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B83DE34-8B94-48BC-852B-52463E17F95D}"/>
              </a:ext>
            </a:extLst>
          </p:cNvPr>
          <p:cNvSpPr>
            <a:spLocks noChangeAspect="1"/>
          </p:cNvSpPr>
          <p:nvPr/>
        </p:nvSpPr>
        <p:spPr>
          <a:xfrm>
            <a:off x="2570881" y="441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222B8A7-7804-4D0E-81AF-989CF4D9998A}"/>
              </a:ext>
            </a:extLst>
          </p:cNvPr>
          <p:cNvSpPr>
            <a:spLocks noChangeAspect="1"/>
          </p:cNvSpPr>
          <p:nvPr/>
        </p:nvSpPr>
        <p:spPr>
          <a:xfrm>
            <a:off x="6170881" y="441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490473D-8B2E-45F9-8E13-6B1131B76159}"/>
              </a:ext>
            </a:extLst>
          </p:cNvPr>
          <p:cNvSpPr>
            <a:spLocks noChangeAspect="1"/>
          </p:cNvSpPr>
          <p:nvPr/>
        </p:nvSpPr>
        <p:spPr>
          <a:xfrm>
            <a:off x="1491041" y="513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DE336E6-FF22-479E-AE8F-8BBF7F81D3C2}"/>
              </a:ext>
            </a:extLst>
          </p:cNvPr>
          <p:cNvSpPr>
            <a:spLocks noChangeAspect="1"/>
          </p:cNvSpPr>
          <p:nvPr/>
        </p:nvSpPr>
        <p:spPr>
          <a:xfrm>
            <a:off x="3650881" y="513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8BAF0A9-11A0-4FD3-8D17-8BBF552ADDAB}"/>
              </a:ext>
            </a:extLst>
          </p:cNvPr>
          <p:cNvSpPr>
            <a:spLocks noChangeAspect="1"/>
          </p:cNvSpPr>
          <p:nvPr/>
        </p:nvSpPr>
        <p:spPr>
          <a:xfrm>
            <a:off x="5090881" y="513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23C12F1-3023-46D6-9ADA-B7911F977871}"/>
              </a:ext>
            </a:extLst>
          </p:cNvPr>
          <p:cNvSpPr>
            <a:spLocks noChangeAspect="1"/>
          </p:cNvSpPr>
          <p:nvPr/>
        </p:nvSpPr>
        <p:spPr>
          <a:xfrm>
            <a:off x="7250881" y="513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68F113AF-5AC4-4D82-B6A1-615EEB86968F}"/>
              </a:ext>
            </a:extLst>
          </p:cNvPr>
          <p:cNvSpPr>
            <a:spLocks noChangeAspect="1"/>
          </p:cNvSpPr>
          <p:nvPr/>
        </p:nvSpPr>
        <p:spPr>
          <a:xfrm>
            <a:off x="771041" y="585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A3C544A-2288-4538-9DD1-A5D1891BB813}"/>
              </a:ext>
            </a:extLst>
          </p:cNvPr>
          <p:cNvSpPr>
            <a:spLocks noChangeAspect="1"/>
          </p:cNvSpPr>
          <p:nvPr/>
        </p:nvSpPr>
        <p:spPr>
          <a:xfrm>
            <a:off x="2211041" y="585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21E580C-AD67-47A8-A104-0709BA40DE47}"/>
              </a:ext>
            </a:extLst>
          </p:cNvPr>
          <p:cNvSpPr>
            <a:spLocks noChangeAspect="1"/>
          </p:cNvSpPr>
          <p:nvPr/>
        </p:nvSpPr>
        <p:spPr>
          <a:xfrm>
            <a:off x="2930881" y="585461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3848416-D902-40EC-8ECC-B44B37760336}"/>
              </a:ext>
            </a:extLst>
          </p:cNvPr>
          <p:cNvSpPr/>
          <p:nvPr/>
        </p:nvSpPr>
        <p:spPr>
          <a:xfrm>
            <a:off x="4478258" y="3731004"/>
            <a:ext cx="340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EAA12B9-5F9C-4CB6-931B-C7DE581F36E8}"/>
              </a:ext>
            </a:extLst>
          </p:cNvPr>
          <p:cNvCxnSpPr>
            <a:cxnSpLocks noChangeAspect="1"/>
            <a:stCxn id="4" idx="3"/>
            <a:endCxn id="5" idx="7"/>
          </p:cNvCxnSpPr>
          <p:nvPr/>
        </p:nvCxnSpPr>
        <p:spPr>
          <a:xfrm flipH="1">
            <a:off x="3031800" y="4155538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38A7063E-03C5-4BF3-87C9-4573F4326F25}"/>
              </a:ext>
            </a:extLst>
          </p:cNvPr>
          <p:cNvCxnSpPr>
            <a:cxnSpLocks noChangeAspect="1"/>
            <a:stCxn id="4" idx="5"/>
            <a:endCxn id="6" idx="1"/>
          </p:cNvCxnSpPr>
          <p:nvPr/>
        </p:nvCxnSpPr>
        <p:spPr>
          <a:xfrm>
            <a:off x="4831800" y="4155538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2C532942-294D-4C38-8C59-6E7E0C7EA543}"/>
              </a:ext>
            </a:extLst>
          </p:cNvPr>
          <p:cNvCxnSpPr>
            <a:cxnSpLocks noChangeAspect="1"/>
            <a:stCxn id="5" idx="3"/>
            <a:endCxn id="7" idx="7"/>
          </p:cNvCxnSpPr>
          <p:nvPr/>
        </p:nvCxnSpPr>
        <p:spPr>
          <a:xfrm flipH="1">
            <a:off x="1951960" y="4875538"/>
            <a:ext cx="69800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F428961-18ED-4D8F-8A60-E61CFC76E7BD}"/>
              </a:ext>
            </a:extLst>
          </p:cNvPr>
          <p:cNvCxnSpPr>
            <a:cxnSpLocks noChangeAspect="1"/>
            <a:stCxn id="5" idx="5"/>
            <a:endCxn id="8" idx="1"/>
          </p:cNvCxnSpPr>
          <p:nvPr/>
        </p:nvCxnSpPr>
        <p:spPr>
          <a:xfrm>
            <a:off x="3031800" y="4875538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ABC7295-8EC2-4547-8BD8-4CBA21611C0F}"/>
              </a:ext>
            </a:extLst>
          </p:cNvPr>
          <p:cNvCxnSpPr>
            <a:cxnSpLocks noChangeAspect="1"/>
            <a:stCxn id="7" idx="3"/>
            <a:endCxn id="12" idx="7"/>
          </p:cNvCxnSpPr>
          <p:nvPr/>
        </p:nvCxnSpPr>
        <p:spPr>
          <a:xfrm flipH="1">
            <a:off x="1231960" y="5595538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E225817-2B55-46CB-B5E0-E0BBAF14BB40}"/>
              </a:ext>
            </a:extLst>
          </p:cNvPr>
          <p:cNvCxnSpPr>
            <a:cxnSpLocks noChangeAspect="1"/>
            <a:stCxn id="7" idx="5"/>
            <a:endCxn id="13" idx="1"/>
          </p:cNvCxnSpPr>
          <p:nvPr/>
        </p:nvCxnSpPr>
        <p:spPr>
          <a:xfrm>
            <a:off x="1951960" y="5595538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D3C9B74-5E7B-4E08-89ED-DEDAA19813DB}"/>
              </a:ext>
            </a:extLst>
          </p:cNvPr>
          <p:cNvCxnSpPr>
            <a:stCxn id="8" idx="3"/>
            <a:endCxn id="14" idx="7"/>
          </p:cNvCxnSpPr>
          <p:nvPr/>
        </p:nvCxnSpPr>
        <p:spPr>
          <a:xfrm flipH="1">
            <a:off x="3391800" y="5595538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BCDFE71D-DAC4-4836-AF4A-964357B3E342}"/>
              </a:ext>
            </a:extLst>
          </p:cNvPr>
          <p:cNvCxnSpPr>
            <a:cxnSpLocks noChangeAspect="1"/>
            <a:stCxn id="6" idx="3"/>
            <a:endCxn id="9" idx="7"/>
          </p:cNvCxnSpPr>
          <p:nvPr/>
        </p:nvCxnSpPr>
        <p:spPr>
          <a:xfrm flipH="1">
            <a:off x="5551800" y="4875538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06710FB-92DB-4A1D-AC77-819F69ED5259}"/>
              </a:ext>
            </a:extLst>
          </p:cNvPr>
          <p:cNvCxnSpPr>
            <a:cxnSpLocks noChangeAspect="1"/>
            <a:stCxn id="6" idx="5"/>
            <a:endCxn id="11" idx="1"/>
          </p:cNvCxnSpPr>
          <p:nvPr/>
        </p:nvCxnSpPr>
        <p:spPr>
          <a:xfrm>
            <a:off x="6631800" y="4875538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/>
              <p:nvPr/>
            </p:nvSpPr>
            <p:spPr>
              <a:xfrm>
                <a:off x="2672142" y="4446128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𝟑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2142" y="4446128"/>
                <a:ext cx="437940" cy="461665"/>
              </a:xfrm>
              <a:prstGeom prst="rect">
                <a:avLst/>
              </a:prstGeom>
              <a:blipFill>
                <a:blip r:embed="rId3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/>
              <p:nvPr/>
            </p:nvSpPr>
            <p:spPr>
              <a:xfrm>
                <a:off x="6265727" y="4445098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5727" y="4445098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/>
              <p:nvPr/>
            </p:nvSpPr>
            <p:spPr>
              <a:xfrm>
                <a:off x="1581611" y="515750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𝟖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611" y="5157505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/>
              <p:nvPr/>
            </p:nvSpPr>
            <p:spPr>
              <a:xfrm>
                <a:off x="3639551" y="5173787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9551" y="5173787"/>
                <a:ext cx="622286" cy="461665"/>
              </a:xfrm>
              <a:prstGeom prst="rect">
                <a:avLst/>
              </a:prstGeom>
              <a:blipFill>
                <a:blip r:embed="rId6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/>
              <p:nvPr/>
            </p:nvSpPr>
            <p:spPr>
              <a:xfrm>
                <a:off x="5090881" y="5173786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881" y="5173786"/>
                <a:ext cx="622286" cy="461665"/>
              </a:xfrm>
              <a:prstGeom prst="rect">
                <a:avLst/>
              </a:prstGeom>
              <a:blipFill>
                <a:blip r:embed="rId7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/>
              <p:nvPr/>
            </p:nvSpPr>
            <p:spPr>
              <a:xfrm>
                <a:off x="7345727" y="5161544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727" y="5161544"/>
                <a:ext cx="437940" cy="461665"/>
              </a:xfrm>
              <a:prstGeom prst="rect">
                <a:avLst/>
              </a:prstGeom>
              <a:blipFill>
                <a:blip r:embed="rId8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/>
              <p:nvPr/>
            </p:nvSpPr>
            <p:spPr>
              <a:xfrm>
                <a:off x="873101" y="5893786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𝟔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101" y="5893786"/>
                <a:ext cx="437940" cy="461665"/>
              </a:xfrm>
              <a:prstGeom prst="rect">
                <a:avLst/>
              </a:prstGeom>
              <a:blipFill>
                <a:blip r:embed="rId9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/>
              <p:nvPr/>
            </p:nvSpPr>
            <p:spPr>
              <a:xfrm>
                <a:off x="2290844" y="589378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0844" y="5893785"/>
                <a:ext cx="437940" cy="461665"/>
              </a:xfrm>
              <a:prstGeom prst="rect">
                <a:avLst/>
              </a:prstGeom>
              <a:blipFill>
                <a:blip r:embed="rId10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/>
              <p:nvPr/>
            </p:nvSpPr>
            <p:spPr>
              <a:xfrm>
                <a:off x="3010122" y="5893784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0122" y="5893784"/>
                <a:ext cx="437940" cy="461665"/>
              </a:xfrm>
              <a:prstGeom prst="rect">
                <a:avLst/>
              </a:prstGeom>
              <a:blipFill>
                <a:blip r:embed="rId11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Ellipse 37">
            <a:extLst>
              <a:ext uri="{FF2B5EF4-FFF2-40B4-BE49-F238E27FC236}">
                <a16:creationId xmlns:a16="http://schemas.microsoft.com/office/drawing/2014/main" id="{54AE0E30-EB9D-41C6-A957-EB50C234F546}"/>
              </a:ext>
            </a:extLst>
          </p:cNvPr>
          <p:cNvSpPr>
            <a:spLocks noChangeAspect="1"/>
          </p:cNvSpPr>
          <p:nvPr/>
        </p:nvSpPr>
        <p:spPr>
          <a:xfrm>
            <a:off x="4379891" y="4478787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4F5F0B8B-9536-461E-AD98-C8D18DBB69BC}"/>
                  </a:ext>
                </a:extLst>
              </p:cNvPr>
              <p:cNvSpPr/>
              <p:nvPr/>
            </p:nvSpPr>
            <p:spPr>
              <a:xfrm>
                <a:off x="4379891" y="4517954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𝟏𝟎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4F5F0B8B-9536-461E-AD98-C8D18DBB69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9891" y="4517954"/>
                <a:ext cx="622286" cy="46166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CE58B99-1E4C-4C8E-BE25-D4C752EFC7DF}"/>
              </a:ext>
            </a:extLst>
          </p:cNvPr>
          <p:cNvCxnSpPr>
            <a:cxnSpLocks/>
            <a:stCxn id="4" idx="4"/>
            <a:endCxn id="38" idx="0"/>
          </p:cNvCxnSpPr>
          <p:nvPr/>
        </p:nvCxnSpPr>
        <p:spPr>
          <a:xfrm>
            <a:off x="4640881" y="4234619"/>
            <a:ext cx="9010" cy="24416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55E9D1EA-08D5-482E-AE4C-2E21A61661C7}"/>
              </a:ext>
            </a:extLst>
          </p:cNvPr>
          <p:cNvSpPr txBox="1"/>
          <p:nvPr/>
        </p:nvSpPr>
        <p:spPr>
          <a:xfrm>
            <a:off x="7893863" y="3702932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0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7C9B5D71-B2DE-4872-8A56-D69D3461D9DA}"/>
              </a:ext>
            </a:extLst>
          </p:cNvPr>
          <p:cNvSpPr txBox="1"/>
          <p:nvPr/>
        </p:nvSpPr>
        <p:spPr>
          <a:xfrm>
            <a:off x="7893863" y="4422932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1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AEFCEB8-3B10-4129-9A47-59F3FBCA95F5}"/>
              </a:ext>
            </a:extLst>
          </p:cNvPr>
          <p:cNvSpPr txBox="1"/>
          <p:nvPr/>
        </p:nvSpPr>
        <p:spPr>
          <a:xfrm>
            <a:off x="7902353" y="5196568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14D4375E-C97A-4D1D-B2E7-3095DEB8AA81}"/>
              </a:ext>
            </a:extLst>
          </p:cNvPr>
          <p:cNvSpPr txBox="1"/>
          <p:nvPr/>
        </p:nvSpPr>
        <p:spPr>
          <a:xfrm>
            <a:off x="7902353" y="5902097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3</a:t>
            </a:r>
          </a:p>
        </p:txBody>
      </p:sp>
    </p:spTree>
    <p:extLst>
      <p:ext uri="{BB962C8B-B14F-4D97-AF65-F5344CB8AC3E}">
        <p14:creationId xmlns:p14="http://schemas.microsoft.com/office/powerpoint/2010/main" val="934427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Binary trees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8146" y="1093160"/>
            <a:ext cx="8229300" cy="2629572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tree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recursively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 on 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finite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either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857250" lvl="1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857250" lvl="1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Consists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314450" lvl="2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subtree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314450" lvl="2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subtree</a:t>
            </a:r>
            <a:endParaRPr lang="de-AT" sz="1800" b="1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81CF42C-A58C-4643-BF96-7685CD7D83D9}"/>
              </a:ext>
            </a:extLst>
          </p:cNvPr>
          <p:cNvSpPr>
            <a:spLocks noChangeAspect="1"/>
          </p:cNvSpPr>
          <p:nvPr/>
        </p:nvSpPr>
        <p:spPr>
          <a:xfrm>
            <a:off x="4337629" y="371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B83DE34-8B94-48BC-852B-52463E17F95D}"/>
              </a:ext>
            </a:extLst>
          </p:cNvPr>
          <p:cNvSpPr>
            <a:spLocks noChangeAspect="1"/>
          </p:cNvSpPr>
          <p:nvPr/>
        </p:nvSpPr>
        <p:spPr>
          <a:xfrm>
            <a:off x="2537629" y="443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222B8A7-7804-4D0E-81AF-989CF4D9998A}"/>
              </a:ext>
            </a:extLst>
          </p:cNvPr>
          <p:cNvSpPr>
            <a:spLocks noChangeAspect="1"/>
          </p:cNvSpPr>
          <p:nvPr/>
        </p:nvSpPr>
        <p:spPr>
          <a:xfrm>
            <a:off x="6137629" y="443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490473D-8B2E-45F9-8E13-6B1131B76159}"/>
              </a:ext>
            </a:extLst>
          </p:cNvPr>
          <p:cNvSpPr>
            <a:spLocks noChangeAspect="1"/>
          </p:cNvSpPr>
          <p:nvPr/>
        </p:nvSpPr>
        <p:spPr>
          <a:xfrm>
            <a:off x="1457789" y="515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DE336E6-FF22-479E-AE8F-8BBF7F81D3C2}"/>
              </a:ext>
            </a:extLst>
          </p:cNvPr>
          <p:cNvSpPr>
            <a:spLocks noChangeAspect="1"/>
          </p:cNvSpPr>
          <p:nvPr/>
        </p:nvSpPr>
        <p:spPr>
          <a:xfrm>
            <a:off x="3617629" y="515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8BAF0A9-11A0-4FD3-8D17-8BBF552ADDAB}"/>
              </a:ext>
            </a:extLst>
          </p:cNvPr>
          <p:cNvSpPr>
            <a:spLocks noChangeAspect="1"/>
          </p:cNvSpPr>
          <p:nvPr/>
        </p:nvSpPr>
        <p:spPr>
          <a:xfrm>
            <a:off x="5057629" y="515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23C12F1-3023-46D6-9ADA-B7911F977871}"/>
              </a:ext>
            </a:extLst>
          </p:cNvPr>
          <p:cNvSpPr>
            <a:spLocks noChangeAspect="1"/>
          </p:cNvSpPr>
          <p:nvPr/>
        </p:nvSpPr>
        <p:spPr>
          <a:xfrm>
            <a:off x="7217629" y="515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68F113AF-5AC4-4D82-B6A1-615EEB86968F}"/>
              </a:ext>
            </a:extLst>
          </p:cNvPr>
          <p:cNvSpPr>
            <a:spLocks noChangeAspect="1"/>
          </p:cNvSpPr>
          <p:nvPr/>
        </p:nvSpPr>
        <p:spPr>
          <a:xfrm>
            <a:off x="737789" y="587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A3C544A-2288-4538-9DD1-A5D1891BB813}"/>
              </a:ext>
            </a:extLst>
          </p:cNvPr>
          <p:cNvSpPr>
            <a:spLocks noChangeAspect="1"/>
          </p:cNvSpPr>
          <p:nvPr/>
        </p:nvSpPr>
        <p:spPr>
          <a:xfrm>
            <a:off x="2177789" y="587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21E580C-AD67-47A8-A104-0709BA40DE47}"/>
              </a:ext>
            </a:extLst>
          </p:cNvPr>
          <p:cNvSpPr>
            <a:spLocks noChangeAspect="1"/>
          </p:cNvSpPr>
          <p:nvPr/>
        </p:nvSpPr>
        <p:spPr>
          <a:xfrm>
            <a:off x="2897629" y="587124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3848416-D902-40EC-8ECC-B44B37760336}"/>
              </a:ext>
            </a:extLst>
          </p:cNvPr>
          <p:cNvSpPr/>
          <p:nvPr/>
        </p:nvSpPr>
        <p:spPr>
          <a:xfrm>
            <a:off x="4445006" y="3747630"/>
            <a:ext cx="340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EAA12B9-5F9C-4CB6-931B-C7DE581F36E8}"/>
              </a:ext>
            </a:extLst>
          </p:cNvPr>
          <p:cNvCxnSpPr>
            <a:cxnSpLocks noChangeAspect="1"/>
            <a:stCxn id="4" idx="3"/>
            <a:endCxn id="5" idx="7"/>
          </p:cNvCxnSpPr>
          <p:nvPr/>
        </p:nvCxnSpPr>
        <p:spPr>
          <a:xfrm flipH="1">
            <a:off x="2998548" y="4172164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38A7063E-03C5-4BF3-87C9-4573F4326F25}"/>
              </a:ext>
            </a:extLst>
          </p:cNvPr>
          <p:cNvCxnSpPr>
            <a:cxnSpLocks noChangeAspect="1"/>
            <a:stCxn id="4" idx="5"/>
            <a:endCxn id="6" idx="1"/>
          </p:cNvCxnSpPr>
          <p:nvPr/>
        </p:nvCxnSpPr>
        <p:spPr>
          <a:xfrm>
            <a:off x="4798548" y="4172164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2C532942-294D-4C38-8C59-6E7E0C7EA543}"/>
              </a:ext>
            </a:extLst>
          </p:cNvPr>
          <p:cNvCxnSpPr>
            <a:cxnSpLocks noChangeAspect="1"/>
            <a:stCxn id="5" idx="3"/>
            <a:endCxn id="7" idx="7"/>
          </p:cNvCxnSpPr>
          <p:nvPr/>
        </p:nvCxnSpPr>
        <p:spPr>
          <a:xfrm flipH="1">
            <a:off x="1918708" y="4892164"/>
            <a:ext cx="69800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F428961-18ED-4D8F-8A60-E61CFC76E7BD}"/>
              </a:ext>
            </a:extLst>
          </p:cNvPr>
          <p:cNvCxnSpPr>
            <a:cxnSpLocks noChangeAspect="1"/>
            <a:stCxn id="5" idx="5"/>
            <a:endCxn id="8" idx="1"/>
          </p:cNvCxnSpPr>
          <p:nvPr/>
        </p:nvCxnSpPr>
        <p:spPr>
          <a:xfrm>
            <a:off x="2998548" y="4892164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ABC7295-8EC2-4547-8BD8-4CBA21611C0F}"/>
              </a:ext>
            </a:extLst>
          </p:cNvPr>
          <p:cNvCxnSpPr>
            <a:cxnSpLocks noChangeAspect="1"/>
            <a:stCxn id="7" idx="3"/>
            <a:endCxn id="12" idx="7"/>
          </p:cNvCxnSpPr>
          <p:nvPr/>
        </p:nvCxnSpPr>
        <p:spPr>
          <a:xfrm flipH="1">
            <a:off x="1198708" y="5612164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E225817-2B55-46CB-B5E0-E0BBAF14BB40}"/>
              </a:ext>
            </a:extLst>
          </p:cNvPr>
          <p:cNvCxnSpPr>
            <a:cxnSpLocks noChangeAspect="1"/>
            <a:stCxn id="7" idx="5"/>
            <a:endCxn id="13" idx="1"/>
          </p:cNvCxnSpPr>
          <p:nvPr/>
        </p:nvCxnSpPr>
        <p:spPr>
          <a:xfrm>
            <a:off x="1918708" y="5612164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D3C9B74-5E7B-4E08-89ED-DEDAA19813DB}"/>
              </a:ext>
            </a:extLst>
          </p:cNvPr>
          <p:cNvCxnSpPr>
            <a:cxnSpLocks/>
            <a:stCxn id="8" idx="3"/>
            <a:endCxn id="14" idx="7"/>
          </p:cNvCxnSpPr>
          <p:nvPr/>
        </p:nvCxnSpPr>
        <p:spPr>
          <a:xfrm flipH="1">
            <a:off x="3358548" y="5612164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BCDFE71D-DAC4-4836-AF4A-964357B3E342}"/>
              </a:ext>
            </a:extLst>
          </p:cNvPr>
          <p:cNvCxnSpPr>
            <a:cxnSpLocks noChangeAspect="1"/>
            <a:stCxn id="6" idx="3"/>
            <a:endCxn id="9" idx="7"/>
          </p:cNvCxnSpPr>
          <p:nvPr/>
        </p:nvCxnSpPr>
        <p:spPr>
          <a:xfrm flipH="1">
            <a:off x="5518548" y="4892164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06710FB-92DB-4A1D-AC77-819F69ED5259}"/>
              </a:ext>
            </a:extLst>
          </p:cNvPr>
          <p:cNvCxnSpPr>
            <a:cxnSpLocks noChangeAspect="1"/>
            <a:stCxn id="6" idx="5"/>
            <a:endCxn id="11" idx="1"/>
          </p:cNvCxnSpPr>
          <p:nvPr/>
        </p:nvCxnSpPr>
        <p:spPr>
          <a:xfrm>
            <a:off x="6598548" y="4892164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/>
              <p:nvPr/>
            </p:nvSpPr>
            <p:spPr>
              <a:xfrm>
                <a:off x="2638890" y="4462754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𝟑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8890" y="4462754"/>
                <a:ext cx="437940" cy="461665"/>
              </a:xfrm>
              <a:prstGeom prst="rect">
                <a:avLst/>
              </a:prstGeom>
              <a:blipFill>
                <a:blip r:embed="rId3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/>
              <p:nvPr/>
            </p:nvSpPr>
            <p:spPr>
              <a:xfrm>
                <a:off x="6232475" y="4461724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2475" y="4461724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/>
              <p:nvPr/>
            </p:nvSpPr>
            <p:spPr>
              <a:xfrm>
                <a:off x="1548359" y="5174131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𝟖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8359" y="5174131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/>
              <p:nvPr/>
            </p:nvSpPr>
            <p:spPr>
              <a:xfrm>
                <a:off x="3606299" y="5190413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6299" y="5190413"/>
                <a:ext cx="622286" cy="461665"/>
              </a:xfrm>
              <a:prstGeom prst="rect">
                <a:avLst/>
              </a:prstGeom>
              <a:blipFill>
                <a:blip r:embed="rId6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/>
              <p:nvPr/>
            </p:nvSpPr>
            <p:spPr>
              <a:xfrm>
                <a:off x="5057629" y="5190412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7629" y="5190412"/>
                <a:ext cx="622286" cy="461665"/>
              </a:xfrm>
              <a:prstGeom prst="rect">
                <a:avLst/>
              </a:prstGeom>
              <a:blipFill>
                <a:blip r:embed="rId7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/>
              <p:nvPr/>
            </p:nvSpPr>
            <p:spPr>
              <a:xfrm>
                <a:off x="7312475" y="5178170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2475" y="5178170"/>
                <a:ext cx="437940" cy="461665"/>
              </a:xfrm>
              <a:prstGeom prst="rect">
                <a:avLst/>
              </a:prstGeom>
              <a:blipFill>
                <a:blip r:embed="rId8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/>
              <p:nvPr/>
            </p:nvSpPr>
            <p:spPr>
              <a:xfrm>
                <a:off x="839849" y="5910412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𝟔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849" y="5910412"/>
                <a:ext cx="437940" cy="461665"/>
              </a:xfrm>
              <a:prstGeom prst="rect">
                <a:avLst/>
              </a:prstGeom>
              <a:blipFill>
                <a:blip r:embed="rId9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/>
              <p:nvPr/>
            </p:nvSpPr>
            <p:spPr>
              <a:xfrm>
                <a:off x="2257592" y="5910411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592" y="5910411"/>
                <a:ext cx="437940" cy="461665"/>
              </a:xfrm>
              <a:prstGeom prst="rect">
                <a:avLst/>
              </a:prstGeom>
              <a:blipFill>
                <a:blip r:embed="rId10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/>
              <p:nvPr/>
            </p:nvSpPr>
            <p:spPr>
              <a:xfrm>
                <a:off x="2976870" y="5910410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6870" y="5910410"/>
                <a:ext cx="437940" cy="461665"/>
              </a:xfrm>
              <a:prstGeom prst="rect">
                <a:avLst/>
              </a:prstGeom>
              <a:blipFill>
                <a:blip r:embed="rId11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feld 48">
            <a:extLst>
              <a:ext uri="{FF2B5EF4-FFF2-40B4-BE49-F238E27FC236}">
                <a16:creationId xmlns:a16="http://schemas.microsoft.com/office/drawing/2014/main" id="{55E9D1EA-08D5-482E-AE4C-2E21A61661C7}"/>
              </a:ext>
            </a:extLst>
          </p:cNvPr>
          <p:cNvSpPr txBox="1"/>
          <p:nvPr/>
        </p:nvSpPr>
        <p:spPr>
          <a:xfrm>
            <a:off x="7843985" y="3711245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0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7C9B5D71-B2DE-4872-8A56-D69D3461D9DA}"/>
              </a:ext>
            </a:extLst>
          </p:cNvPr>
          <p:cNvSpPr txBox="1"/>
          <p:nvPr/>
        </p:nvSpPr>
        <p:spPr>
          <a:xfrm>
            <a:off x="7843985" y="4431245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1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AEFCEB8-3B10-4129-9A47-59F3FBCA95F5}"/>
              </a:ext>
            </a:extLst>
          </p:cNvPr>
          <p:cNvSpPr txBox="1"/>
          <p:nvPr/>
        </p:nvSpPr>
        <p:spPr>
          <a:xfrm>
            <a:off x="7852475" y="5204881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14D4375E-C97A-4D1D-B2E7-3095DEB8AA81}"/>
              </a:ext>
            </a:extLst>
          </p:cNvPr>
          <p:cNvSpPr txBox="1"/>
          <p:nvPr/>
        </p:nvSpPr>
        <p:spPr>
          <a:xfrm>
            <a:off x="7852475" y="5910410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3</a:t>
            </a:r>
          </a:p>
        </p:txBody>
      </p:sp>
    </p:spTree>
    <p:extLst>
      <p:ext uri="{BB962C8B-B14F-4D97-AF65-F5344CB8AC3E}">
        <p14:creationId xmlns:p14="http://schemas.microsoft.com/office/powerpoint/2010/main" val="2388384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sz="2800" b="1" noProof="0" err="1">
                <a:latin typeface="Calibri" panose="020F0502020204030204" pitchFamily="34" charset="0"/>
                <a:cs typeface="Calibri" panose="020F0502020204030204" pitchFamily="34" charset="0"/>
              </a:rPr>
              <a:t>omplete</a:t>
            </a:r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 binary trees</a:t>
            </a:r>
          </a:p>
        </p:txBody>
      </p:sp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9254B13C-19D7-4861-A881-548D1903C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88146" y="1093160"/>
            <a:ext cx="8229300" cy="2190418"/>
          </a:xfrm>
        </p:spPr>
        <p:txBody>
          <a:bodyPr/>
          <a:lstStyle/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binary</a:t>
            </a:r>
            <a:r>
              <a:rPr lang="de-AT" sz="18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b="1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all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leaves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same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addition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AT" sz="1800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internal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nodes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degree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</a:t>
            </a:r>
          </a:p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completely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filled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then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level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</a:t>
            </a:r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level</a:t>
            </a:r>
            <a:endParaRPr lang="de-AT" sz="18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81CF42C-A58C-4643-BF96-7685CD7D83D9}"/>
              </a:ext>
            </a:extLst>
          </p:cNvPr>
          <p:cNvSpPr>
            <a:spLocks noChangeAspect="1"/>
          </p:cNvSpPr>
          <p:nvPr/>
        </p:nvSpPr>
        <p:spPr>
          <a:xfrm>
            <a:off x="3624928" y="333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B83DE34-8B94-48BC-852B-52463E17F95D}"/>
              </a:ext>
            </a:extLst>
          </p:cNvPr>
          <p:cNvSpPr>
            <a:spLocks noChangeAspect="1"/>
          </p:cNvSpPr>
          <p:nvPr/>
        </p:nvSpPr>
        <p:spPr>
          <a:xfrm>
            <a:off x="1824928" y="405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222B8A7-7804-4D0E-81AF-989CF4D9998A}"/>
              </a:ext>
            </a:extLst>
          </p:cNvPr>
          <p:cNvSpPr>
            <a:spLocks noChangeAspect="1"/>
          </p:cNvSpPr>
          <p:nvPr/>
        </p:nvSpPr>
        <p:spPr>
          <a:xfrm>
            <a:off x="5424928" y="405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490473D-8B2E-45F9-8E13-6B1131B76159}"/>
              </a:ext>
            </a:extLst>
          </p:cNvPr>
          <p:cNvSpPr>
            <a:spLocks noChangeAspect="1"/>
          </p:cNvSpPr>
          <p:nvPr/>
        </p:nvSpPr>
        <p:spPr>
          <a:xfrm>
            <a:off x="745088" y="477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DE336E6-FF22-479E-AE8F-8BBF7F81D3C2}"/>
              </a:ext>
            </a:extLst>
          </p:cNvPr>
          <p:cNvSpPr>
            <a:spLocks noChangeAspect="1"/>
          </p:cNvSpPr>
          <p:nvPr/>
        </p:nvSpPr>
        <p:spPr>
          <a:xfrm>
            <a:off x="2904928" y="477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8BAF0A9-11A0-4FD3-8D17-8BBF552ADDAB}"/>
              </a:ext>
            </a:extLst>
          </p:cNvPr>
          <p:cNvSpPr>
            <a:spLocks noChangeAspect="1"/>
          </p:cNvSpPr>
          <p:nvPr/>
        </p:nvSpPr>
        <p:spPr>
          <a:xfrm>
            <a:off x="4344928" y="477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23C12F1-3023-46D6-9ADA-B7911F977871}"/>
              </a:ext>
            </a:extLst>
          </p:cNvPr>
          <p:cNvSpPr>
            <a:spLocks noChangeAspect="1"/>
          </p:cNvSpPr>
          <p:nvPr/>
        </p:nvSpPr>
        <p:spPr>
          <a:xfrm>
            <a:off x="6504928" y="477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68F113AF-5AC4-4D82-B6A1-615EEB86968F}"/>
              </a:ext>
            </a:extLst>
          </p:cNvPr>
          <p:cNvSpPr>
            <a:spLocks noChangeAspect="1"/>
          </p:cNvSpPr>
          <p:nvPr/>
        </p:nvSpPr>
        <p:spPr>
          <a:xfrm>
            <a:off x="201550" y="549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A3C544A-2288-4538-9DD1-A5D1891BB813}"/>
              </a:ext>
            </a:extLst>
          </p:cNvPr>
          <p:cNvSpPr>
            <a:spLocks noChangeAspect="1"/>
          </p:cNvSpPr>
          <p:nvPr/>
        </p:nvSpPr>
        <p:spPr>
          <a:xfrm>
            <a:off x="1296647" y="549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921E580C-AD67-47A8-A104-0709BA40DE47}"/>
              </a:ext>
            </a:extLst>
          </p:cNvPr>
          <p:cNvSpPr>
            <a:spLocks noChangeAspect="1"/>
          </p:cNvSpPr>
          <p:nvPr/>
        </p:nvSpPr>
        <p:spPr>
          <a:xfrm>
            <a:off x="2473684" y="549717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3848416-D902-40EC-8ECC-B44B37760336}"/>
              </a:ext>
            </a:extLst>
          </p:cNvPr>
          <p:cNvSpPr/>
          <p:nvPr/>
        </p:nvSpPr>
        <p:spPr>
          <a:xfrm>
            <a:off x="3732305" y="3373555"/>
            <a:ext cx="340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EAA12B9-5F9C-4CB6-931B-C7DE581F36E8}"/>
              </a:ext>
            </a:extLst>
          </p:cNvPr>
          <p:cNvCxnSpPr>
            <a:cxnSpLocks noChangeAspect="1"/>
            <a:stCxn id="4" idx="3"/>
            <a:endCxn id="5" idx="7"/>
          </p:cNvCxnSpPr>
          <p:nvPr/>
        </p:nvCxnSpPr>
        <p:spPr>
          <a:xfrm flipH="1">
            <a:off x="2285847" y="3798089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38A7063E-03C5-4BF3-87C9-4573F4326F25}"/>
              </a:ext>
            </a:extLst>
          </p:cNvPr>
          <p:cNvCxnSpPr>
            <a:cxnSpLocks noChangeAspect="1"/>
            <a:stCxn id="4" idx="5"/>
            <a:endCxn id="6" idx="1"/>
          </p:cNvCxnSpPr>
          <p:nvPr/>
        </p:nvCxnSpPr>
        <p:spPr>
          <a:xfrm>
            <a:off x="4085847" y="3798089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2C532942-294D-4C38-8C59-6E7E0C7EA543}"/>
              </a:ext>
            </a:extLst>
          </p:cNvPr>
          <p:cNvCxnSpPr>
            <a:cxnSpLocks noChangeAspect="1"/>
            <a:stCxn id="5" idx="3"/>
            <a:endCxn id="7" idx="7"/>
          </p:cNvCxnSpPr>
          <p:nvPr/>
        </p:nvCxnSpPr>
        <p:spPr>
          <a:xfrm flipH="1">
            <a:off x="1206007" y="4518089"/>
            <a:ext cx="69800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F428961-18ED-4D8F-8A60-E61CFC76E7BD}"/>
              </a:ext>
            </a:extLst>
          </p:cNvPr>
          <p:cNvCxnSpPr>
            <a:cxnSpLocks noChangeAspect="1"/>
            <a:stCxn id="5" idx="5"/>
            <a:endCxn id="8" idx="1"/>
          </p:cNvCxnSpPr>
          <p:nvPr/>
        </p:nvCxnSpPr>
        <p:spPr>
          <a:xfrm>
            <a:off x="2285847" y="451808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0ABC7295-8EC2-4547-8BD8-4CBA21611C0F}"/>
              </a:ext>
            </a:extLst>
          </p:cNvPr>
          <p:cNvCxnSpPr>
            <a:cxnSpLocks noChangeAspect="1"/>
            <a:stCxn id="7" idx="3"/>
            <a:endCxn id="12" idx="7"/>
          </p:cNvCxnSpPr>
          <p:nvPr/>
        </p:nvCxnSpPr>
        <p:spPr>
          <a:xfrm flipH="1">
            <a:off x="662469" y="5238089"/>
            <a:ext cx="161700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E225817-2B55-46CB-B5E0-E0BBAF14BB40}"/>
              </a:ext>
            </a:extLst>
          </p:cNvPr>
          <p:cNvCxnSpPr>
            <a:cxnSpLocks noChangeAspect="1"/>
            <a:stCxn id="7" idx="5"/>
            <a:endCxn id="13" idx="1"/>
          </p:cNvCxnSpPr>
          <p:nvPr/>
        </p:nvCxnSpPr>
        <p:spPr>
          <a:xfrm>
            <a:off x="1206007" y="5238089"/>
            <a:ext cx="169721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4D3C9B74-5E7B-4E08-89ED-DEDAA19813DB}"/>
              </a:ext>
            </a:extLst>
          </p:cNvPr>
          <p:cNvCxnSpPr>
            <a:stCxn id="8" idx="3"/>
            <a:endCxn id="14" idx="7"/>
          </p:cNvCxnSpPr>
          <p:nvPr/>
        </p:nvCxnSpPr>
        <p:spPr>
          <a:xfrm flipH="1">
            <a:off x="2934603" y="5238089"/>
            <a:ext cx="49406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BCDFE71D-DAC4-4836-AF4A-964357B3E342}"/>
              </a:ext>
            </a:extLst>
          </p:cNvPr>
          <p:cNvCxnSpPr>
            <a:cxnSpLocks noChangeAspect="1"/>
            <a:stCxn id="6" idx="3"/>
            <a:endCxn id="9" idx="7"/>
          </p:cNvCxnSpPr>
          <p:nvPr/>
        </p:nvCxnSpPr>
        <p:spPr>
          <a:xfrm flipH="1">
            <a:off x="4805847" y="451808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06710FB-92DB-4A1D-AC77-819F69ED5259}"/>
              </a:ext>
            </a:extLst>
          </p:cNvPr>
          <p:cNvCxnSpPr>
            <a:cxnSpLocks noChangeAspect="1"/>
            <a:stCxn id="6" idx="5"/>
            <a:endCxn id="11" idx="1"/>
          </p:cNvCxnSpPr>
          <p:nvPr/>
        </p:nvCxnSpPr>
        <p:spPr>
          <a:xfrm>
            <a:off x="5885847" y="4518089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/>
              <p:nvPr/>
            </p:nvSpPr>
            <p:spPr>
              <a:xfrm>
                <a:off x="1926189" y="4088679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𝟑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6189" y="4088679"/>
                <a:ext cx="437940" cy="461665"/>
              </a:xfrm>
              <a:prstGeom prst="rect">
                <a:avLst/>
              </a:prstGeom>
              <a:blipFill>
                <a:blip r:embed="rId3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/>
              <p:nvPr/>
            </p:nvSpPr>
            <p:spPr>
              <a:xfrm>
                <a:off x="5519774" y="4087649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𝟒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9774" y="4087649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/>
              <p:nvPr/>
            </p:nvSpPr>
            <p:spPr>
              <a:xfrm>
                <a:off x="835658" y="4800056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𝟖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58" y="4800056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/>
              <p:nvPr/>
            </p:nvSpPr>
            <p:spPr>
              <a:xfrm>
                <a:off x="2893598" y="4816338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598" y="4816338"/>
                <a:ext cx="622286" cy="461665"/>
              </a:xfrm>
              <a:prstGeom prst="rect">
                <a:avLst/>
              </a:prstGeom>
              <a:blipFill>
                <a:blip r:embed="rId6"/>
                <a:stretch>
                  <a:fillRect l="-2041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/>
              <p:nvPr/>
            </p:nvSpPr>
            <p:spPr>
              <a:xfrm>
                <a:off x="4344928" y="4816337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83C221FA-09D6-4ECD-B47F-375939851D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4928" y="4816337"/>
                <a:ext cx="622286" cy="461665"/>
              </a:xfrm>
              <a:prstGeom prst="rect">
                <a:avLst/>
              </a:prstGeom>
              <a:blipFill>
                <a:blip r:embed="rId7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/>
              <p:nvPr/>
            </p:nvSpPr>
            <p:spPr>
              <a:xfrm>
                <a:off x="6599774" y="480409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9774" y="4804095"/>
                <a:ext cx="437940" cy="461665"/>
              </a:xfrm>
              <a:prstGeom prst="rect">
                <a:avLst/>
              </a:prstGeom>
              <a:blipFill>
                <a:blip r:embed="rId8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/>
              <p:nvPr/>
            </p:nvSpPr>
            <p:spPr>
              <a:xfrm>
                <a:off x="303610" y="5536337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𝟔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492EA8A9-14D1-45D2-9468-67DA6F4B7B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10" y="5536337"/>
                <a:ext cx="437940" cy="461665"/>
              </a:xfrm>
              <a:prstGeom prst="rect">
                <a:avLst/>
              </a:prstGeom>
              <a:blipFill>
                <a:blip r:embed="rId9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/>
              <p:nvPr/>
            </p:nvSpPr>
            <p:spPr>
              <a:xfrm>
                <a:off x="1376450" y="5536336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2" name="Rechteck 31">
                <a:extLst>
                  <a:ext uri="{FF2B5EF4-FFF2-40B4-BE49-F238E27FC236}">
                    <a16:creationId xmlns:a16="http://schemas.microsoft.com/office/drawing/2014/main" id="{C692763E-00EB-4F9D-ADEB-1580110263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6450" y="5536336"/>
                <a:ext cx="437940" cy="461665"/>
              </a:xfrm>
              <a:prstGeom prst="rect">
                <a:avLst/>
              </a:prstGeom>
              <a:blipFill>
                <a:blip r:embed="rId10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/>
              <p:nvPr/>
            </p:nvSpPr>
            <p:spPr>
              <a:xfrm>
                <a:off x="2552925" y="553633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85A4FFC7-294D-4B34-9482-D72AF28F3D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925" y="5536335"/>
                <a:ext cx="437940" cy="461665"/>
              </a:xfrm>
              <a:prstGeom prst="rect">
                <a:avLst/>
              </a:prstGeom>
              <a:blipFill>
                <a:blip r:embed="rId11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Textfeld 48">
            <a:extLst>
              <a:ext uri="{FF2B5EF4-FFF2-40B4-BE49-F238E27FC236}">
                <a16:creationId xmlns:a16="http://schemas.microsoft.com/office/drawing/2014/main" id="{55E9D1EA-08D5-482E-AE4C-2E21A61661C7}"/>
              </a:ext>
            </a:extLst>
          </p:cNvPr>
          <p:cNvSpPr txBox="1"/>
          <p:nvPr/>
        </p:nvSpPr>
        <p:spPr>
          <a:xfrm>
            <a:off x="7845153" y="3337170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0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7C9B5D71-B2DE-4872-8A56-D69D3461D9DA}"/>
              </a:ext>
            </a:extLst>
          </p:cNvPr>
          <p:cNvSpPr txBox="1"/>
          <p:nvPr/>
        </p:nvSpPr>
        <p:spPr>
          <a:xfrm>
            <a:off x="7845153" y="4057170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1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1AEFCEB8-3B10-4129-9A47-59F3FBCA95F5}"/>
              </a:ext>
            </a:extLst>
          </p:cNvPr>
          <p:cNvSpPr txBox="1"/>
          <p:nvPr/>
        </p:nvSpPr>
        <p:spPr>
          <a:xfrm>
            <a:off x="7853643" y="4830806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2</a:t>
            </a:r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14D4375E-C97A-4D1D-B2E7-3095DEB8AA81}"/>
              </a:ext>
            </a:extLst>
          </p:cNvPr>
          <p:cNvSpPr txBox="1"/>
          <p:nvPr/>
        </p:nvSpPr>
        <p:spPr>
          <a:xfrm>
            <a:off x="7853643" y="5536335"/>
            <a:ext cx="1250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18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Depth 3</a:t>
            </a:r>
          </a:p>
        </p:txBody>
      </p:sp>
      <p:sp>
        <p:nvSpPr>
          <p:cNvPr id="37" name="Ellipse 36">
            <a:extLst>
              <a:ext uri="{FF2B5EF4-FFF2-40B4-BE49-F238E27FC236}">
                <a16:creationId xmlns:a16="http://schemas.microsoft.com/office/drawing/2014/main" id="{415CEADE-57DE-47E9-AA47-EECF86E01343}"/>
              </a:ext>
            </a:extLst>
          </p:cNvPr>
          <p:cNvSpPr>
            <a:spLocks noChangeAspect="1"/>
          </p:cNvSpPr>
          <p:nvPr/>
        </p:nvSpPr>
        <p:spPr>
          <a:xfrm>
            <a:off x="3366018" y="5497169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3BA4B115-7ABD-447A-BD6A-9814F2341F91}"/>
              </a:ext>
            </a:extLst>
          </p:cNvPr>
          <p:cNvCxnSpPr>
            <a:cxnSpLocks noChangeAspect="1"/>
            <a:stCxn id="8" idx="5"/>
            <a:endCxn id="37" idx="1"/>
          </p:cNvCxnSpPr>
          <p:nvPr/>
        </p:nvCxnSpPr>
        <p:spPr>
          <a:xfrm>
            <a:off x="3365847" y="5238089"/>
            <a:ext cx="79252" cy="33816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0B84BE06-C174-4085-87EA-786D464BDF26}"/>
                  </a:ext>
                </a:extLst>
              </p:cNvPr>
              <p:cNvSpPr/>
              <p:nvPr/>
            </p:nvSpPr>
            <p:spPr>
              <a:xfrm>
                <a:off x="3445821" y="5536335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𝟗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9" name="Rechteck 38">
                <a:extLst>
                  <a:ext uri="{FF2B5EF4-FFF2-40B4-BE49-F238E27FC236}">
                    <a16:creationId xmlns:a16="http://schemas.microsoft.com/office/drawing/2014/main" id="{0B84BE06-C174-4085-87EA-786D464BDF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5821" y="5536335"/>
                <a:ext cx="437940" cy="461665"/>
              </a:xfrm>
              <a:prstGeom prst="rect">
                <a:avLst/>
              </a:prstGeom>
              <a:blipFill>
                <a:blip r:embed="rId12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Ellipse 39">
            <a:extLst>
              <a:ext uri="{FF2B5EF4-FFF2-40B4-BE49-F238E27FC236}">
                <a16:creationId xmlns:a16="http://schemas.microsoft.com/office/drawing/2014/main" id="{B720517C-3D3D-476C-9DD7-3B4912C86507}"/>
              </a:ext>
            </a:extLst>
          </p:cNvPr>
          <p:cNvSpPr>
            <a:spLocks noChangeAspect="1"/>
          </p:cNvSpPr>
          <p:nvPr/>
        </p:nvSpPr>
        <p:spPr>
          <a:xfrm>
            <a:off x="7246855" y="5507622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F0F46DDF-8EC2-4834-A6C5-638E7E85B111}"/>
              </a:ext>
            </a:extLst>
          </p:cNvPr>
          <p:cNvCxnSpPr>
            <a:cxnSpLocks noChangeAspect="1"/>
            <a:endCxn id="40" idx="1"/>
          </p:cNvCxnSpPr>
          <p:nvPr/>
        </p:nvCxnSpPr>
        <p:spPr>
          <a:xfrm>
            <a:off x="6987774" y="5248541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71BB8A5E-1A05-4CCF-8435-696D108ADF14}"/>
                  </a:ext>
                </a:extLst>
              </p:cNvPr>
              <p:cNvSpPr/>
              <p:nvPr/>
            </p:nvSpPr>
            <p:spPr>
              <a:xfrm>
                <a:off x="7234485" y="5546788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2" name="Rechteck 41">
                <a:extLst>
                  <a:ext uri="{FF2B5EF4-FFF2-40B4-BE49-F238E27FC236}">
                    <a16:creationId xmlns:a16="http://schemas.microsoft.com/office/drawing/2014/main" id="{71BB8A5E-1A05-4CCF-8435-696D108ADF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4485" y="5546788"/>
                <a:ext cx="622286" cy="461665"/>
              </a:xfrm>
              <a:prstGeom prst="rect">
                <a:avLst/>
              </a:prstGeom>
              <a:blipFill>
                <a:blip r:embed="rId13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Ellipse 42">
            <a:extLst>
              <a:ext uri="{FF2B5EF4-FFF2-40B4-BE49-F238E27FC236}">
                <a16:creationId xmlns:a16="http://schemas.microsoft.com/office/drawing/2014/main" id="{3CE5A506-5E43-4BD6-9A84-7589F74EF88B}"/>
              </a:ext>
            </a:extLst>
          </p:cNvPr>
          <p:cNvSpPr>
            <a:spLocks noChangeAspect="1"/>
          </p:cNvSpPr>
          <p:nvPr/>
        </p:nvSpPr>
        <p:spPr>
          <a:xfrm>
            <a:off x="5835994" y="5518935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E93D672B-5010-4DC6-9483-6BDB1C1F9786}"/>
              </a:ext>
            </a:extLst>
          </p:cNvPr>
          <p:cNvCxnSpPr>
            <a:endCxn id="43" idx="7"/>
          </p:cNvCxnSpPr>
          <p:nvPr/>
        </p:nvCxnSpPr>
        <p:spPr>
          <a:xfrm flipH="1">
            <a:off x="6296913" y="5259854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F5C15FD0-0523-45FC-ADC7-EE2202D3436B}"/>
                  </a:ext>
                </a:extLst>
              </p:cNvPr>
              <p:cNvSpPr/>
              <p:nvPr/>
            </p:nvSpPr>
            <p:spPr>
              <a:xfrm>
                <a:off x="5823062" y="5558100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𝟏𝟒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5" name="Rechteck 44">
                <a:extLst>
                  <a:ext uri="{FF2B5EF4-FFF2-40B4-BE49-F238E27FC236}">
                    <a16:creationId xmlns:a16="http://schemas.microsoft.com/office/drawing/2014/main" id="{F5C15FD0-0523-45FC-ADC7-EE2202D343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3062" y="5558100"/>
                <a:ext cx="622286" cy="461665"/>
              </a:xfrm>
              <a:prstGeom prst="rect">
                <a:avLst/>
              </a:prstGeom>
              <a:blipFill>
                <a:blip r:embed="rId14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Ellipse 52">
            <a:extLst>
              <a:ext uri="{FF2B5EF4-FFF2-40B4-BE49-F238E27FC236}">
                <a16:creationId xmlns:a16="http://schemas.microsoft.com/office/drawing/2014/main" id="{E1AC301E-0083-4B4E-B11E-2906FB0AE045}"/>
              </a:ext>
            </a:extLst>
          </p:cNvPr>
          <p:cNvSpPr>
            <a:spLocks noChangeAspect="1"/>
          </p:cNvSpPr>
          <p:nvPr/>
        </p:nvSpPr>
        <p:spPr>
          <a:xfrm>
            <a:off x="3917592" y="5507623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9E192A21-C435-4BBD-92F8-16DE91BBB530}"/>
              </a:ext>
            </a:extLst>
          </p:cNvPr>
          <p:cNvCxnSpPr>
            <a:endCxn id="53" idx="7"/>
          </p:cNvCxnSpPr>
          <p:nvPr/>
        </p:nvCxnSpPr>
        <p:spPr>
          <a:xfrm flipH="1">
            <a:off x="4378511" y="5248542"/>
            <a:ext cx="49406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8CBFB1B1-B131-494F-BF33-1972317ECDD2}"/>
                  </a:ext>
                </a:extLst>
              </p:cNvPr>
              <p:cNvSpPr/>
              <p:nvPr/>
            </p:nvSpPr>
            <p:spPr>
              <a:xfrm>
                <a:off x="3904660" y="5546788"/>
                <a:ext cx="622286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𝟏𝟎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5" name="Rechteck 54">
                <a:extLst>
                  <a:ext uri="{FF2B5EF4-FFF2-40B4-BE49-F238E27FC236}">
                    <a16:creationId xmlns:a16="http://schemas.microsoft.com/office/drawing/2014/main" id="{8CBFB1B1-B131-494F-BF33-1972317ECD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4660" y="5546788"/>
                <a:ext cx="622286" cy="461665"/>
              </a:xfrm>
              <a:prstGeom prst="rect">
                <a:avLst/>
              </a:prstGeom>
              <a:blipFill>
                <a:blip r:embed="rId15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Ellipse 55">
            <a:extLst>
              <a:ext uri="{FF2B5EF4-FFF2-40B4-BE49-F238E27FC236}">
                <a16:creationId xmlns:a16="http://schemas.microsoft.com/office/drawing/2014/main" id="{6772AF5F-6AB6-474C-B365-EA09EEDE6E5A}"/>
              </a:ext>
            </a:extLst>
          </p:cNvPr>
          <p:cNvSpPr>
            <a:spLocks noChangeAspect="1"/>
          </p:cNvSpPr>
          <p:nvPr/>
        </p:nvSpPr>
        <p:spPr>
          <a:xfrm>
            <a:off x="4809926" y="5507622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5C7B6A4-8773-4250-A040-4508BCDCE2B1}"/>
              </a:ext>
            </a:extLst>
          </p:cNvPr>
          <p:cNvCxnSpPr>
            <a:cxnSpLocks noChangeAspect="1"/>
            <a:endCxn id="56" idx="1"/>
          </p:cNvCxnSpPr>
          <p:nvPr/>
        </p:nvCxnSpPr>
        <p:spPr>
          <a:xfrm>
            <a:off x="4809755" y="5248542"/>
            <a:ext cx="79252" cy="33816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51AF6E47-44FF-4349-BD13-B9DBFAA8F6C6}"/>
                  </a:ext>
                </a:extLst>
              </p:cNvPr>
              <p:cNvSpPr/>
              <p:nvPr/>
            </p:nvSpPr>
            <p:spPr>
              <a:xfrm>
                <a:off x="4797557" y="5546788"/>
                <a:ext cx="62228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𝟏𝟑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51AF6E47-44FF-4349-BD13-B9DBFAA8F6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7557" y="5546788"/>
                <a:ext cx="622285" cy="461665"/>
              </a:xfrm>
              <a:prstGeom prst="rect">
                <a:avLst/>
              </a:prstGeom>
              <a:blipFill>
                <a:blip r:embed="rId16"/>
                <a:stretch>
                  <a:fillRect l="-200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7312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/>
          </a:p>
        </p:txBody>
      </p:sp>
    </p:spTree>
    <p:extLst>
      <p:ext uri="{BB962C8B-B14F-4D97-AF65-F5344CB8AC3E}">
        <p14:creationId xmlns:p14="http://schemas.microsoft.com/office/powerpoint/2010/main" val="35719511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519423" y="1589970"/>
                <a:ext cx="8229600" cy="3693319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>
                  <a:defRPr/>
                </a:pPr>
                <a:r>
                  <a:rPr lang="en-US" sz="1800" b="1">
                    <a:latin typeface="Calibri" panose="020F0502020204030204" pitchFamily="34" charset="0"/>
                    <a:cs typeface="Calibri" panose="020F0502020204030204" pitchFamily="34" charset="0"/>
                  </a:rPr>
                  <a:t>Task</a:t>
                </a:r>
                <a:r>
                  <a:rPr kumimoji="0" lang="en-US" sz="18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6: </a:t>
                </a:r>
                <a:r>
                  <a:rPr kumimoji="0" lang="en-US" sz="180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What is the height of a complete binary tree with n nodes? </a:t>
                </a:r>
                <a:r>
                  <a:rPr kumimoji="0" lang="de-AT" sz="1800" i="0" u="none" strike="noStrike" kern="0" cap="none" spc="0" normalizeH="0" baseline="0" noProof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What</a:t>
                </a:r>
                <a:r>
                  <a:rPr kumimoji="0" lang="de-AT" sz="180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</a:t>
                </a:r>
                <a:r>
                  <a:rPr kumimoji="0" lang="de-AT" sz="1800" i="0" u="none" strike="noStrike" kern="0" cap="none" spc="0" normalizeH="0" baseline="0" noProof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is</a:t>
                </a:r>
                <a:r>
                  <a:rPr kumimoji="0" lang="de-AT" sz="180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</a:t>
                </a:r>
                <a:r>
                  <a:rPr kumimoji="0" lang="de-AT" sz="1800" i="0" u="none" strike="noStrike" kern="0" cap="none" spc="0" normalizeH="0" baseline="0" noProof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the</a:t>
                </a:r>
                <a:r>
                  <a:rPr kumimoji="0" lang="de-AT" sz="180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</a:t>
                </a:r>
                <a:r>
                  <a:rPr kumimoji="0" lang="de-AT" sz="1800" i="0" u="none" strike="noStrike" kern="0" cap="none" spc="0" normalizeH="0" baseline="0" noProof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number</a:t>
                </a:r>
                <a:r>
                  <a:rPr kumimoji="0" lang="de-AT" sz="180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</a:t>
                </a:r>
                <a:r>
                  <a:rPr kumimoji="0" lang="de-AT" sz="1800" i="0" u="none" strike="noStrike" kern="0" cap="none" spc="0" normalizeH="0" baseline="0" noProof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of</a:t>
                </a:r>
                <a:r>
                  <a:rPr kumimoji="0" lang="de-AT" sz="180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</a:t>
                </a:r>
                <a:r>
                  <a:rPr kumimoji="0" lang="de-AT" sz="1800" i="0" u="none" strike="noStrike" kern="0" cap="none" spc="0" normalizeH="0" baseline="0" noProof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leaf</a:t>
                </a:r>
                <a:r>
                  <a:rPr kumimoji="0" lang="de-AT" sz="180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</a:t>
                </a:r>
                <a:r>
                  <a:rPr kumimoji="0" lang="de-AT" sz="1800" i="0" u="none" strike="noStrike" kern="0" cap="none" spc="0" normalizeH="0" baseline="0" noProof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nodes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?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What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internal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?</a:t>
                </a:r>
              </a:p>
              <a:p>
                <a:pPr lvl="0">
                  <a:defRPr/>
                </a:pPr>
                <a:endParaRPr kumimoji="0" lang="de-AT" sz="180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lvl="0">
                  <a:defRPr/>
                </a:pPr>
                <a:r>
                  <a:rPr lang="de-AT" sz="1800" b="1">
                    <a:latin typeface="Calibri" panose="020F0502020204030204" pitchFamily="34" charset="0"/>
                    <a:cs typeface="Calibri" panose="020F0502020204030204" pitchFamily="34" charset="0"/>
                  </a:rPr>
                  <a:t>Task 7: 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Draw all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composed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three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A, B, and C. Draw all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rooted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A, B, and C,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root. Draw all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A, B, and C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root.</a:t>
                </a:r>
              </a:p>
              <a:p>
                <a:pPr lvl="0">
                  <a:defRPr/>
                </a:pPr>
                <a:endParaRPr kumimoji="0" lang="de-AT" sz="180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lvl="0">
                  <a:defRPr/>
                </a:pPr>
                <a:r>
                  <a:rPr lang="de-AT" sz="1800" b="1">
                    <a:latin typeface="Calibri" panose="020F0502020204030204" pitchFamily="34" charset="0"/>
                    <a:cs typeface="Calibri" panose="020F0502020204030204" pitchFamily="34" charset="0"/>
                  </a:rPr>
                  <a:t>Task 8: 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Show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there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exist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14:m>
                  <m:oMath xmlns:m="http://schemas.openxmlformats.org/officeDocument/2006/math">
                    <m:r>
                      <a:rPr lang="de-AT" sz="1800" b="0" i="0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b="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7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such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picking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each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7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as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a root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results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in a different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rooted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. (This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has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do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notion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asymetric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graphs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.)</a:t>
                </a:r>
              </a:p>
              <a:p>
                <a:pPr lvl="0">
                  <a:defRPr/>
                </a:pPr>
                <a:endParaRPr kumimoji="0" lang="de-AT" sz="180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lvl="0">
                  <a:defRPr/>
                </a:pPr>
                <a:r>
                  <a:rPr lang="de-AT" sz="1800" b="1">
                    <a:latin typeface="Calibri" panose="020F0502020204030204" pitchFamily="34" charset="0"/>
                    <a:cs typeface="Calibri" panose="020F0502020204030204" pitchFamily="34" charset="0"/>
                  </a:rPr>
                  <a:t>Task 9: 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Show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by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induction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with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two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children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any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1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less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than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number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cs typeface="Calibri" panose="020F0502020204030204" pitchFamily="34" charset="0"/>
                  </a:rPr>
                  <a:t>leaves</a:t>
                </a:r>
                <a:r>
                  <a:rPr lang="de-AT" sz="1800"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  <a:endParaRPr kumimoji="0" lang="en-US" sz="180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 xmlns="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23" y="1589970"/>
                <a:ext cx="8229600" cy="3693319"/>
              </a:xfrm>
              <a:prstGeom prst="rect">
                <a:avLst/>
              </a:prstGeom>
              <a:blipFill>
                <a:blip r:embed="rId3"/>
                <a:stretch>
                  <a:fillRect l="-616" t="-1027" r="-1079" b="-1370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29576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>
                <a:latin typeface="Calibri" panose="020F0502020204030204" pitchFamily="34" charset="0"/>
                <a:cs typeface="Calibri" panose="020F0502020204030204" pitchFamily="34" charset="0"/>
              </a:rPr>
              <a:t>Binary search trees</a:t>
            </a:r>
            <a:endParaRPr lang="en-US" sz="4400" noProof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35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Binary search trees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3152990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Binary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keeps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collection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keys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keys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satisfy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 b="1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 b="1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 b="1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b="1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property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endParaRPr lang="de-AT" sz="18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𝑦</m:t>
                    </m:r>
                    <m:r>
                      <a:rPr lang="de-AT" sz="1800" i="1" noProof="0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left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subtree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lang="de-AT" sz="1800" noProof="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𝑘𝑒𝑦</m:t>
                      </m:r>
                      <m:d>
                        <m:dPr>
                          <m:begChr m:val="["/>
                          <m:endChr m:val="]"/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𝑦</m:t>
                          </m:r>
                        </m:e>
                      </m:d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≤</m:t>
                      </m:r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𝑘𝑒𝑦</m:t>
                      </m:r>
                      <m:d>
                        <m:dPr>
                          <m:begChr m:val="["/>
                          <m:endChr m:val="]"/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de-AT" sz="1800" b="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857250" lvl="1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𝑦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right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subtree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lang="de-AT" sz="18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</a:p>
              <a:p>
                <a:pPr marL="114300" indent="0">
                  <a:spcBef>
                    <a:spcPts val="600"/>
                  </a:spcBef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𝑘𝑒𝑦</m:t>
                      </m:r>
                      <m:d>
                        <m:dPr>
                          <m:begChr m:val="["/>
                          <m:endChr m:val="]"/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𝑦</m:t>
                          </m:r>
                        </m:e>
                      </m:d>
                      <m:r>
                        <a:rPr lang="de-AT" sz="18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≥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𝑘𝑒𝑦</m:t>
                      </m:r>
                      <m:d>
                        <m:dPr>
                          <m:begChr m:val="["/>
                          <m:endChr m:val="]"/>
                          <m:ctrlP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1800" noProof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315299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83798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Binary search trees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A81CF42C-A58C-4643-BF96-7685CD7D83D9}"/>
              </a:ext>
            </a:extLst>
          </p:cNvPr>
          <p:cNvSpPr>
            <a:spLocks noChangeAspect="1"/>
          </p:cNvSpPr>
          <p:nvPr/>
        </p:nvSpPr>
        <p:spPr>
          <a:xfrm>
            <a:off x="4195006" y="173923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B83DE34-8B94-48BC-852B-52463E17F95D}"/>
              </a:ext>
            </a:extLst>
          </p:cNvPr>
          <p:cNvSpPr>
            <a:spLocks noChangeAspect="1"/>
          </p:cNvSpPr>
          <p:nvPr/>
        </p:nvSpPr>
        <p:spPr>
          <a:xfrm>
            <a:off x="2395006" y="245923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222B8A7-7804-4D0E-81AF-989CF4D9998A}"/>
              </a:ext>
            </a:extLst>
          </p:cNvPr>
          <p:cNvSpPr>
            <a:spLocks noChangeAspect="1"/>
          </p:cNvSpPr>
          <p:nvPr/>
        </p:nvSpPr>
        <p:spPr>
          <a:xfrm>
            <a:off x="5995006" y="245923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4490473D-8B2E-45F9-8E13-6B1131B76159}"/>
              </a:ext>
            </a:extLst>
          </p:cNvPr>
          <p:cNvSpPr>
            <a:spLocks noChangeAspect="1"/>
          </p:cNvSpPr>
          <p:nvPr/>
        </p:nvSpPr>
        <p:spPr>
          <a:xfrm>
            <a:off x="1315166" y="317923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FDE336E6-FF22-479E-AE8F-8BBF7F81D3C2}"/>
              </a:ext>
            </a:extLst>
          </p:cNvPr>
          <p:cNvSpPr>
            <a:spLocks noChangeAspect="1"/>
          </p:cNvSpPr>
          <p:nvPr/>
        </p:nvSpPr>
        <p:spPr>
          <a:xfrm>
            <a:off x="3475006" y="317923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23C12F1-3023-46D6-9ADA-B7911F977871}"/>
              </a:ext>
            </a:extLst>
          </p:cNvPr>
          <p:cNvSpPr>
            <a:spLocks noChangeAspect="1"/>
          </p:cNvSpPr>
          <p:nvPr/>
        </p:nvSpPr>
        <p:spPr>
          <a:xfrm>
            <a:off x="7075006" y="317923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3848416-D902-40EC-8ECC-B44B37760336}"/>
              </a:ext>
            </a:extLst>
          </p:cNvPr>
          <p:cNvSpPr/>
          <p:nvPr/>
        </p:nvSpPr>
        <p:spPr>
          <a:xfrm>
            <a:off x="4302383" y="1775619"/>
            <a:ext cx="340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EAA12B9-5F9C-4CB6-931B-C7DE581F36E8}"/>
              </a:ext>
            </a:extLst>
          </p:cNvPr>
          <p:cNvCxnSpPr>
            <a:cxnSpLocks noChangeAspect="1"/>
            <a:stCxn id="4" idx="3"/>
            <a:endCxn id="5" idx="7"/>
          </p:cNvCxnSpPr>
          <p:nvPr/>
        </p:nvCxnSpPr>
        <p:spPr>
          <a:xfrm flipH="1">
            <a:off x="2855925" y="2200153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38A7063E-03C5-4BF3-87C9-4573F4326F25}"/>
              </a:ext>
            </a:extLst>
          </p:cNvPr>
          <p:cNvCxnSpPr>
            <a:cxnSpLocks noChangeAspect="1"/>
            <a:stCxn id="4" idx="5"/>
            <a:endCxn id="6" idx="1"/>
          </p:cNvCxnSpPr>
          <p:nvPr/>
        </p:nvCxnSpPr>
        <p:spPr>
          <a:xfrm>
            <a:off x="4655925" y="2200153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2C532942-294D-4C38-8C59-6E7E0C7EA543}"/>
              </a:ext>
            </a:extLst>
          </p:cNvPr>
          <p:cNvCxnSpPr>
            <a:cxnSpLocks noChangeAspect="1"/>
            <a:stCxn id="5" idx="3"/>
            <a:endCxn id="7" idx="7"/>
          </p:cNvCxnSpPr>
          <p:nvPr/>
        </p:nvCxnSpPr>
        <p:spPr>
          <a:xfrm flipH="1">
            <a:off x="1776085" y="2920153"/>
            <a:ext cx="69800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F428961-18ED-4D8F-8A60-E61CFC76E7BD}"/>
              </a:ext>
            </a:extLst>
          </p:cNvPr>
          <p:cNvCxnSpPr>
            <a:cxnSpLocks noChangeAspect="1"/>
            <a:stCxn id="5" idx="5"/>
            <a:endCxn id="8" idx="1"/>
          </p:cNvCxnSpPr>
          <p:nvPr/>
        </p:nvCxnSpPr>
        <p:spPr>
          <a:xfrm>
            <a:off x="2855925" y="2920153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606710FB-92DB-4A1D-AC77-819F69ED5259}"/>
              </a:ext>
            </a:extLst>
          </p:cNvPr>
          <p:cNvCxnSpPr>
            <a:cxnSpLocks noChangeAspect="1"/>
            <a:stCxn id="6" idx="5"/>
            <a:endCxn id="11" idx="1"/>
          </p:cNvCxnSpPr>
          <p:nvPr/>
        </p:nvCxnSpPr>
        <p:spPr>
          <a:xfrm>
            <a:off x="6455925" y="2920153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/>
              <p:nvPr/>
            </p:nvSpPr>
            <p:spPr>
              <a:xfrm>
                <a:off x="2496267" y="2490743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𝟑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C0C49D55-D40F-4FBB-97DF-2633D1859D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6267" y="2490743"/>
                <a:ext cx="437940" cy="461665"/>
              </a:xfrm>
              <a:prstGeom prst="rect">
                <a:avLst/>
              </a:prstGeom>
              <a:blipFill>
                <a:blip r:embed="rId3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/>
              <p:nvPr/>
            </p:nvSpPr>
            <p:spPr>
              <a:xfrm>
                <a:off x="6089852" y="2489713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𝟕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04CB2DDD-9C82-4B4F-BE38-DCF443AC69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9852" y="2489713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/>
              <p:nvPr/>
            </p:nvSpPr>
            <p:spPr>
              <a:xfrm>
                <a:off x="1405736" y="3202120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𝟐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87F6E667-92F4-4633-828E-70D0722B3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736" y="3202120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 l="-285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/>
              <p:nvPr/>
            </p:nvSpPr>
            <p:spPr>
              <a:xfrm>
                <a:off x="3555849" y="3218402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28" name="Rechteck 27">
                <a:extLst>
                  <a:ext uri="{FF2B5EF4-FFF2-40B4-BE49-F238E27FC236}">
                    <a16:creationId xmlns:a16="http://schemas.microsoft.com/office/drawing/2014/main" id="{798BBEA8-BDC4-40A7-A504-A2EA1510B1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5849" y="3218402"/>
                <a:ext cx="437940" cy="461665"/>
              </a:xfrm>
              <a:prstGeom prst="rect">
                <a:avLst/>
              </a:prstGeom>
              <a:blipFill>
                <a:blip r:embed="rId6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/>
              <p:nvPr/>
            </p:nvSpPr>
            <p:spPr>
              <a:xfrm>
                <a:off x="7169852" y="3206159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𝟖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0B62313B-DE4E-422B-8BCB-99B4AA6B57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9852" y="3206159"/>
                <a:ext cx="437940" cy="461665"/>
              </a:xfrm>
              <a:prstGeom prst="rect">
                <a:avLst/>
              </a:prstGeom>
              <a:blipFill>
                <a:blip r:embed="rId7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5213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Binary search trees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3F5E61A3-6199-45D8-A593-7D6AB1A4DFAB}"/>
              </a:ext>
            </a:extLst>
          </p:cNvPr>
          <p:cNvSpPr>
            <a:spLocks noChangeAspect="1"/>
          </p:cNvSpPr>
          <p:nvPr/>
        </p:nvSpPr>
        <p:spPr>
          <a:xfrm>
            <a:off x="2101513" y="1538708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7B1A191D-FF3C-4BFB-8EF6-7D4FF63062C0}"/>
              </a:ext>
            </a:extLst>
          </p:cNvPr>
          <p:cNvSpPr>
            <a:spLocks noChangeAspect="1"/>
          </p:cNvSpPr>
          <p:nvPr/>
        </p:nvSpPr>
        <p:spPr>
          <a:xfrm>
            <a:off x="3901513" y="2258708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FE16DC26-498E-470E-8A4A-D299BE6F67D8}"/>
              </a:ext>
            </a:extLst>
          </p:cNvPr>
          <p:cNvSpPr>
            <a:spLocks noChangeAspect="1"/>
          </p:cNvSpPr>
          <p:nvPr/>
        </p:nvSpPr>
        <p:spPr>
          <a:xfrm>
            <a:off x="4981513" y="2978708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D1B45A3-7187-4F41-A413-0BA0CE064178}"/>
              </a:ext>
            </a:extLst>
          </p:cNvPr>
          <p:cNvSpPr/>
          <p:nvPr/>
        </p:nvSpPr>
        <p:spPr>
          <a:xfrm>
            <a:off x="2208890" y="1575093"/>
            <a:ext cx="340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81FA531-8219-41E4-9472-928F47198AA3}"/>
              </a:ext>
            </a:extLst>
          </p:cNvPr>
          <p:cNvCxnSpPr>
            <a:cxnSpLocks noChangeAspect="1"/>
            <a:stCxn id="20" idx="5"/>
            <a:endCxn id="22" idx="1"/>
          </p:cNvCxnSpPr>
          <p:nvPr/>
        </p:nvCxnSpPr>
        <p:spPr>
          <a:xfrm>
            <a:off x="2562432" y="1999627"/>
            <a:ext cx="141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65E6D85E-C082-404B-926B-A01809D140B1}"/>
              </a:ext>
            </a:extLst>
          </p:cNvPr>
          <p:cNvCxnSpPr>
            <a:cxnSpLocks noChangeAspect="1"/>
            <a:stCxn id="22" idx="5"/>
            <a:endCxn id="32" idx="1"/>
          </p:cNvCxnSpPr>
          <p:nvPr/>
        </p:nvCxnSpPr>
        <p:spPr>
          <a:xfrm>
            <a:off x="4362432" y="2719627"/>
            <a:ext cx="69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hteck 50">
                <a:extLst>
                  <a:ext uri="{FF2B5EF4-FFF2-40B4-BE49-F238E27FC236}">
                    <a16:creationId xmlns:a16="http://schemas.microsoft.com/office/drawing/2014/main" id="{7CAEC22B-5854-4AEF-9C21-8655D5A1CDE6}"/>
                  </a:ext>
                </a:extLst>
              </p:cNvPr>
              <p:cNvSpPr/>
              <p:nvPr/>
            </p:nvSpPr>
            <p:spPr>
              <a:xfrm>
                <a:off x="5076359" y="3005633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𝟕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51" name="Rechteck 50">
                <a:extLst>
                  <a:ext uri="{FF2B5EF4-FFF2-40B4-BE49-F238E27FC236}">
                    <a16:creationId xmlns:a16="http://schemas.microsoft.com/office/drawing/2014/main" id="{7CAEC22B-5854-4AEF-9C21-8655D5A1CD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6359" y="3005633"/>
                <a:ext cx="437940" cy="461665"/>
              </a:xfrm>
              <a:prstGeom prst="rect">
                <a:avLst/>
              </a:prstGeom>
              <a:blipFill>
                <a:blip r:embed="rId3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Ellipse 57">
            <a:extLst>
              <a:ext uri="{FF2B5EF4-FFF2-40B4-BE49-F238E27FC236}">
                <a16:creationId xmlns:a16="http://schemas.microsoft.com/office/drawing/2014/main" id="{98E99966-43E9-4E94-962D-42008B25B6CA}"/>
              </a:ext>
            </a:extLst>
          </p:cNvPr>
          <p:cNvSpPr>
            <a:spLocks noChangeAspect="1"/>
          </p:cNvSpPr>
          <p:nvPr/>
        </p:nvSpPr>
        <p:spPr>
          <a:xfrm>
            <a:off x="5723440" y="3709160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CB3580D6-FDD9-45A5-9094-727354697164}"/>
              </a:ext>
            </a:extLst>
          </p:cNvPr>
          <p:cNvCxnSpPr>
            <a:cxnSpLocks noChangeAspect="1"/>
            <a:endCxn id="58" idx="1"/>
          </p:cNvCxnSpPr>
          <p:nvPr/>
        </p:nvCxnSpPr>
        <p:spPr>
          <a:xfrm>
            <a:off x="5464359" y="3450079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F00D2DB4-EB72-4E92-8B65-56C6219DEAEC}"/>
                  </a:ext>
                </a:extLst>
              </p:cNvPr>
              <p:cNvSpPr/>
              <p:nvPr/>
            </p:nvSpPr>
            <p:spPr>
              <a:xfrm>
                <a:off x="5803243" y="3748326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𝟖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F00D2DB4-EB72-4E92-8B65-56C6219DEA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243" y="3748326"/>
                <a:ext cx="43794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Ellipse 60">
            <a:extLst>
              <a:ext uri="{FF2B5EF4-FFF2-40B4-BE49-F238E27FC236}">
                <a16:creationId xmlns:a16="http://schemas.microsoft.com/office/drawing/2014/main" id="{F299CA36-1A0B-4B15-9DAA-B9DAFF894A59}"/>
              </a:ext>
            </a:extLst>
          </p:cNvPr>
          <p:cNvSpPr>
            <a:spLocks noChangeAspect="1"/>
          </p:cNvSpPr>
          <p:nvPr/>
        </p:nvSpPr>
        <p:spPr>
          <a:xfrm>
            <a:off x="4312579" y="3720473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96678091-9F59-43DC-8EA0-C0B783ACE59C}"/>
              </a:ext>
            </a:extLst>
          </p:cNvPr>
          <p:cNvCxnSpPr>
            <a:endCxn id="61" idx="7"/>
          </p:cNvCxnSpPr>
          <p:nvPr/>
        </p:nvCxnSpPr>
        <p:spPr>
          <a:xfrm flipH="1">
            <a:off x="4773498" y="3461392"/>
            <a:ext cx="338162" cy="3381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Rechteck 62">
                <a:extLst>
                  <a:ext uri="{FF2B5EF4-FFF2-40B4-BE49-F238E27FC236}">
                    <a16:creationId xmlns:a16="http://schemas.microsoft.com/office/drawing/2014/main" id="{8FD140EF-19B8-4003-B3FC-B7A4F1C013A4}"/>
                  </a:ext>
                </a:extLst>
              </p:cNvPr>
              <p:cNvSpPr/>
              <p:nvPr/>
            </p:nvSpPr>
            <p:spPr>
              <a:xfrm>
                <a:off x="4391820" y="3759638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3" name="Rechteck 62">
                <a:extLst>
                  <a:ext uri="{FF2B5EF4-FFF2-40B4-BE49-F238E27FC236}">
                    <a16:creationId xmlns:a16="http://schemas.microsoft.com/office/drawing/2014/main" id="{8FD140EF-19B8-4003-B3FC-B7A4F1C013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820" y="3759638"/>
                <a:ext cx="437940" cy="461665"/>
              </a:xfrm>
              <a:prstGeom prst="rect">
                <a:avLst/>
              </a:prstGeom>
              <a:blipFill>
                <a:blip r:embed="rId5"/>
                <a:stretch>
                  <a:fillRect l="-2778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Ellipse 63">
            <a:extLst>
              <a:ext uri="{FF2B5EF4-FFF2-40B4-BE49-F238E27FC236}">
                <a16:creationId xmlns:a16="http://schemas.microsoft.com/office/drawing/2014/main" id="{A7B040BB-F705-407B-88B0-2ED542775287}"/>
              </a:ext>
            </a:extLst>
          </p:cNvPr>
          <p:cNvSpPr>
            <a:spLocks noChangeAspect="1"/>
          </p:cNvSpPr>
          <p:nvPr/>
        </p:nvSpPr>
        <p:spPr>
          <a:xfrm>
            <a:off x="3922868" y="4480384"/>
            <a:ext cx="540000" cy="540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D1739B1-15F8-4743-9B46-B28B5E1B1BCA}"/>
              </a:ext>
            </a:extLst>
          </p:cNvPr>
          <p:cNvCxnSpPr>
            <a:cxnSpLocks/>
            <a:endCxn id="64" idx="0"/>
          </p:cNvCxnSpPr>
          <p:nvPr/>
        </p:nvCxnSpPr>
        <p:spPr>
          <a:xfrm flipH="1">
            <a:off x="4192868" y="4221303"/>
            <a:ext cx="240326" cy="259081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A0E354AE-2483-428C-B891-8E5740051401}"/>
                  </a:ext>
                </a:extLst>
              </p:cNvPr>
              <p:cNvSpPr/>
              <p:nvPr/>
            </p:nvSpPr>
            <p:spPr>
              <a:xfrm>
                <a:off x="4002109" y="4519549"/>
                <a:ext cx="437940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24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𝟓</m:t>
                      </m:r>
                    </m:oMath>
                  </m:oMathPara>
                </a14:m>
                <a:endParaRPr lang="de-AT" sz="2400" b="1">
                  <a:solidFill>
                    <a:schemeClr val="tx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A0E354AE-2483-428C-B891-8E57400514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2109" y="4519549"/>
                <a:ext cx="437940" cy="461665"/>
              </a:xfrm>
              <a:prstGeom prst="rect">
                <a:avLst/>
              </a:prstGeom>
              <a:blipFill>
                <a:blip r:embed="rId6"/>
                <a:stretch>
                  <a:fillRect l="-5714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Rechteck 69">
            <a:extLst>
              <a:ext uri="{FF2B5EF4-FFF2-40B4-BE49-F238E27FC236}">
                <a16:creationId xmlns:a16="http://schemas.microsoft.com/office/drawing/2014/main" id="{0FF33164-8F22-47B8-9E90-01FA807F9B36}"/>
              </a:ext>
            </a:extLst>
          </p:cNvPr>
          <p:cNvSpPr/>
          <p:nvPr/>
        </p:nvSpPr>
        <p:spPr>
          <a:xfrm>
            <a:off x="4009640" y="2297875"/>
            <a:ext cx="3401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de-AT" sz="2400" b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940915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 err="1">
                <a:latin typeface="Calibri" panose="020F0502020204030204" pitchFamily="34" charset="0"/>
                <a:cs typeface="Calibri" panose="020F0502020204030204" pitchFamily="34" charset="0"/>
              </a:rPr>
              <a:t>Inorder</a:t>
            </a:r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b="1">
                <a:latin typeface="Calibri" panose="020F0502020204030204" pitchFamily="34" charset="0"/>
                <a:cs typeface="Calibri" panose="020F0502020204030204" pitchFamily="34" charset="0"/>
              </a:rPr>
              <a:t>tree walk</a:t>
            </a:r>
            <a:endParaRPr lang="en-US" sz="2800" b="1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1821496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property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allows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print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keys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sorted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order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use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recursive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called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inorder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walk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for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algorithm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derives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its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name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fact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that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root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printed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between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values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left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right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subtree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:</a:t>
                </a:r>
                <a:endParaRPr lang="en-US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330778"/>
                <a:ext cx="8229300" cy="1821496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hteck 3">
            <a:extLst>
              <a:ext uri="{FF2B5EF4-FFF2-40B4-BE49-F238E27FC236}">
                <a16:creationId xmlns:a16="http://schemas.microsoft.com/office/drawing/2014/main" id="{383B1093-6028-4390-B288-0512E6214E1A}"/>
              </a:ext>
            </a:extLst>
          </p:cNvPr>
          <p:cNvSpPr/>
          <p:nvPr/>
        </p:nvSpPr>
        <p:spPr>
          <a:xfrm>
            <a:off x="654090" y="3152274"/>
            <a:ext cx="7835519" cy="2231135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def _</a:t>
            </a:r>
            <a:r>
              <a:rPr lang="en-US" sz="1800" spc="-1" err="1">
                <a:solidFill>
                  <a:srgbClr val="0F0F0F"/>
                </a:solidFill>
                <a:latin typeface="Consolas" panose="020B0609020204030204" pitchFamily="49" charset="0"/>
              </a:rPr>
              <a:t>inorder_walk</a:t>
            </a:r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(self, node):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    result = ''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    if node: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        result += self._</a:t>
            </a:r>
            <a:r>
              <a:rPr lang="en-US" sz="1800" spc="-1" err="1">
                <a:solidFill>
                  <a:srgbClr val="0F0F0F"/>
                </a:solidFill>
                <a:latin typeface="Consolas" panose="020B0609020204030204" pitchFamily="49" charset="0"/>
              </a:rPr>
              <a:t>inorder_walk</a:t>
            </a:r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z="1800" spc="-1" err="1">
                <a:solidFill>
                  <a:srgbClr val="0F0F0F"/>
                </a:solidFill>
                <a:latin typeface="Consolas" panose="020B0609020204030204" pitchFamily="49" charset="0"/>
              </a:rPr>
              <a:t>node._left</a:t>
            </a:r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        result += str(</a:t>
            </a:r>
            <a:r>
              <a:rPr lang="en-US" sz="1800" spc="-1" err="1">
                <a:solidFill>
                  <a:srgbClr val="0F0F0F"/>
                </a:solidFill>
                <a:latin typeface="Consolas" panose="020B0609020204030204" pitchFamily="49" charset="0"/>
              </a:rPr>
              <a:t>node._element</a:t>
            </a:r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) + ' '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        result += self._</a:t>
            </a:r>
            <a:r>
              <a:rPr lang="en-US" sz="1800" spc="-1" err="1">
                <a:solidFill>
                  <a:srgbClr val="0F0F0F"/>
                </a:solidFill>
                <a:latin typeface="Consolas" panose="020B0609020204030204" pitchFamily="49" charset="0"/>
              </a:rPr>
              <a:t>inorder_walk</a:t>
            </a:r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z="1800" spc="-1" err="1">
                <a:solidFill>
                  <a:srgbClr val="0F0F0F"/>
                </a:solidFill>
                <a:latin typeface="Consolas" panose="020B0609020204030204" pitchFamily="49" charset="0"/>
              </a:rPr>
              <a:t>node._right</a:t>
            </a:r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    return result</a:t>
            </a:r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F5A8EF3B-C5B8-45DB-A541-BD8058BF55F0}"/>
              </a:ext>
            </a:extLst>
          </p:cNvPr>
          <p:cNvSpPr txBox="1">
            <a:spLocks/>
          </p:cNvSpPr>
          <p:nvPr/>
        </p:nvSpPr>
        <p:spPr>
          <a:xfrm>
            <a:off x="513418" y="5392003"/>
            <a:ext cx="8229300" cy="583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0050" indent="-28575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Notebook example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447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/>
          </a:p>
        </p:txBody>
      </p:sp>
    </p:spTree>
    <p:extLst>
      <p:ext uri="{BB962C8B-B14F-4D97-AF65-F5344CB8AC3E}">
        <p14:creationId xmlns:p14="http://schemas.microsoft.com/office/powerpoint/2010/main" val="14451866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/>
              <p:nvPr/>
            </p:nvSpPr>
            <p:spPr>
              <a:xfrm>
                <a:off x="519423" y="1589970"/>
                <a:ext cx="8229600" cy="3970318"/>
              </a:xfrm>
              <a:prstGeom prst="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>
                  <a:defRPr/>
                </a:pPr>
                <a:r>
                  <a:rPr lang="en-US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Task</a:t>
                </a: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 10: </a:t>
                </a:r>
                <a:r>
                  <a:rPr kumimoji="0" lang="de-AT" sz="1800" i="0" u="none" strike="noStrike" kern="0" cap="none" spc="0" normalizeH="0" baseline="0" noProof="0" dirty="0" err="1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Using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source code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previous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example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Extend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implement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preorder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walk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a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postorder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walk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 The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preorder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walk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prints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root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before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left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right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subtrees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, and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postorder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walk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prints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root after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left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and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right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subtrees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.</a:t>
                </a:r>
              </a:p>
              <a:p>
                <a:pPr lvl="0">
                  <a:defRPr/>
                </a:pPr>
                <a:endParaRPr kumimoji="0" lang="de-AT" sz="18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  <a:p>
                <a:pPr lvl="0">
                  <a:defRPr/>
                </a:pPr>
                <a:r>
                  <a:rPr lang="de-AT" sz="1800" b="1" dirty="0">
                    <a:latin typeface="Calibri" panose="020F0502020204030204" pitchFamily="34" charset="0"/>
                    <a:cs typeface="Calibri" panose="020F0502020204030204" pitchFamily="34" charset="0"/>
                  </a:rPr>
                  <a:t>Task 11: 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Draw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trees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height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2, 3, 4, 5, and 6 on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set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keys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b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ctr">
                  <a:defRPr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{1, 4, 5, 10, 16, 17, 21}.</a:t>
                </a:r>
                <a:b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</a:br>
                <a:endParaRPr lang="de-AT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	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What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happens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input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already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ordered</a:t>
                </a:r>
                <a:r>
                  <a:rPr lang="de-AT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?</a:t>
                </a:r>
              </a:p>
              <a:p>
                <a:pPr lvl="0" algn="ctr">
                  <a:defRPr/>
                </a:pPr>
                <a:endParaRPr lang="en-US" sz="1800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>
                  <a:defRPr/>
                </a:pPr>
                <a:r>
                  <a:rPr kumimoji="0" lang="en-US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Task 12: </a:t>
                </a:r>
                <a:r>
                  <a:rPr kumimoji="0" lang="en-US" sz="180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cs typeface="Calibri" panose="020F0502020204030204" pitchFamily="34" charset="0"/>
                    <a:sym typeface="Arial"/>
                  </a:rPr>
                  <a:t>What is the difference between the b</a:t>
                </a:r>
                <a:r>
                  <a:rPr lang="en-US" sz="1800" dirty="0" err="1">
                    <a:latin typeface="Calibri" panose="020F0502020204030204" pitchFamily="34" charset="0"/>
                    <a:cs typeface="Calibri" panose="020F0502020204030204" pitchFamily="34" charset="0"/>
                  </a:rPr>
                  <a:t>inary</a:t>
                </a:r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search tree property and the heap property? Can the heap property be used to print out the keys of an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node tree in sorted order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 time? Explain how or why not.</a:t>
                </a:r>
                <a:endParaRPr kumimoji="0" lang="de-AT" sz="18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>
          <p:sp>
            <p:nvSpPr>
              <p:cNvPr id="4" name="Textfeld 2">
                <a:extLst>
                  <a:ext uri="{FF2B5EF4-FFF2-40B4-BE49-F238E27FC236}">
                    <a16:creationId xmlns:a16="http://schemas.microsoft.com/office/drawing/2014/main" id="{B1AB2DE2-BFB4-403B-9976-58C0812A0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23" y="1589970"/>
                <a:ext cx="8229600" cy="3970318"/>
              </a:xfrm>
              <a:prstGeom prst="rect">
                <a:avLst/>
              </a:prstGeom>
              <a:blipFill>
                <a:blip r:embed="rId3"/>
                <a:stretch>
                  <a:fillRect l="-616" t="-958" r="-1079" b="-1917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603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Querying </a:t>
            </a:r>
            <a:r>
              <a:rPr lang="en-US" sz="2800" b="1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sz="2800" b="1" noProof="0" err="1">
                <a:latin typeface="Calibri" panose="020F0502020204030204" pitchFamily="34" charset="0"/>
                <a:cs typeface="Calibri" panose="020F0502020204030204" pitchFamily="34" charset="0"/>
              </a:rPr>
              <a:t>inary</a:t>
            </a:r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 search trees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1330777"/>
                <a:ext cx="8229300" cy="4420318"/>
              </a:xfrm>
            </p:spPr>
            <p:txBody>
              <a:bodyPr/>
              <a:lstStyle/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most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common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operation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performed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on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binary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tree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searching</a:t>
                </a:r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Besides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operation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there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insert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delete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etc.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operations</a:t>
                </a:r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All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of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these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operations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can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supported in </a:t>
                </a:r>
                <a14:m>
                  <m:oMath xmlns:m="http://schemas.openxmlformats.org/officeDocument/2006/math"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func>
                      <m:funcPr>
                        <m:ctrlPr>
                          <a:rPr lang="de-AT" sz="1800" b="0" i="1" noProof="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AT" sz="1800" i="0" noProof="0" dirty="0" err="1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log</m:t>
                        </m:r>
                      </m:fName>
                      <m:e>
                        <m:r>
                          <a:rPr lang="de-AT" sz="1800" b="0" i="1" noProof="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  <m:t>𝑛</m:t>
                        </m:r>
                      </m:e>
                    </m:func>
                    <m:r>
                      <a:rPr lang="de-AT" sz="1800" i="1" noProof="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 </m:t>
                    </m:r>
                  </m:oMath>
                </a14:m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time</a:t>
                </a: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Naturally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all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operations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are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recursive</a:t>
                </a:r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marL="400050" indent="-28575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Search:</a:t>
                </a:r>
              </a:p>
              <a:p>
                <a:pPr lvl="1"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 in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current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element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smaller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recursively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left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endParaRPr lang="de-AT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1" indent="-342900">
                  <a:spcBef>
                    <a:spcPts val="600"/>
                  </a:spcBef>
                  <a:spcAft>
                    <a:spcPts val="600"/>
                  </a:spcAft>
                  <a:buFont typeface="+mj-lt"/>
                  <a:buAutoNum type="arabicPeriod"/>
                </a:pP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If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greater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search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recursively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right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</a:t>
                </a:r>
                <a:endParaRPr lang="en-US" sz="180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encountered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form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root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leaf</a:t>
                </a:r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he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length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AT" sz="1800" b="0" i="1" dirty="0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b="0" i="0" dirty="0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b="0" i="1" dirty="0" smtClean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on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average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de-AT" sz="1800" b="0" i="1" noProof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9254B13C-19D7-4861-A881-548D1903C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330777"/>
                <a:ext cx="8229300" cy="442031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32436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>
                <a:latin typeface="Calibri" panose="020F0502020204030204" pitchFamily="34" charset="0"/>
                <a:cs typeface="Calibri" panose="020F0502020204030204" pitchFamily="34" charset="0"/>
              </a:rPr>
              <a:t>Inserting elements into</a:t>
            </a:r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b="1">
                <a:latin typeface="Calibri" panose="020F0502020204030204" pitchFamily="34" charset="0"/>
                <a:cs typeface="Calibri" panose="020F0502020204030204" pitchFamily="34" charset="0"/>
              </a:rPr>
              <a:t>b</a:t>
            </a:r>
            <a:r>
              <a:rPr lang="en-US" sz="2800" b="1" noProof="0" err="1">
                <a:latin typeface="Calibri" panose="020F0502020204030204" pitchFamily="34" charset="0"/>
                <a:cs typeface="Calibri" panose="020F0502020204030204" pitchFamily="34" charset="0"/>
              </a:rPr>
              <a:t>inary</a:t>
            </a:r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 search trees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6BAA173-9E66-4A3E-99D1-56AB6F108413}"/>
              </a:ext>
            </a:extLst>
          </p:cNvPr>
          <p:cNvSpPr/>
          <p:nvPr/>
        </p:nvSpPr>
        <p:spPr>
          <a:xfrm>
            <a:off x="654090" y="1355558"/>
            <a:ext cx="7835519" cy="402785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def insert(self, element):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self._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insert_element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self._root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, element)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def _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insert_element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(self, node, element):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if element &lt;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node._element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if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node._left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    self._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insert_element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node._left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, element)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else: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   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node._left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self._Node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(element)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   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self._size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+= 1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else: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if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node._right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    self._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insert_element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node._right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, element)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else: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   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node._right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self._Node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(element)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   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self._size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+=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2E2F65B3-5E25-4AA2-9FF7-29206C1017A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57200" y="5502442"/>
                <a:ext cx="8229300" cy="842211"/>
              </a:xfrm>
            </p:spPr>
            <p:txBody>
              <a:bodyPr/>
              <a:lstStyle/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Again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encountered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form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root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leaf</a:t>
                </a:r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Again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length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AT" sz="18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average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2E2F65B3-5E25-4AA2-9FF7-29206C1017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5502442"/>
                <a:ext cx="8229300" cy="842211"/>
              </a:xfrm>
              <a:blipFill>
                <a:blip r:embed="rId3"/>
                <a:stretch>
                  <a:fillRect t="-1493" b="-8955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35192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>
                <a:latin typeface="Calibri" panose="020F0502020204030204" pitchFamily="34" charset="0"/>
                <a:cs typeface="Calibri" panose="020F0502020204030204" pitchFamily="34" charset="0"/>
              </a:rPr>
              <a:t>Finding min/max in b</a:t>
            </a:r>
            <a:r>
              <a:rPr lang="en-US" sz="2800" b="1" noProof="0" err="1">
                <a:latin typeface="Calibri" panose="020F0502020204030204" pitchFamily="34" charset="0"/>
                <a:cs typeface="Calibri" panose="020F0502020204030204" pitchFamily="34" charset="0"/>
              </a:rPr>
              <a:t>inary</a:t>
            </a:r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 search trees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6BAA173-9E66-4A3E-99D1-56AB6F108413}"/>
              </a:ext>
            </a:extLst>
          </p:cNvPr>
          <p:cNvSpPr/>
          <p:nvPr/>
        </p:nvSpPr>
        <p:spPr>
          <a:xfrm>
            <a:off x="654090" y="1355558"/>
            <a:ext cx="7835519" cy="222985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def minimum(self):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return self._minimum_walk(self._root)._element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def _minimum_walk(self, node):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if node._left: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return self._minimum_walk(node._left)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else: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return node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2E2F65B3-5E25-4AA2-9FF7-29206C1017A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77516" y="3954379"/>
                <a:ext cx="8229300" cy="842211"/>
              </a:xfrm>
            </p:spPr>
            <p:txBody>
              <a:bodyPr/>
              <a:lstStyle/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Again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encountered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form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root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leaf</a:t>
                </a:r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Again,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length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AT" sz="18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average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2E2F65B3-5E25-4AA2-9FF7-29206C1017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77516" y="3954379"/>
                <a:ext cx="8229300" cy="842211"/>
              </a:xfrm>
              <a:blipFill>
                <a:blip r:embed="rId3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82787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>
                <a:latin typeface="Calibri" panose="020F0502020204030204" pitchFamily="34" charset="0"/>
                <a:cs typeface="Calibri" panose="020F0502020204030204" pitchFamily="34" charset="0"/>
              </a:rPr>
              <a:t>Finding min/max in b</a:t>
            </a:r>
            <a:r>
              <a:rPr lang="en-US" sz="2800" b="1" noProof="0" err="1">
                <a:latin typeface="Calibri" panose="020F0502020204030204" pitchFamily="34" charset="0"/>
                <a:cs typeface="Calibri" panose="020F0502020204030204" pitchFamily="34" charset="0"/>
              </a:rPr>
              <a:t>inary</a:t>
            </a:r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 search trees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F6BAA173-9E66-4A3E-99D1-56AB6F108413}"/>
              </a:ext>
            </a:extLst>
          </p:cNvPr>
          <p:cNvSpPr/>
          <p:nvPr/>
        </p:nvSpPr>
        <p:spPr>
          <a:xfrm>
            <a:off x="654090" y="1355558"/>
            <a:ext cx="7835519" cy="222985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def maximum(self):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return self._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maximum_walk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self._root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)._element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def _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maximum_walk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(self, node):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if 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node._right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return self._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maximum_walk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pc="-1" err="1">
                <a:solidFill>
                  <a:srgbClr val="0F0F0F"/>
                </a:solidFill>
                <a:latin typeface="Consolas" panose="020B0609020204030204" pitchFamily="49" charset="0"/>
              </a:rPr>
              <a:t>node._right</a:t>
            </a:r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else:</a:t>
            </a:r>
          </a:p>
          <a:p>
            <a:r>
              <a:rPr lang="en-US" spc="-1">
                <a:solidFill>
                  <a:srgbClr val="0F0F0F"/>
                </a:solidFill>
                <a:latin typeface="Consolas" panose="020B0609020204030204" pitchFamily="49" charset="0"/>
              </a:rPr>
              <a:t>            return node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2E2F65B3-5E25-4AA2-9FF7-29206C1017AD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77516" y="3954379"/>
                <a:ext cx="8229300" cy="842211"/>
              </a:xfrm>
            </p:spPr>
            <p:txBody>
              <a:bodyPr/>
              <a:lstStyle/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Again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nodes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encountered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form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from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root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to</a:t>
                </a:r>
                <a:r>
                  <a:rPr lang="de-AT" sz="1800" noProof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a </a:t>
                </a:r>
                <a:r>
                  <a:rPr lang="de-AT" sz="1800" noProof="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leaf</a:t>
                </a:r>
                <a:endParaRPr lang="de-AT" sz="1800" noProof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indent="-342900"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v"/>
                </a:pP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Again,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path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length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is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de-AT" sz="1800" i="1" dirty="0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d>
                      <m:dPr>
                        <m:ctrlPr>
                          <a:rPr lang="de-AT" sz="1800" i="1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de-AT" sz="18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de-AT" sz="1800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de-AT" sz="1800" i="1" dirty="0"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Calibri" panose="020F0502020204030204" pitchFamily="34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on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average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, and </a:t>
                </a:r>
                <a14:m>
                  <m:oMath xmlns:m="http://schemas.openxmlformats.org/officeDocument/2006/math"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𝑂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(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i="1">
                        <a:latin typeface="Cambria Math" panose="02040503050406030204" pitchFamily="18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m:t>)</m:t>
                    </m:r>
                  </m:oMath>
                </a14:m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in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worst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de-AT" sz="1800" err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lang="de-AT" sz="180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platzhalter 2">
                <a:extLst>
                  <a:ext uri="{FF2B5EF4-FFF2-40B4-BE49-F238E27FC236}">
                    <a16:creationId xmlns:a16="http://schemas.microsoft.com/office/drawing/2014/main" id="{2E2F65B3-5E25-4AA2-9FF7-29206C1017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77516" y="3954379"/>
                <a:ext cx="8229300" cy="842211"/>
              </a:xfrm>
              <a:blipFill>
                <a:blip r:embed="rId3"/>
                <a:stretch>
                  <a:fillRect b="-8955"/>
                </a:stretch>
              </a:blipFill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58052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xfrm>
            <a:off x="457200" y="1606216"/>
            <a:ext cx="8229600" cy="1717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6600"/>
            <a:ext cx="8229300" cy="1144800"/>
          </a:xfrm>
        </p:spPr>
        <p:txBody>
          <a:bodyPr/>
          <a:lstStyle/>
          <a:p>
            <a:pPr algn="ctr"/>
            <a:r>
              <a:rPr lang="en-US" sz="4400" b="1" noProof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en-US" sz="4400" b="1" noProof="0"/>
          </a:p>
        </p:txBody>
      </p:sp>
    </p:spTree>
    <p:extLst>
      <p:ext uri="{BB962C8B-B14F-4D97-AF65-F5344CB8AC3E}">
        <p14:creationId xmlns:p14="http://schemas.microsoft.com/office/powerpoint/2010/main" val="4268512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US" sz="2800" b="1" noProof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519423" y="1589970"/>
            <a:ext cx="8229600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en-US" sz="1800" b="1"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13: 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Implement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search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method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for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binary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search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trees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using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source code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of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previous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example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lvl="0">
              <a:defRPr/>
            </a:pPr>
            <a:endParaRPr lang="de-AT"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kumimoji="0" lang="de-AT" sz="18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14: 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Implement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the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delete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method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for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binary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search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 </a:t>
            </a:r>
            <a:r>
              <a:rPr kumimoji="0" lang="de-AT" sz="1800" i="0" u="none" strike="noStrike" kern="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trees</a:t>
            </a:r>
            <a:r>
              <a:rPr kumimoji="0" lang="de-AT" sz="180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.</a:t>
            </a:r>
          </a:p>
          <a:p>
            <a:pPr lvl="0">
              <a:defRPr/>
            </a:pP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Hint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: As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always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recursive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procedure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need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distuingish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between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cases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depending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how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many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children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node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want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delete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err="1">
                <a:latin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AT" sz="180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kumimoji="0" lang="de-AT" sz="180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12911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551</TotalTime>
  <Words>2183</Words>
  <Application>Microsoft Macintosh PowerPoint</Application>
  <PresentationFormat>On-screen Show (4:3)</PresentationFormat>
  <Paragraphs>310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Arial</vt:lpstr>
      <vt:lpstr>Consolas</vt:lpstr>
      <vt:lpstr>Calibri</vt:lpstr>
      <vt:lpstr>Cambria Math</vt:lpstr>
      <vt:lpstr>Blackadder ITC</vt:lpstr>
      <vt:lpstr>Wingdings</vt:lpstr>
      <vt:lpstr>Office Theme</vt:lpstr>
      <vt:lpstr>1_Office Theme</vt:lpstr>
      <vt:lpstr>Algorithms and Data Structures </vt:lpstr>
      <vt:lpstr>Outline</vt:lpstr>
      <vt:lpstr>Graphs</vt:lpstr>
      <vt:lpstr>Graphs</vt:lpstr>
      <vt:lpstr>Undirected graphs</vt:lpstr>
      <vt:lpstr>Directed graphs</vt:lpstr>
      <vt:lpstr>Some further notation</vt:lpstr>
      <vt:lpstr>Paths</vt:lpstr>
      <vt:lpstr>Paths</vt:lpstr>
      <vt:lpstr>Cycles</vt:lpstr>
      <vt:lpstr>Path length</vt:lpstr>
      <vt:lpstr>Distance</vt:lpstr>
      <vt:lpstr>Connectivity</vt:lpstr>
      <vt:lpstr>Exercise</vt:lpstr>
      <vt:lpstr>Student task</vt:lpstr>
      <vt:lpstr>Trees</vt:lpstr>
      <vt:lpstr>Trees</vt:lpstr>
      <vt:lpstr>Properties of trees</vt:lpstr>
      <vt:lpstr>Exercise</vt:lpstr>
      <vt:lpstr>Student task</vt:lpstr>
      <vt:lpstr>Rooted trees</vt:lpstr>
      <vt:lpstr>Rooted trees</vt:lpstr>
      <vt:lpstr>Rooted trees</vt:lpstr>
      <vt:lpstr>Binary trees</vt:lpstr>
      <vt:lpstr>Complete binary trees</vt:lpstr>
      <vt:lpstr>Exercise</vt:lpstr>
      <vt:lpstr>Student task</vt:lpstr>
      <vt:lpstr>Binary search trees</vt:lpstr>
      <vt:lpstr>Binary search trees</vt:lpstr>
      <vt:lpstr>Binary search trees</vt:lpstr>
      <vt:lpstr>Binary search trees</vt:lpstr>
      <vt:lpstr>Inorder tree walk</vt:lpstr>
      <vt:lpstr>Exercise</vt:lpstr>
      <vt:lpstr>Student task</vt:lpstr>
      <vt:lpstr>Querying binary search trees</vt:lpstr>
      <vt:lpstr>Inserting elements into binary search trees</vt:lpstr>
      <vt:lpstr>Finding min/max in binary search trees</vt:lpstr>
      <vt:lpstr>Finding min/max in binary search trees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6</cp:revision>
  <dcterms:modified xsi:type="dcterms:W3CDTF">2026-04-27T10:09:14Z</dcterms:modified>
</cp:coreProperties>
</file>