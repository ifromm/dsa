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embedTrueTypeFonts="1" saveSubsetFonts="1" autoCompressPictures="0">
  <p:sldMasterIdLst>
    <p:sldMasterId id="2147483648" r:id="rId1"/>
    <p:sldMasterId id="2147483651" r:id="rId2"/>
  </p:sldMasterIdLst>
  <p:notesMasterIdLst>
    <p:notesMasterId r:id="rId71"/>
  </p:notesMasterIdLst>
  <p:handoutMasterIdLst>
    <p:handoutMasterId r:id="rId72"/>
  </p:handoutMasterIdLst>
  <p:sldIdLst>
    <p:sldId id="256" r:id="rId3"/>
    <p:sldId id="257" r:id="rId4"/>
    <p:sldId id="647" r:id="rId5"/>
    <p:sldId id="723" r:id="rId6"/>
    <p:sldId id="834" r:id="rId7"/>
    <p:sldId id="839" r:id="rId8"/>
    <p:sldId id="835" r:id="rId9"/>
    <p:sldId id="836" r:id="rId10"/>
    <p:sldId id="837" r:id="rId11"/>
    <p:sldId id="838" r:id="rId12"/>
    <p:sldId id="840" r:id="rId13"/>
    <p:sldId id="841" r:id="rId14"/>
    <p:sldId id="842" r:id="rId15"/>
    <p:sldId id="786" r:id="rId16"/>
    <p:sldId id="843" r:id="rId17"/>
    <p:sldId id="844" r:id="rId18"/>
    <p:sldId id="845" r:id="rId19"/>
    <p:sldId id="846" r:id="rId20"/>
    <p:sldId id="847" r:id="rId21"/>
    <p:sldId id="848" r:id="rId22"/>
    <p:sldId id="849" r:id="rId23"/>
    <p:sldId id="850" r:id="rId24"/>
    <p:sldId id="851" r:id="rId25"/>
    <p:sldId id="858" r:id="rId26"/>
    <p:sldId id="852" r:id="rId27"/>
    <p:sldId id="853" r:id="rId28"/>
    <p:sldId id="857" r:id="rId29"/>
    <p:sldId id="855" r:id="rId30"/>
    <p:sldId id="856" r:id="rId31"/>
    <p:sldId id="859" r:id="rId32"/>
    <p:sldId id="860" r:id="rId33"/>
    <p:sldId id="865" r:id="rId34"/>
    <p:sldId id="867" r:id="rId35"/>
    <p:sldId id="866" r:id="rId36"/>
    <p:sldId id="861" r:id="rId37"/>
    <p:sldId id="864" r:id="rId38"/>
    <p:sldId id="863" r:id="rId39"/>
    <p:sldId id="862" r:id="rId40"/>
    <p:sldId id="876" r:id="rId41"/>
    <p:sldId id="877" r:id="rId42"/>
    <p:sldId id="868" r:id="rId43"/>
    <p:sldId id="869" r:id="rId44"/>
    <p:sldId id="870" r:id="rId45"/>
    <p:sldId id="871" r:id="rId46"/>
    <p:sldId id="872" r:id="rId47"/>
    <p:sldId id="873" r:id="rId48"/>
    <p:sldId id="874" r:id="rId49"/>
    <p:sldId id="875" r:id="rId50"/>
    <p:sldId id="880" r:id="rId51"/>
    <p:sldId id="881" r:id="rId52"/>
    <p:sldId id="882" r:id="rId53"/>
    <p:sldId id="883" r:id="rId54"/>
    <p:sldId id="884" r:id="rId55"/>
    <p:sldId id="885" r:id="rId56"/>
    <p:sldId id="886" r:id="rId57"/>
    <p:sldId id="887" r:id="rId58"/>
    <p:sldId id="878" r:id="rId59"/>
    <p:sldId id="879" r:id="rId60"/>
    <p:sldId id="888" r:id="rId61"/>
    <p:sldId id="890" r:id="rId62"/>
    <p:sldId id="891" r:id="rId63"/>
    <p:sldId id="892" r:id="rId64"/>
    <p:sldId id="896" r:id="rId65"/>
    <p:sldId id="894" r:id="rId66"/>
    <p:sldId id="895" r:id="rId67"/>
    <p:sldId id="893" r:id="rId68"/>
    <p:sldId id="897" r:id="rId69"/>
    <p:sldId id="898" r:id="rId70"/>
  </p:sldIdLst>
  <p:sldSz cx="9144000" cy="6858000" type="screen4x3"/>
  <p:notesSz cx="7099300" cy="10234613"/>
  <p:embeddedFontLst>
    <p:embeddedFont>
      <p:font typeface="Blackadder ITC" pitchFamily="82" charset="77"/>
      <p:regular r:id="rId73"/>
    </p:embeddedFont>
    <p:embeddedFont>
      <p:font typeface="Cambria Math" panose="02040503050406030204" pitchFamily="18" charset="0"/>
      <p:regular r:id="rId74"/>
    </p:embeddedFont>
    <p:embeddedFont>
      <p:font typeface="Consolas" panose="020B0609020204030204" pitchFamily="49" charset="0"/>
      <p:regular r:id="rId75"/>
      <p:bold r:id="rId76"/>
      <p:italic r:id="rId77"/>
      <p:boldItalic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83">
          <p15:clr>
            <a:srgbClr val="A4A3A4"/>
          </p15:clr>
        </p15:guide>
        <p15:guide id="2" pos="2880">
          <p15:clr>
            <a:srgbClr val="A4A3A4"/>
          </p15:clr>
        </p15:guide>
      </p15:sldGuideLst>
    </p:ext>
    <p:ext uri="{2D200454-40CA-4A62-9FC3-DE9A4176ACB9}">
      <p15:notes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2" roundtripDataSignature="AMtx7milieXwv5OUJdQk1cj/252aZuXc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E0B4"/>
    <a:srgbClr val="F8D7CD"/>
    <a:srgbClr val="A9D18E"/>
    <a:srgbClr val="E2F0D9"/>
    <a:srgbClr val="EAEFF7"/>
    <a:srgbClr val="E7E6E6"/>
    <a:srgbClr val="F2E6DC"/>
    <a:srgbClr val="ED7D31"/>
    <a:srgbClr val="AE5A21"/>
    <a:srgbClr val="7DC1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A107856-5554-42FB-B03E-39F5DBC370BA}" styleName="Mittlere Formatvorlage 4 - Akz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98" autoAdjust="0"/>
    <p:restoredTop sz="77288" autoAdjust="0"/>
  </p:normalViewPr>
  <p:slideViewPr>
    <p:cSldViewPr snapToGrid="0">
      <p:cViewPr varScale="1">
        <p:scale>
          <a:sx n="122" d="100"/>
          <a:sy n="122" d="100"/>
        </p:scale>
        <p:origin x="3192" y="192"/>
      </p:cViewPr>
      <p:guideLst>
        <p:guide orient="horz" pos="2183"/>
        <p:guide pos="2880"/>
      </p:guideLst>
    </p:cSldViewPr>
  </p:slideViewPr>
  <p:outlineViewPr>
    <p:cViewPr>
      <p:scale>
        <a:sx n="33" d="100"/>
        <a:sy n="33" d="100"/>
      </p:scale>
      <p:origin x="0" y="-7710"/>
    </p:cViewPr>
  </p:outlineViewPr>
  <p:notesTextViewPr>
    <p:cViewPr>
      <p:scale>
        <a:sx n="1" d="1"/>
        <a:sy n="1" d="1"/>
      </p:scale>
      <p:origin x="0" y="0"/>
    </p:cViewPr>
  </p:notesTextViewPr>
  <p:notesViewPr>
    <p:cSldViewPr snapToGrid="0">
      <p:cViewPr varScale="1">
        <p:scale>
          <a:sx n="82" d="100"/>
          <a:sy n="82" d="100"/>
        </p:scale>
        <p:origin x="4182" y="11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font" Target="fonts/font2.fntdata"/><Relationship Id="rId102" Type="http://customschemas.google.com/relationships/presentationmetadata" Target="metadata"/><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font" Target="fonts/font5.fntdata"/><Relationship Id="rId105"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font" Target="fonts/font1.fntdata"/><Relationship Id="rId78"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4.fntdata"/><Relationship Id="rId104"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64A2C434-A054-4EBF-8388-E049AC0EAE3A}"/>
              </a:ext>
            </a:extLst>
          </p:cNvPr>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de-AT" dirty="0">
              <a:latin typeface="Blackadder ITC" panose="04020505051007020D02" pitchFamily="82" charset="0"/>
            </a:endParaRPr>
          </a:p>
        </p:txBody>
      </p:sp>
      <p:sp>
        <p:nvSpPr>
          <p:cNvPr id="3" name="Datumsplatzhalter 2">
            <a:extLst>
              <a:ext uri="{FF2B5EF4-FFF2-40B4-BE49-F238E27FC236}">
                <a16:creationId xmlns:a16="http://schemas.microsoft.com/office/drawing/2014/main" id="{F6BE634D-62FB-45E6-853B-82932D9990A8}"/>
              </a:ext>
            </a:extLst>
          </p:cNvPr>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fld id="{C730D981-3C41-4E48-8B75-4D8577123F2D}" type="datetimeFigureOut">
              <a:rPr lang="de-AT" sz="1400" smtClean="0">
                <a:latin typeface="Calibri" panose="020F0502020204030204" pitchFamily="34" charset="0"/>
                <a:cs typeface="Calibri" panose="020F0502020204030204" pitchFamily="34" charset="0"/>
              </a:rPr>
              <a:t>16.03.26</a:t>
            </a:fld>
            <a:endParaRPr lang="de-AT" sz="1400" dirty="0">
              <a:latin typeface="Calibri" panose="020F0502020204030204" pitchFamily="34" charset="0"/>
              <a:cs typeface="Calibri" panose="020F0502020204030204" pitchFamily="34" charset="0"/>
            </a:endParaRPr>
          </a:p>
        </p:txBody>
      </p:sp>
      <p:sp>
        <p:nvSpPr>
          <p:cNvPr id="4" name="Fußzeilenplatzhalter 3">
            <a:extLst>
              <a:ext uri="{FF2B5EF4-FFF2-40B4-BE49-F238E27FC236}">
                <a16:creationId xmlns:a16="http://schemas.microsoft.com/office/drawing/2014/main" id="{E19ACCF7-6517-46DE-B295-84FC964BBCD9}"/>
              </a:ext>
            </a:extLst>
          </p:cNvPr>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a:defRPr sz="1200"/>
            </a:lvl1pPr>
          </a:lstStyle>
          <a:p>
            <a:endParaRPr lang="de-AT" dirty="0">
              <a:latin typeface="Blackadder ITC" panose="04020505051007020D02" pitchFamily="82" charset="0"/>
            </a:endParaRPr>
          </a:p>
        </p:txBody>
      </p:sp>
      <p:sp>
        <p:nvSpPr>
          <p:cNvPr id="5" name="Foliennummernplatzhalter 4">
            <a:extLst>
              <a:ext uri="{FF2B5EF4-FFF2-40B4-BE49-F238E27FC236}">
                <a16:creationId xmlns:a16="http://schemas.microsoft.com/office/drawing/2014/main" id="{E9E50896-C0DC-4B6A-AB93-D800C089ED34}"/>
              </a:ext>
            </a:extLst>
          </p:cNvPr>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a:defRPr sz="1200"/>
            </a:lvl1pPr>
          </a:lstStyle>
          <a:p>
            <a:fld id="{595CC917-7134-4DD0-998C-C7645B2DB20B}" type="slidenum">
              <a:rPr lang="de-AT" sz="1400" smtClean="0">
                <a:latin typeface="Calibri" panose="020F0502020204030204" pitchFamily="34" charset="0"/>
                <a:cs typeface="Calibri" panose="020F0502020204030204" pitchFamily="34" charset="0"/>
              </a:rPr>
              <a:t>‹#›</a:t>
            </a:fld>
            <a:endParaRPr lang="de-AT"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3680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00" b="0" i="0" u="none" strike="noStrike" cap="none">
        <a:solidFill>
          <a:srgbClr val="000000"/>
        </a:solidFill>
        <a:latin typeface="Blackadder ITC" panose="04020505051007020D02" pitchFamily="82" charset="0"/>
        <a:ea typeface="Blackadder ITC" panose="04020505051007020D02" pitchFamily="82"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1: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ctr"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76" name="Google Shape;76;p1: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de-DE" sz="1400" b="0" i="0" u="none" strike="noStrike" cap="none">
                <a:solidFill>
                  <a:srgbClr val="000000"/>
                </a:solidFill>
                <a:latin typeface="Blackadder ITC" panose="04020505051007020D02" pitchFamily="82" charset="0"/>
                <a:sym typeface="Arial"/>
              </a:rPr>
              <a:t>1</a:t>
            </a:fld>
            <a:endParaRPr sz="1400" b="0" i="0" u="none" strike="noStrike" cap="none" dirty="0">
              <a:solidFill>
                <a:srgbClr val="000000"/>
              </a:solidFill>
              <a:latin typeface="Blackadder ITC" panose="04020505051007020D02" pitchFamily="82" charset="0"/>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1952030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1065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0472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5</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29952922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8371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01944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31989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51476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10</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25299595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376643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619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38631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2204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44449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40402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099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31631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00511A50-FFCD-A099-3A89-7DF9E3888613}"/>
              </a:ext>
            </a:extLst>
          </p:cNvPr>
          <p:cNvSpPr>
            <a:spLocks noGrp="1"/>
          </p:cNvSpPr>
          <p:nvPr>
            <p:ph type="body" idx="1"/>
          </p:nvPr>
        </p:nvSpPr>
        <p:spPr/>
        <p:txBody>
          <a:bodyPr/>
          <a:lstStyle/>
          <a:p>
            <a:r>
              <a:rPr lang="en-AT" dirty="0"/>
              <a:t>Since the sum starts with j=1, we have to subtrtact 1=2^0 (j=0) to get the geometric series.</a:t>
            </a:r>
          </a:p>
        </p:txBody>
      </p:sp>
    </p:spTree>
    <p:extLst>
      <p:ext uri="{BB962C8B-B14F-4D97-AF65-F5344CB8AC3E}">
        <p14:creationId xmlns:p14="http://schemas.microsoft.com/office/powerpoint/2010/main" val="2843075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11360057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0490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54740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23</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31847716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28708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07654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9461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27</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38279449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386372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29</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13362155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3297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03541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8804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34046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693191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34844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809947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35186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38</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6570622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457156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CBD5E53F-0E27-A2E6-A9CB-E1F0E4A7865C}"/>
              </a:ext>
            </a:extLst>
          </p:cNvPr>
          <p:cNvSpPr>
            <a:spLocks noGrp="1"/>
          </p:cNvSpPr>
          <p:nvPr>
            <p:ph type="body" idx="1"/>
          </p:nvPr>
        </p:nvSpPr>
        <p:spPr/>
        <p:txBody>
          <a:bodyPr/>
          <a:lstStyle/>
          <a:p>
            <a:r>
              <a:rPr lang="en-AT" dirty="0"/>
              <a:t>Adapter design pattern: wrap existing LInkedList operations in the stack implementation</a:t>
            </a:r>
          </a:p>
        </p:txBody>
      </p:sp>
    </p:spTree>
    <p:extLst>
      <p:ext uri="{BB962C8B-B14F-4D97-AF65-F5344CB8AC3E}">
        <p14:creationId xmlns:p14="http://schemas.microsoft.com/office/powerpoint/2010/main" val="3856715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3376060F-9812-3269-ADFB-98D8FE3E323A}"/>
              </a:ext>
            </a:extLst>
          </p:cNvPr>
          <p:cNvSpPr>
            <a:spLocks noGrp="1"/>
          </p:cNvSpPr>
          <p:nvPr>
            <p:ph type="body" idx="1"/>
          </p:nvPr>
        </p:nvSpPr>
        <p:spPr/>
        <p:txBody>
          <a:bodyPr/>
          <a:lstStyle/>
          <a:p>
            <a:r>
              <a:rPr lang="en-AT" dirty="0"/>
              <a:t>This follow the adapter design pattern</a:t>
            </a:r>
          </a:p>
        </p:txBody>
      </p:sp>
    </p:spTree>
    <p:extLst>
      <p:ext uri="{BB962C8B-B14F-4D97-AF65-F5344CB8AC3E}">
        <p14:creationId xmlns:p14="http://schemas.microsoft.com/office/powerpoint/2010/main" val="26670174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8327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141012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2659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45</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12028331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83122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47</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780965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47639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50268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001110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257867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49269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2054362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05741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587715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56</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182086964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6159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1EE24FA1-F529-332C-A76E-53E61D81233E}"/>
              </a:ext>
            </a:extLst>
          </p:cNvPr>
          <p:cNvSpPr>
            <a:spLocks noGrp="1"/>
          </p:cNvSpPr>
          <p:nvPr>
            <p:ph type="body" idx="1"/>
          </p:nvPr>
        </p:nvSpPr>
        <p:spPr/>
        <p:txBody>
          <a:bodyPr/>
          <a:lstStyle/>
          <a:p>
            <a:endParaRPr lang="en-AT" dirty="0"/>
          </a:p>
        </p:txBody>
      </p:sp>
    </p:spTree>
    <p:extLst>
      <p:ext uri="{BB962C8B-B14F-4D97-AF65-F5344CB8AC3E}">
        <p14:creationId xmlns:p14="http://schemas.microsoft.com/office/powerpoint/2010/main" val="261173265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5002642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280133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809434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7646985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63</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189937190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072398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947086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66</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358843254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6537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0"/>
        <p:cNvGrpSpPr/>
        <p:nvPr/>
      </p:nvGrpSpPr>
      <p:grpSpPr>
        <a:xfrm>
          <a:off x="0" y="0"/>
          <a:ext cx="0" cy="0"/>
          <a:chOff x="0" y="0"/>
          <a:chExt cx="0" cy="0"/>
        </a:xfrm>
      </p:grpSpPr>
      <p:sp>
        <p:nvSpPr>
          <p:cNvPr id="21" name="Google Shape;21;g61e8dd047e_0_15"/>
          <p:cNvSpPr txBox="1">
            <a:spLocks noGrp="1"/>
          </p:cNvSpPr>
          <p:nvPr>
            <p:ph type="title"/>
          </p:nvPr>
        </p:nvSpPr>
        <p:spPr>
          <a:xfrm>
            <a:off x="457200" y="273600"/>
            <a:ext cx="822930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sz="2800" b="1">
                <a:latin typeface="Calibri" panose="020F0502020204030204" pitchFamily="34" charset="0"/>
                <a:cs typeface="Calibri" panose="020F050202020403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2" name="Google Shape;22;g61e8dd047e_0_15"/>
          <p:cNvSpPr txBox="1">
            <a:spLocks noGrp="1"/>
          </p:cNvSpPr>
          <p:nvPr>
            <p:ph type="body" idx="1"/>
          </p:nvPr>
        </p:nvSpPr>
        <p:spPr>
          <a:xfrm>
            <a:off x="2286000" y="338760"/>
            <a:ext cx="6399300" cy="4824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SzPts val="1400"/>
              <a:buNone/>
              <a:defRPr sz="1800">
                <a:latin typeface="Calibri" panose="020F0502020204030204" pitchFamily="34" charset="0"/>
                <a:cs typeface="Calibri" panose="020F0502020204030204" pitchFamily="34" charset="0"/>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dirty="0"/>
          </a:p>
        </p:txBody>
      </p:sp>
      <p:sp>
        <p:nvSpPr>
          <p:cNvPr id="2" name="Textfeld 1">
            <a:extLst>
              <a:ext uri="{FF2B5EF4-FFF2-40B4-BE49-F238E27FC236}">
                <a16:creationId xmlns:a16="http://schemas.microsoft.com/office/drawing/2014/main" id="{EAB9558B-27C5-4CC8-9685-151D67DE7720}"/>
              </a:ext>
            </a:extLst>
          </p:cNvPr>
          <p:cNvSpPr txBox="1"/>
          <p:nvPr userDrawn="1"/>
        </p:nvSpPr>
        <p:spPr>
          <a:xfrm>
            <a:off x="8180614" y="6434758"/>
            <a:ext cx="1232807" cy="338554"/>
          </a:xfrm>
          <a:prstGeom prst="rect">
            <a:avLst/>
          </a:prstGeom>
          <a:noFill/>
        </p:spPr>
        <p:txBody>
          <a:bodyPr wrap="square" rtlCol="0">
            <a:spAutoFit/>
          </a:bodyPr>
          <a:lstStyle/>
          <a:p>
            <a:fld id="{CE9CBD56-2686-4AAC-B011-CC68FE510BD3}" type="slidenum">
              <a:rPr lang="de-AT" sz="1600" baseline="0" smtClean="0">
                <a:solidFill>
                  <a:schemeClr val="bg1"/>
                </a:solidFill>
                <a:latin typeface="Calibri" panose="020F0502020204030204" pitchFamily="34" charset="0"/>
                <a:cs typeface="Calibri" panose="020F0502020204030204" pitchFamily="34" charset="0"/>
              </a:rPr>
              <a:t>‹#›</a:t>
            </a:fld>
            <a:r>
              <a:rPr lang="de-AT" sz="1600" baseline="0" dirty="0">
                <a:solidFill>
                  <a:schemeClr val="bg1"/>
                </a:solidFill>
                <a:latin typeface="Calibri" panose="020F0502020204030204" pitchFamily="34" charset="0"/>
                <a:cs typeface="Calibri" panose="020F0502020204030204" pitchFamily="34" charset="0"/>
              </a:rPr>
              <a:t> / 67</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Title, Content">
    <p:spTree>
      <p:nvGrpSpPr>
        <p:cNvPr id="1" name="Shape 20"/>
        <p:cNvGrpSpPr/>
        <p:nvPr/>
      </p:nvGrpSpPr>
      <p:grpSpPr>
        <a:xfrm>
          <a:off x="0" y="0"/>
          <a:ext cx="0" cy="0"/>
          <a:chOff x="0" y="0"/>
          <a:chExt cx="0" cy="0"/>
        </a:xfrm>
      </p:grpSpPr>
      <p:sp>
        <p:nvSpPr>
          <p:cNvPr id="21" name="Google Shape;21;g61e8dd047e_0_15"/>
          <p:cNvSpPr txBox="1">
            <a:spLocks noGrp="1"/>
          </p:cNvSpPr>
          <p:nvPr>
            <p:ph type="title"/>
          </p:nvPr>
        </p:nvSpPr>
        <p:spPr>
          <a:xfrm>
            <a:off x="457200" y="273600"/>
            <a:ext cx="822930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g61e8dd047e_0_15"/>
          <p:cNvSpPr txBox="1">
            <a:spLocks noGrp="1"/>
          </p:cNvSpPr>
          <p:nvPr>
            <p:ph type="body" idx="1"/>
          </p:nvPr>
        </p:nvSpPr>
        <p:spPr>
          <a:xfrm>
            <a:off x="2286000" y="338760"/>
            <a:ext cx="6399300" cy="4824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dirty="0"/>
          </a:p>
        </p:txBody>
      </p:sp>
      <p:sp>
        <p:nvSpPr>
          <p:cNvPr id="2" name="Textfeld 1">
            <a:extLst>
              <a:ext uri="{FF2B5EF4-FFF2-40B4-BE49-F238E27FC236}">
                <a16:creationId xmlns:a16="http://schemas.microsoft.com/office/drawing/2014/main" id="{EAB9558B-27C5-4CC8-9685-151D67DE7720}"/>
              </a:ext>
            </a:extLst>
          </p:cNvPr>
          <p:cNvSpPr txBox="1"/>
          <p:nvPr userDrawn="1"/>
        </p:nvSpPr>
        <p:spPr>
          <a:xfrm>
            <a:off x="8172798" y="6415123"/>
            <a:ext cx="1232807" cy="338554"/>
          </a:xfrm>
          <a:prstGeom prst="rect">
            <a:avLst/>
          </a:prstGeom>
          <a:noFill/>
        </p:spPr>
        <p:txBody>
          <a:bodyPr wrap="square" rtlCol="0">
            <a:spAutoFit/>
          </a:bodyPr>
          <a:lstStyle/>
          <a:p>
            <a:fld id="{CE9CBD56-2686-4AAC-B011-CC68FE510BD3}" type="slidenum">
              <a:rPr lang="de-AT" sz="1600" smtClean="0">
                <a:solidFill>
                  <a:schemeClr val="bg1"/>
                </a:solidFill>
                <a:latin typeface="Calibri" panose="020F0502020204030204" pitchFamily="34" charset="0"/>
                <a:ea typeface="Calibri" panose="020F0502020204030204" pitchFamily="34" charset="0"/>
                <a:cs typeface="Calibri" panose="020F0502020204030204" pitchFamily="34" charset="0"/>
              </a:rPr>
              <a:t>‹#›</a:t>
            </a:fld>
            <a:r>
              <a:rPr lang="de-AT" sz="1600" dirty="0">
                <a:solidFill>
                  <a:schemeClr val="bg1"/>
                </a:solidFill>
                <a:latin typeface="Calibri" panose="020F0502020204030204" pitchFamily="34" charset="0"/>
                <a:ea typeface="Calibri" panose="020F0502020204030204" pitchFamily="34" charset="0"/>
                <a:cs typeface="Calibri" panose="020F0502020204030204" pitchFamily="34" charset="0"/>
              </a:rPr>
              <a:t> / 67</a:t>
            </a:r>
          </a:p>
        </p:txBody>
      </p:sp>
    </p:spTree>
    <p:extLst>
      <p:ext uri="{BB962C8B-B14F-4D97-AF65-F5344CB8AC3E}">
        <p14:creationId xmlns:p14="http://schemas.microsoft.com/office/powerpoint/2010/main" val="2895099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reserve="1">
  <p:cSld name="1_Title, Content">
    <p:spTree>
      <p:nvGrpSpPr>
        <p:cNvPr id="1" name="Shape 20"/>
        <p:cNvGrpSpPr/>
        <p:nvPr/>
      </p:nvGrpSpPr>
      <p:grpSpPr>
        <a:xfrm>
          <a:off x="0" y="0"/>
          <a:ext cx="0" cy="0"/>
          <a:chOff x="0" y="0"/>
          <a:chExt cx="0" cy="0"/>
        </a:xfrm>
      </p:grpSpPr>
      <p:sp>
        <p:nvSpPr>
          <p:cNvPr id="21" name="Google Shape;21;g61e8dd047e_0_15"/>
          <p:cNvSpPr txBox="1">
            <a:spLocks noGrp="1"/>
          </p:cNvSpPr>
          <p:nvPr>
            <p:ph type="title"/>
          </p:nvPr>
        </p:nvSpPr>
        <p:spPr>
          <a:xfrm>
            <a:off x="457200" y="273600"/>
            <a:ext cx="822930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2" name="Google Shape;22;g61e8dd047e_0_15"/>
          <p:cNvSpPr txBox="1">
            <a:spLocks noGrp="1"/>
          </p:cNvSpPr>
          <p:nvPr>
            <p:ph type="body" idx="1"/>
          </p:nvPr>
        </p:nvSpPr>
        <p:spPr>
          <a:xfrm>
            <a:off x="619431" y="2142979"/>
            <a:ext cx="7934633" cy="3525317"/>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dirty="0"/>
          </a:p>
        </p:txBody>
      </p:sp>
      <p:sp>
        <p:nvSpPr>
          <p:cNvPr id="2" name="Textfeld 1">
            <a:extLst>
              <a:ext uri="{FF2B5EF4-FFF2-40B4-BE49-F238E27FC236}">
                <a16:creationId xmlns:a16="http://schemas.microsoft.com/office/drawing/2014/main" id="{EAB9558B-27C5-4CC8-9685-151D67DE7720}"/>
              </a:ext>
            </a:extLst>
          </p:cNvPr>
          <p:cNvSpPr txBox="1"/>
          <p:nvPr userDrawn="1"/>
        </p:nvSpPr>
        <p:spPr>
          <a:xfrm>
            <a:off x="8180614" y="6433200"/>
            <a:ext cx="1232807" cy="338554"/>
          </a:xfrm>
          <a:prstGeom prst="rect">
            <a:avLst/>
          </a:prstGeom>
          <a:noFill/>
        </p:spPr>
        <p:txBody>
          <a:bodyPr wrap="square" rtlCol="0">
            <a:spAutoFit/>
          </a:bodyPr>
          <a:lstStyle/>
          <a:p>
            <a:fld id="{CE9CBD56-2686-4AAC-B011-CC68FE510BD3}" type="slidenum">
              <a:rPr lang="de-AT" sz="1600" smtClean="0">
                <a:solidFill>
                  <a:schemeClr val="bg1"/>
                </a:solidFill>
                <a:latin typeface="Calibri" panose="020F0502020204030204" pitchFamily="34" charset="0"/>
                <a:ea typeface="Calibri" panose="020F0502020204030204" pitchFamily="34" charset="0"/>
                <a:cs typeface="Calibri" panose="020F0502020204030204" pitchFamily="34" charset="0"/>
              </a:rPr>
              <a:t>‹#›</a:t>
            </a:fld>
            <a:r>
              <a:rPr lang="de-AT" sz="1600" dirty="0">
                <a:solidFill>
                  <a:schemeClr val="bg1"/>
                </a:solidFill>
                <a:latin typeface="Calibri" panose="020F0502020204030204" pitchFamily="34" charset="0"/>
                <a:ea typeface="Calibri" panose="020F0502020204030204" pitchFamily="34" charset="0"/>
                <a:cs typeface="Calibri" panose="020F0502020204030204" pitchFamily="34" charset="0"/>
              </a:rPr>
              <a:t> / 67</a:t>
            </a:r>
          </a:p>
        </p:txBody>
      </p:sp>
    </p:spTree>
    <p:extLst>
      <p:ext uri="{BB962C8B-B14F-4D97-AF65-F5344CB8AC3E}">
        <p14:creationId xmlns:p14="http://schemas.microsoft.com/office/powerpoint/2010/main" val="1595920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alphaModFix/>
          </a:blip>
          <a:srcRect/>
          <a:stretch>
            <a:fillRect/>
          </a:stretch>
        </a:blipFill>
        <a:effectLst/>
      </p:bgPr>
    </p:bg>
    <p:spTree>
      <p:nvGrpSpPr>
        <p:cNvPr id="1" name="Shape 5"/>
        <p:cNvGrpSpPr/>
        <p:nvPr/>
      </p:nvGrpSpPr>
      <p:grpSpPr>
        <a:xfrm>
          <a:off x="0" y="0"/>
          <a:ext cx="0" cy="0"/>
          <a:chOff x="0" y="0"/>
          <a:chExt cx="0" cy="0"/>
        </a:xfrm>
      </p:grpSpPr>
      <p:pic>
        <p:nvPicPr>
          <p:cNvPr id="6" name="Google Shape;6;g61e8dd047e_0_0"/>
          <p:cNvPicPr preferRelativeResize="0"/>
          <p:nvPr/>
        </p:nvPicPr>
        <p:blipFill rotWithShape="1">
          <a:blip r:embed="rId4">
            <a:alphaModFix/>
          </a:blip>
          <a:srcRect/>
          <a:stretch/>
        </p:blipFill>
        <p:spPr>
          <a:xfrm>
            <a:off x="0" y="360"/>
            <a:ext cx="9143642" cy="6857280"/>
          </a:xfrm>
          <a:prstGeom prst="rect">
            <a:avLst/>
          </a:prstGeom>
          <a:noFill/>
          <a:ln>
            <a:noFill/>
          </a:ln>
        </p:spPr>
      </p:pic>
      <p:pic>
        <p:nvPicPr>
          <p:cNvPr id="7" name="Google Shape;7;g61e8dd047e_0_0"/>
          <p:cNvPicPr preferRelativeResize="0"/>
          <p:nvPr/>
        </p:nvPicPr>
        <p:blipFill rotWithShape="1">
          <a:blip r:embed="rId5">
            <a:alphaModFix/>
          </a:blip>
          <a:srcRect/>
          <a:stretch/>
        </p:blipFill>
        <p:spPr>
          <a:xfrm>
            <a:off x="0" y="360"/>
            <a:ext cx="9143642" cy="6857280"/>
          </a:xfrm>
          <a:prstGeom prst="rect">
            <a:avLst/>
          </a:prstGeom>
          <a:noFill/>
          <a:ln>
            <a:noFill/>
          </a:ln>
        </p:spPr>
      </p:pic>
      <p:sp>
        <p:nvSpPr>
          <p:cNvPr id="11" name="Google Shape;11;g61e8dd047e_0_0"/>
          <p:cNvSpPr/>
          <p:nvPr/>
        </p:nvSpPr>
        <p:spPr>
          <a:xfrm>
            <a:off x="3657600" y="1481760"/>
            <a:ext cx="184200" cy="307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Blackadder ITC" panose="04020505051007020D02" pitchFamily="82" charset="0"/>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4">
            <a:alphaModFix/>
          </a:blip>
          <a:srcRect/>
          <a:stretch>
            <a:fillRect/>
          </a:stretch>
        </a:blipFill>
        <a:effectLst/>
      </p:bgPr>
    </p:bg>
    <p:spTree>
      <p:nvGrpSpPr>
        <p:cNvPr id="1" name="Shape 5"/>
        <p:cNvGrpSpPr/>
        <p:nvPr/>
      </p:nvGrpSpPr>
      <p:grpSpPr>
        <a:xfrm>
          <a:off x="0" y="0"/>
          <a:ext cx="0" cy="0"/>
          <a:chOff x="0" y="0"/>
          <a:chExt cx="0" cy="0"/>
        </a:xfrm>
      </p:grpSpPr>
      <p:pic>
        <p:nvPicPr>
          <p:cNvPr id="6" name="Google Shape;6;g61e8dd047e_0_0"/>
          <p:cNvPicPr preferRelativeResize="0"/>
          <p:nvPr/>
        </p:nvPicPr>
        <p:blipFill rotWithShape="1">
          <a:blip r:embed="rId5">
            <a:alphaModFix/>
          </a:blip>
          <a:srcRect/>
          <a:stretch/>
        </p:blipFill>
        <p:spPr>
          <a:xfrm>
            <a:off x="0" y="360"/>
            <a:ext cx="9143642" cy="6857280"/>
          </a:xfrm>
          <a:prstGeom prst="rect">
            <a:avLst/>
          </a:prstGeom>
          <a:noFill/>
          <a:ln>
            <a:noFill/>
          </a:ln>
        </p:spPr>
      </p:pic>
      <p:pic>
        <p:nvPicPr>
          <p:cNvPr id="7" name="Google Shape;7;g61e8dd047e_0_0"/>
          <p:cNvPicPr preferRelativeResize="0"/>
          <p:nvPr/>
        </p:nvPicPr>
        <p:blipFill rotWithShape="1">
          <a:blip r:embed="rId6">
            <a:alphaModFix/>
          </a:blip>
          <a:srcRect/>
          <a:stretch/>
        </p:blipFill>
        <p:spPr>
          <a:xfrm>
            <a:off x="0" y="360"/>
            <a:ext cx="9143642" cy="6857280"/>
          </a:xfrm>
          <a:prstGeom prst="rect">
            <a:avLst/>
          </a:prstGeom>
          <a:noFill/>
          <a:ln>
            <a:noFill/>
          </a:ln>
        </p:spPr>
      </p:pic>
      <p:sp>
        <p:nvSpPr>
          <p:cNvPr id="11" name="Google Shape;11;g61e8dd047e_0_0"/>
          <p:cNvSpPr/>
          <p:nvPr/>
        </p:nvSpPr>
        <p:spPr>
          <a:xfrm>
            <a:off x="3657600" y="1481760"/>
            <a:ext cx="184200" cy="307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46224536"/>
      </p:ext>
    </p:extLst>
  </p:cSld>
  <p:clrMap bg1="lt1" tx1="dk1" bg2="dk2" tx2="lt2" accent1="accent1" accent2="accent2" accent3="accent3" accent4="accent4" accent5="accent5" accent6="accent6" hlink="hlink" folHlink="folHlink"/>
  <p:sldLayoutIdLst>
    <p:sldLayoutId id="2147483652" r:id="rId1"/>
    <p:sldLayoutId id="2147483653"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28.xml"/><Relationship Id="rId13" Type="http://schemas.openxmlformats.org/officeDocument/2006/relationships/slide" Target="slide57.xml"/><Relationship Id="rId3" Type="http://schemas.openxmlformats.org/officeDocument/2006/relationships/slide" Target="slide3.xml"/><Relationship Id="rId7" Type="http://schemas.openxmlformats.org/officeDocument/2006/relationships/slide" Target="slide24.xml"/><Relationship Id="rId12" Type="http://schemas.openxmlformats.org/officeDocument/2006/relationships/slide" Target="slide48.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slide" Target="slide21.xml"/><Relationship Id="rId11" Type="http://schemas.openxmlformats.org/officeDocument/2006/relationships/slide" Target="slide46.xml"/><Relationship Id="rId5" Type="http://schemas.openxmlformats.org/officeDocument/2006/relationships/slide" Target="slide11.xml"/><Relationship Id="rId10" Type="http://schemas.openxmlformats.org/officeDocument/2006/relationships/slide" Target="slide39.xml"/><Relationship Id="rId4" Type="http://schemas.openxmlformats.org/officeDocument/2006/relationships/slide" Target="slide6.xml"/><Relationship Id="rId9" Type="http://schemas.openxmlformats.org/officeDocument/2006/relationships/slide" Target="slide30.xml"/><Relationship Id="rId14" Type="http://schemas.openxmlformats.org/officeDocument/2006/relationships/slide" Target="slide6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ifromm/dsa/blob/main/notebooks/dspython.ipynb"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ifromm/dsa/blob/main/notebooks/dspython.ipynb"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github.com/ifromm/dsa/blob/main/notebooks/dspython.ipynb"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6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github.com/ifromm/dsa/blob/main/notebooks/dspython.ipynb"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
          <p:cNvPicPr preferRelativeResize="0"/>
          <p:nvPr/>
        </p:nvPicPr>
        <p:blipFill rotWithShape="1">
          <a:blip r:embed="rId3">
            <a:alphaModFix/>
          </a:blip>
          <a:srcRect/>
          <a:stretch/>
        </p:blipFill>
        <p:spPr>
          <a:xfrm>
            <a:off x="0" y="0"/>
            <a:ext cx="9144000" cy="6858046"/>
          </a:xfrm>
          <a:prstGeom prst="rect">
            <a:avLst/>
          </a:prstGeom>
          <a:solidFill>
            <a:srgbClr val="D3242A"/>
          </a:solidFill>
          <a:ln>
            <a:noFill/>
          </a:ln>
        </p:spPr>
      </p:pic>
      <p:sp>
        <p:nvSpPr>
          <p:cNvPr id="79" name="Google Shape;79;p1"/>
          <p:cNvSpPr txBox="1">
            <a:spLocks noGrp="1"/>
          </p:cNvSpPr>
          <p:nvPr>
            <p:ph type="title"/>
          </p:nvPr>
        </p:nvSpPr>
        <p:spPr>
          <a:xfrm>
            <a:off x="353192" y="4030874"/>
            <a:ext cx="8229300" cy="114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100"/>
              <a:buFont typeface="Calibri"/>
              <a:buNone/>
            </a:pPr>
            <a:r>
              <a:rPr lang="en-US" sz="4400" noProof="0" dirty="0">
                <a:solidFill>
                  <a:schemeClr val="lt1"/>
                </a:solidFill>
                <a:latin typeface="Calibri"/>
                <a:ea typeface="Calibri"/>
                <a:cs typeface="Calibri"/>
                <a:sym typeface="Calibri"/>
              </a:rPr>
              <a:t>Algorithms and Data Structures</a:t>
            </a:r>
            <a:endParaRPr lang="en-US" sz="4400" b="1" noProof="0" dirty="0">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1100"/>
              <a:buFont typeface="Calibri"/>
              <a:buNone/>
            </a:pPr>
            <a:endParaRPr lang="en-US" sz="4400" b="1" noProof="0" dirty="0">
              <a:solidFill>
                <a:schemeClr val="dk1"/>
              </a:solidFill>
              <a:latin typeface="Calibri"/>
              <a:ea typeface="Calibri"/>
              <a:cs typeface="Calibri"/>
              <a:sym typeface="Calibri"/>
            </a:endParaRPr>
          </a:p>
        </p:txBody>
      </p:sp>
      <p:sp>
        <p:nvSpPr>
          <p:cNvPr id="80" name="Google Shape;80;p1"/>
          <p:cNvSpPr txBox="1">
            <a:spLocks noGrp="1"/>
          </p:cNvSpPr>
          <p:nvPr>
            <p:ph type="body" idx="1"/>
          </p:nvPr>
        </p:nvSpPr>
        <p:spPr>
          <a:xfrm>
            <a:off x="1454509" y="5175674"/>
            <a:ext cx="6838154" cy="482400"/>
          </a:xfrm>
          <a:prstGeom prst="rect">
            <a:avLst/>
          </a:prstGeom>
          <a:noFill/>
          <a:ln>
            <a:noFill/>
          </a:ln>
        </p:spPr>
        <p:txBody>
          <a:bodyPr spcFirstLastPara="1" wrap="square" lIns="91425" tIns="45700" rIns="91425" bIns="45700" anchor="t" anchorCtr="0">
            <a:noAutofit/>
          </a:bodyPr>
          <a:lstStyle/>
          <a:p>
            <a:pPr marL="0" indent="0">
              <a:spcBef>
                <a:spcPts val="0"/>
              </a:spcBef>
              <a:buSzPts val="800"/>
            </a:pPr>
            <a:r>
              <a:rPr lang="en-US" sz="3200" b="0" i="0" u="none" strike="noStrike" cap="none" noProof="0" dirty="0">
                <a:solidFill>
                  <a:schemeClr val="lt1"/>
                </a:solidFill>
                <a:latin typeface="Calibri"/>
                <a:ea typeface="Calibri"/>
                <a:cs typeface="Calibri"/>
                <a:sym typeface="Calibri"/>
              </a:rPr>
              <a:t>Unit 3</a:t>
            </a:r>
            <a:r>
              <a:rPr lang="en-US" sz="3200" noProof="0" dirty="0">
                <a:solidFill>
                  <a:schemeClr val="lt1"/>
                </a:solidFill>
                <a:latin typeface="Calibri"/>
                <a:ea typeface="Calibri"/>
                <a:cs typeface="Calibri"/>
                <a:sym typeface="Calibri"/>
              </a:rPr>
              <a:t> </a:t>
            </a:r>
            <a:r>
              <a:rPr lang="en-US" sz="3200" b="0" i="0" u="none" strike="noStrike" cap="none" noProof="0" dirty="0">
                <a:solidFill>
                  <a:schemeClr val="lt1"/>
                </a:solidFill>
                <a:latin typeface="Calibri"/>
                <a:ea typeface="Calibri"/>
                <a:cs typeface="Calibri"/>
                <a:sym typeface="Calibri"/>
              </a:rPr>
              <a:t>–</a:t>
            </a:r>
            <a:r>
              <a:rPr lang="en-US" sz="3200" noProof="0" dirty="0">
                <a:solidFill>
                  <a:schemeClr val="lt1"/>
                </a:solidFill>
                <a:latin typeface="Calibri"/>
                <a:ea typeface="Calibri"/>
                <a:cs typeface="Calibri"/>
                <a:sym typeface="Calibri"/>
              </a:rPr>
              <a:t> </a:t>
            </a:r>
            <a:r>
              <a:rPr lang="en-US" sz="3200" b="0" i="0" u="none" strike="noStrike" cap="none" noProof="0" dirty="0">
                <a:solidFill>
                  <a:schemeClr val="lt1"/>
                </a:solidFill>
                <a:latin typeface="Calibri"/>
                <a:ea typeface="Calibri"/>
                <a:cs typeface="Calibri"/>
                <a:sym typeface="Calibri"/>
              </a:rPr>
              <a:t> Elementary Data Structures I</a:t>
            </a:r>
            <a:endParaRPr lang="en-US" sz="3200" b="0" i="0" u="none" strike="noStrike" cap="none" noProof="0" dirty="0">
              <a:solidFill>
                <a:schemeClr val="lt1"/>
              </a:solidFill>
              <a:latin typeface="Calibri"/>
              <a:ea typeface="Calibri"/>
              <a:cs typeface="Calibri"/>
            </a:endParaRPr>
          </a:p>
        </p:txBody>
      </p:sp>
      <p:sp>
        <p:nvSpPr>
          <p:cNvPr id="2" name="Rechteck 1">
            <a:extLst>
              <a:ext uri="{FF2B5EF4-FFF2-40B4-BE49-F238E27FC236}">
                <a16:creationId xmlns:a16="http://schemas.microsoft.com/office/drawing/2014/main" id="{E5EBE914-4CDA-45B5-B72B-D9613B9F4C3F}"/>
              </a:ext>
            </a:extLst>
          </p:cNvPr>
          <p:cNvSpPr/>
          <p:nvPr/>
        </p:nvSpPr>
        <p:spPr>
          <a:xfrm>
            <a:off x="8147261" y="6409467"/>
            <a:ext cx="702051" cy="316357"/>
          </a:xfrm>
          <a:prstGeom prst="rect">
            <a:avLst/>
          </a:prstGeom>
          <a:solidFill>
            <a:srgbClr val="D324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latin typeface="Blackadder ITC" panose="04020505051007020D02" pitchFamily="82" charset="0"/>
            </a:endParaRPr>
          </a:p>
        </p:txBody>
      </p:sp>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noProof="0" dirty="0">
                <a:solidFill>
                  <a:schemeClr val="dk1"/>
                </a:solidFill>
                <a:latin typeface="Calibri"/>
                <a:cs typeface="Calibri"/>
                <a:sym typeface="Calibri"/>
              </a:rPr>
              <a:t>Outline</a:t>
            </a:r>
            <a:endParaRPr lang="en-US" noProof="0" dirty="0">
              <a:solidFill>
                <a:schemeClr val="dk1"/>
              </a:solidFill>
            </a:endParaRPr>
          </a:p>
        </p:txBody>
      </p:sp>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5" name="Textfeld 4">
            <a:extLst>
              <a:ext uri="{FF2B5EF4-FFF2-40B4-BE49-F238E27FC236}">
                <a16:creationId xmlns:a16="http://schemas.microsoft.com/office/drawing/2014/main" id="{29E762BB-C30C-4581-B3C1-7319E93FAD44}"/>
              </a:ext>
            </a:extLst>
          </p:cNvPr>
          <p:cNvSpPr txBox="1"/>
          <p:nvPr/>
        </p:nvSpPr>
        <p:spPr>
          <a:xfrm>
            <a:off x="457200" y="1701579"/>
            <a:ext cx="7533861" cy="3416320"/>
          </a:xfrm>
          <a:prstGeom prst="rect">
            <a:avLst/>
          </a:prstGeom>
          <a:noFill/>
        </p:spPr>
        <p:txBody>
          <a:bodyPr wrap="square" rtlCol="0">
            <a:spAutoFit/>
          </a:bodyPr>
          <a:lstStyle/>
          <a:p>
            <a:pPr marL="342900" indent="-342900">
              <a:buFont typeface="+mj-lt"/>
              <a:buAutoNum type="arabicPeriod"/>
            </a:pPr>
            <a:r>
              <a:rPr lang="en-US" sz="1800" dirty="0">
                <a:latin typeface="Calibri" panose="020F0502020204030204" pitchFamily="34" charset="0"/>
                <a:cs typeface="Calibri" panose="020F0502020204030204" pitchFamily="34" charset="0"/>
                <a:hlinkClick r:id="rId3" action="ppaction://hlinksldjump"/>
              </a:rPr>
              <a:t>Low-level arrays</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4" action="ppaction://hlinksldjump"/>
              </a:rPr>
              <a:t>Referential arrays</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5" action="ppaction://hlinksldjump"/>
              </a:rPr>
              <a:t>Dynamic arrays and amortization</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6" action="ppaction://hlinksldjump"/>
              </a:rPr>
              <a:t>Exercise</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7" action="ppaction://hlinksldjump"/>
              </a:rPr>
              <a:t>Python’s lists revisited</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8" action="ppaction://hlinksldjump"/>
              </a:rPr>
              <a:t>Exercise</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9" action="ppaction://hlinksldjump"/>
              </a:rPr>
              <a:t>Stacks</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10" action="ppaction://hlinksldjump"/>
              </a:rPr>
              <a:t>Exercise</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11" action="ppaction://hlinksldjump"/>
              </a:rPr>
              <a:t>Exercise</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12" action="ppaction://hlinksldjump"/>
              </a:rPr>
              <a:t>Queues</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13" action="ppaction://hlinksldjump"/>
              </a:rPr>
              <a:t>Exercise</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a:latin typeface="Calibri" panose="020F0502020204030204" pitchFamily="34" charset="0"/>
                <a:cs typeface="Calibri" panose="020F0502020204030204" pitchFamily="34" charset="0"/>
                <a:hlinkClick r:id="rId14" action="ppaction://hlinksldjump"/>
              </a:rPr>
              <a:t>Exercise</a:t>
            </a:r>
            <a:endParaRPr lang="en-US" sz="1800" dirty="0">
              <a:latin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8400"/>
            <a:ext cx="8229300" cy="1144800"/>
          </a:xfrm>
        </p:spPr>
        <p:txBody>
          <a:bodyPr/>
          <a:lstStyle/>
          <a:p>
            <a:pPr algn="ctr"/>
            <a:r>
              <a:rPr lang="en-US" sz="4400" b="1" dirty="0">
                <a:latin typeface="Calibri" panose="020F0502020204030204" pitchFamily="34" charset="0"/>
                <a:cs typeface="Calibri" panose="020F0502020204030204" pitchFamily="34" charset="0"/>
              </a:rPr>
              <a:t>L</a:t>
            </a:r>
            <a:r>
              <a:rPr lang="en-US" sz="4400" b="1" noProof="0" dirty="0">
                <a:latin typeface="Calibri" panose="020F0502020204030204" pitchFamily="34" charset="0"/>
                <a:cs typeface="Calibri" panose="020F0502020204030204" pitchFamily="34" charset="0"/>
              </a:rPr>
              <a:t>ow-level arrays</a:t>
            </a:r>
            <a:endParaRPr lang="en-US" sz="4400" noProof="0" dirty="0"/>
          </a:p>
        </p:txBody>
      </p:sp>
      <p:sp>
        <p:nvSpPr>
          <p:cNvPr id="87" name="Google Shape;87;p2"/>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44144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R</a:t>
            </a:r>
            <a:r>
              <a:rPr lang="en-US" sz="2800" b="1" noProof="0" dirty="0" err="1">
                <a:latin typeface="Calibri" panose="020F0502020204030204" pitchFamily="34" charset="0"/>
                <a:cs typeface="Calibri" panose="020F0502020204030204" pitchFamily="34" charset="0"/>
              </a:rPr>
              <a:t>epresentation</a:t>
            </a:r>
            <a:r>
              <a:rPr lang="en-US" sz="2800" b="1" noProof="0" dirty="0">
                <a:latin typeface="Calibri" panose="020F0502020204030204" pitchFamily="34" charset="0"/>
                <a:cs typeface="Calibri" panose="020F0502020204030204" pitchFamily="34" charset="0"/>
              </a:rPr>
              <a:t> of low-level arrays in memory</a:t>
            </a: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330779"/>
            <a:ext cx="8229300" cy="2547538"/>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The primary computer memory is composed of bits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Bits are grouped together in larger units</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Typic</a:t>
            </a:r>
            <a:r>
              <a:rPr lang="en-US" sz="1800" dirty="0">
                <a:latin typeface="Calibri" panose="020F0502020204030204" pitchFamily="34" charset="0"/>
                <a:ea typeface="Calibri" panose="020F0502020204030204" pitchFamily="34" charset="0"/>
                <a:cs typeface="Calibri" panose="020F0502020204030204" pitchFamily="34" charset="0"/>
              </a:rPr>
              <a:t>ally, groups have 8 bits, i.e., bytes</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To keep track of what information is stored in what byte, the computer uses memory addresses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In effect, each byte is associated with a unique address</a:t>
            </a:r>
            <a:endParaRPr lang="en-US" sz="1800" noProof="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5" name="Tabelle 4">
            <a:extLst>
              <a:ext uri="{FF2B5EF4-FFF2-40B4-BE49-F238E27FC236}">
                <a16:creationId xmlns:a16="http://schemas.microsoft.com/office/drawing/2014/main" id="{C9935E72-2E6B-456F-8A77-7BA884207E09}"/>
              </a:ext>
            </a:extLst>
          </p:cNvPr>
          <p:cNvGraphicFramePr>
            <a:graphicFrameLocks noGrp="1"/>
          </p:cNvGraphicFramePr>
          <p:nvPr>
            <p:extLst>
              <p:ext uri="{D42A27DB-BD31-4B8C-83A1-F6EECF244321}">
                <p14:modId xmlns:p14="http://schemas.microsoft.com/office/powerpoint/2010/main" val="3050536832"/>
              </p:ext>
            </p:extLst>
          </p:nvPr>
        </p:nvGraphicFramePr>
        <p:xfrm>
          <a:off x="1662396" y="4379587"/>
          <a:ext cx="58320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gridCol w="583200">
                  <a:extLst>
                    <a:ext uri="{9D8B030D-6E8A-4147-A177-3AD203B41FA5}">
                      <a16:colId xmlns:a16="http://schemas.microsoft.com/office/drawing/2014/main" val="1206274525"/>
                    </a:ext>
                  </a:extLst>
                </a:gridCol>
                <a:gridCol w="583200">
                  <a:extLst>
                    <a:ext uri="{9D8B030D-6E8A-4147-A177-3AD203B41FA5}">
                      <a16:colId xmlns:a16="http://schemas.microsoft.com/office/drawing/2014/main" val="2819438862"/>
                    </a:ext>
                  </a:extLst>
                </a:gridCol>
                <a:gridCol w="583200">
                  <a:extLst>
                    <a:ext uri="{9D8B030D-6E8A-4147-A177-3AD203B41FA5}">
                      <a16:colId xmlns:a16="http://schemas.microsoft.com/office/drawing/2014/main" val="1941964045"/>
                    </a:ext>
                  </a:extLst>
                </a:gridCol>
                <a:gridCol w="583200">
                  <a:extLst>
                    <a:ext uri="{9D8B030D-6E8A-4147-A177-3AD203B41FA5}">
                      <a16:colId xmlns:a16="http://schemas.microsoft.com/office/drawing/2014/main" val="2400113474"/>
                    </a:ext>
                  </a:extLst>
                </a:gridCol>
                <a:gridCol w="583200">
                  <a:extLst>
                    <a:ext uri="{9D8B030D-6E8A-4147-A177-3AD203B41FA5}">
                      <a16:colId xmlns:a16="http://schemas.microsoft.com/office/drawing/2014/main" val="883156179"/>
                    </a:ext>
                  </a:extLst>
                </a:gridCol>
                <a:gridCol w="583200">
                  <a:extLst>
                    <a:ext uri="{9D8B030D-6E8A-4147-A177-3AD203B41FA5}">
                      <a16:colId xmlns:a16="http://schemas.microsoft.com/office/drawing/2014/main" val="2515628111"/>
                    </a:ext>
                  </a:extLst>
                </a:gridCol>
                <a:gridCol w="583200">
                  <a:extLst>
                    <a:ext uri="{9D8B030D-6E8A-4147-A177-3AD203B41FA5}">
                      <a16:colId xmlns:a16="http://schemas.microsoft.com/office/drawing/2014/main" val="1043724596"/>
                    </a:ext>
                  </a:extLst>
                </a:gridCol>
                <a:gridCol w="583200">
                  <a:extLst>
                    <a:ext uri="{9D8B030D-6E8A-4147-A177-3AD203B41FA5}">
                      <a16:colId xmlns:a16="http://schemas.microsoft.com/office/drawing/2014/main" val="2696891068"/>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5</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3</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6</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4</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3</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7</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rgbClr val="F8D7CD"/>
                    </a:solidFill>
                  </a:tcPr>
                </a:tc>
                <a:extLst>
                  <a:ext uri="{0D108BD9-81ED-4DB2-BD59-A6C34878D82A}">
                    <a16:rowId xmlns:a16="http://schemas.microsoft.com/office/drawing/2014/main" val="3905756574"/>
                  </a:ext>
                </a:extLst>
              </a:tr>
            </a:tbl>
          </a:graphicData>
        </a:graphic>
      </p:graphicFrame>
      <p:graphicFrame>
        <p:nvGraphicFramePr>
          <p:cNvPr id="6" name="Tabelle 5">
            <a:extLst>
              <a:ext uri="{FF2B5EF4-FFF2-40B4-BE49-F238E27FC236}">
                <a16:creationId xmlns:a16="http://schemas.microsoft.com/office/drawing/2014/main" id="{88272AA9-7C01-4CA2-8948-03F78C052CEC}"/>
              </a:ext>
            </a:extLst>
          </p:cNvPr>
          <p:cNvGraphicFramePr>
            <a:graphicFrameLocks noGrp="1"/>
          </p:cNvGraphicFramePr>
          <p:nvPr>
            <p:extLst>
              <p:ext uri="{D42A27DB-BD31-4B8C-83A1-F6EECF244321}">
                <p14:modId xmlns:p14="http://schemas.microsoft.com/office/powerpoint/2010/main" val="1725491369"/>
              </p:ext>
            </p:extLst>
          </p:nvPr>
        </p:nvGraphicFramePr>
        <p:xfrm>
          <a:off x="1650578" y="4004536"/>
          <a:ext cx="5842544"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3444015220"/>
                    </a:ext>
                  </a:extLst>
                </a:gridCol>
                <a:gridCol w="584518">
                  <a:extLst>
                    <a:ext uri="{9D8B030D-6E8A-4147-A177-3AD203B41FA5}">
                      <a16:colId xmlns:a16="http://schemas.microsoft.com/office/drawing/2014/main" val="2987258123"/>
                    </a:ext>
                  </a:extLst>
                </a:gridCol>
                <a:gridCol w="584518">
                  <a:extLst>
                    <a:ext uri="{9D8B030D-6E8A-4147-A177-3AD203B41FA5}">
                      <a16:colId xmlns:a16="http://schemas.microsoft.com/office/drawing/2014/main" val="1206274525"/>
                    </a:ext>
                  </a:extLst>
                </a:gridCol>
                <a:gridCol w="584518">
                  <a:extLst>
                    <a:ext uri="{9D8B030D-6E8A-4147-A177-3AD203B41FA5}">
                      <a16:colId xmlns:a16="http://schemas.microsoft.com/office/drawing/2014/main" val="2819438862"/>
                    </a:ext>
                  </a:extLst>
                </a:gridCol>
                <a:gridCol w="584518">
                  <a:extLst>
                    <a:ext uri="{9D8B030D-6E8A-4147-A177-3AD203B41FA5}">
                      <a16:colId xmlns:a16="http://schemas.microsoft.com/office/drawing/2014/main" val="1941964045"/>
                    </a:ext>
                  </a:extLst>
                </a:gridCol>
                <a:gridCol w="584518">
                  <a:extLst>
                    <a:ext uri="{9D8B030D-6E8A-4147-A177-3AD203B41FA5}">
                      <a16:colId xmlns:a16="http://schemas.microsoft.com/office/drawing/2014/main" val="2400113474"/>
                    </a:ext>
                  </a:extLst>
                </a:gridCol>
                <a:gridCol w="584518">
                  <a:extLst>
                    <a:ext uri="{9D8B030D-6E8A-4147-A177-3AD203B41FA5}">
                      <a16:colId xmlns:a16="http://schemas.microsoft.com/office/drawing/2014/main" val="883156179"/>
                    </a:ext>
                  </a:extLst>
                </a:gridCol>
                <a:gridCol w="584518">
                  <a:extLst>
                    <a:ext uri="{9D8B030D-6E8A-4147-A177-3AD203B41FA5}">
                      <a16:colId xmlns:a16="http://schemas.microsoft.com/office/drawing/2014/main" val="2515628111"/>
                    </a:ext>
                  </a:extLst>
                </a:gridCol>
                <a:gridCol w="584518">
                  <a:extLst>
                    <a:ext uri="{9D8B030D-6E8A-4147-A177-3AD203B41FA5}">
                      <a16:colId xmlns:a16="http://schemas.microsoft.com/office/drawing/2014/main" val="1043724596"/>
                    </a:ext>
                  </a:extLst>
                </a:gridCol>
                <a:gridCol w="583200">
                  <a:extLst>
                    <a:ext uri="{9D8B030D-6E8A-4147-A177-3AD203B41FA5}">
                      <a16:colId xmlns:a16="http://schemas.microsoft.com/office/drawing/2014/main" val="3447370448"/>
                    </a:ext>
                  </a:extLst>
                </a:gridCol>
              </a:tblGrid>
              <a:tr h="370840">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2145</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2146</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2147</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2148</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2149</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2150</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2151</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2152</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chemeClr val="accent1">
                        <a:lumMod val="20000"/>
                        <a:lumOff val="80000"/>
                      </a:schemeClr>
                    </a:solidFill>
                  </a:tcPr>
                </a:tc>
                <a:extLst>
                  <a:ext uri="{0D108BD9-81ED-4DB2-BD59-A6C34878D82A}">
                    <a16:rowId xmlns:a16="http://schemas.microsoft.com/office/drawing/2014/main" val="3905756574"/>
                  </a:ext>
                </a:extLst>
              </a:tr>
            </a:tbl>
          </a:graphicData>
        </a:graphic>
      </p:graphicFrame>
    </p:spTree>
    <p:extLst>
      <p:ext uri="{BB962C8B-B14F-4D97-AF65-F5344CB8AC3E}">
        <p14:creationId xmlns:p14="http://schemas.microsoft.com/office/powerpoint/2010/main" val="1090199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R</a:t>
            </a:r>
            <a:r>
              <a:rPr lang="en-US" sz="2800" b="1" noProof="0" dirty="0" err="1">
                <a:latin typeface="Calibri" panose="020F0502020204030204" pitchFamily="34" charset="0"/>
                <a:cs typeface="Calibri" panose="020F0502020204030204" pitchFamily="34" charset="0"/>
              </a:rPr>
              <a:t>epresentation</a:t>
            </a:r>
            <a:r>
              <a:rPr lang="en-US" sz="2800" b="1" noProof="0" dirty="0">
                <a:latin typeface="Calibri" panose="020F0502020204030204" pitchFamily="34" charset="0"/>
                <a:cs typeface="Calibri" panose="020F0502020204030204" pitchFamily="34" charset="0"/>
              </a:rPr>
              <a:t> of low-level arrays in memory</a:t>
            </a: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149031"/>
            <a:ext cx="8229300" cy="1711966"/>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We store groups of related variables one after another </a:t>
            </a:r>
            <a:r>
              <a:rPr lang="en-US" sz="1800" dirty="0">
                <a:latin typeface="Calibri" panose="020F0502020204030204" pitchFamily="34" charset="0"/>
                <a:ea typeface="Calibri" panose="020F0502020204030204" pitchFamily="34" charset="0"/>
                <a:cs typeface="Calibri" panose="020F0502020204030204" pitchFamily="34" charset="0"/>
              </a:rPr>
              <a:t>in a contiguous portion of memory</a:t>
            </a:r>
            <a:endParaRPr lang="en-US" sz="1800" noProof="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Such groups are called arrays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For example, string “SAMPLE” may be stored like this:</a:t>
            </a:r>
          </a:p>
        </p:txBody>
      </p:sp>
      <p:graphicFrame>
        <p:nvGraphicFramePr>
          <p:cNvPr id="5" name="Tabelle 4">
            <a:extLst>
              <a:ext uri="{FF2B5EF4-FFF2-40B4-BE49-F238E27FC236}">
                <a16:creationId xmlns:a16="http://schemas.microsoft.com/office/drawing/2014/main" id="{C9935E72-2E6B-456F-8A77-7BA884207E09}"/>
              </a:ext>
            </a:extLst>
          </p:cNvPr>
          <p:cNvGraphicFramePr>
            <a:graphicFrameLocks noGrp="1"/>
          </p:cNvGraphicFramePr>
          <p:nvPr>
            <p:extLst>
              <p:ext uri="{D42A27DB-BD31-4B8C-83A1-F6EECF244321}">
                <p14:modId xmlns:p14="http://schemas.microsoft.com/office/powerpoint/2010/main" val="386468812"/>
              </p:ext>
            </p:extLst>
          </p:nvPr>
        </p:nvGraphicFramePr>
        <p:xfrm>
          <a:off x="1662546" y="3210270"/>
          <a:ext cx="58320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gridCol w="583200">
                  <a:extLst>
                    <a:ext uri="{9D8B030D-6E8A-4147-A177-3AD203B41FA5}">
                      <a16:colId xmlns:a16="http://schemas.microsoft.com/office/drawing/2014/main" val="1206274525"/>
                    </a:ext>
                  </a:extLst>
                </a:gridCol>
                <a:gridCol w="583200">
                  <a:extLst>
                    <a:ext uri="{9D8B030D-6E8A-4147-A177-3AD203B41FA5}">
                      <a16:colId xmlns:a16="http://schemas.microsoft.com/office/drawing/2014/main" val="2819438862"/>
                    </a:ext>
                  </a:extLst>
                </a:gridCol>
                <a:gridCol w="583200">
                  <a:extLst>
                    <a:ext uri="{9D8B030D-6E8A-4147-A177-3AD203B41FA5}">
                      <a16:colId xmlns:a16="http://schemas.microsoft.com/office/drawing/2014/main" val="1941964045"/>
                    </a:ext>
                  </a:extLst>
                </a:gridCol>
                <a:gridCol w="583200">
                  <a:extLst>
                    <a:ext uri="{9D8B030D-6E8A-4147-A177-3AD203B41FA5}">
                      <a16:colId xmlns:a16="http://schemas.microsoft.com/office/drawing/2014/main" val="2400113474"/>
                    </a:ext>
                  </a:extLst>
                </a:gridCol>
                <a:gridCol w="583200">
                  <a:extLst>
                    <a:ext uri="{9D8B030D-6E8A-4147-A177-3AD203B41FA5}">
                      <a16:colId xmlns:a16="http://schemas.microsoft.com/office/drawing/2014/main" val="883156179"/>
                    </a:ext>
                  </a:extLst>
                </a:gridCol>
                <a:gridCol w="583200">
                  <a:extLst>
                    <a:ext uri="{9D8B030D-6E8A-4147-A177-3AD203B41FA5}">
                      <a16:colId xmlns:a16="http://schemas.microsoft.com/office/drawing/2014/main" val="2515628111"/>
                    </a:ext>
                  </a:extLst>
                </a:gridCol>
                <a:gridCol w="583200">
                  <a:extLst>
                    <a:ext uri="{9D8B030D-6E8A-4147-A177-3AD203B41FA5}">
                      <a16:colId xmlns:a16="http://schemas.microsoft.com/office/drawing/2014/main" val="1043724596"/>
                    </a:ext>
                  </a:extLst>
                </a:gridCol>
                <a:gridCol w="583200">
                  <a:extLst>
                    <a:ext uri="{9D8B030D-6E8A-4147-A177-3AD203B41FA5}">
                      <a16:colId xmlns:a16="http://schemas.microsoft.com/office/drawing/2014/main" val="2696891068"/>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S</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A</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M</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P</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L</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E</a:t>
                      </a: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rgbClr val="F8D7CD"/>
                    </a:solidFill>
                  </a:tcPr>
                </a:tc>
                <a:extLst>
                  <a:ext uri="{0D108BD9-81ED-4DB2-BD59-A6C34878D82A}">
                    <a16:rowId xmlns:a16="http://schemas.microsoft.com/office/drawing/2014/main" val="3905756574"/>
                  </a:ext>
                </a:extLst>
              </a:tr>
            </a:tbl>
          </a:graphicData>
        </a:graphic>
      </p:graphicFrame>
      <p:graphicFrame>
        <p:nvGraphicFramePr>
          <p:cNvPr id="6" name="Tabelle 5">
            <a:extLst>
              <a:ext uri="{FF2B5EF4-FFF2-40B4-BE49-F238E27FC236}">
                <a16:creationId xmlns:a16="http://schemas.microsoft.com/office/drawing/2014/main" id="{88272AA9-7C01-4CA2-8948-03F78C052CEC}"/>
              </a:ext>
            </a:extLst>
          </p:cNvPr>
          <p:cNvGraphicFramePr>
            <a:graphicFrameLocks noGrp="1"/>
          </p:cNvGraphicFramePr>
          <p:nvPr>
            <p:extLst>
              <p:ext uri="{D42A27DB-BD31-4B8C-83A1-F6EECF244321}">
                <p14:modId xmlns:p14="http://schemas.microsoft.com/office/powerpoint/2010/main" val="2165525680"/>
              </p:ext>
            </p:extLst>
          </p:nvPr>
        </p:nvGraphicFramePr>
        <p:xfrm>
          <a:off x="1650728" y="2835219"/>
          <a:ext cx="5842544"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3444015220"/>
                    </a:ext>
                  </a:extLst>
                </a:gridCol>
                <a:gridCol w="584518">
                  <a:extLst>
                    <a:ext uri="{9D8B030D-6E8A-4147-A177-3AD203B41FA5}">
                      <a16:colId xmlns:a16="http://schemas.microsoft.com/office/drawing/2014/main" val="2987258123"/>
                    </a:ext>
                  </a:extLst>
                </a:gridCol>
                <a:gridCol w="584518">
                  <a:extLst>
                    <a:ext uri="{9D8B030D-6E8A-4147-A177-3AD203B41FA5}">
                      <a16:colId xmlns:a16="http://schemas.microsoft.com/office/drawing/2014/main" val="1206274525"/>
                    </a:ext>
                  </a:extLst>
                </a:gridCol>
                <a:gridCol w="584518">
                  <a:extLst>
                    <a:ext uri="{9D8B030D-6E8A-4147-A177-3AD203B41FA5}">
                      <a16:colId xmlns:a16="http://schemas.microsoft.com/office/drawing/2014/main" val="2819438862"/>
                    </a:ext>
                  </a:extLst>
                </a:gridCol>
                <a:gridCol w="584518">
                  <a:extLst>
                    <a:ext uri="{9D8B030D-6E8A-4147-A177-3AD203B41FA5}">
                      <a16:colId xmlns:a16="http://schemas.microsoft.com/office/drawing/2014/main" val="1941964045"/>
                    </a:ext>
                  </a:extLst>
                </a:gridCol>
                <a:gridCol w="584518">
                  <a:extLst>
                    <a:ext uri="{9D8B030D-6E8A-4147-A177-3AD203B41FA5}">
                      <a16:colId xmlns:a16="http://schemas.microsoft.com/office/drawing/2014/main" val="2400113474"/>
                    </a:ext>
                  </a:extLst>
                </a:gridCol>
                <a:gridCol w="584518">
                  <a:extLst>
                    <a:ext uri="{9D8B030D-6E8A-4147-A177-3AD203B41FA5}">
                      <a16:colId xmlns:a16="http://schemas.microsoft.com/office/drawing/2014/main" val="883156179"/>
                    </a:ext>
                  </a:extLst>
                </a:gridCol>
                <a:gridCol w="584518">
                  <a:extLst>
                    <a:ext uri="{9D8B030D-6E8A-4147-A177-3AD203B41FA5}">
                      <a16:colId xmlns:a16="http://schemas.microsoft.com/office/drawing/2014/main" val="2515628111"/>
                    </a:ext>
                  </a:extLst>
                </a:gridCol>
                <a:gridCol w="584518">
                  <a:extLst>
                    <a:ext uri="{9D8B030D-6E8A-4147-A177-3AD203B41FA5}">
                      <a16:colId xmlns:a16="http://schemas.microsoft.com/office/drawing/2014/main" val="1043724596"/>
                    </a:ext>
                  </a:extLst>
                </a:gridCol>
                <a:gridCol w="583200">
                  <a:extLst>
                    <a:ext uri="{9D8B030D-6E8A-4147-A177-3AD203B41FA5}">
                      <a16:colId xmlns:a16="http://schemas.microsoft.com/office/drawing/2014/main" val="3447370448"/>
                    </a:ext>
                  </a:extLst>
                </a:gridCol>
              </a:tblGrid>
              <a:tr h="370840">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2145</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2146</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2147</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2148</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2149</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2150</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2151</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2152</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chemeClr val="accent1">
                        <a:lumMod val="20000"/>
                        <a:lumOff val="80000"/>
                      </a:schemeClr>
                    </a:solidFill>
                  </a:tcPr>
                </a:tc>
                <a:extLst>
                  <a:ext uri="{0D108BD9-81ED-4DB2-BD59-A6C34878D82A}">
                    <a16:rowId xmlns:a16="http://schemas.microsoft.com/office/drawing/2014/main" val="3905756574"/>
                  </a:ext>
                </a:extLst>
              </a:tr>
            </a:tbl>
          </a:graphicData>
        </a:graphic>
      </p:graphicFrame>
      <p:graphicFrame>
        <p:nvGraphicFramePr>
          <p:cNvPr id="7" name="Tabelle 6">
            <a:extLst>
              <a:ext uri="{FF2B5EF4-FFF2-40B4-BE49-F238E27FC236}">
                <a16:creationId xmlns:a16="http://schemas.microsoft.com/office/drawing/2014/main" id="{57CCA881-DD7F-4267-B369-4B68B05C1254}"/>
              </a:ext>
            </a:extLst>
          </p:cNvPr>
          <p:cNvGraphicFramePr>
            <a:graphicFrameLocks noGrp="1"/>
          </p:cNvGraphicFramePr>
          <p:nvPr>
            <p:extLst>
              <p:ext uri="{D42A27DB-BD31-4B8C-83A1-F6EECF244321}">
                <p14:modId xmlns:p14="http://schemas.microsoft.com/office/powerpoint/2010/main" val="2442571059"/>
              </p:ext>
            </p:extLst>
          </p:nvPr>
        </p:nvGraphicFramePr>
        <p:xfrm>
          <a:off x="1649454" y="3581110"/>
          <a:ext cx="5842544"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3444015220"/>
                    </a:ext>
                  </a:extLst>
                </a:gridCol>
                <a:gridCol w="584518">
                  <a:extLst>
                    <a:ext uri="{9D8B030D-6E8A-4147-A177-3AD203B41FA5}">
                      <a16:colId xmlns:a16="http://schemas.microsoft.com/office/drawing/2014/main" val="2987258123"/>
                    </a:ext>
                  </a:extLst>
                </a:gridCol>
                <a:gridCol w="584518">
                  <a:extLst>
                    <a:ext uri="{9D8B030D-6E8A-4147-A177-3AD203B41FA5}">
                      <a16:colId xmlns:a16="http://schemas.microsoft.com/office/drawing/2014/main" val="1206274525"/>
                    </a:ext>
                  </a:extLst>
                </a:gridCol>
                <a:gridCol w="584518">
                  <a:extLst>
                    <a:ext uri="{9D8B030D-6E8A-4147-A177-3AD203B41FA5}">
                      <a16:colId xmlns:a16="http://schemas.microsoft.com/office/drawing/2014/main" val="2819438862"/>
                    </a:ext>
                  </a:extLst>
                </a:gridCol>
                <a:gridCol w="584518">
                  <a:extLst>
                    <a:ext uri="{9D8B030D-6E8A-4147-A177-3AD203B41FA5}">
                      <a16:colId xmlns:a16="http://schemas.microsoft.com/office/drawing/2014/main" val="1941964045"/>
                    </a:ext>
                  </a:extLst>
                </a:gridCol>
                <a:gridCol w="584518">
                  <a:extLst>
                    <a:ext uri="{9D8B030D-6E8A-4147-A177-3AD203B41FA5}">
                      <a16:colId xmlns:a16="http://schemas.microsoft.com/office/drawing/2014/main" val="2400113474"/>
                    </a:ext>
                  </a:extLst>
                </a:gridCol>
                <a:gridCol w="584518">
                  <a:extLst>
                    <a:ext uri="{9D8B030D-6E8A-4147-A177-3AD203B41FA5}">
                      <a16:colId xmlns:a16="http://schemas.microsoft.com/office/drawing/2014/main" val="883156179"/>
                    </a:ext>
                  </a:extLst>
                </a:gridCol>
                <a:gridCol w="584518">
                  <a:extLst>
                    <a:ext uri="{9D8B030D-6E8A-4147-A177-3AD203B41FA5}">
                      <a16:colId xmlns:a16="http://schemas.microsoft.com/office/drawing/2014/main" val="2515628111"/>
                    </a:ext>
                  </a:extLst>
                </a:gridCol>
                <a:gridCol w="584518">
                  <a:extLst>
                    <a:ext uri="{9D8B030D-6E8A-4147-A177-3AD203B41FA5}">
                      <a16:colId xmlns:a16="http://schemas.microsoft.com/office/drawing/2014/main" val="1043724596"/>
                    </a:ext>
                  </a:extLst>
                </a:gridCol>
                <a:gridCol w="583200">
                  <a:extLst>
                    <a:ext uri="{9D8B030D-6E8A-4147-A177-3AD203B41FA5}">
                      <a16:colId xmlns:a16="http://schemas.microsoft.com/office/drawing/2014/main" val="3447370448"/>
                    </a:ext>
                  </a:extLst>
                </a:gridCol>
              </a:tblGrid>
              <a:tr h="370840">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0</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3</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4</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5</a:t>
                      </a:r>
                    </a:p>
                  </a:txBody>
                  <a:tcPr>
                    <a:solidFill>
                      <a:schemeClr val="accent6">
                        <a:lumMod val="40000"/>
                        <a:lumOff val="60000"/>
                      </a:schemeClr>
                    </a:solidFill>
                  </a:tcPr>
                </a:tc>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extLst>
                  <a:ext uri="{0D108BD9-81ED-4DB2-BD59-A6C34878D82A}">
                    <a16:rowId xmlns:a16="http://schemas.microsoft.com/office/drawing/2014/main" val="3905756574"/>
                  </a:ext>
                </a:extLst>
              </a:tr>
            </a:tbl>
          </a:graphicData>
        </a:graphic>
      </p:graphicFrame>
      <mc:AlternateContent xmlns:mc="http://schemas.openxmlformats.org/markup-compatibility/2006" xmlns:a14="http://schemas.microsoft.com/office/drawing/2010/main">
        <mc:Choice Requires="a14">
          <p:sp>
            <p:nvSpPr>
              <p:cNvPr id="8" name="Textplatzhalter 2">
                <a:extLst>
                  <a:ext uri="{FF2B5EF4-FFF2-40B4-BE49-F238E27FC236}">
                    <a16:creationId xmlns:a16="http://schemas.microsoft.com/office/drawing/2014/main" id="{8D9EA507-F593-4745-8FEF-29BD747941B1}"/>
                  </a:ext>
                </a:extLst>
              </p:cNvPr>
              <p:cNvSpPr txBox="1">
                <a:spLocks/>
              </p:cNvSpPr>
              <p:nvPr/>
            </p:nvSpPr>
            <p:spPr>
              <a:xfrm>
                <a:off x="457350" y="4022781"/>
                <a:ext cx="8229300" cy="244896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When we use arrays each element has the same size, e.g., one byte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call storage for a single element a cell, and hence each cell has the same size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This allow us to access the elements of array with:</a:t>
                </a:r>
              </a:p>
              <a:p>
                <a:pPr marL="114300" indent="0">
                  <a:spcBef>
                    <a:spcPts val="600"/>
                  </a:spcBef>
                  <a:spcAft>
                    <a:spcPts val="600"/>
                  </a:spcAft>
                </a:pPr>
                <a14:m>
                  <m:oMathPara xmlns:m="http://schemas.openxmlformats.org/officeDocument/2006/math">
                    <m:oMathParaPr>
                      <m:jc m:val="centerGroup"/>
                    </m:oMathParaPr>
                    <m:oMath xmlns:m="http://schemas.openxmlformats.org/officeDocument/2006/math">
                      <m:r>
                        <a:rPr lang="de-AT" sz="1800" b="0" i="1" smtClean="0">
                          <a:latin typeface="Cambria Math" panose="02040503050406030204" pitchFamily="18" charset="0"/>
                          <a:ea typeface="Calibri" panose="020F0502020204030204" pitchFamily="34" charset="0"/>
                          <a:cs typeface="Calibri" panose="020F0502020204030204" pitchFamily="34" charset="0"/>
                        </a:rPr>
                        <m:t>𝑠𝑡𝑎𝑟𝑡</m:t>
                      </m:r>
                      <m:r>
                        <a:rPr lang="de-AT" sz="1800" b="0" i="1" smtClean="0">
                          <a:latin typeface="Cambria Math" panose="02040503050406030204" pitchFamily="18" charset="0"/>
                          <a:ea typeface="Calibri" panose="020F0502020204030204" pitchFamily="34" charset="0"/>
                          <a:cs typeface="Calibri" panose="020F0502020204030204" pitchFamily="34" charset="0"/>
                        </a:rPr>
                        <m:t>+</m:t>
                      </m:r>
                      <m:r>
                        <a:rPr lang="de-AT" sz="1800" b="0" i="1" smtClean="0">
                          <a:latin typeface="Cambria Math" panose="02040503050406030204" pitchFamily="18" charset="0"/>
                          <a:ea typeface="Calibri" panose="020F0502020204030204" pitchFamily="34" charset="0"/>
                          <a:cs typeface="Calibri" panose="020F0502020204030204" pitchFamily="34" charset="0"/>
                        </a:rPr>
                        <m:t>𝑐𝑒𝑙𝑙𝑠𝑖𝑧𝑒</m:t>
                      </m:r>
                      <m:r>
                        <a:rPr lang="de-AT" sz="1800" b="0" i="1" smtClean="0">
                          <a:latin typeface="Cambria Math" panose="02040503050406030204" pitchFamily="18" charset="0"/>
                          <a:ea typeface="Calibri" panose="020F0502020204030204" pitchFamily="34" charset="0"/>
                          <a:cs typeface="Calibri" panose="020F0502020204030204" pitchFamily="34" charset="0"/>
                        </a:rPr>
                        <m:t> ∗</m:t>
                      </m:r>
                      <m:r>
                        <a:rPr lang="de-AT" sz="1800" b="0" i="1" smtClean="0">
                          <a:latin typeface="Cambria Math" panose="02040503050406030204" pitchFamily="18" charset="0"/>
                          <a:ea typeface="Calibri" panose="020F0502020204030204" pitchFamily="34" charset="0"/>
                          <a:cs typeface="Calibri" panose="020F0502020204030204" pitchFamily="34" charset="0"/>
                        </a:rPr>
                        <m:t>𝑖𝑛𝑑𝑒𝑥</m:t>
                      </m:r>
                    </m:oMath>
                  </m:oMathPara>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𝑠𝑡𝑎𝑟𝑡</m:t>
                    </m:r>
                  </m:oMath>
                </a14:m>
                <a:r>
                  <a:rPr lang="en-US" sz="1800" dirty="0">
                    <a:latin typeface="Calibri" panose="020F0502020204030204" pitchFamily="34" charset="0"/>
                    <a:ea typeface="Calibri" panose="020F0502020204030204" pitchFamily="34" charset="0"/>
                    <a:cs typeface="Calibri" panose="020F0502020204030204" pitchFamily="34" charset="0"/>
                  </a:rPr>
                  <a:t> refers to the memory address of the first element/cell</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Hence, the complexity of accessing elements in an array is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(1)</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 name="Textplatzhalter 2">
                <a:extLst>
                  <a:ext uri="{FF2B5EF4-FFF2-40B4-BE49-F238E27FC236}">
                    <a16:creationId xmlns:a16="http://schemas.microsoft.com/office/drawing/2014/main" id="{8D9EA507-F593-4745-8FEF-29BD747941B1}"/>
                  </a:ext>
                </a:extLst>
              </p:cNvPr>
              <p:cNvSpPr txBox="1">
                <a:spLocks noRot="1" noChangeAspect="1" noMove="1" noResize="1" noEditPoints="1" noAdjustHandles="1" noChangeArrowheads="1" noChangeShapeType="1" noTextEdit="1"/>
              </p:cNvSpPr>
              <p:nvPr/>
            </p:nvSpPr>
            <p:spPr>
              <a:xfrm>
                <a:off x="457350" y="4022781"/>
                <a:ext cx="8229300" cy="2448964"/>
              </a:xfrm>
              <a:prstGeom prst="rect">
                <a:avLst/>
              </a:prstGeom>
              <a:blipFill>
                <a:blip r:embed="rId3"/>
                <a:stretch>
                  <a:fillRect t="-746" b="-3483"/>
                </a:stretch>
              </a:blipFill>
              <a:ln>
                <a:noFill/>
              </a:ln>
            </p:spPr>
            <p:txBody>
              <a:bodyPr/>
              <a:lstStyle/>
              <a:p>
                <a:r>
                  <a:rPr lang="de-AT">
                    <a:noFill/>
                  </a:rPr>
                  <a:t> </a:t>
                </a:r>
              </a:p>
            </p:txBody>
          </p:sp>
        </mc:Fallback>
      </mc:AlternateContent>
    </p:spTree>
    <p:extLst>
      <p:ext uri="{BB962C8B-B14F-4D97-AF65-F5344CB8AC3E}">
        <p14:creationId xmlns:p14="http://schemas.microsoft.com/office/powerpoint/2010/main" val="1175513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8400"/>
            <a:ext cx="8229300" cy="1144800"/>
          </a:xfrm>
        </p:spPr>
        <p:txBody>
          <a:bodyPr/>
          <a:lstStyle/>
          <a:p>
            <a:pPr algn="ctr"/>
            <a:r>
              <a:rPr lang="en-US" sz="4400" b="1" noProof="0" dirty="0">
                <a:latin typeface="Calibri" panose="020F0502020204030204" pitchFamily="34" charset="0"/>
                <a:cs typeface="Calibri" panose="020F0502020204030204" pitchFamily="34" charset="0"/>
              </a:rPr>
              <a:t>Referential arrays</a:t>
            </a:r>
            <a:endParaRPr lang="en-US" sz="4400" noProof="0" dirty="0"/>
          </a:p>
        </p:txBody>
      </p:sp>
      <p:sp>
        <p:nvSpPr>
          <p:cNvPr id="87" name="Google Shape;87;p2"/>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9806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R</a:t>
            </a:r>
            <a:r>
              <a:rPr lang="en-US" sz="2800" b="1" noProof="0" dirty="0" err="1">
                <a:latin typeface="Calibri" panose="020F0502020204030204" pitchFamily="34" charset="0"/>
                <a:cs typeface="Calibri" panose="020F0502020204030204" pitchFamily="34" charset="0"/>
              </a:rPr>
              <a:t>eferential</a:t>
            </a:r>
            <a:r>
              <a:rPr lang="en-US" sz="2800" b="1" noProof="0" dirty="0">
                <a:latin typeface="Calibri" panose="020F0502020204030204" pitchFamily="34" charset="0"/>
                <a:cs typeface="Calibri" panose="020F0502020204030204" pitchFamily="34" charset="0"/>
              </a:rPr>
              <a:t> arrays</a:t>
            </a: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149031"/>
            <a:ext cx="8229300" cy="2623746"/>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For collection of elements which may differ in their sizes we cannot use arrays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For example, python’s lists or tuples can have elements of different types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In this case, we use referential arrays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Referential arrays keep addresses to elements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As all addresses are equal in size (e.g., 8 bytes) they are stored in arrays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elements themselves are stored elsewhere</a:t>
            </a:r>
          </a:p>
        </p:txBody>
      </p:sp>
      <p:graphicFrame>
        <p:nvGraphicFramePr>
          <p:cNvPr id="5" name="Tabelle 4">
            <a:extLst>
              <a:ext uri="{FF2B5EF4-FFF2-40B4-BE49-F238E27FC236}">
                <a16:creationId xmlns:a16="http://schemas.microsoft.com/office/drawing/2014/main" id="{C9935E72-2E6B-456F-8A77-7BA884207E09}"/>
              </a:ext>
            </a:extLst>
          </p:cNvPr>
          <p:cNvGraphicFramePr>
            <a:graphicFrameLocks noGrp="1"/>
          </p:cNvGraphicFramePr>
          <p:nvPr>
            <p:extLst>
              <p:ext uri="{D42A27DB-BD31-4B8C-83A1-F6EECF244321}">
                <p14:modId xmlns:p14="http://schemas.microsoft.com/office/powerpoint/2010/main" val="4265884678"/>
              </p:ext>
            </p:extLst>
          </p:nvPr>
        </p:nvGraphicFramePr>
        <p:xfrm>
          <a:off x="1528539" y="5693353"/>
          <a:ext cx="58320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gridCol w="583200">
                  <a:extLst>
                    <a:ext uri="{9D8B030D-6E8A-4147-A177-3AD203B41FA5}">
                      <a16:colId xmlns:a16="http://schemas.microsoft.com/office/drawing/2014/main" val="1206274525"/>
                    </a:ext>
                  </a:extLst>
                </a:gridCol>
                <a:gridCol w="583200">
                  <a:extLst>
                    <a:ext uri="{9D8B030D-6E8A-4147-A177-3AD203B41FA5}">
                      <a16:colId xmlns:a16="http://schemas.microsoft.com/office/drawing/2014/main" val="2819438862"/>
                    </a:ext>
                  </a:extLst>
                </a:gridCol>
                <a:gridCol w="583200">
                  <a:extLst>
                    <a:ext uri="{9D8B030D-6E8A-4147-A177-3AD203B41FA5}">
                      <a16:colId xmlns:a16="http://schemas.microsoft.com/office/drawing/2014/main" val="1941964045"/>
                    </a:ext>
                  </a:extLst>
                </a:gridCol>
                <a:gridCol w="583200">
                  <a:extLst>
                    <a:ext uri="{9D8B030D-6E8A-4147-A177-3AD203B41FA5}">
                      <a16:colId xmlns:a16="http://schemas.microsoft.com/office/drawing/2014/main" val="2400113474"/>
                    </a:ext>
                  </a:extLst>
                </a:gridCol>
                <a:gridCol w="583200">
                  <a:extLst>
                    <a:ext uri="{9D8B030D-6E8A-4147-A177-3AD203B41FA5}">
                      <a16:colId xmlns:a16="http://schemas.microsoft.com/office/drawing/2014/main" val="883156179"/>
                    </a:ext>
                  </a:extLst>
                </a:gridCol>
                <a:gridCol w="583200">
                  <a:extLst>
                    <a:ext uri="{9D8B030D-6E8A-4147-A177-3AD203B41FA5}">
                      <a16:colId xmlns:a16="http://schemas.microsoft.com/office/drawing/2014/main" val="2515628111"/>
                    </a:ext>
                  </a:extLst>
                </a:gridCol>
                <a:gridCol w="583200">
                  <a:extLst>
                    <a:ext uri="{9D8B030D-6E8A-4147-A177-3AD203B41FA5}">
                      <a16:colId xmlns:a16="http://schemas.microsoft.com/office/drawing/2014/main" val="1043724596"/>
                    </a:ext>
                  </a:extLst>
                </a:gridCol>
                <a:gridCol w="583200">
                  <a:extLst>
                    <a:ext uri="{9D8B030D-6E8A-4147-A177-3AD203B41FA5}">
                      <a16:colId xmlns:a16="http://schemas.microsoft.com/office/drawing/2014/main" val="2696891068"/>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rgbClr val="F8D7CD"/>
                    </a:solidFill>
                  </a:tcPr>
                </a:tc>
                <a:extLst>
                  <a:ext uri="{0D108BD9-81ED-4DB2-BD59-A6C34878D82A}">
                    <a16:rowId xmlns:a16="http://schemas.microsoft.com/office/drawing/2014/main" val="3905756574"/>
                  </a:ext>
                </a:extLst>
              </a:tr>
            </a:tbl>
          </a:graphicData>
        </a:graphic>
      </p:graphicFrame>
      <p:graphicFrame>
        <p:nvGraphicFramePr>
          <p:cNvPr id="6" name="Tabelle 5">
            <a:extLst>
              <a:ext uri="{FF2B5EF4-FFF2-40B4-BE49-F238E27FC236}">
                <a16:creationId xmlns:a16="http://schemas.microsoft.com/office/drawing/2014/main" id="{88272AA9-7C01-4CA2-8948-03F78C052CEC}"/>
              </a:ext>
            </a:extLst>
          </p:cNvPr>
          <p:cNvGraphicFramePr>
            <a:graphicFrameLocks noGrp="1"/>
          </p:cNvGraphicFramePr>
          <p:nvPr>
            <p:extLst>
              <p:ext uri="{D42A27DB-BD31-4B8C-83A1-F6EECF244321}">
                <p14:modId xmlns:p14="http://schemas.microsoft.com/office/powerpoint/2010/main" val="2055787122"/>
              </p:ext>
            </p:extLst>
          </p:nvPr>
        </p:nvGraphicFramePr>
        <p:xfrm>
          <a:off x="1516721" y="5318302"/>
          <a:ext cx="5842544"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3444015220"/>
                    </a:ext>
                  </a:extLst>
                </a:gridCol>
                <a:gridCol w="584518">
                  <a:extLst>
                    <a:ext uri="{9D8B030D-6E8A-4147-A177-3AD203B41FA5}">
                      <a16:colId xmlns:a16="http://schemas.microsoft.com/office/drawing/2014/main" val="2987258123"/>
                    </a:ext>
                  </a:extLst>
                </a:gridCol>
                <a:gridCol w="584518">
                  <a:extLst>
                    <a:ext uri="{9D8B030D-6E8A-4147-A177-3AD203B41FA5}">
                      <a16:colId xmlns:a16="http://schemas.microsoft.com/office/drawing/2014/main" val="1206274525"/>
                    </a:ext>
                  </a:extLst>
                </a:gridCol>
                <a:gridCol w="584518">
                  <a:extLst>
                    <a:ext uri="{9D8B030D-6E8A-4147-A177-3AD203B41FA5}">
                      <a16:colId xmlns:a16="http://schemas.microsoft.com/office/drawing/2014/main" val="2819438862"/>
                    </a:ext>
                  </a:extLst>
                </a:gridCol>
                <a:gridCol w="584518">
                  <a:extLst>
                    <a:ext uri="{9D8B030D-6E8A-4147-A177-3AD203B41FA5}">
                      <a16:colId xmlns:a16="http://schemas.microsoft.com/office/drawing/2014/main" val="1941964045"/>
                    </a:ext>
                  </a:extLst>
                </a:gridCol>
                <a:gridCol w="584518">
                  <a:extLst>
                    <a:ext uri="{9D8B030D-6E8A-4147-A177-3AD203B41FA5}">
                      <a16:colId xmlns:a16="http://schemas.microsoft.com/office/drawing/2014/main" val="2400113474"/>
                    </a:ext>
                  </a:extLst>
                </a:gridCol>
                <a:gridCol w="584518">
                  <a:extLst>
                    <a:ext uri="{9D8B030D-6E8A-4147-A177-3AD203B41FA5}">
                      <a16:colId xmlns:a16="http://schemas.microsoft.com/office/drawing/2014/main" val="883156179"/>
                    </a:ext>
                  </a:extLst>
                </a:gridCol>
                <a:gridCol w="584518">
                  <a:extLst>
                    <a:ext uri="{9D8B030D-6E8A-4147-A177-3AD203B41FA5}">
                      <a16:colId xmlns:a16="http://schemas.microsoft.com/office/drawing/2014/main" val="2515628111"/>
                    </a:ext>
                  </a:extLst>
                </a:gridCol>
                <a:gridCol w="584518">
                  <a:extLst>
                    <a:ext uri="{9D8B030D-6E8A-4147-A177-3AD203B41FA5}">
                      <a16:colId xmlns:a16="http://schemas.microsoft.com/office/drawing/2014/main" val="1043724596"/>
                    </a:ext>
                  </a:extLst>
                </a:gridCol>
                <a:gridCol w="583200">
                  <a:extLst>
                    <a:ext uri="{9D8B030D-6E8A-4147-A177-3AD203B41FA5}">
                      <a16:colId xmlns:a16="http://schemas.microsoft.com/office/drawing/2014/main" val="3447370448"/>
                    </a:ext>
                  </a:extLst>
                </a:gridCol>
              </a:tblGrid>
              <a:tr h="370840">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2145</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2146</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2147</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2148</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2149</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2150</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2151</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2152</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chemeClr val="accent1">
                        <a:lumMod val="20000"/>
                        <a:lumOff val="80000"/>
                      </a:schemeClr>
                    </a:solidFill>
                  </a:tcPr>
                </a:tc>
                <a:extLst>
                  <a:ext uri="{0D108BD9-81ED-4DB2-BD59-A6C34878D82A}">
                    <a16:rowId xmlns:a16="http://schemas.microsoft.com/office/drawing/2014/main" val="3905756574"/>
                  </a:ext>
                </a:extLst>
              </a:tr>
            </a:tbl>
          </a:graphicData>
        </a:graphic>
      </p:graphicFrame>
      <p:graphicFrame>
        <p:nvGraphicFramePr>
          <p:cNvPr id="7" name="Tabelle 6">
            <a:extLst>
              <a:ext uri="{FF2B5EF4-FFF2-40B4-BE49-F238E27FC236}">
                <a16:creationId xmlns:a16="http://schemas.microsoft.com/office/drawing/2014/main" id="{57CCA881-DD7F-4267-B369-4B68B05C1254}"/>
              </a:ext>
            </a:extLst>
          </p:cNvPr>
          <p:cNvGraphicFramePr>
            <a:graphicFrameLocks noGrp="1"/>
          </p:cNvGraphicFramePr>
          <p:nvPr>
            <p:extLst>
              <p:ext uri="{D42A27DB-BD31-4B8C-83A1-F6EECF244321}">
                <p14:modId xmlns:p14="http://schemas.microsoft.com/office/powerpoint/2010/main" val="2553000181"/>
              </p:ext>
            </p:extLst>
          </p:nvPr>
        </p:nvGraphicFramePr>
        <p:xfrm>
          <a:off x="1515447" y="6064193"/>
          <a:ext cx="5842544"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3444015220"/>
                    </a:ext>
                  </a:extLst>
                </a:gridCol>
                <a:gridCol w="584518">
                  <a:extLst>
                    <a:ext uri="{9D8B030D-6E8A-4147-A177-3AD203B41FA5}">
                      <a16:colId xmlns:a16="http://schemas.microsoft.com/office/drawing/2014/main" val="2987258123"/>
                    </a:ext>
                  </a:extLst>
                </a:gridCol>
                <a:gridCol w="584518">
                  <a:extLst>
                    <a:ext uri="{9D8B030D-6E8A-4147-A177-3AD203B41FA5}">
                      <a16:colId xmlns:a16="http://schemas.microsoft.com/office/drawing/2014/main" val="1206274525"/>
                    </a:ext>
                  </a:extLst>
                </a:gridCol>
                <a:gridCol w="584518">
                  <a:extLst>
                    <a:ext uri="{9D8B030D-6E8A-4147-A177-3AD203B41FA5}">
                      <a16:colId xmlns:a16="http://schemas.microsoft.com/office/drawing/2014/main" val="2819438862"/>
                    </a:ext>
                  </a:extLst>
                </a:gridCol>
                <a:gridCol w="584518">
                  <a:extLst>
                    <a:ext uri="{9D8B030D-6E8A-4147-A177-3AD203B41FA5}">
                      <a16:colId xmlns:a16="http://schemas.microsoft.com/office/drawing/2014/main" val="1941964045"/>
                    </a:ext>
                  </a:extLst>
                </a:gridCol>
                <a:gridCol w="584518">
                  <a:extLst>
                    <a:ext uri="{9D8B030D-6E8A-4147-A177-3AD203B41FA5}">
                      <a16:colId xmlns:a16="http://schemas.microsoft.com/office/drawing/2014/main" val="2400113474"/>
                    </a:ext>
                  </a:extLst>
                </a:gridCol>
                <a:gridCol w="584518">
                  <a:extLst>
                    <a:ext uri="{9D8B030D-6E8A-4147-A177-3AD203B41FA5}">
                      <a16:colId xmlns:a16="http://schemas.microsoft.com/office/drawing/2014/main" val="883156179"/>
                    </a:ext>
                  </a:extLst>
                </a:gridCol>
                <a:gridCol w="584518">
                  <a:extLst>
                    <a:ext uri="{9D8B030D-6E8A-4147-A177-3AD203B41FA5}">
                      <a16:colId xmlns:a16="http://schemas.microsoft.com/office/drawing/2014/main" val="2515628111"/>
                    </a:ext>
                  </a:extLst>
                </a:gridCol>
                <a:gridCol w="584518">
                  <a:extLst>
                    <a:ext uri="{9D8B030D-6E8A-4147-A177-3AD203B41FA5}">
                      <a16:colId xmlns:a16="http://schemas.microsoft.com/office/drawing/2014/main" val="1043724596"/>
                    </a:ext>
                  </a:extLst>
                </a:gridCol>
                <a:gridCol w="583200">
                  <a:extLst>
                    <a:ext uri="{9D8B030D-6E8A-4147-A177-3AD203B41FA5}">
                      <a16:colId xmlns:a16="http://schemas.microsoft.com/office/drawing/2014/main" val="3447370448"/>
                    </a:ext>
                  </a:extLst>
                </a:gridCol>
              </a:tblGrid>
              <a:tr h="370840">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0</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3</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4</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5</a:t>
                      </a:r>
                    </a:p>
                  </a:txBody>
                  <a:tcPr>
                    <a:solidFill>
                      <a:schemeClr val="accent6">
                        <a:lumMod val="40000"/>
                        <a:lumOff val="60000"/>
                      </a:schemeClr>
                    </a:solidFill>
                  </a:tcPr>
                </a:tc>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extLst>
                  <a:ext uri="{0D108BD9-81ED-4DB2-BD59-A6C34878D82A}">
                    <a16:rowId xmlns:a16="http://schemas.microsoft.com/office/drawing/2014/main" val="3905756574"/>
                  </a:ext>
                </a:extLst>
              </a:tr>
            </a:tbl>
          </a:graphicData>
        </a:graphic>
      </p:graphicFrame>
      <p:cxnSp>
        <p:nvCxnSpPr>
          <p:cNvPr id="4" name="Gerade Verbindung mit Pfeil 3">
            <a:extLst>
              <a:ext uri="{FF2B5EF4-FFF2-40B4-BE49-F238E27FC236}">
                <a16:creationId xmlns:a16="http://schemas.microsoft.com/office/drawing/2014/main" id="{1DA4B826-C32A-4646-A01F-DC81CE2B915E}"/>
              </a:ext>
            </a:extLst>
          </p:cNvPr>
          <p:cNvCxnSpPr>
            <a:cxnSpLocks/>
          </p:cNvCxnSpPr>
          <p:nvPr/>
        </p:nvCxnSpPr>
        <p:spPr>
          <a:xfrm flipH="1" flipV="1">
            <a:off x="1473360" y="4883975"/>
            <a:ext cx="1490558" cy="994799"/>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1" name="Gerade Verbindung mit Pfeil 10">
            <a:extLst>
              <a:ext uri="{FF2B5EF4-FFF2-40B4-BE49-F238E27FC236}">
                <a16:creationId xmlns:a16="http://schemas.microsoft.com/office/drawing/2014/main" id="{171CD1E1-1199-4591-A3EE-08C24797A9DB}"/>
              </a:ext>
            </a:extLst>
          </p:cNvPr>
          <p:cNvCxnSpPr>
            <a:cxnSpLocks/>
          </p:cNvCxnSpPr>
          <p:nvPr/>
        </p:nvCxnSpPr>
        <p:spPr>
          <a:xfrm flipH="1" flipV="1">
            <a:off x="2498834" y="4519485"/>
            <a:ext cx="1068115" cy="1367172"/>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4" name="Gerade Verbindung mit Pfeil 13">
            <a:extLst>
              <a:ext uri="{FF2B5EF4-FFF2-40B4-BE49-F238E27FC236}">
                <a16:creationId xmlns:a16="http://schemas.microsoft.com/office/drawing/2014/main" id="{2A8EE252-FBA4-435F-A7AF-DD45910ABFBE}"/>
              </a:ext>
            </a:extLst>
          </p:cNvPr>
          <p:cNvCxnSpPr>
            <a:cxnSpLocks/>
          </p:cNvCxnSpPr>
          <p:nvPr/>
        </p:nvCxnSpPr>
        <p:spPr>
          <a:xfrm flipH="1" flipV="1">
            <a:off x="3476297" y="4250756"/>
            <a:ext cx="646386" cy="163590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D7B3304E-3EBB-4BD7-9724-18A389CA04B9}"/>
              </a:ext>
            </a:extLst>
          </p:cNvPr>
          <p:cNvCxnSpPr>
            <a:cxnSpLocks/>
          </p:cNvCxnSpPr>
          <p:nvPr/>
        </p:nvCxnSpPr>
        <p:spPr>
          <a:xfrm flipV="1">
            <a:off x="4769069" y="4250756"/>
            <a:ext cx="525195" cy="162801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C3944033-E469-4246-A5F4-D0A61742ED41}"/>
              </a:ext>
            </a:extLst>
          </p:cNvPr>
          <p:cNvCxnSpPr>
            <a:cxnSpLocks/>
          </p:cNvCxnSpPr>
          <p:nvPr/>
        </p:nvCxnSpPr>
        <p:spPr>
          <a:xfrm flipV="1">
            <a:off x="5328745" y="4519485"/>
            <a:ext cx="1040524" cy="135928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2" name="Gerade Verbindung mit Pfeil 21">
            <a:extLst>
              <a:ext uri="{FF2B5EF4-FFF2-40B4-BE49-F238E27FC236}">
                <a16:creationId xmlns:a16="http://schemas.microsoft.com/office/drawing/2014/main" id="{00BAF85F-61B5-4A1C-82F3-3ADE9721AD88}"/>
              </a:ext>
            </a:extLst>
          </p:cNvPr>
          <p:cNvCxnSpPr>
            <a:cxnSpLocks/>
          </p:cNvCxnSpPr>
          <p:nvPr/>
        </p:nvCxnSpPr>
        <p:spPr>
          <a:xfrm flipV="1">
            <a:off x="5904186" y="4856831"/>
            <a:ext cx="1453805" cy="1021942"/>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0" name="Rechteck: abgerundete Ecken 29">
            <a:extLst>
              <a:ext uri="{FF2B5EF4-FFF2-40B4-BE49-F238E27FC236}">
                <a16:creationId xmlns:a16="http://schemas.microsoft.com/office/drawing/2014/main" id="{4044DC74-9047-457D-9456-DEC5490A6709}"/>
              </a:ext>
            </a:extLst>
          </p:cNvPr>
          <p:cNvSpPr/>
          <p:nvPr/>
        </p:nvSpPr>
        <p:spPr>
          <a:xfrm>
            <a:off x="1024759" y="4519485"/>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3</a:t>
            </a:r>
          </a:p>
        </p:txBody>
      </p:sp>
      <p:sp>
        <p:nvSpPr>
          <p:cNvPr id="31" name="Rechteck: abgerundete Ecken 30">
            <a:extLst>
              <a:ext uri="{FF2B5EF4-FFF2-40B4-BE49-F238E27FC236}">
                <a16:creationId xmlns:a16="http://schemas.microsoft.com/office/drawing/2014/main" id="{4DD0FD34-3C90-49F8-A63C-2556608962B2}"/>
              </a:ext>
            </a:extLst>
          </p:cNvPr>
          <p:cNvSpPr/>
          <p:nvPr/>
        </p:nvSpPr>
        <p:spPr>
          <a:xfrm>
            <a:off x="2066757" y="4144383"/>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5.12</a:t>
            </a:r>
          </a:p>
        </p:txBody>
      </p:sp>
      <p:sp>
        <p:nvSpPr>
          <p:cNvPr id="32" name="Rechteck: abgerundete Ecken 31">
            <a:extLst>
              <a:ext uri="{FF2B5EF4-FFF2-40B4-BE49-F238E27FC236}">
                <a16:creationId xmlns:a16="http://schemas.microsoft.com/office/drawing/2014/main" id="{5E25C746-C772-4BB2-BF4E-140089857B7D}"/>
              </a:ext>
            </a:extLst>
          </p:cNvPr>
          <p:cNvSpPr/>
          <p:nvPr/>
        </p:nvSpPr>
        <p:spPr>
          <a:xfrm>
            <a:off x="3044220" y="3894915"/>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True</a:t>
            </a:r>
          </a:p>
        </p:txBody>
      </p:sp>
      <p:sp>
        <p:nvSpPr>
          <p:cNvPr id="33" name="Rechteck: abgerundete Ecken 32">
            <a:extLst>
              <a:ext uri="{FF2B5EF4-FFF2-40B4-BE49-F238E27FC236}">
                <a16:creationId xmlns:a16="http://schemas.microsoft.com/office/drawing/2014/main" id="{E769367C-4023-4C4F-B440-F7FA81D908F0}"/>
              </a:ext>
            </a:extLst>
          </p:cNvPr>
          <p:cNvSpPr/>
          <p:nvPr/>
        </p:nvSpPr>
        <p:spPr>
          <a:xfrm>
            <a:off x="4862187" y="3894915"/>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‘Vienna‘</a:t>
            </a:r>
          </a:p>
        </p:txBody>
      </p:sp>
      <p:sp>
        <p:nvSpPr>
          <p:cNvPr id="34" name="Rechteck: abgerundete Ecken 33">
            <a:extLst>
              <a:ext uri="{FF2B5EF4-FFF2-40B4-BE49-F238E27FC236}">
                <a16:creationId xmlns:a16="http://schemas.microsoft.com/office/drawing/2014/main" id="{3C41A196-4FDC-439F-94CB-1383E2DC2DC2}"/>
              </a:ext>
            </a:extLst>
          </p:cNvPr>
          <p:cNvSpPr/>
          <p:nvPr/>
        </p:nvSpPr>
        <p:spPr>
          <a:xfrm>
            <a:off x="5904186" y="4143617"/>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‘Austria‘</a:t>
            </a:r>
          </a:p>
        </p:txBody>
      </p:sp>
      <p:sp>
        <p:nvSpPr>
          <p:cNvPr id="35" name="Rechteck: abgerundete Ecken 34">
            <a:extLst>
              <a:ext uri="{FF2B5EF4-FFF2-40B4-BE49-F238E27FC236}">
                <a16:creationId xmlns:a16="http://schemas.microsoft.com/office/drawing/2014/main" id="{823C481C-469B-4581-A213-2F40A2836D05}"/>
              </a:ext>
            </a:extLst>
          </p:cNvPr>
          <p:cNvSpPr/>
          <p:nvPr/>
        </p:nvSpPr>
        <p:spPr>
          <a:xfrm>
            <a:off x="7059748" y="4500224"/>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-10</a:t>
            </a:r>
          </a:p>
        </p:txBody>
      </p:sp>
    </p:spTree>
    <p:extLst>
      <p:ext uri="{BB962C8B-B14F-4D97-AF65-F5344CB8AC3E}">
        <p14:creationId xmlns:p14="http://schemas.microsoft.com/office/powerpoint/2010/main" val="796669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R</a:t>
            </a:r>
            <a:r>
              <a:rPr lang="en-US" sz="2800" b="1" noProof="0" dirty="0" err="1">
                <a:latin typeface="Calibri" panose="020F0502020204030204" pitchFamily="34" charset="0"/>
                <a:cs typeface="Calibri" panose="020F0502020204030204" pitchFamily="34" charset="0"/>
              </a:rPr>
              <a:t>eferential</a:t>
            </a:r>
            <a:r>
              <a:rPr lang="en-US" sz="2800" b="1" noProof="0" dirty="0">
                <a:latin typeface="Calibri" panose="020F0502020204030204" pitchFamily="34" charset="0"/>
                <a:cs typeface="Calibri" panose="020F0502020204030204" pitchFamily="34" charset="0"/>
              </a:rPr>
              <a:t> arrays</a:t>
            </a: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762161"/>
            <a:ext cx="8229300" cy="2623746"/>
          </a:xfrm>
        </p:spPr>
        <p:txBody>
          <a:body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fact that lists or tuples are referential arrays leads to important consequences</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 single list may include multiple references to the same element</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 single object may be an element in more than one list</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For example, when we compute a list slice the result is a new list</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But the new list has references to the same elements as the original list</a:t>
            </a:r>
          </a:p>
        </p:txBody>
      </p:sp>
    </p:spTree>
    <p:extLst>
      <p:ext uri="{BB962C8B-B14F-4D97-AF65-F5344CB8AC3E}">
        <p14:creationId xmlns:p14="http://schemas.microsoft.com/office/powerpoint/2010/main" val="1385466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R</a:t>
            </a:r>
            <a:r>
              <a:rPr lang="en-US" sz="2800" b="1" noProof="0" dirty="0" err="1">
                <a:latin typeface="Calibri" panose="020F0502020204030204" pitchFamily="34" charset="0"/>
                <a:cs typeface="Calibri" panose="020F0502020204030204" pitchFamily="34" charset="0"/>
              </a:rPr>
              <a:t>eferential</a:t>
            </a:r>
            <a:r>
              <a:rPr lang="en-US" sz="2800" b="1" noProof="0" dirty="0">
                <a:latin typeface="Calibri" panose="020F0502020204030204" pitchFamily="34" charset="0"/>
                <a:cs typeface="Calibri" panose="020F0502020204030204" pitchFamily="34" charset="0"/>
              </a:rPr>
              <a:t> arrays</a:t>
            </a: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179453"/>
                <a:ext cx="8229300" cy="443968"/>
              </a:xfrm>
            </p:spPr>
            <p:txBody>
              <a:body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𝑙𝑖𝑠𝑡</m:t>
                      </m:r>
                      <m:r>
                        <a:rPr lang="en-US" sz="1800" i="1" dirty="0" smtClean="0">
                          <a:latin typeface="Cambria Math" panose="02040503050406030204" pitchFamily="18" charset="0"/>
                          <a:ea typeface="Calibri" panose="020F0502020204030204" pitchFamily="34" charset="0"/>
                          <a:cs typeface="Calibri" panose="020F0502020204030204" pitchFamily="34" charset="0"/>
                        </a:rPr>
                        <m:t>[2:5]</m:t>
                      </m:r>
                    </m:oMath>
                  </m:oMathPara>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179453"/>
                <a:ext cx="8229300" cy="443968"/>
              </a:xfrm>
              <a:blipFill>
                <a:blip r:embed="rId3"/>
                <a:stretch>
                  <a:fillRect/>
                </a:stretch>
              </a:blipFill>
            </p:spPr>
            <p:txBody>
              <a:bodyPr/>
              <a:lstStyle/>
              <a:p>
                <a:r>
                  <a:rPr lang="de-AT">
                    <a:noFill/>
                  </a:rPr>
                  <a:t> </a:t>
                </a:r>
              </a:p>
            </p:txBody>
          </p:sp>
        </mc:Fallback>
      </mc:AlternateContent>
      <p:graphicFrame>
        <p:nvGraphicFramePr>
          <p:cNvPr id="5" name="Tabelle 4">
            <a:extLst>
              <a:ext uri="{FF2B5EF4-FFF2-40B4-BE49-F238E27FC236}">
                <a16:creationId xmlns:a16="http://schemas.microsoft.com/office/drawing/2014/main" id="{C9935E72-2E6B-456F-8A77-7BA884207E09}"/>
              </a:ext>
            </a:extLst>
          </p:cNvPr>
          <p:cNvGraphicFramePr>
            <a:graphicFrameLocks noGrp="1"/>
          </p:cNvGraphicFramePr>
          <p:nvPr>
            <p:extLst>
              <p:ext uri="{D42A27DB-BD31-4B8C-83A1-F6EECF244321}">
                <p14:modId xmlns:p14="http://schemas.microsoft.com/office/powerpoint/2010/main" val="2588471174"/>
              </p:ext>
            </p:extLst>
          </p:nvPr>
        </p:nvGraphicFramePr>
        <p:xfrm>
          <a:off x="1709843" y="5496281"/>
          <a:ext cx="58320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gridCol w="583200">
                  <a:extLst>
                    <a:ext uri="{9D8B030D-6E8A-4147-A177-3AD203B41FA5}">
                      <a16:colId xmlns:a16="http://schemas.microsoft.com/office/drawing/2014/main" val="1206274525"/>
                    </a:ext>
                  </a:extLst>
                </a:gridCol>
                <a:gridCol w="583200">
                  <a:extLst>
                    <a:ext uri="{9D8B030D-6E8A-4147-A177-3AD203B41FA5}">
                      <a16:colId xmlns:a16="http://schemas.microsoft.com/office/drawing/2014/main" val="2819438862"/>
                    </a:ext>
                  </a:extLst>
                </a:gridCol>
                <a:gridCol w="583200">
                  <a:extLst>
                    <a:ext uri="{9D8B030D-6E8A-4147-A177-3AD203B41FA5}">
                      <a16:colId xmlns:a16="http://schemas.microsoft.com/office/drawing/2014/main" val="1941964045"/>
                    </a:ext>
                  </a:extLst>
                </a:gridCol>
                <a:gridCol w="583200">
                  <a:extLst>
                    <a:ext uri="{9D8B030D-6E8A-4147-A177-3AD203B41FA5}">
                      <a16:colId xmlns:a16="http://schemas.microsoft.com/office/drawing/2014/main" val="2400113474"/>
                    </a:ext>
                  </a:extLst>
                </a:gridCol>
                <a:gridCol w="583200">
                  <a:extLst>
                    <a:ext uri="{9D8B030D-6E8A-4147-A177-3AD203B41FA5}">
                      <a16:colId xmlns:a16="http://schemas.microsoft.com/office/drawing/2014/main" val="883156179"/>
                    </a:ext>
                  </a:extLst>
                </a:gridCol>
                <a:gridCol w="583200">
                  <a:extLst>
                    <a:ext uri="{9D8B030D-6E8A-4147-A177-3AD203B41FA5}">
                      <a16:colId xmlns:a16="http://schemas.microsoft.com/office/drawing/2014/main" val="2515628111"/>
                    </a:ext>
                  </a:extLst>
                </a:gridCol>
                <a:gridCol w="583200">
                  <a:extLst>
                    <a:ext uri="{9D8B030D-6E8A-4147-A177-3AD203B41FA5}">
                      <a16:colId xmlns:a16="http://schemas.microsoft.com/office/drawing/2014/main" val="1043724596"/>
                    </a:ext>
                  </a:extLst>
                </a:gridCol>
                <a:gridCol w="583200">
                  <a:extLst>
                    <a:ext uri="{9D8B030D-6E8A-4147-A177-3AD203B41FA5}">
                      <a16:colId xmlns:a16="http://schemas.microsoft.com/office/drawing/2014/main" val="2696891068"/>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rgbClr val="F8D7CD"/>
                    </a:solidFill>
                  </a:tcPr>
                </a:tc>
                <a:extLst>
                  <a:ext uri="{0D108BD9-81ED-4DB2-BD59-A6C34878D82A}">
                    <a16:rowId xmlns:a16="http://schemas.microsoft.com/office/drawing/2014/main" val="3905756574"/>
                  </a:ext>
                </a:extLst>
              </a:tr>
            </a:tbl>
          </a:graphicData>
        </a:graphic>
      </p:graphicFrame>
      <p:graphicFrame>
        <p:nvGraphicFramePr>
          <p:cNvPr id="6" name="Tabelle 5">
            <a:extLst>
              <a:ext uri="{FF2B5EF4-FFF2-40B4-BE49-F238E27FC236}">
                <a16:creationId xmlns:a16="http://schemas.microsoft.com/office/drawing/2014/main" id="{88272AA9-7C01-4CA2-8948-03F78C052CEC}"/>
              </a:ext>
            </a:extLst>
          </p:cNvPr>
          <p:cNvGraphicFramePr>
            <a:graphicFrameLocks noGrp="1"/>
          </p:cNvGraphicFramePr>
          <p:nvPr>
            <p:extLst>
              <p:ext uri="{D42A27DB-BD31-4B8C-83A1-F6EECF244321}">
                <p14:modId xmlns:p14="http://schemas.microsoft.com/office/powerpoint/2010/main" val="4243600517"/>
              </p:ext>
            </p:extLst>
          </p:nvPr>
        </p:nvGraphicFramePr>
        <p:xfrm>
          <a:off x="1698025" y="5121230"/>
          <a:ext cx="5842544"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3444015220"/>
                    </a:ext>
                  </a:extLst>
                </a:gridCol>
                <a:gridCol w="584518">
                  <a:extLst>
                    <a:ext uri="{9D8B030D-6E8A-4147-A177-3AD203B41FA5}">
                      <a16:colId xmlns:a16="http://schemas.microsoft.com/office/drawing/2014/main" val="2987258123"/>
                    </a:ext>
                  </a:extLst>
                </a:gridCol>
                <a:gridCol w="584518">
                  <a:extLst>
                    <a:ext uri="{9D8B030D-6E8A-4147-A177-3AD203B41FA5}">
                      <a16:colId xmlns:a16="http://schemas.microsoft.com/office/drawing/2014/main" val="1206274525"/>
                    </a:ext>
                  </a:extLst>
                </a:gridCol>
                <a:gridCol w="584518">
                  <a:extLst>
                    <a:ext uri="{9D8B030D-6E8A-4147-A177-3AD203B41FA5}">
                      <a16:colId xmlns:a16="http://schemas.microsoft.com/office/drawing/2014/main" val="2819438862"/>
                    </a:ext>
                  </a:extLst>
                </a:gridCol>
                <a:gridCol w="584518">
                  <a:extLst>
                    <a:ext uri="{9D8B030D-6E8A-4147-A177-3AD203B41FA5}">
                      <a16:colId xmlns:a16="http://schemas.microsoft.com/office/drawing/2014/main" val="1941964045"/>
                    </a:ext>
                  </a:extLst>
                </a:gridCol>
                <a:gridCol w="584518">
                  <a:extLst>
                    <a:ext uri="{9D8B030D-6E8A-4147-A177-3AD203B41FA5}">
                      <a16:colId xmlns:a16="http://schemas.microsoft.com/office/drawing/2014/main" val="2400113474"/>
                    </a:ext>
                  </a:extLst>
                </a:gridCol>
                <a:gridCol w="584518">
                  <a:extLst>
                    <a:ext uri="{9D8B030D-6E8A-4147-A177-3AD203B41FA5}">
                      <a16:colId xmlns:a16="http://schemas.microsoft.com/office/drawing/2014/main" val="883156179"/>
                    </a:ext>
                  </a:extLst>
                </a:gridCol>
                <a:gridCol w="584518">
                  <a:extLst>
                    <a:ext uri="{9D8B030D-6E8A-4147-A177-3AD203B41FA5}">
                      <a16:colId xmlns:a16="http://schemas.microsoft.com/office/drawing/2014/main" val="2515628111"/>
                    </a:ext>
                  </a:extLst>
                </a:gridCol>
                <a:gridCol w="584518">
                  <a:extLst>
                    <a:ext uri="{9D8B030D-6E8A-4147-A177-3AD203B41FA5}">
                      <a16:colId xmlns:a16="http://schemas.microsoft.com/office/drawing/2014/main" val="1043724596"/>
                    </a:ext>
                  </a:extLst>
                </a:gridCol>
                <a:gridCol w="583200">
                  <a:extLst>
                    <a:ext uri="{9D8B030D-6E8A-4147-A177-3AD203B41FA5}">
                      <a16:colId xmlns:a16="http://schemas.microsoft.com/office/drawing/2014/main" val="3447370448"/>
                    </a:ext>
                  </a:extLst>
                </a:gridCol>
              </a:tblGrid>
              <a:tr h="370840">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2145</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2146</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2147</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2148</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2149</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2150</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2151</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2152</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chemeClr val="accent1">
                        <a:lumMod val="20000"/>
                        <a:lumOff val="80000"/>
                      </a:schemeClr>
                    </a:solidFill>
                  </a:tcPr>
                </a:tc>
                <a:extLst>
                  <a:ext uri="{0D108BD9-81ED-4DB2-BD59-A6C34878D82A}">
                    <a16:rowId xmlns:a16="http://schemas.microsoft.com/office/drawing/2014/main" val="3905756574"/>
                  </a:ext>
                </a:extLst>
              </a:tr>
            </a:tbl>
          </a:graphicData>
        </a:graphic>
      </p:graphicFrame>
      <p:graphicFrame>
        <p:nvGraphicFramePr>
          <p:cNvPr id="7" name="Tabelle 6">
            <a:extLst>
              <a:ext uri="{FF2B5EF4-FFF2-40B4-BE49-F238E27FC236}">
                <a16:creationId xmlns:a16="http://schemas.microsoft.com/office/drawing/2014/main" id="{57CCA881-DD7F-4267-B369-4B68B05C1254}"/>
              </a:ext>
            </a:extLst>
          </p:cNvPr>
          <p:cNvGraphicFramePr>
            <a:graphicFrameLocks noGrp="1"/>
          </p:cNvGraphicFramePr>
          <p:nvPr>
            <p:extLst>
              <p:ext uri="{D42A27DB-BD31-4B8C-83A1-F6EECF244321}">
                <p14:modId xmlns:p14="http://schemas.microsoft.com/office/powerpoint/2010/main" val="707017878"/>
              </p:ext>
            </p:extLst>
          </p:nvPr>
        </p:nvGraphicFramePr>
        <p:xfrm>
          <a:off x="1696751" y="5867121"/>
          <a:ext cx="5842544"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3444015220"/>
                    </a:ext>
                  </a:extLst>
                </a:gridCol>
                <a:gridCol w="584518">
                  <a:extLst>
                    <a:ext uri="{9D8B030D-6E8A-4147-A177-3AD203B41FA5}">
                      <a16:colId xmlns:a16="http://schemas.microsoft.com/office/drawing/2014/main" val="2987258123"/>
                    </a:ext>
                  </a:extLst>
                </a:gridCol>
                <a:gridCol w="584518">
                  <a:extLst>
                    <a:ext uri="{9D8B030D-6E8A-4147-A177-3AD203B41FA5}">
                      <a16:colId xmlns:a16="http://schemas.microsoft.com/office/drawing/2014/main" val="1206274525"/>
                    </a:ext>
                  </a:extLst>
                </a:gridCol>
                <a:gridCol w="584518">
                  <a:extLst>
                    <a:ext uri="{9D8B030D-6E8A-4147-A177-3AD203B41FA5}">
                      <a16:colId xmlns:a16="http://schemas.microsoft.com/office/drawing/2014/main" val="2819438862"/>
                    </a:ext>
                  </a:extLst>
                </a:gridCol>
                <a:gridCol w="584518">
                  <a:extLst>
                    <a:ext uri="{9D8B030D-6E8A-4147-A177-3AD203B41FA5}">
                      <a16:colId xmlns:a16="http://schemas.microsoft.com/office/drawing/2014/main" val="1941964045"/>
                    </a:ext>
                  </a:extLst>
                </a:gridCol>
                <a:gridCol w="584518">
                  <a:extLst>
                    <a:ext uri="{9D8B030D-6E8A-4147-A177-3AD203B41FA5}">
                      <a16:colId xmlns:a16="http://schemas.microsoft.com/office/drawing/2014/main" val="2400113474"/>
                    </a:ext>
                  </a:extLst>
                </a:gridCol>
                <a:gridCol w="584518">
                  <a:extLst>
                    <a:ext uri="{9D8B030D-6E8A-4147-A177-3AD203B41FA5}">
                      <a16:colId xmlns:a16="http://schemas.microsoft.com/office/drawing/2014/main" val="883156179"/>
                    </a:ext>
                  </a:extLst>
                </a:gridCol>
                <a:gridCol w="584518">
                  <a:extLst>
                    <a:ext uri="{9D8B030D-6E8A-4147-A177-3AD203B41FA5}">
                      <a16:colId xmlns:a16="http://schemas.microsoft.com/office/drawing/2014/main" val="2515628111"/>
                    </a:ext>
                  </a:extLst>
                </a:gridCol>
                <a:gridCol w="584518">
                  <a:extLst>
                    <a:ext uri="{9D8B030D-6E8A-4147-A177-3AD203B41FA5}">
                      <a16:colId xmlns:a16="http://schemas.microsoft.com/office/drawing/2014/main" val="1043724596"/>
                    </a:ext>
                  </a:extLst>
                </a:gridCol>
                <a:gridCol w="583200">
                  <a:extLst>
                    <a:ext uri="{9D8B030D-6E8A-4147-A177-3AD203B41FA5}">
                      <a16:colId xmlns:a16="http://schemas.microsoft.com/office/drawing/2014/main" val="3447370448"/>
                    </a:ext>
                  </a:extLst>
                </a:gridCol>
              </a:tblGrid>
              <a:tr h="370840">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0</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3</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4</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5</a:t>
                      </a:r>
                    </a:p>
                  </a:txBody>
                  <a:tcPr>
                    <a:solidFill>
                      <a:schemeClr val="accent6">
                        <a:lumMod val="40000"/>
                        <a:lumOff val="60000"/>
                      </a:schemeClr>
                    </a:solidFill>
                  </a:tcPr>
                </a:tc>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extLst>
                  <a:ext uri="{0D108BD9-81ED-4DB2-BD59-A6C34878D82A}">
                    <a16:rowId xmlns:a16="http://schemas.microsoft.com/office/drawing/2014/main" val="3905756574"/>
                  </a:ext>
                </a:extLst>
              </a:tr>
            </a:tbl>
          </a:graphicData>
        </a:graphic>
      </p:graphicFrame>
      <p:cxnSp>
        <p:nvCxnSpPr>
          <p:cNvPr id="4" name="Gerade Verbindung mit Pfeil 3">
            <a:extLst>
              <a:ext uri="{FF2B5EF4-FFF2-40B4-BE49-F238E27FC236}">
                <a16:creationId xmlns:a16="http://schemas.microsoft.com/office/drawing/2014/main" id="{1DA4B826-C32A-4646-A01F-DC81CE2B915E}"/>
              </a:ext>
            </a:extLst>
          </p:cNvPr>
          <p:cNvCxnSpPr>
            <a:cxnSpLocks/>
          </p:cNvCxnSpPr>
          <p:nvPr/>
        </p:nvCxnSpPr>
        <p:spPr>
          <a:xfrm flipH="1" flipV="1">
            <a:off x="1654664" y="4686903"/>
            <a:ext cx="1490558" cy="994799"/>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1" name="Gerade Verbindung mit Pfeil 10">
            <a:extLst>
              <a:ext uri="{FF2B5EF4-FFF2-40B4-BE49-F238E27FC236}">
                <a16:creationId xmlns:a16="http://schemas.microsoft.com/office/drawing/2014/main" id="{171CD1E1-1199-4591-A3EE-08C24797A9DB}"/>
              </a:ext>
            </a:extLst>
          </p:cNvPr>
          <p:cNvCxnSpPr>
            <a:cxnSpLocks/>
          </p:cNvCxnSpPr>
          <p:nvPr/>
        </p:nvCxnSpPr>
        <p:spPr>
          <a:xfrm flipH="1" flipV="1">
            <a:off x="2680138" y="4322413"/>
            <a:ext cx="1068115" cy="1367172"/>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4" name="Gerade Verbindung mit Pfeil 13">
            <a:extLst>
              <a:ext uri="{FF2B5EF4-FFF2-40B4-BE49-F238E27FC236}">
                <a16:creationId xmlns:a16="http://schemas.microsoft.com/office/drawing/2014/main" id="{2A8EE252-FBA4-435F-A7AF-DD45910ABFBE}"/>
              </a:ext>
            </a:extLst>
          </p:cNvPr>
          <p:cNvCxnSpPr>
            <a:cxnSpLocks/>
          </p:cNvCxnSpPr>
          <p:nvPr/>
        </p:nvCxnSpPr>
        <p:spPr>
          <a:xfrm flipH="1" flipV="1">
            <a:off x="3657601" y="4053684"/>
            <a:ext cx="646386" cy="163590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D7B3304E-3EBB-4BD7-9724-18A389CA04B9}"/>
              </a:ext>
            </a:extLst>
          </p:cNvPr>
          <p:cNvCxnSpPr>
            <a:cxnSpLocks/>
          </p:cNvCxnSpPr>
          <p:nvPr/>
        </p:nvCxnSpPr>
        <p:spPr>
          <a:xfrm flipV="1">
            <a:off x="4950373" y="4053684"/>
            <a:ext cx="525195" cy="162801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C3944033-E469-4246-A5F4-D0A61742ED41}"/>
              </a:ext>
            </a:extLst>
          </p:cNvPr>
          <p:cNvCxnSpPr>
            <a:cxnSpLocks/>
          </p:cNvCxnSpPr>
          <p:nvPr/>
        </p:nvCxnSpPr>
        <p:spPr>
          <a:xfrm flipV="1">
            <a:off x="5510049" y="4322413"/>
            <a:ext cx="1040524" cy="135928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2" name="Gerade Verbindung mit Pfeil 21">
            <a:extLst>
              <a:ext uri="{FF2B5EF4-FFF2-40B4-BE49-F238E27FC236}">
                <a16:creationId xmlns:a16="http://schemas.microsoft.com/office/drawing/2014/main" id="{00BAF85F-61B5-4A1C-82F3-3ADE9721AD88}"/>
              </a:ext>
            </a:extLst>
          </p:cNvPr>
          <p:cNvCxnSpPr>
            <a:cxnSpLocks/>
          </p:cNvCxnSpPr>
          <p:nvPr/>
        </p:nvCxnSpPr>
        <p:spPr>
          <a:xfrm flipV="1">
            <a:off x="6085490" y="4659759"/>
            <a:ext cx="1453805" cy="1021942"/>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0" name="Rechteck: abgerundete Ecken 29">
            <a:extLst>
              <a:ext uri="{FF2B5EF4-FFF2-40B4-BE49-F238E27FC236}">
                <a16:creationId xmlns:a16="http://schemas.microsoft.com/office/drawing/2014/main" id="{4044DC74-9047-457D-9456-DEC5490A6709}"/>
              </a:ext>
            </a:extLst>
          </p:cNvPr>
          <p:cNvSpPr/>
          <p:nvPr/>
        </p:nvSpPr>
        <p:spPr>
          <a:xfrm>
            <a:off x="1206063" y="4322413"/>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3</a:t>
            </a:r>
          </a:p>
        </p:txBody>
      </p:sp>
      <p:sp>
        <p:nvSpPr>
          <p:cNvPr id="31" name="Rechteck: abgerundete Ecken 30">
            <a:extLst>
              <a:ext uri="{FF2B5EF4-FFF2-40B4-BE49-F238E27FC236}">
                <a16:creationId xmlns:a16="http://schemas.microsoft.com/office/drawing/2014/main" id="{4DD0FD34-3C90-49F8-A63C-2556608962B2}"/>
              </a:ext>
            </a:extLst>
          </p:cNvPr>
          <p:cNvSpPr/>
          <p:nvPr/>
        </p:nvSpPr>
        <p:spPr>
          <a:xfrm>
            <a:off x="2248061" y="3947311"/>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5.12</a:t>
            </a:r>
          </a:p>
        </p:txBody>
      </p:sp>
      <p:sp>
        <p:nvSpPr>
          <p:cNvPr id="32" name="Rechteck: abgerundete Ecken 31">
            <a:extLst>
              <a:ext uri="{FF2B5EF4-FFF2-40B4-BE49-F238E27FC236}">
                <a16:creationId xmlns:a16="http://schemas.microsoft.com/office/drawing/2014/main" id="{5E25C746-C772-4BB2-BF4E-140089857B7D}"/>
              </a:ext>
            </a:extLst>
          </p:cNvPr>
          <p:cNvSpPr/>
          <p:nvPr/>
        </p:nvSpPr>
        <p:spPr>
          <a:xfrm>
            <a:off x="3225524" y="3697843"/>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True</a:t>
            </a:r>
          </a:p>
        </p:txBody>
      </p:sp>
      <p:sp>
        <p:nvSpPr>
          <p:cNvPr id="33" name="Rechteck: abgerundete Ecken 32">
            <a:extLst>
              <a:ext uri="{FF2B5EF4-FFF2-40B4-BE49-F238E27FC236}">
                <a16:creationId xmlns:a16="http://schemas.microsoft.com/office/drawing/2014/main" id="{E769367C-4023-4C4F-B440-F7FA81D908F0}"/>
              </a:ext>
            </a:extLst>
          </p:cNvPr>
          <p:cNvSpPr/>
          <p:nvPr/>
        </p:nvSpPr>
        <p:spPr>
          <a:xfrm>
            <a:off x="5043491" y="3697843"/>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‘Vienna‘</a:t>
            </a:r>
          </a:p>
        </p:txBody>
      </p:sp>
      <p:sp>
        <p:nvSpPr>
          <p:cNvPr id="34" name="Rechteck: abgerundete Ecken 33">
            <a:extLst>
              <a:ext uri="{FF2B5EF4-FFF2-40B4-BE49-F238E27FC236}">
                <a16:creationId xmlns:a16="http://schemas.microsoft.com/office/drawing/2014/main" id="{3C41A196-4FDC-439F-94CB-1383E2DC2DC2}"/>
              </a:ext>
            </a:extLst>
          </p:cNvPr>
          <p:cNvSpPr/>
          <p:nvPr/>
        </p:nvSpPr>
        <p:spPr>
          <a:xfrm>
            <a:off x="6085490" y="3946545"/>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‘Austria‘</a:t>
            </a:r>
          </a:p>
        </p:txBody>
      </p:sp>
      <p:sp>
        <p:nvSpPr>
          <p:cNvPr id="35" name="Rechteck: abgerundete Ecken 34">
            <a:extLst>
              <a:ext uri="{FF2B5EF4-FFF2-40B4-BE49-F238E27FC236}">
                <a16:creationId xmlns:a16="http://schemas.microsoft.com/office/drawing/2014/main" id="{823C481C-469B-4581-A213-2F40A2836D05}"/>
              </a:ext>
            </a:extLst>
          </p:cNvPr>
          <p:cNvSpPr/>
          <p:nvPr/>
        </p:nvSpPr>
        <p:spPr>
          <a:xfrm>
            <a:off x="7241052" y="4303152"/>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-10</a:t>
            </a:r>
          </a:p>
        </p:txBody>
      </p:sp>
      <p:graphicFrame>
        <p:nvGraphicFramePr>
          <p:cNvPr id="20" name="Tabelle 19">
            <a:extLst>
              <a:ext uri="{FF2B5EF4-FFF2-40B4-BE49-F238E27FC236}">
                <a16:creationId xmlns:a16="http://schemas.microsoft.com/office/drawing/2014/main" id="{31CBE4C2-F2B8-4DAF-A4EB-F6D38645199F}"/>
              </a:ext>
            </a:extLst>
          </p:cNvPr>
          <p:cNvGraphicFramePr>
            <a:graphicFrameLocks noGrp="1"/>
          </p:cNvGraphicFramePr>
          <p:nvPr>
            <p:extLst>
              <p:ext uri="{D42A27DB-BD31-4B8C-83A1-F6EECF244321}">
                <p14:modId xmlns:p14="http://schemas.microsoft.com/office/powerpoint/2010/main" val="1392930189"/>
              </p:ext>
            </p:extLst>
          </p:nvPr>
        </p:nvGraphicFramePr>
        <p:xfrm>
          <a:off x="3027633" y="1920749"/>
          <a:ext cx="29160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883156179"/>
                    </a:ext>
                  </a:extLst>
                </a:gridCol>
                <a:gridCol w="583200">
                  <a:extLst>
                    <a:ext uri="{9D8B030D-6E8A-4147-A177-3AD203B41FA5}">
                      <a16:colId xmlns:a16="http://schemas.microsoft.com/office/drawing/2014/main" val="2515628111"/>
                    </a:ext>
                  </a:extLst>
                </a:gridCol>
                <a:gridCol w="583200">
                  <a:extLst>
                    <a:ext uri="{9D8B030D-6E8A-4147-A177-3AD203B41FA5}">
                      <a16:colId xmlns:a16="http://schemas.microsoft.com/office/drawing/2014/main" val="1043724596"/>
                    </a:ext>
                  </a:extLst>
                </a:gridCol>
                <a:gridCol w="583200">
                  <a:extLst>
                    <a:ext uri="{9D8B030D-6E8A-4147-A177-3AD203B41FA5}">
                      <a16:colId xmlns:a16="http://schemas.microsoft.com/office/drawing/2014/main" val="2696891068"/>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rgbClr val="F8D7CD"/>
                    </a:solidFill>
                  </a:tcPr>
                </a:tc>
                <a:extLst>
                  <a:ext uri="{0D108BD9-81ED-4DB2-BD59-A6C34878D82A}">
                    <a16:rowId xmlns:a16="http://schemas.microsoft.com/office/drawing/2014/main" val="3905756574"/>
                  </a:ext>
                </a:extLst>
              </a:tr>
            </a:tbl>
          </a:graphicData>
        </a:graphic>
      </p:graphicFrame>
      <p:graphicFrame>
        <p:nvGraphicFramePr>
          <p:cNvPr id="21" name="Tabelle 20">
            <a:extLst>
              <a:ext uri="{FF2B5EF4-FFF2-40B4-BE49-F238E27FC236}">
                <a16:creationId xmlns:a16="http://schemas.microsoft.com/office/drawing/2014/main" id="{5B7DDB1B-3F4B-48BE-BD5E-E836AB03D3C9}"/>
              </a:ext>
            </a:extLst>
          </p:cNvPr>
          <p:cNvGraphicFramePr>
            <a:graphicFrameLocks noGrp="1"/>
          </p:cNvGraphicFramePr>
          <p:nvPr>
            <p:extLst>
              <p:ext uri="{D42A27DB-BD31-4B8C-83A1-F6EECF244321}">
                <p14:modId xmlns:p14="http://schemas.microsoft.com/office/powerpoint/2010/main" val="1616089613"/>
              </p:ext>
            </p:extLst>
          </p:nvPr>
        </p:nvGraphicFramePr>
        <p:xfrm>
          <a:off x="3015815" y="1545698"/>
          <a:ext cx="2919954"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3444015220"/>
                    </a:ext>
                  </a:extLst>
                </a:gridCol>
                <a:gridCol w="584518">
                  <a:extLst>
                    <a:ext uri="{9D8B030D-6E8A-4147-A177-3AD203B41FA5}">
                      <a16:colId xmlns:a16="http://schemas.microsoft.com/office/drawing/2014/main" val="2400113474"/>
                    </a:ext>
                  </a:extLst>
                </a:gridCol>
                <a:gridCol w="584518">
                  <a:extLst>
                    <a:ext uri="{9D8B030D-6E8A-4147-A177-3AD203B41FA5}">
                      <a16:colId xmlns:a16="http://schemas.microsoft.com/office/drawing/2014/main" val="883156179"/>
                    </a:ext>
                  </a:extLst>
                </a:gridCol>
                <a:gridCol w="584518">
                  <a:extLst>
                    <a:ext uri="{9D8B030D-6E8A-4147-A177-3AD203B41FA5}">
                      <a16:colId xmlns:a16="http://schemas.microsoft.com/office/drawing/2014/main" val="2515628111"/>
                    </a:ext>
                  </a:extLst>
                </a:gridCol>
                <a:gridCol w="583200">
                  <a:extLst>
                    <a:ext uri="{9D8B030D-6E8A-4147-A177-3AD203B41FA5}">
                      <a16:colId xmlns:a16="http://schemas.microsoft.com/office/drawing/2014/main" val="3447370448"/>
                    </a:ext>
                  </a:extLst>
                </a:gridCol>
              </a:tblGrid>
              <a:tr h="370840">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3242</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3243</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3244</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chemeClr val="accent1">
                        <a:lumMod val="20000"/>
                        <a:lumOff val="80000"/>
                      </a:schemeClr>
                    </a:solidFill>
                  </a:tcPr>
                </a:tc>
                <a:extLst>
                  <a:ext uri="{0D108BD9-81ED-4DB2-BD59-A6C34878D82A}">
                    <a16:rowId xmlns:a16="http://schemas.microsoft.com/office/drawing/2014/main" val="3905756574"/>
                  </a:ext>
                </a:extLst>
              </a:tr>
            </a:tbl>
          </a:graphicData>
        </a:graphic>
      </p:graphicFrame>
      <p:graphicFrame>
        <p:nvGraphicFramePr>
          <p:cNvPr id="23" name="Tabelle 22">
            <a:extLst>
              <a:ext uri="{FF2B5EF4-FFF2-40B4-BE49-F238E27FC236}">
                <a16:creationId xmlns:a16="http://schemas.microsoft.com/office/drawing/2014/main" id="{C71194EA-41F0-49B1-B97E-76CE03D9DD5D}"/>
              </a:ext>
            </a:extLst>
          </p:cNvPr>
          <p:cNvGraphicFramePr>
            <a:graphicFrameLocks noGrp="1"/>
          </p:cNvGraphicFramePr>
          <p:nvPr>
            <p:extLst>
              <p:ext uri="{D42A27DB-BD31-4B8C-83A1-F6EECF244321}">
                <p14:modId xmlns:p14="http://schemas.microsoft.com/office/powerpoint/2010/main" val="1446855416"/>
              </p:ext>
            </p:extLst>
          </p:nvPr>
        </p:nvGraphicFramePr>
        <p:xfrm>
          <a:off x="3014541" y="2291589"/>
          <a:ext cx="2919954"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3444015220"/>
                    </a:ext>
                  </a:extLst>
                </a:gridCol>
                <a:gridCol w="584518">
                  <a:extLst>
                    <a:ext uri="{9D8B030D-6E8A-4147-A177-3AD203B41FA5}">
                      <a16:colId xmlns:a16="http://schemas.microsoft.com/office/drawing/2014/main" val="883156179"/>
                    </a:ext>
                  </a:extLst>
                </a:gridCol>
                <a:gridCol w="584518">
                  <a:extLst>
                    <a:ext uri="{9D8B030D-6E8A-4147-A177-3AD203B41FA5}">
                      <a16:colId xmlns:a16="http://schemas.microsoft.com/office/drawing/2014/main" val="2515628111"/>
                    </a:ext>
                  </a:extLst>
                </a:gridCol>
                <a:gridCol w="584518">
                  <a:extLst>
                    <a:ext uri="{9D8B030D-6E8A-4147-A177-3AD203B41FA5}">
                      <a16:colId xmlns:a16="http://schemas.microsoft.com/office/drawing/2014/main" val="1043724596"/>
                    </a:ext>
                  </a:extLst>
                </a:gridCol>
                <a:gridCol w="583200">
                  <a:extLst>
                    <a:ext uri="{9D8B030D-6E8A-4147-A177-3AD203B41FA5}">
                      <a16:colId xmlns:a16="http://schemas.microsoft.com/office/drawing/2014/main" val="3447370448"/>
                    </a:ext>
                  </a:extLst>
                </a:gridCol>
              </a:tblGrid>
              <a:tr h="370840">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0</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p>
                  </a:txBody>
                  <a:tcPr>
                    <a:solidFill>
                      <a:schemeClr val="accent6">
                        <a:lumMod val="40000"/>
                        <a:lumOff val="60000"/>
                      </a:schemeClr>
                    </a:solidFill>
                  </a:tcPr>
                </a:tc>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extLst>
                  <a:ext uri="{0D108BD9-81ED-4DB2-BD59-A6C34878D82A}">
                    <a16:rowId xmlns:a16="http://schemas.microsoft.com/office/drawing/2014/main" val="3905756574"/>
                  </a:ext>
                </a:extLst>
              </a:tr>
            </a:tbl>
          </a:graphicData>
        </a:graphic>
      </p:graphicFrame>
      <p:cxnSp>
        <p:nvCxnSpPr>
          <p:cNvPr id="9" name="Gerade Verbindung mit Pfeil 8">
            <a:extLst>
              <a:ext uri="{FF2B5EF4-FFF2-40B4-BE49-F238E27FC236}">
                <a16:creationId xmlns:a16="http://schemas.microsoft.com/office/drawing/2014/main" id="{8B1A5E9F-F021-4DF4-9F08-B4C6A628ECE8}"/>
              </a:ext>
            </a:extLst>
          </p:cNvPr>
          <p:cNvCxnSpPr>
            <a:cxnSpLocks/>
            <a:endCxn id="32" idx="0"/>
          </p:cNvCxnSpPr>
          <p:nvPr/>
        </p:nvCxnSpPr>
        <p:spPr>
          <a:xfrm flipH="1">
            <a:off x="3657601" y="2043476"/>
            <a:ext cx="239201" cy="1654367"/>
          </a:xfrm>
          <a:prstGeom prst="straightConnector1">
            <a:avLst/>
          </a:prstGeom>
          <a:ln w="25400">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3" name="Gerade Verbindung mit Pfeil 12">
            <a:extLst>
              <a:ext uri="{FF2B5EF4-FFF2-40B4-BE49-F238E27FC236}">
                <a16:creationId xmlns:a16="http://schemas.microsoft.com/office/drawing/2014/main" id="{EDE047A9-C067-48B5-8D61-B4962319D71A}"/>
              </a:ext>
            </a:extLst>
          </p:cNvPr>
          <p:cNvCxnSpPr>
            <a:cxnSpLocks/>
            <a:endCxn id="33" idx="0"/>
          </p:cNvCxnSpPr>
          <p:nvPr/>
        </p:nvCxnSpPr>
        <p:spPr>
          <a:xfrm>
            <a:off x="4469557" y="2057748"/>
            <a:ext cx="1006011" cy="1640095"/>
          </a:xfrm>
          <a:prstGeom prst="straightConnector1">
            <a:avLst/>
          </a:prstGeom>
          <a:ln w="25400">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7" name="Gerade Verbindung mit Pfeil 16">
            <a:extLst>
              <a:ext uri="{FF2B5EF4-FFF2-40B4-BE49-F238E27FC236}">
                <a16:creationId xmlns:a16="http://schemas.microsoft.com/office/drawing/2014/main" id="{6420A8B1-EEB0-4837-B770-D8FA51616D0C}"/>
              </a:ext>
            </a:extLst>
          </p:cNvPr>
          <p:cNvCxnSpPr>
            <a:cxnSpLocks/>
            <a:endCxn id="34" idx="0"/>
          </p:cNvCxnSpPr>
          <p:nvPr/>
        </p:nvCxnSpPr>
        <p:spPr>
          <a:xfrm>
            <a:off x="5043491" y="2053537"/>
            <a:ext cx="1474076" cy="1893008"/>
          </a:xfrm>
          <a:prstGeom prst="straightConnector1">
            <a:avLst/>
          </a:prstGeom>
          <a:ln w="25400">
            <a:headEnd type="ova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9093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R</a:t>
            </a:r>
            <a:r>
              <a:rPr lang="en-US" sz="2800" b="1" noProof="0" dirty="0" err="1">
                <a:latin typeface="Calibri" panose="020F0502020204030204" pitchFamily="34" charset="0"/>
                <a:cs typeface="Calibri" panose="020F0502020204030204" pitchFamily="34" charset="0"/>
              </a:rPr>
              <a:t>eferential</a:t>
            </a:r>
            <a:r>
              <a:rPr lang="en-US" sz="2800" b="1" noProof="0" dirty="0">
                <a:latin typeface="Calibri" panose="020F0502020204030204" pitchFamily="34" charset="0"/>
                <a:cs typeface="Calibri" panose="020F0502020204030204" pitchFamily="34" charset="0"/>
              </a:rPr>
              <a:t> arrays</a:t>
            </a: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179453"/>
                <a:ext cx="8229300" cy="443968"/>
              </a:xfrm>
            </p:spPr>
            <p:txBody>
              <a:body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𝑙𝑖𝑠</m:t>
                      </m:r>
                      <m:r>
                        <a:rPr lang="de-AT" sz="1800" b="0" i="1" dirty="0" smtClean="0">
                          <a:latin typeface="Cambria Math" panose="02040503050406030204" pitchFamily="18" charset="0"/>
                          <a:ea typeface="Calibri" panose="020F0502020204030204" pitchFamily="34" charset="0"/>
                          <a:cs typeface="Calibri" panose="020F0502020204030204" pitchFamily="34" charset="0"/>
                        </a:rPr>
                        <m:t>𝑡</m:t>
                      </m:r>
                      <m:r>
                        <a:rPr lang="de-AT" sz="1800" b="0" i="1" dirty="0" smtClean="0">
                          <a:latin typeface="Cambria Math" panose="02040503050406030204" pitchFamily="18" charset="0"/>
                          <a:ea typeface="Calibri" panose="020F0502020204030204" pitchFamily="34" charset="0"/>
                          <a:cs typeface="Calibri" panose="020F0502020204030204" pitchFamily="34" charset="0"/>
                        </a:rPr>
                        <m:t>1.</m:t>
                      </m:r>
                      <m:r>
                        <a:rPr lang="de-AT" sz="1800" b="0" i="1" dirty="0" smtClean="0">
                          <a:latin typeface="Cambria Math" panose="02040503050406030204" pitchFamily="18" charset="0"/>
                          <a:ea typeface="Calibri" panose="020F0502020204030204" pitchFamily="34" charset="0"/>
                          <a:cs typeface="Calibri" panose="020F0502020204030204" pitchFamily="34" charset="0"/>
                        </a:rPr>
                        <m:t>𝑒𝑥𝑡𝑒𝑛𝑑</m:t>
                      </m:r>
                      <m:r>
                        <a:rPr lang="de-AT" sz="1800" b="0" i="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dirty="0" smtClean="0">
                          <a:latin typeface="Cambria Math" panose="02040503050406030204" pitchFamily="18" charset="0"/>
                          <a:ea typeface="Calibri" panose="020F0502020204030204" pitchFamily="34" charset="0"/>
                          <a:cs typeface="Calibri" panose="020F0502020204030204" pitchFamily="34" charset="0"/>
                        </a:rPr>
                        <m:t>𝑙𝑖𝑠𝑡</m:t>
                      </m:r>
                      <m:r>
                        <a:rPr lang="de-AT" sz="1800" b="0" i="1" dirty="0" smtClean="0">
                          <a:latin typeface="Cambria Math" panose="02040503050406030204" pitchFamily="18" charset="0"/>
                          <a:ea typeface="Calibri" panose="020F0502020204030204" pitchFamily="34" charset="0"/>
                          <a:cs typeface="Calibri" panose="020F0502020204030204" pitchFamily="34" charset="0"/>
                        </a:rPr>
                        <m:t>2)</m:t>
                      </m:r>
                    </m:oMath>
                  </m:oMathPara>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179453"/>
                <a:ext cx="8229300" cy="443968"/>
              </a:xfrm>
              <a:blipFill>
                <a:blip r:embed="rId3"/>
                <a:stretch>
                  <a:fillRect/>
                </a:stretch>
              </a:blipFill>
            </p:spPr>
            <p:txBody>
              <a:bodyPr/>
              <a:lstStyle/>
              <a:p>
                <a:r>
                  <a:rPr lang="de-AT">
                    <a:noFill/>
                  </a:rPr>
                  <a:t> </a:t>
                </a:r>
              </a:p>
            </p:txBody>
          </p:sp>
        </mc:Fallback>
      </mc:AlternateContent>
      <p:graphicFrame>
        <p:nvGraphicFramePr>
          <p:cNvPr id="5" name="Tabelle 4">
            <a:extLst>
              <a:ext uri="{FF2B5EF4-FFF2-40B4-BE49-F238E27FC236}">
                <a16:creationId xmlns:a16="http://schemas.microsoft.com/office/drawing/2014/main" id="{C9935E72-2E6B-456F-8A77-7BA884207E09}"/>
              </a:ext>
            </a:extLst>
          </p:cNvPr>
          <p:cNvGraphicFramePr>
            <a:graphicFrameLocks noGrp="1"/>
          </p:cNvGraphicFramePr>
          <p:nvPr/>
        </p:nvGraphicFramePr>
        <p:xfrm>
          <a:off x="1709843" y="5496281"/>
          <a:ext cx="58320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gridCol w="583200">
                  <a:extLst>
                    <a:ext uri="{9D8B030D-6E8A-4147-A177-3AD203B41FA5}">
                      <a16:colId xmlns:a16="http://schemas.microsoft.com/office/drawing/2014/main" val="1206274525"/>
                    </a:ext>
                  </a:extLst>
                </a:gridCol>
                <a:gridCol w="583200">
                  <a:extLst>
                    <a:ext uri="{9D8B030D-6E8A-4147-A177-3AD203B41FA5}">
                      <a16:colId xmlns:a16="http://schemas.microsoft.com/office/drawing/2014/main" val="2819438862"/>
                    </a:ext>
                  </a:extLst>
                </a:gridCol>
                <a:gridCol w="583200">
                  <a:extLst>
                    <a:ext uri="{9D8B030D-6E8A-4147-A177-3AD203B41FA5}">
                      <a16:colId xmlns:a16="http://schemas.microsoft.com/office/drawing/2014/main" val="1941964045"/>
                    </a:ext>
                  </a:extLst>
                </a:gridCol>
                <a:gridCol w="583200">
                  <a:extLst>
                    <a:ext uri="{9D8B030D-6E8A-4147-A177-3AD203B41FA5}">
                      <a16:colId xmlns:a16="http://schemas.microsoft.com/office/drawing/2014/main" val="2400113474"/>
                    </a:ext>
                  </a:extLst>
                </a:gridCol>
                <a:gridCol w="583200">
                  <a:extLst>
                    <a:ext uri="{9D8B030D-6E8A-4147-A177-3AD203B41FA5}">
                      <a16:colId xmlns:a16="http://schemas.microsoft.com/office/drawing/2014/main" val="883156179"/>
                    </a:ext>
                  </a:extLst>
                </a:gridCol>
                <a:gridCol w="583200">
                  <a:extLst>
                    <a:ext uri="{9D8B030D-6E8A-4147-A177-3AD203B41FA5}">
                      <a16:colId xmlns:a16="http://schemas.microsoft.com/office/drawing/2014/main" val="2515628111"/>
                    </a:ext>
                  </a:extLst>
                </a:gridCol>
                <a:gridCol w="583200">
                  <a:extLst>
                    <a:ext uri="{9D8B030D-6E8A-4147-A177-3AD203B41FA5}">
                      <a16:colId xmlns:a16="http://schemas.microsoft.com/office/drawing/2014/main" val="1043724596"/>
                    </a:ext>
                  </a:extLst>
                </a:gridCol>
                <a:gridCol w="583200">
                  <a:extLst>
                    <a:ext uri="{9D8B030D-6E8A-4147-A177-3AD203B41FA5}">
                      <a16:colId xmlns:a16="http://schemas.microsoft.com/office/drawing/2014/main" val="2696891068"/>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rgbClr val="F8D7CD"/>
                    </a:solidFill>
                  </a:tcPr>
                </a:tc>
                <a:extLst>
                  <a:ext uri="{0D108BD9-81ED-4DB2-BD59-A6C34878D82A}">
                    <a16:rowId xmlns:a16="http://schemas.microsoft.com/office/drawing/2014/main" val="3905756574"/>
                  </a:ext>
                </a:extLst>
              </a:tr>
            </a:tbl>
          </a:graphicData>
        </a:graphic>
      </p:graphicFrame>
      <p:graphicFrame>
        <p:nvGraphicFramePr>
          <p:cNvPr id="6" name="Tabelle 5">
            <a:extLst>
              <a:ext uri="{FF2B5EF4-FFF2-40B4-BE49-F238E27FC236}">
                <a16:creationId xmlns:a16="http://schemas.microsoft.com/office/drawing/2014/main" id="{88272AA9-7C01-4CA2-8948-03F78C052CEC}"/>
              </a:ext>
            </a:extLst>
          </p:cNvPr>
          <p:cNvGraphicFramePr>
            <a:graphicFrameLocks noGrp="1"/>
          </p:cNvGraphicFramePr>
          <p:nvPr/>
        </p:nvGraphicFramePr>
        <p:xfrm>
          <a:off x="1698025" y="5121230"/>
          <a:ext cx="5842544"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3444015220"/>
                    </a:ext>
                  </a:extLst>
                </a:gridCol>
                <a:gridCol w="584518">
                  <a:extLst>
                    <a:ext uri="{9D8B030D-6E8A-4147-A177-3AD203B41FA5}">
                      <a16:colId xmlns:a16="http://schemas.microsoft.com/office/drawing/2014/main" val="2987258123"/>
                    </a:ext>
                  </a:extLst>
                </a:gridCol>
                <a:gridCol w="584518">
                  <a:extLst>
                    <a:ext uri="{9D8B030D-6E8A-4147-A177-3AD203B41FA5}">
                      <a16:colId xmlns:a16="http://schemas.microsoft.com/office/drawing/2014/main" val="1206274525"/>
                    </a:ext>
                  </a:extLst>
                </a:gridCol>
                <a:gridCol w="584518">
                  <a:extLst>
                    <a:ext uri="{9D8B030D-6E8A-4147-A177-3AD203B41FA5}">
                      <a16:colId xmlns:a16="http://schemas.microsoft.com/office/drawing/2014/main" val="2819438862"/>
                    </a:ext>
                  </a:extLst>
                </a:gridCol>
                <a:gridCol w="584518">
                  <a:extLst>
                    <a:ext uri="{9D8B030D-6E8A-4147-A177-3AD203B41FA5}">
                      <a16:colId xmlns:a16="http://schemas.microsoft.com/office/drawing/2014/main" val="1941964045"/>
                    </a:ext>
                  </a:extLst>
                </a:gridCol>
                <a:gridCol w="584518">
                  <a:extLst>
                    <a:ext uri="{9D8B030D-6E8A-4147-A177-3AD203B41FA5}">
                      <a16:colId xmlns:a16="http://schemas.microsoft.com/office/drawing/2014/main" val="2400113474"/>
                    </a:ext>
                  </a:extLst>
                </a:gridCol>
                <a:gridCol w="584518">
                  <a:extLst>
                    <a:ext uri="{9D8B030D-6E8A-4147-A177-3AD203B41FA5}">
                      <a16:colId xmlns:a16="http://schemas.microsoft.com/office/drawing/2014/main" val="883156179"/>
                    </a:ext>
                  </a:extLst>
                </a:gridCol>
                <a:gridCol w="584518">
                  <a:extLst>
                    <a:ext uri="{9D8B030D-6E8A-4147-A177-3AD203B41FA5}">
                      <a16:colId xmlns:a16="http://schemas.microsoft.com/office/drawing/2014/main" val="2515628111"/>
                    </a:ext>
                  </a:extLst>
                </a:gridCol>
                <a:gridCol w="584518">
                  <a:extLst>
                    <a:ext uri="{9D8B030D-6E8A-4147-A177-3AD203B41FA5}">
                      <a16:colId xmlns:a16="http://schemas.microsoft.com/office/drawing/2014/main" val="1043724596"/>
                    </a:ext>
                  </a:extLst>
                </a:gridCol>
                <a:gridCol w="583200">
                  <a:extLst>
                    <a:ext uri="{9D8B030D-6E8A-4147-A177-3AD203B41FA5}">
                      <a16:colId xmlns:a16="http://schemas.microsoft.com/office/drawing/2014/main" val="3447370448"/>
                    </a:ext>
                  </a:extLst>
                </a:gridCol>
              </a:tblGrid>
              <a:tr h="370840">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2145</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2146</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2147</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2148</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2149</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2150</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2151</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2152</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chemeClr val="accent1">
                        <a:lumMod val="20000"/>
                        <a:lumOff val="80000"/>
                      </a:schemeClr>
                    </a:solidFill>
                  </a:tcPr>
                </a:tc>
                <a:extLst>
                  <a:ext uri="{0D108BD9-81ED-4DB2-BD59-A6C34878D82A}">
                    <a16:rowId xmlns:a16="http://schemas.microsoft.com/office/drawing/2014/main" val="3905756574"/>
                  </a:ext>
                </a:extLst>
              </a:tr>
            </a:tbl>
          </a:graphicData>
        </a:graphic>
      </p:graphicFrame>
      <p:graphicFrame>
        <p:nvGraphicFramePr>
          <p:cNvPr id="7" name="Tabelle 6">
            <a:extLst>
              <a:ext uri="{FF2B5EF4-FFF2-40B4-BE49-F238E27FC236}">
                <a16:creationId xmlns:a16="http://schemas.microsoft.com/office/drawing/2014/main" id="{57CCA881-DD7F-4267-B369-4B68B05C1254}"/>
              </a:ext>
            </a:extLst>
          </p:cNvPr>
          <p:cNvGraphicFramePr>
            <a:graphicFrameLocks noGrp="1"/>
          </p:cNvGraphicFramePr>
          <p:nvPr>
            <p:extLst>
              <p:ext uri="{D42A27DB-BD31-4B8C-83A1-F6EECF244321}">
                <p14:modId xmlns:p14="http://schemas.microsoft.com/office/powerpoint/2010/main" val="203827436"/>
              </p:ext>
            </p:extLst>
          </p:nvPr>
        </p:nvGraphicFramePr>
        <p:xfrm>
          <a:off x="1696751" y="5867121"/>
          <a:ext cx="5842544"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3444015220"/>
                    </a:ext>
                  </a:extLst>
                </a:gridCol>
                <a:gridCol w="584518">
                  <a:extLst>
                    <a:ext uri="{9D8B030D-6E8A-4147-A177-3AD203B41FA5}">
                      <a16:colId xmlns:a16="http://schemas.microsoft.com/office/drawing/2014/main" val="2987258123"/>
                    </a:ext>
                  </a:extLst>
                </a:gridCol>
                <a:gridCol w="584518">
                  <a:extLst>
                    <a:ext uri="{9D8B030D-6E8A-4147-A177-3AD203B41FA5}">
                      <a16:colId xmlns:a16="http://schemas.microsoft.com/office/drawing/2014/main" val="1206274525"/>
                    </a:ext>
                  </a:extLst>
                </a:gridCol>
                <a:gridCol w="584518">
                  <a:extLst>
                    <a:ext uri="{9D8B030D-6E8A-4147-A177-3AD203B41FA5}">
                      <a16:colId xmlns:a16="http://schemas.microsoft.com/office/drawing/2014/main" val="2819438862"/>
                    </a:ext>
                  </a:extLst>
                </a:gridCol>
                <a:gridCol w="584518">
                  <a:extLst>
                    <a:ext uri="{9D8B030D-6E8A-4147-A177-3AD203B41FA5}">
                      <a16:colId xmlns:a16="http://schemas.microsoft.com/office/drawing/2014/main" val="1941964045"/>
                    </a:ext>
                  </a:extLst>
                </a:gridCol>
                <a:gridCol w="584518">
                  <a:extLst>
                    <a:ext uri="{9D8B030D-6E8A-4147-A177-3AD203B41FA5}">
                      <a16:colId xmlns:a16="http://schemas.microsoft.com/office/drawing/2014/main" val="2400113474"/>
                    </a:ext>
                  </a:extLst>
                </a:gridCol>
                <a:gridCol w="584518">
                  <a:extLst>
                    <a:ext uri="{9D8B030D-6E8A-4147-A177-3AD203B41FA5}">
                      <a16:colId xmlns:a16="http://schemas.microsoft.com/office/drawing/2014/main" val="883156179"/>
                    </a:ext>
                  </a:extLst>
                </a:gridCol>
                <a:gridCol w="584518">
                  <a:extLst>
                    <a:ext uri="{9D8B030D-6E8A-4147-A177-3AD203B41FA5}">
                      <a16:colId xmlns:a16="http://schemas.microsoft.com/office/drawing/2014/main" val="2515628111"/>
                    </a:ext>
                  </a:extLst>
                </a:gridCol>
                <a:gridCol w="584518">
                  <a:extLst>
                    <a:ext uri="{9D8B030D-6E8A-4147-A177-3AD203B41FA5}">
                      <a16:colId xmlns:a16="http://schemas.microsoft.com/office/drawing/2014/main" val="1043724596"/>
                    </a:ext>
                  </a:extLst>
                </a:gridCol>
                <a:gridCol w="583200">
                  <a:extLst>
                    <a:ext uri="{9D8B030D-6E8A-4147-A177-3AD203B41FA5}">
                      <a16:colId xmlns:a16="http://schemas.microsoft.com/office/drawing/2014/main" val="3447370448"/>
                    </a:ext>
                  </a:extLst>
                </a:gridCol>
              </a:tblGrid>
              <a:tr h="370840">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0</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3</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4</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5</a:t>
                      </a:r>
                    </a:p>
                  </a:txBody>
                  <a:tcPr>
                    <a:solidFill>
                      <a:schemeClr val="accent6">
                        <a:lumMod val="40000"/>
                        <a:lumOff val="60000"/>
                      </a:schemeClr>
                    </a:solidFill>
                  </a:tcPr>
                </a:tc>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extLst>
                  <a:ext uri="{0D108BD9-81ED-4DB2-BD59-A6C34878D82A}">
                    <a16:rowId xmlns:a16="http://schemas.microsoft.com/office/drawing/2014/main" val="3905756574"/>
                  </a:ext>
                </a:extLst>
              </a:tr>
            </a:tbl>
          </a:graphicData>
        </a:graphic>
      </p:graphicFrame>
      <p:cxnSp>
        <p:nvCxnSpPr>
          <p:cNvPr id="4" name="Gerade Verbindung mit Pfeil 3">
            <a:extLst>
              <a:ext uri="{FF2B5EF4-FFF2-40B4-BE49-F238E27FC236}">
                <a16:creationId xmlns:a16="http://schemas.microsoft.com/office/drawing/2014/main" id="{1DA4B826-C32A-4646-A01F-DC81CE2B915E}"/>
              </a:ext>
            </a:extLst>
          </p:cNvPr>
          <p:cNvCxnSpPr>
            <a:cxnSpLocks/>
          </p:cNvCxnSpPr>
          <p:nvPr/>
        </p:nvCxnSpPr>
        <p:spPr>
          <a:xfrm flipH="1" flipV="1">
            <a:off x="1654664" y="4686903"/>
            <a:ext cx="1490558" cy="994799"/>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1" name="Gerade Verbindung mit Pfeil 10">
            <a:extLst>
              <a:ext uri="{FF2B5EF4-FFF2-40B4-BE49-F238E27FC236}">
                <a16:creationId xmlns:a16="http://schemas.microsoft.com/office/drawing/2014/main" id="{171CD1E1-1199-4591-A3EE-08C24797A9DB}"/>
              </a:ext>
            </a:extLst>
          </p:cNvPr>
          <p:cNvCxnSpPr>
            <a:cxnSpLocks/>
          </p:cNvCxnSpPr>
          <p:nvPr/>
        </p:nvCxnSpPr>
        <p:spPr>
          <a:xfrm flipH="1" flipV="1">
            <a:off x="2680138" y="4322413"/>
            <a:ext cx="1068115" cy="1367172"/>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4" name="Gerade Verbindung mit Pfeil 13">
            <a:extLst>
              <a:ext uri="{FF2B5EF4-FFF2-40B4-BE49-F238E27FC236}">
                <a16:creationId xmlns:a16="http://schemas.microsoft.com/office/drawing/2014/main" id="{2A8EE252-FBA4-435F-A7AF-DD45910ABFBE}"/>
              </a:ext>
            </a:extLst>
          </p:cNvPr>
          <p:cNvCxnSpPr>
            <a:cxnSpLocks/>
          </p:cNvCxnSpPr>
          <p:nvPr/>
        </p:nvCxnSpPr>
        <p:spPr>
          <a:xfrm flipH="1" flipV="1">
            <a:off x="3657601" y="4053684"/>
            <a:ext cx="646386" cy="163590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D7B3304E-3EBB-4BD7-9724-18A389CA04B9}"/>
              </a:ext>
            </a:extLst>
          </p:cNvPr>
          <p:cNvCxnSpPr>
            <a:cxnSpLocks/>
          </p:cNvCxnSpPr>
          <p:nvPr/>
        </p:nvCxnSpPr>
        <p:spPr>
          <a:xfrm flipV="1">
            <a:off x="4950373" y="4053684"/>
            <a:ext cx="525195" cy="162801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C3944033-E469-4246-A5F4-D0A61742ED41}"/>
              </a:ext>
            </a:extLst>
          </p:cNvPr>
          <p:cNvCxnSpPr>
            <a:cxnSpLocks/>
          </p:cNvCxnSpPr>
          <p:nvPr/>
        </p:nvCxnSpPr>
        <p:spPr>
          <a:xfrm flipV="1">
            <a:off x="5510049" y="4322413"/>
            <a:ext cx="1040524" cy="135928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2" name="Gerade Verbindung mit Pfeil 21">
            <a:extLst>
              <a:ext uri="{FF2B5EF4-FFF2-40B4-BE49-F238E27FC236}">
                <a16:creationId xmlns:a16="http://schemas.microsoft.com/office/drawing/2014/main" id="{00BAF85F-61B5-4A1C-82F3-3ADE9721AD88}"/>
              </a:ext>
            </a:extLst>
          </p:cNvPr>
          <p:cNvCxnSpPr>
            <a:cxnSpLocks/>
          </p:cNvCxnSpPr>
          <p:nvPr/>
        </p:nvCxnSpPr>
        <p:spPr>
          <a:xfrm flipV="1">
            <a:off x="6085490" y="4659759"/>
            <a:ext cx="1453805" cy="1021942"/>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0" name="Rechteck: abgerundete Ecken 29">
            <a:extLst>
              <a:ext uri="{FF2B5EF4-FFF2-40B4-BE49-F238E27FC236}">
                <a16:creationId xmlns:a16="http://schemas.microsoft.com/office/drawing/2014/main" id="{4044DC74-9047-457D-9456-DEC5490A6709}"/>
              </a:ext>
            </a:extLst>
          </p:cNvPr>
          <p:cNvSpPr/>
          <p:nvPr/>
        </p:nvSpPr>
        <p:spPr>
          <a:xfrm>
            <a:off x="1206063" y="4322413"/>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3</a:t>
            </a:r>
          </a:p>
        </p:txBody>
      </p:sp>
      <p:sp>
        <p:nvSpPr>
          <p:cNvPr id="31" name="Rechteck: abgerundete Ecken 30">
            <a:extLst>
              <a:ext uri="{FF2B5EF4-FFF2-40B4-BE49-F238E27FC236}">
                <a16:creationId xmlns:a16="http://schemas.microsoft.com/office/drawing/2014/main" id="{4DD0FD34-3C90-49F8-A63C-2556608962B2}"/>
              </a:ext>
            </a:extLst>
          </p:cNvPr>
          <p:cNvSpPr/>
          <p:nvPr/>
        </p:nvSpPr>
        <p:spPr>
          <a:xfrm>
            <a:off x="2248061" y="3947311"/>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5.12</a:t>
            </a:r>
          </a:p>
        </p:txBody>
      </p:sp>
      <p:sp>
        <p:nvSpPr>
          <p:cNvPr id="32" name="Rechteck: abgerundete Ecken 31">
            <a:extLst>
              <a:ext uri="{FF2B5EF4-FFF2-40B4-BE49-F238E27FC236}">
                <a16:creationId xmlns:a16="http://schemas.microsoft.com/office/drawing/2014/main" id="{5E25C746-C772-4BB2-BF4E-140089857B7D}"/>
              </a:ext>
            </a:extLst>
          </p:cNvPr>
          <p:cNvSpPr/>
          <p:nvPr/>
        </p:nvSpPr>
        <p:spPr>
          <a:xfrm>
            <a:off x="3225524" y="3697843"/>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True</a:t>
            </a:r>
          </a:p>
        </p:txBody>
      </p:sp>
      <p:sp>
        <p:nvSpPr>
          <p:cNvPr id="33" name="Rechteck: abgerundete Ecken 32">
            <a:extLst>
              <a:ext uri="{FF2B5EF4-FFF2-40B4-BE49-F238E27FC236}">
                <a16:creationId xmlns:a16="http://schemas.microsoft.com/office/drawing/2014/main" id="{E769367C-4023-4C4F-B440-F7FA81D908F0}"/>
              </a:ext>
            </a:extLst>
          </p:cNvPr>
          <p:cNvSpPr/>
          <p:nvPr/>
        </p:nvSpPr>
        <p:spPr>
          <a:xfrm>
            <a:off x="5043491" y="3697843"/>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‘Vienna‘</a:t>
            </a:r>
          </a:p>
        </p:txBody>
      </p:sp>
      <p:sp>
        <p:nvSpPr>
          <p:cNvPr id="34" name="Rechteck: abgerundete Ecken 33">
            <a:extLst>
              <a:ext uri="{FF2B5EF4-FFF2-40B4-BE49-F238E27FC236}">
                <a16:creationId xmlns:a16="http://schemas.microsoft.com/office/drawing/2014/main" id="{3C41A196-4FDC-439F-94CB-1383E2DC2DC2}"/>
              </a:ext>
            </a:extLst>
          </p:cNvPr>
          <p:cNvSpPr/>
          <p:nvPr/>
        </p:nvSpPr>
        <p:spPr>
          <a:xfrm>
            <a:off x="6085490" y="3946545"/>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‘Austria‘</a:t>
            </a:r>
          </a:p>
        </p:txBody>
      </p:sp>
      <p:sp>
        <p:nvSpPr>
          <p:cNvPr id="35" name="Rechteck: abgerundete Ecken 34">
            <a:extLst>
              <a:ext uri="{FF2B5EF4-FFF2-40B4-BE49-F238E27FC236}">
                <a16:creationId xmlns:a16="http://schemas.microsoft.com/office/drawing/2014/main" id="{823C481C-469B-4581-A213-2F40A2836D05}"/>
              </a:ext>
            </a:extLst>
          </p:cNvPr>
          <p:cNvSpPr/>
          <p:nvPr/>
        </p:nvSpPr>
        <p:spPr>
          <a:xfrm>
            <a:off x="7241052" y="4303152"/>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-10</a:t>
            </a:r>
          </a:p>
        </p:txBody>
      </p:sp>
      <p:graphicFrame>
        <p:nvGraphicFramePr>
          <p:cNvPr id="20" name="Tabelle 19">
            <a:extLst>
              <a:ext uri="{FF2B5EF4-FFF2-40B4-BE49-F238E27FC236}">
                <a16:creationId xmlns:a16="http://schemas.microsoft.com/office/drawing/2014/main" id="{31CBE4C2-F2B8-4DAF-A4EB-F6D38645199F}"/>
              </a:ext>
            </a:extLst>
          </p:cNvPr>
          <p:cNvGraphicFramePr>
            <a:graphicFrameLocks noGrp="1"/>
          </p:cNvGraphicFramePr>
          <p:nvPr/>
        </p:nvGraphicFramePr>
        <p:xfrm>
          <a:off x="3027633" y="1920749"/>
          <a:ext cx="29160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883156179"/>
                    </a:ext>
                  </a:extLst>
                </a:gridCol>
                <a:gridCol w="583200">
                  <a:extLst>
                    <a:ext uri="{9D8B030D-6E8A-4147-A177-3AD203B41FA5}">
                      <a16:colId xmlns:a16="http://schemas.microsoft.com/office/drawing/2014/main" val="2515628111"/>
                    </a:ext>
                  </a:extLst>
                </a:gridCol>
                <a:gridCol w="583200">
                  <a:extLst>
                    <a:ext uri="{9D8B030D-6E8A-4147-A177-3AD203B41FA5}">
                      <a16:colId xmlns:a16="http://schemas.microsoft.com/office/drawing/2014/main" val="1043724596"/>
                    </a:ext>
                  </a:extLst>
                </a:gridCol>
                <a:gridCol w="583200">
                  <a:extLst>
                    <a:ext uri="{9D8B030D-6E8A-4147-A177-3AD203B41FA5}">
                      <a16:colId xmlns:a16="http://schemas.microsoft.com/office/drawing/2014/main" val="2696891068"/>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rgbClr val="F8D7CD"/>
                    </a:solidFill>
                  </a:tcPr>
                </a:tc>
                <a:extLst>
                  <a:ext uri="{0D108BD9-81ED-4DB2-BD59-A6C34878D82A}">
                    <a16:rowId xmlns:a16="http://schemas.microsoft.com/office/drawing/2014/main" val="3905756574"/>
                  </a:ext>
                </a:extLst>
              </a:tr>
            </a:tbl>
          </a:graphicData>
        </a:graphic>
      </p:graphicFrame>
      <p:graphicFrame>
        <p:nvGraphicFramePr>
          <p:cNvPr id="21" name="Tabelle 20">
            <a:extLst>
              <a:ext uri="{FF2B5EF4-FFF2-40B4-BE49-F238E27FC236}">
                <a16:creationId xmlns:a16="http://schemas.microsoft.com/office/drawing/2014/main" id="{5B7DDB1B-3F4B-48BE-BD5E-E836AB03D3C9}"/>
              </a:ext>
            </a:extLst>
          </p:cNvPr>
          <p:cNvGraphicFramePr>
            <a:graphicFrameLocks noGrp="1"/>
          </p:cNvGraphicFramePr>
          <p:nvPr/>
        </p:nvGraphicFramePr>
        <p:xfrm>
          <a:off x="3015815" y="1545698"/>
          <a:ext cx="2919954"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3444015220"/>
                    </a:ext>
                  </a:extLst>
                </a:gridCol>
                <a:gridCol w="584518">
                  <a:extLst>
                    <a:ext uri="{9D8B030D-6E8A-4147-A177-3AD203B41FA5}">
                      <a16:colId xmlns:a16="http://schemas.microsoft.com/office/drawing/2014/main" val="2400113474"/>
                    </a:ext>
                  </a:extLst>
                </a:gridCol>
                <a:gridCol w="584518">
                  <a:extLst>
                    <a:ext uri="{9D8B030D-6E8A-4147-A177-3AD203B41FA5}">
                      <a16:colId xmlns:a16="http://schemas.microsoft.com/office/drawing/2014/main" val="883156179"/>
                    </a:ext>
                  </a:extLst>
                </a:gridCol>
                <a:gridCol w="584518">
                  <a:extLst>
                    <a:ext uri="{9D8B030D-6E8A-4147-A177-3AD203B41FA5}">
                      <a16:colId xmlns:a16="http://schemas.microsoft.com/office/drawing/2014/main" val="2515628111"/>
                    </a:ext>
                  </a:extLst>
                </a:gridCol>
                <a:gridCol w="583200">
                  <a:extLst>
                    <a:ext uri="{9D8B030D-6E8A-4147-A177-3AD203B41FA5}">
                      <a16:colId xmlns:a16="http://schemas.microsoft.com/office/drawing/2014/main" val="3447370448"/>
                    </a:ext>
                  </a:extLst>
                </a:gridCol>
              </a:tblGrid>
              <a:tr h="370840">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3242</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3243</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3244</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solidFill>
                      <a:schemeClr val="accent1">
                        <a:lumMod val="20000"/>
                        <a:lumOff val="80000"/>
                      </a:schemeClr>
                    </a:solidFill>
                  </a:tcPr>
                </a:tc>
                <a:extLst>
                  <a:ext uri="{0D108BD9-81ED-4DB2-BD59-A6C34878D82A}">
                    <a16:rowId xmlns:a16="http://schemas.microsoft.com/office/drawing/2014/main" val="3905756574"/>
                  </a:ext>
                </a:extLst>
              </a:tr>
            </a:tbl>
          </a:graphicData>
        </a:graphic>
      </p:graphicFrame>
      <p:graphicFrame>
        <p:nvGraphicFramePr>
          <p:cNvPr id="23" name="Tabelle 22">
            <a:extLst>
              <a:ext uri="{FF2B5EF4-FFF2-40B4-BE49-F238E27FC236}">
                <a16:creationId xmlns:a16="http://schemas.microsoft.com/office/drawing/2014/main" id="{C71194EA-41F0-49B1-B97E-76CE03D9DD5D}"/>
              </a:ext>
            </a:extLst>
          </p:cNvPr>
          <p:cNvGraphicFramePr>
            <a:graphicFrameLocks noGrp="1"/>
          </p:cNvGraphicFramePr>
          <p:nvPr/>
        </p:nvGraphicFramePr>
        <p:xfrm>
          <a:off x="3014541" y="2291589"/>
          <a:ext cx="2919954"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3444015220"/>
                    </a:ext>
                  </a:extLst>
                </a:gridCol>
                <a:gridCol w="584518">
                  <a:extLst>
                    <a:ext uri="{9D8B030D-6E8A-4147-A177-3AD203B41FA5}">
                      <a16:colId xmlns:a16="http://schemas.microsoft.com/office/drawing/2014/main" val="883156179"/>
                    </a:ext>
                  </a:extLst>
                </a:gridCol>
                <a:gridCol w="584518">
                  <a:extLst>
                    <a:ext uri="{9D8B030D-6E8A-4147-A177-3AD203B41FA5}">
                      <a16:colId xmlns:a16="http://schemas.microsoft.com/office/drawing/2014/main" val="2515628111"/>
                    </a:ext>
                  </a:extLst>
                </a:gridCol>
                <a:gridCol w="584518">
                  <a:extLst>
                    <a:ext uri="{9D8B030D-6E8A-4147-A177-3AD203B41FA5}">
                      <a16:colId xmlns:a16="http://schemas.microsoft.com/office/drawing/2014/main" val="1043724596"/>
                    </a:ext>
                  </a:extLst>
                </a:gridCol>
                <a:gridCol w="583200">
                  <a:extLst>
                    <a:ext uri="{9D8B030D-6E8A-4147-A177-3AD203B41FA5}">
                      <a16:colId xmlns:a16="http://schemas.microsoft.com/office/drawing/2014/main" val="3447370448"/>
                    </a:ext>
                  </a:extLst>
                </a:gridCol>
              </a:tblGrid>
              <a:tr h="370840">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0</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p>
                  </a:txBody>
                  <a:tcPr>
                    <a:solidFill>
                      <a:schemeClr val="accent6">
                        <a:lumMod val="40000"/>
                        <a:lumOff val="60000"/>
                      </a:schemeClr>
                    </a:solidFill>
                  </a:tcPr>
                </a:tc>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extLst>
                  <a:ext uri="{0D108BD9-81ED-4DB2-BD59-A6C34878D82A}">
                    <a16:rowId xmlns:a16="http://schemas.microsoft.com/office/drawing/2014/main" val="3905756574"/>
                  </a:ext>
                </a:extLst>
              </a:tr>
            </a:tbl>
          </a:graphicData>
        </a:graphic>
      </p:graphicFrame>
      <p:cxnSp>
        <p:nvCxnSpPr>
          <p:cNvPr id="9" name="Gerade Verbindung mit Pfeil 8">
            <a:extLst>
              <a:ext uri="{FF2B5EF4-FFF2-40B4-BE49-F238E27FC236}">
                <a16:creationId xmlns:a16="http://schemas.microsoft.com/office/drawing/2014/main" id="{8B1A5E9F-F021-4DF4-9F08-B4C6A628ECE8}"/>
              </a:ext>
            </a:extLst>
          </p:cNvPr>
          <p:cNvCxnSpPr>
            <a:cxnSpLocks/>
            <a:endCxn id="33" idx="0"/>
          </p:cNvCxnSpPr>
          <p:nvPr/>
        </p:nvCxnSpPr>
        <p:spPr>
          <a:xfrm>
            <a:off x="3896803" y="2043476"/>
            <a:ext cx="1578765" cy="1654367"/>
          </a:xfrm>
          <a:prstGeom prst="straightConnector1">
            <a:avLst/>
          </a:prstGeom>
          <a:ln w="25400">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3" name="Gerade Verbindung mit Pfeil 12">
            <a:extLst>
              <a:ext uri="{FF2B5EF4-FFF2-40B4-BE49-F238E27FC236}">
                <a16:creationId xmlns:a16="http://schemas.microsoft.com/office/drawing/2014/main" id="{EDE047A9-C067-48B5-8D61-B4962319D71A}"/>
              </a:ext>
            </a:extLst>
          </p:cNvPr>
          <p:cNvCxnSpPr>
            <a:cxnSpLocks/>
            <a:endCxn id="34" idx="0"/>
          </p:cNvCxnSpPr>
          <p:nvPr/>
        </p:nvCxnSpPr>
        <p:spPr>
          <a:xfrm>
            <a:off x="4469557" y="2057748"/>
            <a:ext cx="2048010" cy="1888797"/>
          </a:xfrm>
          <a:prstGeom prst="straightConnector1">
            <a:avLst/>
          </a:prstGeom>
          <a:ln w="25400">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7" name="Gerade Verbindung mit Pfeil 16">
            <a:extLst>
              <a:ext uri="{FF2B5EF4-FFF2-40B4-BE49-F238E27FC236}">
                <a16:creationId xmlns:a16="http://schemas.microsoft.com/office/drawing/2014/main" id="{6420A8B1-EEB0-4837-B770-D8FA51616D0C}"/>
              </a:ext>
            </a:extLst>
          </p:cNvPr>
          <p:cNvCxnSpPr>
            <a:cxnSpLocks/>
            <a:endCxn id="35" idx="0"/>
          </p:cNvCxnSpPr>
          <p:nvPr/>
        </p:nvCxnSpPr>
        <p:spPr>
          <a:xfrm>
            <a:off x="5043491" y="2053537"/>
            <a:ext cx="2629638" cy="2249615"/>
          </a:xfrm>
          <a:prstGeom prst="straightConnector1">
            <a:avLst/>
          </a:prstGeom>
          <a:ln w="25400">
            <a:headEnd type="oval"/>
            <a:tailEnd type="triangle"/>
          </a:ln>
        </p:spPr>
        <p:style>
          <a:lnRef idx="1">
            <a:schemeClr val="accent1"/>
          </a:lnRef>
          <a:fillRef idx="0">
            <a:schemeClr val="accent1"/>
          </a:fillRef>
          <a:effectRef idx="0">
            <a:schemeClr val="accent1"/>
          </a:effectRef>
          <a:fontRef idx="minor">
            <a:schemeClr val="tx1"/>
          </a:fontRef>
        </p:style>
      </p:cxnSp>
      <p:sp>
        <p:nvSpPr>
          <p:cNvPr id="15" name="Rechteck: abgerundete Ecken 14">
            <a:extLst>
              <a:ext uri="{FF2B5EF4-FFF2-40B4-BE49-F238E27FC236}">
                <a16:creationId xmlns:a16="http://schemas.microsoft.com/office/drawing/2014/main" id="{653800F4-B917-40E6-9118-C2FAC71A854A}"/>
              </a:ext>
            </a:extLst>
          </p:cNvPr>
          <p:cNvSpPr/>
          <p:nvPr/>
        </p:nvSpPr>
        <p:spPr>
          <a:xfrm>
            <a:off x="4776952" y="5943600"/>
            <a:ext cx="266539" cy="172429"/>
          </a:xfrm>
          <a:prstGeom prst="roundRect">
            <a:avLst/>
          </a:prstGeom>
          <a:solidFill>
            <a:srgbClr val="C5E0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29" name="Rechteck: abgerundete Ecken 28">
            <a:extLst>
              <a:ext uri="{FF2B5EF4-FFF2-40B4-BE49-F238E27FC236}">
                <a16:creationId xmlns:a16="http://schemas.microsoft.com/office/drawing/2014/main" id="{9A2E8C9F-53BF-402D-A199-FB6BDA9A1A6B}"/>
              </a:ext>
            </a:extLst>
          </p:cNvPr>
          <p:cNvSpPr/>
          <p:nvPr/>
        </p:nvSpPr>
        <p:spPr>
          <a:xfrm>
            <a:off x="5360292" y="5960947"/>
            <a:ext cx="266539" cy="172429"/>
          </a:xfrm>
          <a:prstGeom prst="roundRect">
            <a:avLst/>
          </a:prstGeom>
          <a:solidFill>
            <a:srgbClr val="C5E0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36" name="Rechteck: abgerundete Ecken 35">
            <a:extLst>
              <a:ext uri="{FF2B5EF4-FFF2-40B4-BE49-F238E27FC236}">
                <a16:creationId xmlns:a16="http://schemas.microsoft.com/office/drawing/2014/main" id="{1C849D0F-D239-40DA-87F4-310C78F69FF3}"/>
              </a:ext>
            </a:extLst>
          </p:cNvPr>
          <p:cNvSpPr/>
          <p:nvPr/>
        </p:nvSpPr>
        <p:spPr>
          <a:xfrm>
            <a:off x="5952220" y="5942607"/>
            <a:ext cx="266539" cy="172429"/>
          </a:xfrm>
          <a:prstGeom prst="roundRect">
            <a:avLst/>
          </a:prstGeom>
          <a:solidFill>
            <a:srgbClr val="C5E0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8" name="Rechteck 17">
                <a:extLst>
                  <a:ext uri="{FF2B5EF4-FFF2-40B4-BE49-F238E27FC236}">
                    <a16:creationId xmlns:a16="http://schemas.microsoft.com/office/drawing/2014/main" id="{3C558851-4ACA-4137-91DB-232425D50282}"/>
                  </a:ext>
                </a:extLst>
              </p:cNvPr>
              <p:cNvSpPr/>
              <p:nvPr/>
            </p:nvSpPr>
            <p:spPr>
              <a:xfrm>
                <a:off x="911936" y="5559344"/>
                <a:ext cx="599844"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ea typeface="Calibri" panose="020F0502020204030204" pitchFamily="34" charset="0"/>
                          <a:cs typeface="Calibri" panose="020F0502020204030204" pitchFamily="34" charset="0"/>
                        </a:rPr>
                        <m:t>𝑙𝑖𝑠</m:t>
                      </m:r>
                      <m:r>
                        <a:rPr lang="de-AT" i="1" dirty="0">
                          <a:latin typeface="Cambria Math" panose="02040503050406030204" pitchFamily="18" charset="0"/>
                          <a:ea typeface="Calibri" panose="020F0502020204030204" pitchFamily="34" charset="0"/>
                          <a:cs typeface="Calibri" panose="020F0502020204030204" pitchFamily="34" charset="0"/>
                        </a:rPr>
                        <m:t>𝑡</m:t>
                      </m:r>
                      <m:r>
                        <a:rPr lang="de-AT" b="0" i="1" dirty="0" smtClean="0">
                          <a:latin typeface="Cambria Math" panose="02040503050406030204" pitchFamily="18" charset="0"/>
                          <a:ea typeface="Calibri" panose="020F0502020204030204" pitchFamily="34" charset="0"/>
                          <a:cs typeface="Calibri" panose="020F0502020204030204" pitchFamily="34" charset="0"/>
                        </a:rPr>
                        <m:t>1</m:t>
                      </m:r>
                    </m:oMath>
                  </m:oMathPara>
                </a14:m>
                <a:endParaRPr lang="de-AT" dirty="0"/>
              </a:p>
            </p:txBody>
          </p:sp>
        </mc:Choice>
        <mc:Fallback xmlns="">
          <p:sp>
            <p:nvSpPr>
              <p:cNvPr id="18" name="Rechteck 17">
                <a:extLst>
                  <a:ext uri="{FF2B5EF4-FFF2-40B4-BE49-F238E27FC236}">
                    <a16:creationId xmlns:a16="http://schemas.microsoft.com/office/drawing/2014/main" id="{3C558851-4ACA-4137-91DB-232425D50282}"/>
                  </a:ext>
                </a:extLst>
              </p:cNvPr>
              <p:cNvSpPr>
                <a:spLocks noRot="1" noChangeAspect="1" noMove="1" noResize="1" noEditPoints="1" noAdjustHandles="1" noChangeArrowheads="1" noChangeShapeType="1" noTextEdit="1"/>
              </p:cNvSpPr>
              <p:nvPr/>
            </p:nvSpPr>
            <p:spPr>
              <a:xfrm>
                <a:off x="911936" y="5559344"/>
                <a:ext cx="599844" cy="307777"/>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4" name="Rechteck 23">
                <a:extLst>
                  <a:ext uri="{FF2B5EF4-FFF2-40B4-BE49-F238E27FC236}">
                    <a16:creationId xmlns:a16="http://schemas.microsoft.com/office/drawing/2014/main" id="{A340C731-699B-4503-BEBC-0F9EB8BDC599}"/>
                  </a:ext>
                </a:extLst>
              </p:cNvPr>
              <p:cNvSpPr/>
              <p:nvPr/>
            </p:nvSpPr>
            <p:spPr>
              <a:xfrm>
                <a:off x="2399046" y="1931003"/>
                <a:ext cx="599844"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ea typeface="Calibri" panose="020F0502020204030204" pitchFamily="34" charset="0"/>
                          <a:cs typeface="Calibri" panose="020F0502020204030204" pitchFamily="34" charset="0"/>
                        </a:rPr>
                        <m:t>𝑙𝑖𝑠</m:t>
                      </m:r>
                      <m:r>
                        <a:rPr lang="de-AT" i="1" dirty="0">
                          <a:latin typeface="Cambria Math" panose="02040503050406030204" pitchFamily="18" charset="0"/>
                          <a:ea typeface="Calibri" panose="020F0502020204030204" pitchFamily="34" charset="0"/>
                          <a:cs typeface="Calibri" panose="020F0502020204030204" pitchFamily="34" charset="0"/>
                        </a:rPr>
                        <m:t>𝑡</m:t>
                      </m:r>
                      <m:r>
                        <a:rPr lang="de-AT" b="0" i="1" dirty="0" smtClean="0">
                          <a:latin typeface="Cambria Math" panose="02040503050406030204" pitchFamily="18" charset="0"/>
                          <a:ea typeface="Calibri" panose="020F0502020204030204" pitchFamily="34" charset="0"/>
                          <a:cs typeface="Calibri" panose="020F0502020204030204" pitchFamily="34" charset="0"/>
                        </a:rPr>
                        <m:t>2</m:t>
                      </m:r>
                    </m:oMath>
                  </m:oMathPara>
                </a14:m>
                <a:endParaRPr lang="de-AT" dirty="0"/>
              </a:p>
            </p:txBody>
          </p:sp>
        </mc:Choice>
        <mc:Fallback xmlns="">
          <p:sp>
            <p:nvSpPr>
              <p:cNvPr id="24" name="Rechteck 23">
                <a:extLst>
                  <a:ext uri="{FF2B5EF4-FFF2-40B4-BE49-F238E27FC236}">
                    <a16:creationId xmlns:a16="http://schemas.microsoft.com/office/drawing/2014/main" id="{A340C731-699B-4503-BEBC-0F9EB8BDC599}"/>
                  </a:ext>
                </a:extLst>
              </p:cNvPr>
              <p:cNvSpPr>
                <a:spLocks noRot="1" noChangeAspect="1" noMove="1" noResize="1" noEditPoints="1" noAdjustHandles="1" noChangeArrowheads="1" noChangeShapeType="1" noTextEdit="1"/>
              </p:cNvSpPr>
              <p:nvPr/>
            </p:nvSpPr>
            <p:spPr>
              <a:xfrm>
                <a:off x="2399046" y="1931003"/>
                <a:ext cx="599844" cy="307777"/>
              </a:xfrm>
              <a:prstGeom prst="rect">
                <a:avLst/>
              </a:prstGeom>
              <a:blipFill>
                <a:blip r:embed="rId5"/>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2041043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xit"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9" grpId="0" animBg="1"/>
      <p:bldP spid="3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8400"/>
            <a:ext cx="8229300" cy="1144800"/>
          </a:xfrm>
        </p:spPr>
        <p:txBody>
          <a:bodyPr/>
          <a:lstStyle/>
          <a:p>
            <a:pPr algn="ctr"/>
            <a:r>
              <a:rPr lang="en-US" sz="4400" b="1" dirty="0">
                <a:latin typeface="Calibri" panose="020F0502020204030204" pitchFamily="34" charset="0"/>
                <a:cs typeface="Calibri" panose="020F0502020204030204" pitchFamily="34" charset="0"/>
              </a:rPr>
              <a:t>Dynamic</a:t>
            </a:r>
            <a:r>
              <a:rPr lang="en-US" sz="4400" b="1" noProof="0" dirty="0">
                <a:latin typeface="Calibri" panose="020F0502020204030204" pitchFamily="34" charset="0"/>
                <a:cs typeface="Calibri" panose="020F0502020204030204" pitchFamily="34" charset="0"/>
              </a:rPr>
              <a:t> arrays and amortization</a:t>
            </a:r>
            <a:endParaRPr lang="en-US" sz="4400" noProof="0" dirty="0"/>
          </a:p>
        </p:txBody>
      </p:sp>
      <p:sp>
        <p:nvSpPr>
          <p:cNvPr id="87" name="Google Shape;87;p2"/>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10221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Dynamic arrays</a:t>
            </a: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762160"/>
                <a:ext cx="8229300" cy="3109877"/>
              </a:xfrm>
            </p:spPr>
            <p:txBody>
              <a:body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When we create a low-level array we need to know the array size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Neighboring memory locations may be used for other data</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can not increase the array size trivially</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For example, we may know the list size in python when we create it</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However, by calling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𝑎𝑝𝑝𝑒𝑛𝑑</m:t>
                    </m:r>
                  </m:oMath>
                </a14:m>
                <a:r>
                  <a:rPr lang="en-US" sz="1800" dirty="0">
                    <a:latin typeface="Calibri" panose="020F0502020204030204" pitchFamily="34" charset="0"/>
                    <a:ea typeface="Calibri" panose="020F0502020204030204" pitchFamily="34" charset="0"/>
                    <a:cs typeface="Calibri" panose="020F0502020204030204" pitchFamily="34" charset="0"/>
                  </a:rPr>
                  <a:t> or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𝑒𝑥𝑡𝑒𝑛𝑑</m:t>
                    </m:r>
                  </m:oMath>
                </a14:m>
                <a:r>
                  <a:rPr lang="en-US" sz="1800" dirty="0">
                    <a:latin typeface="Calibri" panose="020F0502020204030204" pitchFamily="34" charset="0"/>
                    <a:ea typeface="Calibri" panose="020F0502020204030204" pitchFamily="34" charset="0"/>
                    <a:cs typeface="Calibri" panose="020F0502020204030204" pitchFamily="34" charset="0"/>
                  </a:rPr>
                  <a:t> we change the list size</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There is no apparent limit to the list size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To support this functionality lists are implemented as </a:t>
                </a:r>
                <a:r>
                  <a:rPr lang="en-US" sz="1800" b="1" dirty="0">
                    <a:latin typeface="Calibri" panose="020F0502020204030204" pitchFamily="34" charset="0"/>
                    <a:ea typeface="Calibri" panose="020F0502020204030204" pitchFamily="34" charset="0"/>
                    <a:cs typeface="Calibri" panose="020F0502020204030204" pitchFamily="34" charset="0"/>
                  </a:rPr>
                  <a:t>dynamic arrays</a:t>
                </a: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762160"/>
                <a:ext cx="8229300" cy="3109877"/>
              </a:xfrm>
              <a:blipFill>
                <a:blip r:embed="rId3"/>
                <a:stretch>
                  <a:fillRect b="-392"/>
                </a:stretch>
              </a:blipFill>
            </p:spPr>
            <p:txBody>
              <a:bodyPr/>
              <a:lstStyle/>
              <a:p>
                <a:r>
                  <a:rPr lang="de-AT">
                    <a:noFill/>
                  </a:rPr>
                  <a:t> </a:t>
                </a:r>
              </a:p>
            </p:txBody>
          </p:sp>
        </mc:Fallback>
      </mc:AlternateContent>
    </p:spTree>
    <p:extLst>
      <p:ext uri="{BB962C8B-B14F-4D97-AF65-F5344CB8AC3E}">
        <p14:creationId xmlns:p14="http://schemas.microsoft.com/office/powerpoint/2010/main" val="1808069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Dynamic arrays</a:t>
            </a: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762160"/>
            <a:ext cx="8229300" cy="3452778"/>
          </a:xfrm>
        </p:spPr>
        <p:txBody>
          <a:body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Typically, the</a:t>
            </a:r>
            <a:r>
              <a:rPr lang="en-US" sz="1800" i="1" dirty="0">
                <a:latin typeface="Calibri" panose="020F0502020204030204" pitchFamily="34" charset="0"/>
                <a:ea typeface="Calibri" panose="020F0502020204030204" pitchFamily="34" charset="0"/>
                <a:cs typeface="Calibri" panose="020F0502020204030204" pitchFamily="34" charset="0"/>
              </a:rPr>
              <a:t> underlying array</a:t>
            </a:r>
            <a:r>
              <a:rPr lang="en-US" sz="1800" dirty="0">
                <a:latin typeface="Calibri" panose="020F0502020204030204" pitchFamily="34" charset="0"/>
                <a:ea typeface="Calibri" panose="020F0502020204030204" pitchFamily="34" charset="0"/>
                <a:cs typeface="Calibri" panose="020F0502020204030204" pitchFamily="34" charset="0"/>
              </a:rPr>
              <a:t> has a greater capacity then the current list length</a:t>
            </a:r>
            <a:endParaRPr lang="en-US" sz="1800" b="1"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Hence, when a user creates a list with five elements</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system reserves an underlying array for storing more than five objects</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For example, eight or ten objects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If we keep adding elements to the list we will exhaust the capacity eventually</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In that case, the system reserves an even larger array</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First, the elements from the list are copied from the old into the new array</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old array is no longer needed</a:t>
            </a:r>
          </a:p>
        </p:txBody>
      </p:sp>
    </p:spTree>
    <p:extLst>
      <p:ext uri="{BB962C8B-B14F-4D97-AF65-F5344CB8AC3E}">
        <p14:creationId xmlns:p14="http://schemas.microsoft.com/office/powerpoint/2010/main" val="1629737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Dynamic arrays: experiment in python</a:t>
            </a:r>
            <a:endParaRPr lang="en-US" sz="2800" b="1" noProof="0" dirty="0">
              <a:latin typeface="Calibri" panose="020F0502020204030204" pitchFamily="34" charset="0"/>
              <a:cs typeface="Calibri" panose="020F0502020204030204" pitchFamily="34" charset="0"/>
            </a:endParaRPr>
          </a:p>
        </p:txBody>
      </p:sp>
      <p:sp>
        <p:nvSpPr>
          <p:cNvPr id="62" name="Rechteck 61">
            <a:extLst>
              <a:ext uri="{FF2B5EF4-FFF2-40B4-BE49-F238E27FC236}">
                <a16:creationId xmlns:a16="http://schemas.microsoft.com/office/drawing/2014/main" id="{8F2C2A12-C5B8-4044-847D-FDC4037DD3B8}"/>
              </a:ext>
            </a:extLst>
          </p:cNvPr>
          <p:cNvSpPr/>
          <p:nvPr/>
        </p:nvSpPr>
        <p:spPr>
          <a:xfrm>
            <a:off x="850981" y="1747307"/>
            <a:ext cx="7835519" cy="3381906"/>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z="1800" spc="-1" dirty="0">
                <a:solidFill>
                  <a:srgbClr val="0F0F0F"/>
                </a:solidFill>
                <a:latin typeface="Consolas" panose="020B0609020204030204" pitchFamily="49" charset="0"/>
              </a:rPr>
              <a:t>import sys</a:t>
            </a:r>
          </a:p>
          <a:p>
            <a:endParaRPr lang="en-US" sz="1800" spc="-1" dirty="0">
              <a:solidFill>
                <a:srgbClr val="0F0F0F"/>
              </a:solidFill>
              <a:latin typeface="Consolas" panose="020B0609020204030204" pitchFamily="49" charset="0"/>
            </a:endParaRPr>
          </a:p>
          <a:p>
            <a:r>
              <a:rPr lang="en-US" sz="1800" spc="-1" dirty="0">
                <a:solidFill>
                  <a:srgbClr val="0F0F0F"/>
                </a:solidFill>
                <a:latin typeface="Consolas" panose="020B0609020204030204" pitchFamily="49" charset="0"/>
              </a:rPr>
              <a:t>data = []</a:t>
            </a:r>
          </a:p>
          <a:p>
            <a:r>
              <a:rPr lang="en-US" sz="1800" spc="-1" dirty="0">
                <a:solidFill>
                  <a:srgbClr val="0F0F0F"/>
                </a:solidFill>
                <a:latin typeface="Consolas" panose="020B0609020204030204" pitchFamily="49" charset="0"/>
              </a:rPr>
              <a:t>n = 100</a:t>
            </a:r>
          </a:p>
          <a:p>
            <a:r>
              <a:rPr lang="en-US" sz="1800" spc="-1" dirty="0" err="1">
                <a:solidFill>
                  <a:srgbClr val="0F0F0F"/>
                </a:solidFill>
                <a:latin typeface="Consolas" panose="020B0609020204030204" pitchFamily="49" charset="0"/>
              </a:rPr>
              <a:t>old_size</a:t>
            </a:r>
            <a:r>
              <a:rPr lang="en-US" sz="1800" spc="-1" dirty="0">
                <a:solidFill>
                  <a:srgbClr val="0F0F0F"/>
                </a:solidFill>
                <a:latin typeface="Consolas" panose="020B0609020204030204" pitchFamily="49" charset="0"/>
              </a:rPr>
              <a:t> = 0</a:t>
            </a:r>
          </a:p>
          <a:p>
            <a:r>
              <a:rPr lang="en-US" sz="1800" spc="-1" dirty="0">
                <a:solidFill>
                  <a:srgbClr val="0F0F0F"/>
                </a:solidFill>
                <a:latin typeface="Consolas" panose="020B0609020204030204" pitchFamily="49" charset="0"/>
              </a:rPr>
              <a:t>for </a:t>
            </a:r>
            <a:r>
              <a:rPr lang="en-US" sz="1800" spc="-1" dirty="0" err="1">
                <a:solidFill>
                  <a:srgbClr val="0F0F0F"/>
                </a:solidFill>
                <a:latin typeface="Consolas" panose="020B0609020204030204" pitchFamily="49" charset="0"/>
              </a:rPr>
              <a:t>i</a:t>
            </a:r>
            <a:r>
              <a:rPr lang="en-US" sz="1800" spc="-1" dirty="0">
                <a:solidFill>
                  <a:srgbClr val="0F0F0F"/>
                </a:solidFill>
                <a:latin typeface="Consolas" panose="020B0609020204030204" pitchFamily="49" charset="0"/>
              </a:rPr>
              <a:t> in range(n):</a:t>
            </a:r>
          </a:p>
          <a:p>
            <a:r>
              <a:rPr lang="en-US" sz="1800" spc="-1" dirty="0">
                <a:solidFill>
                  <a:srgbClr val="0F0F0F"/>
                </a:solidFill>
                <a:latin typeface="Consolas" panose="020B0609020204030204" pitchFamily="49" charset="0"/>
              </a:rPr>
              <a:t>    print(</a:t>
            </a:r>
            <a:r>
              <a:rPr lang="en-US" sz="1800" spc="-1" dirty="0" err="1">
                <a:solidFill>
                  <a:srgbClr val="0F0F0F"/>
                </a:solidFill>
                <a:latin typeface="Consolas" panose="020B0609020204030204" pitchFamily="49" charset="0"/>
              </a:rPr>
              <a:t>f'Length</a:t>
            </a:r>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len</a:t>
            </a:r>
            <a:r>
              <a:rPr lang="en-US" sz="1800" spc="-1" dirty="0">
                <a:solidFill>
                  <a:srgbClr val="0F0F0F"/>
                </a:solidFill>
                <a:latin typeface="Consolas" panose="020B0609020204030204" pitchFamily="49" charset="0"/>
              </a:rPr>
              <a:t>(data)},'</a:t>
            </a: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f'Size</a:t>
            </a:r>
            <a:r>
              <a:rPr lang="en-US" sz="1800" spc="-1" dirty="0">
                <a:solidFill>
                  <a:srgbClr val="0F0F0F"/>
                </a:solidFill>
                <a:latin typeface="Consolas" panose="020B0609020204030204" pitchFamily="49" charset="0"/>
              </a:rPr>
              <a:t> in bytes: {</a:t>
            </a:r>
            <a:r>
              <a:rPr lang="en-US" sz="1800" spc="-1" dirty="0" err="1">
                <a:solidFill>
                  <a:srgbClr val="0F0F0F"/>
                </a:solidFill>
                <a:latin typeface="Consolas" panose="020B0609020204030204" pitchFamily="49" charset="0"/>
              </a:rPr>
              <a:t>sys.getsizeof</a:t>
            </a:r>
            <a:r>
              <a:rPr lang="en-US" sz="1800" spc="-1" dirty="0">
                <a:solidFill>
                  <a:srgbClr val="0F0F0F"/>
                </a:solidFill>
                <a:latin typeface="Consolas" panose="020B0609020204030204" pitchFamily="49" charset="0"/>
              </a:rPr>
              <a:t>(data)},'</a:t>
            </a: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f'Size</a:t>
            </a:r>
            <a:r>
              <a:rPr lang="en-US" sz="1800" spc="-1" dirty="0">
                <a:solidFill>
                  <a:srgbClr val="0F0F0F"/>
                </a:solidFill>
                <a:latin typeface="Consolas" panose="020B0609020204030204" pitchFamily="49" charset="0"/>
              </a:rPr>
              <a:t> in bytes: {</a:t>
            </a:r>
            <a:r>
              <a:rPr lang="en-US" sz="1800" spc="-1" dirty="0" err="1">
                <a:solidFill>
                  <a:srgbClr val="0F0F0F"/>
                </a:solidFill>
                <a:latin typeface="Consolas" panose="020B0609020204030204" pitchFamily="49" charset="0"/>
              </a:rPr>
              <a:t>sys.getsizeof</a:t>
            </a:r>
            <a:r>
              <a:rPr lang="en-US" sz="1800" spc="-1" dirty="0">
                <a:solidFill>
                  <a:srgbClr val="0F0F0F"/>
                </a:solidFill>
                <a:latin typeface="Consolas" panose="020B0609020204030204" pitchFamily="49" charset="0"/>
              </a:rPr>
              <a:t>(data) - </a:t>
            </a:r>
            <a:r>
              <a:rPr lang="en-US" sz="1800" spc="-1" dirty="0" err="1">
                <a:solidFill>
                  <a:srgbClr val="0F0F0F"/>
                </a:solidFill>
                <a:latin typeface="Consolas" panose="020B0609020204030204" pitchFamily="49" charset="0"/>
              </a:rPr>
              <a:t>old_size</a:t>
            </a:r>
            <a:r>
              <a:rPr lang="en-US" sz="1800" spc="-1" dirty="0">
                <a:solidFill>
                  <a:srgbClr val="0F0F0F"/>
                </a:solidFill>
                <a:latin typeface="Consolas" panose="020B0609020204030204" pitchFamily="49" charset="0"/>
              </a:rPr>
              <a:t>}')</a:t>
            </a: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old_size</a:t>
            </a:r>
            <a:r>
              <a:rPr lang="en-US" sz="1800" spc="-1" dirty="0">
                <a:solidFill>
                  <a:srgbClr val="0F0F0F"/>
                </a:solidFill>
                <a:latin typeface="Consolas" panose="020B0609020204030204" pitchFamily="49" charset="0"/>
              </a:rPr>
              <a:t> = </a:t>
            </a:r>
            <a:r>
              <a:rPr lang="en-US" sz="1800" spc="-1" dirty="0" err="1">
                <a:solidFill>
                  <a:srgbClr val="0F0F0F"/>
                </a:solidFill>
                <a:latin typeface="Consolas" panose="020B0609020204030204" pitchFamily="49" charset="0"/>
              </a:rPr>
              <a:t>sys.getsizeof</a:t>
            </a:r>
            <a:r>
              <a:rPr lang="en-US" sz="1800" spc="-1" dirty="0">
                <a:solidFill>
                  <a:srgbClr val="0F0F0F"/>
                </a:solidFill>
                <a:latin typeface="Consolas" panose="020B0609020204030204" pitchFamily="49" charset="0"/>
              </a:rPr>
              <a:t>(data)</a:t>
            </a: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data.append</a:t>
            </a:r>
            <a:r>
              <a:rPr lang="en-US" sz="1800" spc="-1" dirty="0">
                <a:solidFill>
                  <a:srgbClr val="0F0F0F"/>
                </a:solidFill>
                <a:latin typeface="Consolas" panose="020B0609020204030204" pitchFamily="49" charset="0"/>
              </a:rPr>
              <a:t>(1)</a:t>
            </a:r>
          </a:p>
        </p:txBody>
      </p:sp>
      <p:sp>
        <p:nvSpPr>
          <p:cNvPr id="4" name="Textplatzhalter 2">
            <a:extLst>
              <a:ext uri="{FF2B5EF4-FFF2-40B4-BE49-F238E27FC236}">
                <a16:creationId xmlns:a16="http://schemas.microsoft.com/office/drawing/2014/main" id="{28AA40A4-A770-4E2E-9962-A2C5ECE96264}"/>
              </a:ext>
            </a:extLst>
          </p:cNvPr>
          <p:cNvSpPr>
            <a:spLocks noGrp="1"/>
          </p:cNvSpPr>
          <p:nvPr>
            <p:ph type="body" idx="1"/>
          </p:nvPr>
        </p:nvSpPr>
        <p:spPr>
          <a:xfrm>
            <a:off x="513418" y="5392003"/>
            <a:ext cx="8229300" cy="583880"/>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hlinkClick r:id="rId3"/>
              </a:rPr>
              <a:t>Notebook example</a:t>
            </a:r>
            <a:endParaRPr lang="en-US" sz="1800" noProof="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51778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Dynamic arrays: experiment in python</a:t>
            </a:r>
            <a:endParaRPr lang="en-US" sz="2800" b="1" noProof="0" dirty="0">
              <a:latin typeface="Calibri" panose="020F0502020204030204" pitchFamily="34" charset="0"/>
              <a:cs typeface="Calibri" panose="020F0502020204030204" pitchFamily="34" charset="0"/>
            </a:endParaRP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653136"/>
            <a:ext cx="8229300" cy="4390478"/>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Empty list requires already 56 bytes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Adding the first element increases the size to 88 bytes</a:t>
            </a:r>
          </a:p>
          <a:p>
            <a:pPr marL="857250" lvl="1"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32 bytes difference</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experiment was done on a 64-bit machine</a:t>
            </a:r>
          </a:p>
          <a:p>
            <a:pPr marL="857250" lvl="1"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8 bytes </a:t>
            </a:r>
            <a:r>
              <a:rPr lang="en-US" sz="1800" dirty="0">
                <a:latin typeface="Calibri" panose="020F0502020204030204" pitchFamily="34" charset="0"/>
                <a:ea typeface="Calibri" panose="020F0502020204030204" pitchFamily="34" charset="0"/>
                <a:cs typeface="Calibri" panose="020F0502020204030204" pitchFamily="34" charset="0"/>
              </a:rPr>
              <a:t>are needed for storing one address</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Hence, </a:t>
            </a:r>
            <a:r>
              <a:rPr lang="en-GB" sz="1800" dirty="0">
                <a:latin typeface="Calibri" panose="020F0502020204030204" pitchFamily="34" charset="0"/>
                <a:ea typeface="Calibri" panose="020F0502020204030204" pitchFamily="34" charset="0"/>
                <a:cs typeface="Calibri" panose="020F0502020204030204" pitchFamily="34" charset="0"/>
              </a:rPr>
              <a:t>P</a:t>
            </a:r>
            <a:r>
              <a:rPr lang="en-US" sz="1800" dirty="0" err="1">
                <a:latin typeface="Calibri" panose="020F0502020204030204" pitchFamily="34" charset="0"/>
                <a:ea typeface="Calibri" panose="020F0502020204030204" pitchFamily="34" charset="0"/>
                <a:cs typeface="Calibri" panose="020F0502020204030204" pitchFamily="34" charset="0"/>
              </a:rPr>
              <a:t>ython</a:t>
            </a:r>
            <a:r>
              <a:rPr lang="en-US" sz="1800" dirty="0">
                <a:latin typeface="Calibri" panose="020F0502020204030204" pitchFamily="34" charset="0"/>
                <a:ea typeface="Calibri" panose="020F0502020204030204" pitchFamily="34" charset="0"/>
                <a:cs typeface="Calibri" panose="020F0502020204030204" pitchFamily="34" charset="0"/>
              </a:rPr>
              <a:t> increases the size of the list to keep references of four objects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Adding the fifth object increases the size by another 32 bytes</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Adding the ninth </a:t>
            </a:r>
            <a:r>
              <a:rPr lang="en-US" sz="1800" noProof="0" dirty="0" err="1">
                <a:latin typeface="Calibri" panose="020F0502020204030204" pitchFamily="34" charset="0"/>
                <a:ea typeface="Calibri" panose="020F0502020204030204" pitchFamily="34" charset="0"/>
                <a:cs typeface="Calibri" panose="020F0502020204030204" pitchFamily="34" charset="0"/>
              </a:rPr>
              <a:t>ob</a:t>
            </a:r>
            <a:r>
              <a:rPr lang="en-US" sz="1800" dirty="0" err="1">
                <a:latin typeface="Calibri" panose="020F0502020204030204" pitchFamily="34" charset="0"/>
                <a:ea typeface="Calibri" panose="020F0502020204030204" pitchFamily="34" charset="0"/>
                <a:cs typeface="Calibri" panose="020F0502020204030204" pitchFamily="34" charset="0"/>
              </a:rPr>
              <a:t>ject</a:t>
            </a:r>
            <a:r>
              <a:rPr lang="en-US" sz="1800" dirty="0">
                <a:latin typeface="Calibri" panose="020F0502020204030204" pitchFamily="34" charset="0"/>
                <a:ea typeface="Calibri" panose="020F0502020204030204" pitchFamily="34" charset="0"/>
                <a:cs typeface="Calibri" panose="020F0502020204030204" pitchFamily="34" charset="0"/>
              </a:rPr>
              <a:t> increases the size by 64 bytes (8 references)</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This size increase repeats until the 40</a:t>
            </a:r>
            <a:r>
              <a:rPr lang="en-US" sz="1800" baseline="30000" noProof="0" dirty="0">
                <a:latin typeface="Calibri" panose="020F0502020204030204" pitchFamily="34" charset="0"/>
                <a:ea typeface="Calibri" panose="020F0502020204030204" pitchFamily="34" charset="0"/>
                <a:cs typeface="Calibri" panose="020F0502020204030204" pitchFamily="34" charset="0"/>
              </a:rPr>
              <a:t>th</a:t>
            </a:r>
            <a:r>
              <a:rPr lang="en-US" sz="1800" noProof="0" dirty="0">
                <a:latin typeface="Calibri" panose="020F0502020204030204" pitchFamily="34" charset="0"/>
                <a:ea typeface="Calibri" panose="020F0502020204030204" pitchFamily="34" charset="0"/>
                <a:cs typeface="Calibri" panose="020F0502020204030204" pitchFamily="34" charset="0"/>
              </a:rPr>
              <a:t> element, then we have increase for 96 bytes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This progression continues for longer lists</a:t>
            </a:r>
            <a:endParaRPr lang="en-US" sz="1800" noProof="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83986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Implementing dynamic arrays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753149"/>
                <a:ext cx="8229300" cy="3483220"/>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The key is to provide means to grow the array </a:t>
                </a:r>
                <a14:m>
                  <m:oMath xmlns:m="http://schemas.openxmlformats.org/officeDocument/2006/math">
                    <m:r>
                      <a:rPr lang="en-US" sz="1800" i="1" noProof="0" dirty="0" smtClean="0">
                        <a:latin typeface="Cambria Math" panose="02040503050406030204" pitchFamily="18" charset="0"/>
                        <a:ea typeface="Calibri" panose="020F0502020204030204" pitchFamily="34" charset="0"/>
                        <a:cs typeface="Calibri" panose="020F0502020204030204" pitchFamily="34" charset="0"/>
                      </a:rPr>
                      <m:t>𝑎</m:t>
                    </m:r>
                  </m:oMath>
                </a14:m>
                <a:r>
                  <a:rPr lang="en-US" sz="1800" noProof="0" dirty="0">
                    <a:latin typeface="Calibri" panose="020F0502020204030204" pitchFamily="34" charset="0"/>
                    <a:ea typeface="Calibri" panose="020F0502020204030204" pitchFamily="34" charset="0"/>
                    <a:cs typeface="Calibri" panose="020F0502020204030204" pitchFamily="34" charset="0"/>
                  </a:rPr>
                  <a:t> that stores the element of a list</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can not actually grow the array as we may compromise neighboring memory</a:t>
                </a:r>
              </a:p>
              <a:p>
                <a:pPr marL="857250" lvl="1"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We need to copy to a new location a</a:t>
                </a:r>
                <a:r>
                  <a:rPr lang="en-US" sz="1800" dirty="0" err="1">
                    <a:latin typeface="Calibri" panose="020F0502020204030204" pitchFamily="34" charset="0"/>
                    <a:ea typeface="Calibri" panose="020F0502020204030204" pitchFamily="34" charset="0"/>
                    <a:cs typeface="Calibri" panose="020F0502020204030204" pitchFamily="34" charset="0"/>
                  </a:rPr>
                  <a:t>nd</a:t>
                </a:r>
                <a:r>
                  <a:rPr lang="en-US" sz="1800" dirty="0">
                    <a:latin typeface="Calibri" panose="020F0502020204030204" pitchFamily="34" charset="0"/>
                    <a:ea typeface="Calibri" panose="020F0502020204030204" pitchFamily="34" charset="0"/>
                    <a:cs typeface="Calibri" panose="020F0502020204030204" pitchFamily="34" charset="0"/>
                  </a:rPr>
                  <a:t> increase size there</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In fact, we perform the following steps:</a:t>
                </a:r>
              </a:p>
              <a:p>
                <a:pPr indent="-342900">
                  <a:spcBef>
                    <a:spcPts val="600"/>
                  </a:spcBef>
                  <a:spcAft>
                    <a:spcPts val="600"/>
                  </a:spcAft>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Allocate a new array b with larger capacity</a:t>
                </a:r>
              </a:p>
              <a:p>
                <a:pPr indent="-342900">
                  <a:spcBef>
                    <a:spcPts val="600"/>
                  </a:spcBef>
                  <a:spcAft>
                    <a:spcPts val="600"/>
                  </a:spcAft>
                  <a:buFont typeface="+mj-lt"/>
                  <a:buAutoNum type="arabicPeriod"/>
                </a:pPr>
                <a:r>
                  <a:rPr lang="en-US" sz="1800" noProof="0" dirty="0">
                    <a:latin typeface="Calibri" panose="020F0502020204030204" pitchFamily="34" charset="0"/>
                    <a:ea typeface="Calibri" panose="020F0502020204030204" pitchFamily="34" charset="0"/>
                    <a:cs typeface="Calibri" panose="020F0502020204030204" pitchFamily="34" charset="0"/>
                  </a:rPr>
                  <a:t>Set </a:t>
                </a:r>
                <a14:m>
                  <m:oMath xmlns:m="http://schemas.openxmlformats.org/officeDocument/2006/math">
                    <m:r>
                      <a:rPr lang="en-US" sz="1800" i="1" noProof="0" dirty="0" smtClean="0">
                        <a:latin typeface="Cambria Math" panose="02040503050406030204" pitchFamily="18" charset="0"/>
                        <a:ea typeface="Calibri" panose="020F0502020204030204" pitchFamily="34" charset="0"/>
                        <a:cs typeface="Calibri" panose="020F0502020204030204" pitchFamily="34" charset="0"/>
                      </a:rPr>
                      <m:t>𝑏</m:t>
                    </m:r>
                    <m:r>
                      <a:rPr lang="en-US" sz="1800" i="1" noProof="0" dirty="0" smtClean="0">
                        <a:latin typeface="Cambria Math" panose="02040503050406030204" pitchFamily="18" charset="0"/>
                        <a:ea typeface="Calibri" panose="020F0502020204030204" pitchFamily="34" charset="0"/>
                        <a:cs typeface="Calibri" panose="020F0502020204030204" pitchFamily="34" charset="0"/>
                      </a:rPr>
                      <m:t>[</m:t>
                    </m:r>
                    <m:r>
                      <a:rPr lang="en-US" sz="1800" i="1" noProof="0" dirty="0" err="1" smtClean="0">
                        <a:latin typeface="Cambria Math" panose="02040503050406030204" pitchFamily="18" charset="0"/>
                        <a:ea typeface="Calibri" panose="020F0502020204030204" pitchFamily="34" charset="0"/>
                        <a:cs typeface="Calibri" panose="020F0502020204030204" pitchFamily="34" charset="0"/>
                      </a:rPr>
                      <m:t>𝑖</m:t>
                    </m:r>
                    <m:r>
                      <a:rPr lang="en-US" sz="1800" i="1" noProof="0" dirty="0" smtClean="0">
                        <a:latin typeface="Cambria Math" panose="02040503050406030204" pitchFamily="18" charset="0"/>
                        <a:ea typeface="Calibri" panose="020F0502020204030204" pitchFamily="34" charset="0"/>
                        <a:cs typeface="Calibri" panose="020F0502020204030204" pitchFamily="34" charset="0"/>
                      </a:rPr>
                      <m:t>]=</m:t>
                    </m:r>
                    <m:r>
                      <a:rPr lang="en-US" sz="1800" i="1" noProof="0" dirty="0" smtClean="0">
                        <a:latin typeface="Cambria Math" panose="02040503050406030204" pitchFamily="18" charset="0"/>
                        <a:ea typeface="Calibri" panose="020F0502020204030204" pitchFamily="34" charset="0"/>
                        <a:cs typeface="Calibri" panose="020F0502020204030204" pitchFamily="34" charset="0"/>
                      </a:rPr>
                      <m:t>𝑎</m:t>
                    </m:r>
                    <m:r>
                      <a:rPr lang="en-US" sz="1800" i="1" noProof="0" dirty="0" smtClean="0">
                        <a:latin typeface="Cambria Math" panose="02040503050406030204" pitchFamily="18" charset="0"/>
                        <a:ea typeface="Calibri" panose="020F0502020204030204" pitchFamily="34" charset="0"/>
                        <a:cs typeface="Calibri" panose="020F0502020204030204" pitchFamily="34" charset="0"/>
                      </a:rPr>
                      <m:t>[</m:t>
                    </m:r>
                    <m:r>
                      <a:rPr lang="en-US" sz="1800" i="1" noProof="0" dirty="0" err="1" smtClean="0">
                        <a:latin typeface="Cambria Math" panose="02040503050406030204" pitchFamily="18" charset="0"/>
                        <a:ea typeface="Calibri" panose="020F0502020204030204" pitchFamily="34" charset="0"/>
                        <a:cs typeface="Calibri" panose="020F0502020204030204" pitchFamily="34" charset="0"/>
                      </a:rPr>
                      <m:t>𝑖</m:t>
                    </m:r>
                    <m:r>
                      <a:rPr lang="en-US" sz="1800" i="1" noProof="0" dirty="0" smtClean="0">
                        <a:latin typeface="Cambria Math" panose="02040503050406030204" pitchFamily="18" charset="0"/>
                        <a:ea typeface="Calibri" panose="020F0502020204030204" pitchFamily="34" charset="0"/>
                        <a:cs typeface="Calibri" panose="020F0502020204030204" pitchFamily="34" charset="0"/>
                      </a:rPr>
                      <m:t>]</m:t>
                    </m:r>
                    <m:r>
                      <a:rPr lang="en-US" sz="1800" i="1" noProof="0" dirty="0">
                        <a:latin typeface="Cambria Math" panose="02040503050406030204" pitchFamily="18" charset="0"/>
                        <a:ea typeface="Calibri" panose="020F0502020204030204" pitchFamily="34" charset="0"/>
                        <a:cs typeface="Calibri" panose="020F0502020204030204" pitchFamily="34" charset="0"/>
                      </a:rPr>
                      <m:t> </m:t>
                    </m:r>
                  </m:oMath>
                </a14:m>
                <a:r>
                  <a:rPr lang="en-US" sz="1800" noProof="0" dirty="0">
                    <a:latin typeface="Calibri" panose="020F0502020204030204" pitchFamily="34" charset="0"/>
                    <a:ea typeface="Calibri" panose="020F0502020204030204" pitchFamily="34" charset="0"/>
                    <a:cs typeface="Calibri" panose="020F0502020204030204" pitchFamily="34" charset="0"/>
                  </a:rPr>
                  <a:t>for </a:t>
                </a:r>
                <a14:m>
                  <m:oMath xmlns:m="http://schemas.openxmlformats.org/officeDocument/2006/math">
                    <m:r>
                      <a:rPr lang="en-US" sz="1800" i="1" noProof="0" dirty="0" smtClean="0">
                        <a:latin typeface="Cambria Math" panose="02040503050406030204" pitchFamily="18" charset="0"/>
                        <a:ea typeface="Calibri" panose="020F0502020204030204" pitchFamily="34" charset="0"/>
                        <a:cs typeface="Calibri" panose="020F0502020204030204" pitchFamily="34" charset="0"/>
                      </a:rPr>
                      <m:t>𝑖</m:t>
                    </m:r>
                    <m:r>
                      <a:rPr lang="en-US" sz="1800" i="1" noProof="0" dirty="0" smtClean="0">
                        <a:latin typeface="Cambria Math" panose="02040503050406030204" pitchFamily="18" charset="0"/>
                        <a:ea typeface="Calibri" panose="020F0502020204030204" pitchFamily="34" charset="0"/>
                        <a:cs typeface="Calibri" panose="020F0502020204030204" pitchFamily="34" charset="0"/>
                      </a:rPr>
                      <m:t>=0, 1, …, </m:t>
                    </m:r>
                    <m:r>
                      <a:rPr lang="en-US" sz="1800" i="1" noProof="0"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noProof="0" dirty="0" smtClean="0">
                        <a:latin typeface="Cambria Math" panose="02040503050406030204" pitchFamily="18" charset="0"/>
                        <a:ea typeface="Calibri" panose="020F0502020204030204" pitchFamily="34" charset="0"/>
                        <a:cs typeface="Calibri" panose="020F0502020204030204" pitchFamily="34" charset="0"/>
                      </a:rPr>
                      <m:t>−1</m:t>
                    </m:r>
                  </m:oMath>
                </a14:m>
                <a:r>
                  <a:rPr lang="en-US" sz="1800" noProof="0" dirty="0">
                    <a:latin typeface="Calibri" panose="020F0502020204030204" pitchFamily="34" charset="0"/>
                    <a:ea typeface="Calibri" panose="020F0502020204030204" pitchFamily="34" charset="0"/>
                    <a:cs typeface="Calibri" panose="020F0502020204030204" pitchFamily="34" charset="0"/>
                  </a:rPr>
                  <a:t>, where </a:t>
                </a:r>
                <a14:m>
                  <m:oMath xmlns:m="http://schemas.openxmlformats.org/officeDocument/2006/math">
                    <m:r>
                      <a:rPr lang="en-US" sz="1800" i="1" noProof="0" dirty="0" smtClean="0">
                        <a:latin typeface="Cambria Math" panose="02040503050406030204" pitchFamily="18" charset="0"/>
                        <a:ea typeface="Calibri" panose="020F0502020204030204" pitchFamily="34" charset="0"/>
                        <a:cs typeface="Calibri" panose="020F0502020204030204" pitchFamily="34" charset="0"/>
                      </a:rPr>
                      <m:t>𝑛</m:t>
                    </m:r>
                  </m:oMath>
                </a14:m>
                <a:r>
                  <a:rPr lang="en-US" sz="1800" noProof="0" dirty="0">
                    <a:latin typeface="Calibri" panose="020F0502020204030204" pitchFamily="34" charset="0"/>
                    <a:ea typeface="Calibri" panose="020F0502020204030204" pitchFamily="34" charset="0"/>
                    <a:cs typeface="Calibri" panose="020F0502020204030204" pitchFamily="34" charset="0"/>
                  </a:rPr>
                  <a:t> is the </a:t>
                </a:r>
                <a:r>
                  <a:rPr lang="en-US" sz="1800" dirty="0">
                    <a:latin typeface="Calibri" panose="020F0502020204030204" pitchFamily="34" charset="0"/>
                    <a:ea typeface="Calibri" panose="020F0502020204030204" pitchFamily="34" charset="0"/>
                    <a:cs typeface="Calibri" panose="020F0502020204030204" pitchFamily="34" charset="0"/>
                  </a:rPr>
                  <a:t>current length of the list</a:t>
                </a:r>
              </a:p>
              <a:p>
                <a:pPr indent="-342900">
                  <a:spcBef>
                    <a:spcPts val="600"/>
                  </a:spcBef>
                  <a:spcAft>
                    <a:spcPts val="600"/>
                  </a:spcAft>
                  <a:buFont typeface="+mj-lt"/>
                  <a:buAutoNum type="arabicPeriod"/>
                </a:pPr>
                <a:r>
                  <a:rPr lang="en-US" sz="1800" noProof="0" dirty="0">
                    <a:latin typeface="Calibri" panose="020F0502020204030204" pitchFamily="34" charset="0"/>
                    <a:ea typeface="Calibri" panose="020F0502020204030204" pitchFamily="34" charset="0"/>
                    <a:cs typeface="Calibri" panose="020F0502020204030204" pitchFamily="34" charset="0"/>
                  </a:rPr>
                  <a:t>Se</a:t>
                </a:r>
                <a:r>
                  <a:rPr lang="en-US" sz="1800" dirty="0">
                    <a:latin typeface="Calibri" panose="020F0502020204030204" pitchFamily="34" charset="0"/>
                    <a:ea typeface="Calibri" panose="020F0502020204030204" pitchFamily="34" charset="0"/>
                    <a:cs typeface="Calibri" panose="020F0502020204030204" pitchFamily="34" charset="0"/>
                  </a:rPr>
                  <a:t>t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𝑎</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𝑏</m:t>
                    </m:r>
                  </m:oMath>
                </a14:m>
                <a:r>
                  <a:rPr lang="en-US" sz="1800" dirty="0">
                    <a:latin typeface="Calibri" panose="020F0502020204030204" pitchFamily="34" charset="0"/>
                    <a:ea typeface="Calibri" panose="020F0502020204030204" pitchFamily="34" charset="0"/>
                    <a:cs typeface="Calibri" panose="020F0502020204030204" pitchFamily="34" charset="0"/>
                  </a:rPr>
                  <a:t>, we henceforth use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𝑏</m:t>
                    </m:r>
                  </m:oMath>
                </a14:m>
                <a:r>
                  <a:rPr lang="en-US" sz="1800" dirty="0">
                    <a:latin typeface="Calibri" panose="020F0502020204030204" pitchFamily="34" charset="0"/>
                    <a:ea typeface="Calibri" panose="020F0502020204030204" pitchFamily="34" charset="0"/>
                    <a:cs typeface="Calibri" panose="020F0502020204030204" pitchFamily="34" charset="0"/>
                  </a:rPr>
                  <a:t> as the array supporting the list</a:t>
                </a:r>
              </a:p>
              <a:p>
                <a:pPr indent="-342900">
                  <a:spcBef>
                    <a:spcPts val="600"/>
                  </a:spcBef>
                  <a:spcAft>
                    <a:spcPts val="600"/>
                  </a:spcAft>
                  <a:buFont typeface="+mj-lt"/>
                  <a:buAutoNum type="arabicPeriod"/>
                </a:pPr>
                <a:r>
                  <a:rPr lang="en-US" sz="1800" noProof="0" dirty="0">
                    <a:latin typeface="Calibri" panose="020F0502020204030204" pitchFamily="34" charset="0"/>
                    <a:ea typeface="Calibri" panose="020F0502020204030204" pitchFamily="34" charset="0"/>
                    <a:cs typeface="Calibri" panose="020F0502020204030204" pitchFamily="34" charset="0"/>
                  </a:rPr>
                  <a:t>In</a:t>
                </a:r>
                <a:r>
                  <a:rPr lang="en-US" sz="1800" dirty="0" err="1">
                    <a:latin typeface="Calibri" panose="020F0502020204030204" pitchFamily="34" charset="0"/>
                    <a:ea typeface="Calibri" panose="020F0502020204030204" pitchFamily="34" charset="0"/>
                    <a:cs typeface="Calibri" panose="020F0502020204030204" pitchFamily="34" charset="0"/>
                  </a:rPr>
                  <a:t>sert</a:t>
                </a:r>
                <a:r>
                  <a:rPr lang="en-US" sz="1800" dirty="0">
                    <a:latin typeface="Calibri" panose="020F0502020204030204" pitchFamily="34" charset="0"/>
                    <a:ea typeface="Calibri" panose="020F0502020204030204" pitchFamily="34" charset="0"/>
                    <a:cs typeface="Calibri" panose="020F0502020204030204" pitchFamily="34" charset="0"/>
                  </a:rPr>
                  <a:t> the new element in the new array</a:t>
                </a:r>
                <a:endParaRPr lang="en-US" sz="1800" noProof="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753149"/>
                <a:ext cx="8229300" cy="3483220"/>
              </a:xfrm>
              <a:blipFill>
                <a:blip r:embed="rId3"/>
                <a:stretch>
                  <a:fillRect b="-1051"/>
                </a:stretch>
              </a:blipFill>
            </p:spPr>
            <p:txBody>
              <a:bodyPr/>
              <a:lstStyle/>
              <a:p>
                <a:r>
                  <a:rPr lang="de-AT">
                    <a:noFill/>
                  </a:rPr>
                  <a:t> </a:t>
                </a:r>
              </a:p>
            </p:txBody>
          </p:sp>
        </mc:Fallback>
      </mc:AlternateContent>
    </p:spTree>
    <p:extLst>
      <p:ext uri="{BB962C8B-B14F-4D97-AF65-F5344CB8AC3E}">
        <p14:creationId xmlns:p14="http://schemas.microsoft.com/office/powerpoint/2010/main" val="627953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Implementing dynamic arrays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179453"/>
                <a:ext cx="8229300" cy="443968"/>
              </a:xfrm>
            </p:spPr>
            <p:txBody>
              <a:body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sz="1800" b="0" i="1" dirty="0" smtClean="0">
                          <a:latin typeface="Cambria Math" panose="02040503050406030204" pitchFamily="18" charset="0"/>
                          <a:ea typeface="Calibri" panose="020F0502020204030204" pitchFamily="34" charset="0"/>
                          <a:cs typeface="Calibri" panose="020F0502020204030204" pitchFamily="34" charset="0"/>
                        </a:rPr>
                        <m:t>𝑎</m:t>
                      </m:r>
                      <m:r>
                        <a:rPr lang="de-AT" sz="1800" b="0" i="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dirty="0" smtClean="0">
                          <a:latin typeface="Cambria Math" panose="02040503050406030204" pitchFamily="18" charset="0"/>
                          <a:ea typeface="Calibri" panose="020F0502020204030204" pitchFamily="34" charset="0"/>
                          <a:cs typeface="Calibri" panose="020F0502020204030204" pitchFamily="34" charset="0"/>
                        </a:rPr>
                        <m:t>𝑎𝑝𝑝𝑒𝑛𝑑</m:t>
                      </m:r>
                      <m:r>
                        <a:rPr lang="de-AT" sz="1800" b="0" i="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dirty="0" smtClean="0">
                          <a:latin typeface="Cambria Math" panose="02040503050406030204" pitchFamily="18" charset="0"/>
                          <a:ea typeface="Calibri" panose="020F0502020204030204" pitchFamily="34" charset="0"/>
                          <a:cs typeface="Calibri" panose="020F0502020204030204" pitchFamily="34" charset="0"/>
                        </a:rPr>
                        <m:t>𝑇𝑟𝑢𝑒</m:t>
                      </m:r>
                      <m:r>
                        <a:rPr lang="de-AT" sz="1800" b="0" i="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179453"/>
                <a:ext cx="8229300" cy="443968"/>
              </a:xfrm>
              <a:blipFill>
                <a:blip r:embed="rId3"/>
                <a:stretch>
                  <a:fillRect/>
                </a:stretch>
              </a:blipFill>
            </p:spPr>
            <p:txBody>
              <a:bodyPr/>
              <a:lstStyle/>
              <a:p>
                <a:r>
                  <a:rPr lang="de-AT">
                    <a:noFill/>
                  </a:rPr>
                  <a:t> </a:t>
                </a:r>
              </a:p>
            </p:txBody>
          </p:sp>
        </mc:Fallback>
      </mc:AlternateContent>
      <p:graphicFrame>
        <p:nvGraphicFramePr>
          <p:cNvPr id="5" name="Tabelle 4">
            <a:extLst>
              <a:ext uri="{FF2B5EF4-FFF2-40B4-BE49-F238E27FC236}">
                <a16:creationId xmlns:a16="http://schemas.microsoft.com/office/drawing/2014/main" id="{C9935E72-2E6B-456F-8A77-7BA884207E09}"/>
              </a:ext>
            </a:extLst>
          </p:cNvPr>
          <p:cNvGraphicFramePr>
            <a:graphicFrameLocks noGrp="1"/>
          </p:cNvGraphicFramePr>
          <p:nvPr>
            <p:extLst>
              <p:ext uri="{D42A27DB-BD31-4B8C-83A1-F6EECF244321}">
                <p14:modId xmlns:p14="http://schemas.microsoft.com/office/powerpoint/2010/main" val="3024099155"/>
              </p:ext>
            </p:extLst>
          </p:nvPr>
        </p:nvGraphicFramePr>
        <p:xfrm>
          <a:off x="2875473" y="5496281"/>
          <a:ext cx="4095492" cy="370840"/>
        </p:xfrm>
        <a:graphic>
          <a:graphicData uri="http://schemas.openxmlformats.org/drawingml/2006/table">
            <a:tbl>
              <a:tblPr firstRow="1" bandRow="1">
                <a:tableStyleId>{21E4AEA4-8DFA-4A89-87EB-49C32662AFE0}</a:tableStyleId>
              </a:tblPr>
              <a:tblGrid>
                <a:gridCol w="578005">
                  <a:extLst>
                    <a:ext uri="{9D8B030D-6E8A-4147-A177-3AD203B41FA5}">
                      <a16:colId xmlns:a16="http://schemas.microsoft.com/office/drawing/2014/main" val="2819438862"/>
                    </a:ext>
                  </a:extLst>
                </a:gridCol>
                <a:gridCol w="580500">
                  <a:extLst>
                    <a:ext uri="{9D8B030D-6E8A-4147-A177-3AD203B41FA5}">
                      <a16:colId xmlns:a16="http://schemas.microsoft.com/office/drawing/2014/main" val="1941964045"/>
                    </a:ext>
                  </a:extLst>
                </a:gridCol>
                <a:gridCol w="587666">
                  <a:extLst>
                    <a:ext uri="{9D8B030D-6E8A-4147-A177-3AD203B41FA5}">
                      <a16:colId xmlns:a16="http://schemas.microsoft.com/office/drawing/2014/main" val="2400113474"/>
                    </a:ext>
                  </a:extLst>
                </a:gridCol>
                <a:gridCol w="594111">
                  <a:extLst>
                    <a:ext uri="{9D8B030D-6E8A-4147-A177-3AD203B41FA5}">
                      <a16:colId xmlns:a16="http://schemas.microsoft.com/office/drawing/2014/main" val="883156179"/>
                    </a:ext>
                  </a:extLst>
                </a:gridCol>
                <a:gridCol w="585070">
                  <a:extLst>
                    <a:ext uri="{9D8B030D-6E8A-4147-A177-3AD203B41FA5}">
                      <a16:colId xmlns:a16="http://schemas.microsoft.com/office/drawing/2014/main" val="2515628111"/>
                    </a:ext>
                  </a:extLst>
                </a:gridCol>
                <a:gridCol w="585070">
                  <a:extLst>
                    <a:ext uri="{9D8B030D-6E8A-4147-A177-3AD203B41FA5}">
                      <a16:colId xmlns:a16="http://schemas.microsoft.com/office/drawing/2014/main" val="1043724596"/>
                    </a:ext>
                  </a:extLst>
                </a:gridCol>
                <a:gridCol w="585070">
                  <a:extLst>
                    <a:ext uri="{9D8B030D-6E8A-4147-A177-3AD203B41FA5}">
                      <a16:colId xmlns:a16="http://schemas.microsoft.com/office/drawing/2014/main" val="2696891068"/>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graphicFrame>
        <p:nvGraphicFramePr>
          <p:cNvPr id="6" name="Tabelle 5">
            <a:extLst>
              <a:ext uri="{FF2B5EF4-FFF2-40B4-BE49-F238E27FC236}">
                <a16:creationId xmlns:a16="http://schemas.microsoft.com/office/drawing/2014/main" id="{88272AA9-7C01-4CA2-8948-03F78C052CEC}"/>
              </a:ext>
            </a:extLst>
          </p:cNvPr>
          <p:cNvGraphicFramePr>
            <a:graphicFrameLocks noGrp="1"/>
          </p:cNvGraphicFramePr>
          <p:nvPr>
            <p:extLst>
              <p:ext uri="{D42A27DB-BD31-4B8C-83A1-F6EECF244321}">
                <p14:modId xmlns:p14="http://schemas.microsoft.com/office/powerpoint/2010/main" val="421349119"/>
              </p:ext>
            </p:extLst>
          </p:nvPr>
        </p:nvGraphicFramePr>
        <p:xfrm>
          <a:off x="2876747" y="5121230"/>
          <a:ext cx="4091626" cy="370840"/>
        </p:xfrm>
        <a:graphic>
          <a:graphicData uri="http://schemas.openxmlformats.org/drawingml/2006/table">
            <a:tbl>
              <a:tblPr firstRow="1" bandRow="1">
                <a:tableStyleId>{21E4AEA4-8DFA-4A89-87EB-49C32662AFE0}</a:tableStyleId>
              </a:tblPr>
              <a:tblGrid>
                <a:gridCol w="584518">
                  <a:extLst>
                    <a:ext uri="{9D8B030D-6E8A-4147-A177-3AD203B41FA5}">
                      <a16:colId xmlns:a16="http://schemas.microsoft.com/office/drawing/2014/main" val="1206274525"/>
                    </a:ext>
                  </a:extLst>
                </a:gridCol>
                <a:gridCol w="584518">
                  <a:extLst>
                    <a:ext uri="{9D8B030D-6E8A-4147-A177-3AD203B41FA5}">
                      <a16:colId xmlns:a16="http://schemas.microsoft.com/office/drawing/2014/main" val="2819438862"/>
                    </a:ext>
                  </a:extLst>
                </a:gridCol>
                <a:gridCol w="584518">
                  <a:extLst>
                    <a:ext uri="{9D8B030D-6E8A-4147-A177-3AD203B41FA5}">
                      <a16:colId xmlns:a16="http://schemas.microsoft.com/office/drawing/2014/main" val="1941964045"/>
                    </a:ext>
                  </a:extLst>
                </a:gridCol>
                <a:gridCol w="584518">
                  <a:extLst>
                    <a:ext uri="{9D8B030D-6E8A-4147-A177-3AD203B41FA5}">
                      <a16:colId xmlns:a16="http://schemas.microsoft.com/office/drawing/2014/main" val="2400113474"/>
                    </a:ext>
                  </a:extLst>
                </a:gridCol>
                <a:gridCol w="584518">
                  <a:extLst>
                    <a:ext uri="{9D8B030D-6E8A-4147-A177-3AD203B41FA5}">
                      <a16:colId xmlns:a16="http://schemas.microsoft.com/office/drawing/2014/main" val="883156179"/>
                    </a:ext>
                  </a:extLst>
                </a:gridCol>
                <a:gridCol w="584518">
                  <a:extLst>
                    <a:ext uri="{9D8B030D-6E8A-4147-A177-3AD203B41FA5}">
                      <a16:colId xmlns:a16="http://schemas.microsoft.com/office/drawing/2014/main" val="2515628111"/>
                    </a:ext>
                  </a:extLst>
                </a:gridCol>
                <a:gridCol w="584518">
                  <a:extLst>
                    <a:ext uri="{9D8B030D-6E8A-4147-A177-3AD203B41FA5}">
                      <a16:colId xmlns:a16="http://schemas.microsoft.com/office/drawing/2014/main" val="1043724596"/>
                    </a:ext>
                  </a:extLst>
                </a:gridCol>
              </a:tblGrid>
              <a:tr h="370840">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2146</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2147</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2148</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2149</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2150</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2151</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2152</a:t>
                      </a:r>
                    </a:p>
                  </a:txBody>
                  <a:tcPr>
                    <a:solidFill>
                      <a:schemeClr val="accent1">
                        <a:lumMod val="20000"/>
                        <a:lumOff val="80000"/>
                      </a:schemeClr>
                    </a:solidFill>
                  </a:tcPr>
                </a:tc>
                <a:extLst>
                  <a:ext uri="{0D108BD9-81ED-4DB2-BD59-A6C34878D82A}">
                    <a16:rowId xmlns:a16="http://schemas.microsoft.com/office/drawing/2014/main" val="3905756574"/>
                  </a:ext>
                </a:extLst>
              </a:tr>
            </a:tbl>
          </a:graphicData>
        </a:graphic>
      </p:graphicFrame>
      <p:graphicFrame>
        <p:nvGraphicFramePr>
          <p:cNvPr id="7" name="Tabelle 6">
            <a:extLst>
              <a:ext uri="{FF2B5EF4-FFF2-40B4-BE49-F238E27FC236}">
                <a16:creationId xmlns:a16="http://schemas.microsoft.com/office/drawing/2014/main" id="{57CCA881-DD7F-4267-B369-4B68B05C1254}"/>
              </a:ext>
            </a:extLst>
          </p:cNvPr>
          <p:cNvGraphicFramePr>
            <a:graphicFrameLocks noGrp="1"/>
          </p:cNvGraphicFramePr>
          <p:nvPr>
            <p:extLst>
              <p:ext uri="{D42A27DB-BD31-4B8C-83A1-F6EECF244321}">
                <p14:modId xmlns:p14="http://schemas.microsoft.com/office/powerpoint/2010/main" val="3249077020"/>
              </p:ext>
            </p:extLst>
          </p:nvPr>
        </p:nvGraphicFramePr>
        <p:xfrm>
          <a:off x="2875473" y="5867121"/>
          <a:ext cx="4090308"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3444015220"/>
                    </a:ext>
                  </a:extLst>
                </a:gridCol>
                <a:gridCol w="584518">
                  <a:extLst>
                    <a:ext uri="{9D8B030D-6E8A-4147-A177-3AD203B41FA5}">
                      <a16:colId xmlns:a16="http://schemas.microsoft.com/office/drawing/2014/main" val="2987258123"/>
                    </a:ext>
                  </a:extLst>
                </a:gridCol>
                <a:gridCol w="584518">
                  <a:extLst>
                    <a:ext uri="{9D8B030D-6E8A-4147-A177-3AD203B41FA5}">
                      <a16:colId xmlns:a16="http://schemas.microsoft.com/office/drawing/2014/main" val="1206274525"/>
                    </a:ext>
                  </a:extLst>
                </a:gridCol>
                <a:gridCol w="584518">
                  <a:extLst>
                    <a:ext uri="{9D8B030D-6E8A-4147-A177-3AD203B41FA5}">
                      <a16:colId xmlns:a16="http://schemas.microsoft.com/office/drawing/2014/main" val="2819438862"/>
                    </a:ext>
                  </a:extLst>
                </a:gridCol>
                <a:gridCol w="584518">
                  <a:extLst>
                    <a:ext uri="{9D8B030D-6E8A-4147-A177-3AD203B41FA5}">
                      <a16:colId xmlns:a16="http://schemas.microsoft.com/office/drawing/2014/main" val="1941964045"/>
                    </a:ext>
                  </a:extLst>
                </a:gridCol>
                <a:gridCol w="584518">
                  <a:extLst>
                    <a:ext uri="{9D8B030D-6E8A-4147-A177-3AD203B41FA5}">
                      <a16:colId xmlns:a16="http://schemas.microsoft.com/office/drawing/2014/main" val="2400113474"/>
                    </a:ext>
                  </a:extLst>
                </a:gridCol>
                <a:gridCol w="584518">
                  <a:extLst>
                    <a:ext uri="{9D8B030D-6E8A-4147-A177-3AD203B41FA5}">
                      <a16:colId xmlns:a16="http://schemas.microsoft.com/office/drawing/2014/main" val="883156179"/>
                    </a:ext>
                  </a:extLst>
                </a:gridCol>
              </a:tblGrid>
              <a:tr h="370840">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0</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p>
                  </a:txBody>
                  <a:tcPr>
                    <a:solidFill>
                      <a:schemeClr val="accent6">
                        <a:lumMod val="40000"/>
                        <a:lumOff val="60000"/>
                      </a:schemeClr>
                    </a:solidFill>
                  </a:tcPr>
                </a:tc>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tc>
                  <a:txBody>
                    <a:bodyPr/>
                    <a:lstStyle/>
                    <a:p>
                      <a:pPr algn="ctr"/>
                      <a:endPar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chemeClr val="accent6">
                        <a:lumMod val="40000"/>
                        <a:lumOff val="60000"/>
                      </a:schemeClr>
                    </a:solidFill>
                  </a:tcPr>
                </a:tc>
                <a:extLst>
                  <a:ext uri="{0D108BD9-81ED-4DB2-BD59-A6C34878D82A}">
                    <a16:rowId xmlns:a16="http://schemas.microsoft.com/office/drawing/2014/main" val="3905756574"/>
                  </a:ext>
                </a:extLst>
              </a:tr>
            </a:tbl>
          </a:graphicData>
        </a:graphic>
      </p:graphicFrame>
      <p:cxnSp>
        <p:nvCxnSpPr>
          <p:cNvPr id="4" name="Gerade Verbindung mit Pfeil 3">
            <a:extLst>
              <a:ext uri="{FF2B5EF4-FFF2-40B4-BE49-F238E27FC236}">
                <a16:creationId xmlns:a16="http://schemas.microsoft.com/office/drawing/2014/main" id="{1DA4B826-C32A-4646-A01F-DC81CE2B915E}"/>
              </a:ext>
            </a:extLst>
          </p:cNvPr>
          <p:cNvCxnSpPr>
            <a:cxnSpLocks/>
            <a:endCxn id="30" idx="2"/>
          </p:cNvCxnSpPr>
          <p:nvPr/>
        </p:nvCxnSpPr>
        <p:spPr>
          <a:xfrm flipH="1" flipV="1">
            <a:off x="2689992" y="3785607"/>
            <a:ext cx="525632" cy="189294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1" name="Gerade Verbindung mit Pfeil 10">
            <a:extLst>
              <a:ext uri="{FF2B5EF4-FFF2-40B4-BE49-F238E27FC236}">
                <a16:creationId xmlns:a16="http://schemas.microsoft.com/office/drawing/2014/main" id="{171CD1E1-1199-4591-A3EE-08C24797A9DB}"/>
              </a:ext>
            </a:extLst>
          </p:cNvPr>
          <p:cNvCxnSpPr>
            <a:cxnSpLocks/>
            <a:endCxn id="31" idx="2"/>
          </p:cNvCxnSpPr>
          <p:nvPr/>
        </p:nvCxnSpPr>
        <p:spPr>
          <a:xfrm flipV="1">
            <a:off x="3768726" y="3792048"/>
            <a:ext cx="25598" cy="188193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4" name="Gerade Verbindung mit Pfeil 13">
            <a:extLst>
              <a:ext uri="{FF2B5EF4-FFF2-40B4-BE49-F238E27FC236}">
                <a16:creationId xmlns:a16="http://schemas.microsoft.com/office/drawing/2014/main" id="{2A8EE252-FBA4-435F-A7AF-DD45910ABFBE}"/>
              </a:ext>
            </a:extLst>
          </p:cNvPr>
          <p:cNvCxnSpPr>
            <a:cxnSpLocks/>
            <a:endCxn id="32" idx="2"/>
          </p:cNvCxnSpPr>
          <p:nvPr/>
        </p:nvCxnSpPr>
        <p:spPr>
          <a:xfrm flipV="1">
            <a:off x="4346490" y="3805541"/>
            <a:ext cx="552166" cy="1854662"/>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0" name="Rechteck: abgerundete Ecken 29">
            <a:extLst>
              <a:ext uri="{FF2B5EF4-FFF2-40B4-BE49-F238E27FC236}">
                <a16:creationId xmlns:a16="http://schemas.microsoft.com/office/drawing/2014/main" id="{4044DC74-9047-457D-9456-DEC5490A6709}"/>
              </a:ext>
            </a:extLst>
          </p:cNvPr>
          <p:cNvSpPr/>
          <p:nvPr/>
        </p:nvSpPr>
        <p:spPr>
          <a:xfrm>
            <a:off x="2257915" y="3429000"/>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3</a:t>
            </a:r>
          </a:p>
        </p:txBody>
      </p:sp>
      <p:sp>
        <p:nvSpPr>
          <p:cNvPr id="31" name="Rechteck: abgerundete Ecken 30">
            <a:extLst>
              <a:ext uri="{FF2B5EF4-FFF2-40B4-BE49-F238E27FC236}">
                <a16:creationId xmlns:a16="http://schemas.microsoft.com/office/drawing/2014/main" id="{4DD0FD34-3C90-49F8-A63C-2556608962B2}"/>
              </a:ext>
            </a:extLst>
          </p:cNvPr>
          <p:cNvSpPr/>
          <p:nvPr/>
        </p:nvSpPr>
        <p:spPr>
          <a:xfrm>
            <a:off x="3362247" y="3435441"/>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5.12</a:t>
            </a:r>
          </a:p>
        </p:txBody>
      </p:sp>
      <p:sp>
        <p:nvSpPr>
          <p:cNvPr id="32" name="Rechteck: abgerundete Ecken 31">
            <a:extLst>
              <a:ext uri="{FF2B5EF4-FFF2-40B4-BE49-F238E27FC236}">
                <a16:creationId xmlns:a16="http://schemas.microsoft.com/office/drawing/2014/main" id="{5E25C746-C772-4BB2-BF4E-140089857B7D}"/>
              </a:ext>
            </a:extLst>
          </p:cNvPr>
          <p:cNvSpPr/>
          <p:nvPr/>
        </p:nvSpPr>
        <p:spPr>
          <a:xfrm>
            <a:off x="4466579" y="3448934"/>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True</a:t>
            </a:r>
          </a:p>
        </p:txBody>
      </p:sp>
      <p:graphicFrame>
        <p:nvGraphicFramePr>
          <p:cNvPr id="20" name="Tabelle 19">
            <a:extLst>
              <a:ext uri="{FF2B5EF4-FFF2-40B4-BE49-F238E27FC236}">
                <a16:creationId xmlns:a16="http://schemas.microsoft.com/office/drawing/2014/main" id="{31CBE4C2-F2B8-4DAF-A4EB-F6D38645199F}"/>
              </a:ext>
            </a:extLst>
          </p:cNvPr>
          <p:cNvGraphicFramePr>
            <a:graphicFrameLocks noGrp="1"/>
          </p:cNvGraphicFramePr>
          <p:nvPr>
            <p:extLst>
              <p:ext uri="{D42A27DB-BD31-4B8C-83A1-F6EECF244321}">
                <p14:modId xmlns:p14="http://schemas.microsoft.com/office/powerpoint/2010/main" val="257458737"/>
              </p:ext>
            </p:extLst>
          </p:nvPr>
        </p:nvGraphicFramePr>
        <p:xfrm>
          <a:off x="4206355" y="1920749"/>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1043724596"/>
                    </a:ext>
                  </a:extLst>
                </a:gridCol>
                <a:gridCol w="583200">
                  <a:extLst>
                    <a:ext uri="{9D8B030D-6E8A-4147-A177-3AD203B41FA5}">
                      <a16:colId xmlns:a16="http://schemas.microsoft.com/office/drawing/2014/main" val="2696891068"/>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graphicFrame>
        <p:nvGraphicFramePr>
          <p:cNvPr id="21" name="Tabelle 20">
            <a:extLst>
              <a:ext uri="{FF2B5EF4-FFF2-40B4-BE49-F238E27FC236}">
                <a16:creationId xmlns:a16="http://schemas.microsoft.com/office/drawing/2014/main" id="{5B7DDB1B-3F4B-48BE-BD5E-E836AB03D3C9}"/>
              </a:ext>
            </a:extLst>
          </p:cNvPr>
          <p:cNvGraphicFramePr>
            <a:graphicFrameLocks noGrp="1"/>
          </p:cNvGraphicFramePr>
          <p:nvPr>
            <p:extLst>
              <p:ext uri="{D42A27DB-BD31-4B8C-83A1-F6EECF244321}">
                <p14:modId xmlns:p14="http://schemas.microsoft.com/office/powerpoint/2010/main" val="56999095"/>
              </p:ext>
            </p:extLst>
          </p:nvPr>
        </p:nvGraphicFramePr>
        <p:xfrm>
          <a:off x="4194537" y="1545698"/>
          <a:ext cx="1169036" cy="370840"/>
        </p:xfrm>
        <a:graphic>
          <a:graphicData uri="http://schemas.openxmlformats.org/drawingml/2006/table">
            <a:tbl>
              <a:tblPr firstRow="1" bandRow="1">
                <a:tableStyleId>{21E4AEA4-8DFA-4A89-87EB-49C32662AFE0}</a:tableStyleId>
              </a:tblPr>
              <a:tblGrid>
                <a:gridCol w="584518">
                  <a:extLst>
                    <a:ext uri="{9D8B030D-6E8A-4147-A177-3AD203B41FA5}">
                      <a16:colId xmlns:a16="http://schemas.microsoft.com/office/drawing/2014/main" val="2400113474"/>
                    </a:ext>
                  </a:extLst>
                </a:gridCol>
                <a:gridCol w="584518">
                  <a:extLst>
                    <a:ext uri="{9D8B030D-6E8A-4147-A177-3AD203B41FA5}">
                      <a16:colId xmlns:a16="http://schemas.microsoft.com/office/drawing/2014/main" val="883156179"/>
                    </a:ext>
                  </a:extLst>
                </a:gridCol>
              </a:tblGrid>
              <a:tr h="370840">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3242</a:t>
                      </a:r>
                    </a:p>
                  </a:txBody>
                  <a:tcPr>
                    <a:solidFill>
                      <a:schemeClr val="accent1">
                        <a:lumMod val="20000"/>
                        <a:lumOff val="8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3243</a:t>
                      </a:r>
                    </a:p>
                  </a:txBody>
                  <a:tcPr>
                    <a:solidFill>
                      <a:schemeClr val="accent1">
                        <a:lumMod val="20000"/>
                        <a:lumOff val="80000"/>
                      </a:schemeClr>
                    </a:solidFill>
                  </a:tcPr>
                </a:tc>
                <a:extLst>
                  <a:ext uri="{0D108BD9-81ED-4DB2-BD59-A6C34878D82A}">
                    <a16:rowId xmlns:a16="http://schemas.microsoft.com/office/drawing/2014/main" val="3905756574"/>
                  </a:ext>
                </a:extLst>
              </a:tr>
            </a:tbl>
          </a:graphicData>
        </a:graphic>
      </p:graphicFrame>
      <p:graphicFrame>
        <p:nvGraphicFramePr>
          <p:cNvPr id="23" name="Tabelle 22">
            <a:extLst>
              <a:ext uri="{FF2B5EF4-FFF2-40B4-BE49-F238E27FC236}">
                <a16:creationId xmlns:a16="http://schemas.microsoft.com/office/drawing/2014/main" id="{C71194EA-41F0-49B1-B97E-76CE03D9DD5D}"/>
              </a:ext>
            </a:extLst>
          </p:cNvPr>
          <p:cNvGraphicFramePr>
            <a:graphicFrameLocks noGrp="1"/>
          </p:cNvGraphicFramePr>
          <p:nvPr>
            <p:extLst>
              <p:ext uri="{D42A27DB-BD31-4B8C-83A1-F6EECF244321}">
                <p14:modId xmlns:p14="http://schemas.microsoft.com/office/powerpoint/2010/main" val="3281374443"/>
              </p:ext>
            </p:extLst>
          </p:nvPr>
        </p:nvGraphicFramePr>
        <p:xfrm>
          <a:off x="4193263" y="2291589"/>
          <a:ext cx="1169036" cy="370840"/>
        </p:xfrm>
        <a:graphic>
          <a:graphicData uri="http://schemas.openxmlformats.org/drawingml/2006/table">
            <a:tbl>
              <a:tblPr firstRow="1" bandRow="1">
                <a:tableStyleId>{21E4AEA4-8DFA-4A89-87EB-49C32662AFE0}</a:tableStyleId>
              </a:tblPr>
              <a:tblGrid>
                <a:gridCol w="584518">
                  <a:extLst>
                    <a:ext uri="{9D8B030D-6E8A-4147-A177-3AD203B41FA5}">
                      <a16:colId xmlns:a16="http://schemas.microsoft.com/office/drawing/2014/main" val="883156179"/>
                    </a:ext>
                  </a:extLst>
                </a:gridCol>
                <a:gridCol w="584518">
                  <a:extLst>
                    <a:ext uri="{9D8B030D-6E8A-4147-A177-3AD203B41FA5}">
                      <a16:colId xmlns:a16="http://schemas.microsoft.com/office/drawing/2014/main" val="2515628111"/>
                    </a:ext>
                  </a:extLst>
                </a:gridCol>
              </a:tblGrid>
              <a:tr h="370840">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0</a:t>
                      </a:r>
                    </a:p>
                  </a:txBody>
                  <a:tcPr>
                    <a:solidFill>
                      <a:schemeClr val="accent6">
                        <a:lumMod val="40000"/>
                        <a:lumOff val="60000"/>
                      </a:schemeClr>
                    </a:solidFill>
                  </a:tcPr>
                </a:tc>
                <a:tc>
                  <a:txBody>
                    <a:bodyPr/>
                    <a:lstStyle/>
                    <a:p>
                      <a:pPr algn="ctr"/>
                      <a:r>
                        <a:rPr lang="de-AT" sz="14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p>
                  </a:txBody>
                  <a:tcPr>
                    <a:solidFill>
                      <a:schemeClr val="accent6">
                        <a:lumMod val="40000"/>
                        <a:lumOff val="60000"/>
                      </a:schemeClr>
                    </a:solidFill>
                  </a:tcPr>
                </a:tc>
                <a:extLst>
                  <a:ext uri="{0D108BD9-81ED-4DB2-BD59-A6C34878D82A}">
                    <a16:rowId xmlns:a16="http://schemas.microsoft.com/office/drawing/2014/main" val="3905756574"/>
                  </a:ext>
                </a:extLst>
              </a:tr>
            </a:tbl>
          </a:graphicData>
        </a:graphic>
      </p:graphicFrame>
      <p:cxnSp>
        <p:nvCxnSpPr>
          <p:cNvPr id="9" name="Gerade Verbindung mit Pfeil 8">
            <a:extLst>
              <a:ext uri="{FF2B5EF4-FFF2-40B4-BE49-F238E27FC236}">
                <a16:creationId xmlns:a16="http://schemas.microsoft.com/office/drawing/2014/main" id="{8B1A5E9F-F021-4DF4-9F08-B4C6A628ECE8}"/>
              </a:ext>
            </a:extLst>
          </p:cNvPr>
          <p:cNvCxnSpPr>
            <a:cxnSpLocks/>
            <a:endCxn id="30" idx="0"/>
          </p:cNvCxnSpPr>
          <p:nvPr/>
        </p:nvCxnSpPr>
        <p:spPr>
          <a:xfrm flipH="1">
            <a:off x="2689992" y="2101957"/>
            <a:ext cx="1784696" cy="1327043"/>
          </a:xfrm>
          <a:prstGeom prst="straightConnector1">
            <a:avLst/>
          </a:prstGeom>
          <a:ln w="25400">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3" name="Gerade Verbindung mit Pfeil 12">
            <a:extLst>
              <a:ext uri="{FF2B5EF4-FFF2-40B4-BE49-F238E27FC236}">
                <a16:creationId xmlns:a16="http://schemas.microsoft.com/office/drawing/2014/main" id="{EDE047A9-C067-48B5-8D61-B4962319D71A}"/>
              </a:ext>
            </a:extLst>
          </p:cNvPr>
          <p:cNvCxnSpPr>
            <a:cxnSpLocks/>
            <a:endCxn id="31" idx="0"/>
          </p:cNvCxnSpPr>
          <p:nvPr/>
        </p:nvCxnSpPr>
        <p:spPr>
          <a:xfrm flipH="1">
            <a:off x="3794324" y="2131136"/>
            <a:ext cx="1281535" cy="1304305"/>
          </a:xfrm>
          <a:prstGeom prst="straightConnector1">
            <a:avLst/>
          </a:prstGeom>
          <a:ln w="25400">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hteck 17">
                <a:extLst>
                  <a:ext uri="{FF2B5EF4-FFF2-40B4-BE49-F238E27FC236}">
                    <a16:creationId xmlns:a16="http://schemas.microsoft.com/office/drawing/2014/main" id="{3C558851-4ACA-4137-91DB-232425D50282}"/>
                  </a:ext>
                </a:extLst>
              </p:cNvPr>
              <p:cNvSpPr/>
              <p:nvPr/>
            </p:nvSpPr>
            <p:spPr>
              <a:xfrm>
                <a:off x="2090658" y="5559344"/>
                <a:ext cx="334515"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𝑏</m:t>
                      </m:r>
                    </m:oMath>
                  </m:oMathPara>
                </a14:m>
                <a:endParaRPr lang="de-AT" dirty="0"/>
              </a:p>
            </p:txBody>
          </p:sp>
        </mc:Choice>
        <mc:Fallback xmlns="">
          <p:sp>
            <p:nvSpPr>
              <p:cNvPr id="18" name="Rechteck 17">
                <a:extLst>
                  <a:ext uri="{FF2B5EF4-FFF2-40B4-BE49-F238E27FC236}">
                    <a16:creationId xmlns:a16="http://schemas.microsoft.com/office/drawing/2014/main" id="{3C558851-4ACA-4137-91DB-232425D50282}"/>
                  </a:ext>
                </a:extLst>
              </p:cNvPr>
              <p:cNvSpPr>
                <a:spLocks noRot="1" noChangeAspect="1" noMove="1" noResize="1" noEditPoints="1" noAdjustHandles="1" noChangeArrowheads="1" noChangeShapeType="1" noTextEdit="1"/>
              </p:cNvSpPr>
              <p:nvPr/>
            </p:nvSpPr>
            <p:spPr>
              <a:xfrm>
                <a:off x="2090658" y="5559344"/>
                <a:ext cx="334515" cy="307777"/>
              </a:xfrm>
              <a:prstGeom prst="rect">
                <a:avLst/>
              </a:prstGeom>
              <a:blipFill>
                <a:blip r:embed="rId4"/>
                <a:stretch>
                  <a:fillRect/>
                </a:stretch>
              </a:blipFill>
            </p:spPr>
            <p:txBody>
              <a:bodyPr/>
              <a:lstStyle/>
              <a:p>
                <a:r>
                  <a:rPr lang="de-AT">
                    <a:noFill/>
                  </a:rPr>
                  <a:t> </a:t>
                </a:r>
              </a:p>
            </p:txBody>
          </p:sp>
        </mc:Fallback>
      </mc:AlternateContent>
      <p:sp>
        <p:nvSpPr>
          <p:cNvPr id="24" name="Rechteck 23">
            <a:extLst>
              <a:ext uri="{FF2B5EF4-FFF2-40B4-BE49-F238E27FC236}">
                <a16:creationId xmlns:a16="http://schemas.microsoft.com/office/drawing/2014/main" id="{A340C731-699B-4503-BEBC-0F9EB8BDC599}"/>
              </a:ext>
            </a:extLst>
          </p:cNvPr>
          <p:cNvSpPr/>
          <p:nvPr/>
        </p:nvSpPr>
        <p:spPr>
          <a:xfrm>
            <a:off x="3577768" y="1931003"/>
            <a:ext cx="284052" cy="307777"/>
          </a:xfrm>
          <a:prstGeom prst="rect">
            <a:avLst/>
          </a:prstGeom>
        </p:spPr>
        <p:txBody>
          <a:bodyPr wrap="none">
            <a:spAutoFit/>
          </a:bodyPr>
          <a:lstStyle/>
          <a:p>
            <a:r>
              <a:rPr lang="de-AT" dirty="0"/>
              <a:t>a</a:t>
            </a:r>
          </a:p>
        </p:txBody>
      </p:sp>
      <p:sp>
        <p:nvSpPr>
          <p:cNvPr id="22" name="Rechteck: abgerundete Ecken 21">
            <a:extLst>
              <a:ext uri="{FF2B5EF4-FFF2-40B4-BE49-F238E27FC236}">
                <a16:creationId xmlns:a16="http://schemas.microsoft.com/office/drawing/2014/main" id="{309C781B-D4AC-41CC-AE48-245AEBF932A3}"/>
              </a:ext>
            </a:extLst>
          </p:cNvPr>
          <p:cNvSpPr/>
          <p:nvPr/>
        </p:nvSpPr>
        <p:spPr>
          <a:xfrm>
            <a:off x="4226401" y="5966326"/>
            <a:ext cx="266539" cy="172429"/>
          </a:xfrm>
          <a:prstGeom prst="roundRect">
            <a:avLst/>
          </a:prstGeom>
          <a:solidFill>
            <a:srgbClr val="C5E0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1296684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2" grpId="0" animBg="1"/>
      <p:bldP spid="22"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Growing dynamic arrays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753149"/>
                <a:ext cx="8229300" cy="3483220"/>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How large should the new array</a:t>
                </a:r>
                <a:r>
                  <a:rPr lang="en-GB" sz="1800" noProof="0" dirty="0">
                    <a:latin typeface="Calibri" panose="020F0502020204030204" pitchFamily="34" charset="0"/>
                    <a:ea typeface="Calibri" panose="020F0502020204030204" pitchFamily="34" charset="0"/>
                    <a:cs typeface="Calibri" panose="020F0502020204030204" pitchFamily="34" charset="0"/>
                  </a:rPr>
                  <a:t> be</a:t>
                </a:r>
                <a:r>
                  <a:rPr lang="en-US" sz="1800" noProof="0" dirty="0">
                    <a:latin typeface="Calibri" panose="020F0502020204030204" pitchFamily="34" charset="0"/>
                    <a:ea typeface="Calibri" panose="020F0502020204030204" pitchFamily="34" charset="0"/>
                    <a:cs typeface="Calibri" panose="020F0502020204030204" pitchFamily="34" charset="0"/>
                  </a:rPr>
                  <a:t>?</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 commonly used rule: twice the capacity of the existing array</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Let us analyze the complexity of dynamic arrays</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The strategy of replacing a</a:t>
                </a:r>
                <a:r>
                  <a:rPr lang="en-US" sz="1800" dirty="0">
                    <a:latin typeface="Calibri" panose="020F0502020204030204" pitchFamily="34" charset="0"/>
                    <a:ea typeface="Calibri" panose="020F0502020204030204" pitchFamily="34" charset="0"/>
                    <a:cs typeface="Calibri" panose="020F0502020204030204" pitchFamily="34" charset="0"/>
                  </a:rPr>
                  <a:t>n array with a new array may be inefficient:</a:t>
                </a:r>
              </a:p>
              <a:p>
                <a:pPr marL="857250" lvl="1"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When we copy </a:t>
                </a:r>
                <a14:m>
                  <m:oMath xmlns:m="http://schemas.openxmlformats.org/officeDocument/2006/math">
                    <m:r>
                      <a:rPr lang="en-US" sz="1800" i="1" noProof="0" dirty="0" smtClean="0">
                        <a:latin typeface="Cambria Math" panose="02040503050406030204" pitchFamily="18" charset="0"/>
                        <a:ea typeface="Calibri" panose="020F0502020204030204" pitchFamily="34" charset="0"/>
                        <a:cs typeface="Calibri" panose="020F0502020204030204" pitchFamily="34" charset="0"/>
                      </a:rPr>
                      <m:t>𝑛</m:t>
                    </m:r>
                  </m:oMath>
                </a14:m>
                <a:r>
                  <a:rPr lang="en-US" sz="1800" noProof="0" dirty="0">
                    <a:latin typeface="Calibri" panose="020F0502020204030204" pitchFamily="34" charset="0"/>
                    <a:ea typeface="Calibri" panose="020F0502020204030204" pitchFamily="34" charset="0"/>
                    <a:cs typeface="Calibri" panose="020F0502020204030204" pitchFamily="34" charset="0"/>
                  </a:rPr>
                  <a:t> elements the complexity is </a:t>
                </a:r>
                <a14:m>
                  <m:oMath xmlns:m="http://schemas.openxmlformats.org/officeDocument/2006/math">
                    <m:r>
                      <a:rPr lang="en-US" sz="1800" i="1" noProof="0"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noProof="0" dirty="0" smtClean="0">
                        <a:latin typeface="Cambria Math" panose="02040503050406030204" pitchFamily="18" charset="0"/>
                        <a:ea typeface="Calibri" panose="020F0502020204030204" pitchFamily="34" charset="0"/>
                        <a:cs typeface="Calibri" panose="020F0502020204030204" pitchFamily="34" charset="0"/>
                      </a:rPr>
                      <m:t>(</m:t>
                    </m:r>
                    <m:r>
                      <a:rPr lang="en-US" sz="1800" i="1" noProof="0"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noProof="0" dirty="0" smtClean="0">
                        <a:latin typeface="Cambria Math" panose="02040503050406030204" pitchFamily="18" charset="0"/>
                        <a:ea typeface="Calibri" panose="020F0502020204030204" pitchFamily="34" charset="0"/>
                        <a:cs typeface="Calibri" panose="020F0502020204030204" pitchFamily="34" charset="0"/>
                      </a:rPr>
                      <m:t>)</m:t>
                    </m:r>
                  </m:oMath>
                </a14:m>
                <a:endParaRPr lang="en-US" sz="1800" noProof="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However, when we double the size we can add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oMath>
                </a14:m>
                <a:r>
                  <a:rPr lang="en-US" sz="1800" dirty="0">
                    <a:latin typeface="Calibri" panose="020F0502020204030204" pitchFamily="34" charset="0"/>
                    <a:ea typeface="Calibri" panose="020F0502020204030204" pitchFamily="34" charset="0"/>
                    <a:cs typeface="Calibri" panose="020F0502020204030204" pitchFamily="34" charset="0"/>
                  </a:rPr>
                  <a:t> new elements before copying</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Adding an element without copying is only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(1)</m:t>
                    </m:r>
                  </m:oMath>
                </a14:m>
                <a:endParaRPr lang="en-US" sz="1800" noProof="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a:t>
                </a:r>
                <a:r>
                  <a:rPr lang="en-US" sz="1800" b="1" dirty="0">
                    <a:latin typeface="Calibri" panose="020F0502020204030204" pitchFamily="34" charset="0"/>
                    <a:ea typeface="Calibri" panose="020F0502020204030204" pitchFamily="34" charset="0"/>
                    <a:cs typeface="Calibri" panose="020F0502020204030204" pitchFamily="34" charset="0"/>
                  </a:rPr>
                  <a:t>amortize</a:t>
                </a:r>
                <a:r>
                  <a:rPr lang="en-US" sz="1800" dirty="0">
                    <a:latin typeface="Calibri" panose="020F0502020204030204" pitchFamily="34" charset="0"/>
                    <a:ea typeface="Calibri" panose="020F0502020204030204" pitchFamily="34" charset="0"/>
                    <a:cs typeface="Calibri" panose="020F0502020204030204" pitchFamily="34" charset="0"/>
                  </a:rPr>
                  <a:t> one copy operation with many simple operations</a:t>
                </a:r>
                <a:endParaRPr lang="en-US" sz="1800" noProof="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753149"/>
                <a:ext cx="8229300" cy="3483220"/>
              </a:xfrm>
              <a:blipFill>
                <a:blip r:embed="rId3"/>
                <a:stretch>
                  <a:fillRect b="-1091"/>
                </a:stretch>
              </a:blipFill>
            </p:spPr>
            <p:txBody>
              <a:bodyPr/>
              <a:lstStyle/>
              <a:p>
                <a:r>
                  <a:rPr lang="en-US">
                    <a:noFill/>
                  </a:rPr>
                  <a:t> </a:t>
                </a:r>
              </a:p>
            </p:txBody>
          </p:sp>
        </mc:Fallback>
      </mc:AlternateContent>
    </p:spTree>
    <p:extLst>
      <p:ext uri="{BB962C8B-B14F-4D97-AF65-F5344CB8AC3E}">
        <p14:creationId xmlns:p14="http://schemas.microsoft.com/office/powerpoint/2010/main" val="2852900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Growing dynamic arrays</a:t>
            </a:r>
            <a:endParaRPr lang="en-US" sz="2800" b="1" noProof="0" dirty="0">
              <a:latin typeface="Calibri" panose="020F0502020204030204" pitchFamily="34" charset="0"/>
              <a:cs typeface="Calibri" panose="020F0502020204030204" pitchFamily="34" charset="0"/>
            </a:endParaRPr>
          </a:p>
        </p:txBody>
      </p:sp>
      <p:pic>
        <p:nvPicPr>
          <p:cNvPr id="6" name="Grafik 5">
            <a:extLst>
              <a:ext uri="{FF2B5EF4-FFF2-40B4-BE49-F238E27FC236}">
                <a16:creationId xmlns:a16="http://schemas.microsoft.com/office/drawing/2014/main" id="{29AFF915-A6B9-41BE-A8B1-16DAA3226441}"/>
              </a:ext>
            </a:extLst>
          </p:cNvPr>
          <p:cNvPicPr>
            <a:picLocks noChangeAspect="1"/>
          </p:cNvPicPr>
          <p:nvPr/>
        </p:nvPicPr>
        <p:blipFill>
          <a:blip r:embed="rId3"/>
          <a:stretch>
            <a:fillRect/>
          </a:stretch>
        </p:blipFill>
        <p:spPr>
          <a:xfrm>
            <a:off x="1469527" y="1499614"/>
            <a:ext cx="6204646" cy="4515424"/>
          </a:xfrm>
          <a:prstGeom prst="rect">
            <a:avLst/>
          </a:prstGeom>
        </p:spPr>
      </p:pic>
    </p:spTree>
    <p:extLst>
      <p:ext uri="{BB962C8B-B14F-4D97-AF65-F5344CB8AC3E}">
        <p14:creationId xmlns:p14="http://schemas.microsoft.com/office/powerpoint/2010/main" val="3361654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Growing dynamic arrays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071562"/>
                <a:ext cx="8229300" cy="5343525"/>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Let us compute the total number of operations when we add </a:t>
                </a:r>
                <a14:m>
                  <m:oMath xmlns:m="http://schemas.openxmlformats.org/officeDocument/2006/math">
                    <m:r>
                      <a:rPr lang="en-US" sz="1800" i="1" noProof="0" dirty="0" smtClean="0">
                        <a:latin typeface="Cambria Math" panose="02040503050406030204" pitchFamily="18" charset="0"/>
                        <a:ea typeface="Calibri" panose="020F0502020204030204" pitchFamily="34" charset="0"/>
                        <a:cs typeface="Calibri" panose="020F0502020204030204" pitchFamily="34" charset="0"/>
                      </a:rPr>
                      <m:t>𝑛</m:t>
                    </m:r>
                  </m:oMath>
                </a14:m>
                <a:r>
                  <a:rPr lang="en-US" sz="1800" noProof="0" dirty="0">
                    <a:latin typeface="Calibri" panose="020F0502020204030204" pitchFamily="34" charset="0"/>
                    <a:ea typeface="Calibri" panose="020F0502020204030204" pitchFamily="34" charset="0"/>
                    <a:cs typeface="Calibri" panose="020F0502020204030204" pitchFamily="34" charset="0"/>
                  </a:rPr>
                  <a:t> elements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Whenever we add an element we have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1</m:t>
                    </m:r>
                  </m:oMath>
                </a14:m>
                <a:r>
                  <a:rPr lang="en-US" sz="1800" dirty="0">
                    <a:latin typeface="Calibri" panose="020F0502020204030204" pitchFamily="34" charset="0"/>
                    <a:ea typeface="Calibri" panose="020F0502020204030204" pitchFamily="34" charset="0"/>
                    <a:cs typeface="Calibri" panose="020F0502020204030204" pitchFamily="34" charset="0"/>
                  </a:rPr>
                  <a:t> operation</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a:t>
                </a:r>
                <a:r>
                  <a:rPr lang="en-US" sz="1800" noProof="0" dirty="0">
                    <a:latin typeface="Calibri" panose="020F0502020204030204" pitchFamily="34" charset="0"/>
                    <a:ea typeface="Calibri" panose="020F0502020204030204" pitchFamily="34" charset="0"/>
                    <a:cs typeface="Calibri" panose="020F0502020204030204" pitchFamily="34" charset="0"/>
                  </a:rPr>
                  <a:t>hen we copy we have as many operations as we currently have elements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This happens at the powers of two: </a:t>
                </a:r>
                <a14:m>
                  <m:oMath xmlns:m="http://schemas.openxmlformats.org/officeDocument/2006/math">
                    <m:sSup>
                      <m:sSupPr>
                        <m:ctrlPr>
                          <a:rPr lang="en-US" sz="1800" i="1" smtClean="0">
                            <a:latin typeface="Cambria Math" panose="02040503050406030204" pitchFamily="18" charset="0"/>
                            <a:ea typeface="Calibri" panose="020F0502020204030204" pitchFamily="34" charset="0"/>
                            <a:cs typeface="Calibri" panose="020F0502020204030204" pitchFamily="34" charset="0"/>
                          </a:rPr>
                        </m:ctrlPr>
                      </m:sSupPr>
                      <m:e>
                        <m:r>
                          <a:rPr lang="de-AT" sz="1800" b="0" i="1" smtClean="0">
                            <a:latin typeface="Cambria Math" panose="02040503050406030204" pitchFamily="18" charset="0"/>
                            <a:ea typeface="Calibri" panose="020F0502020204030204" pitchFamily="34" charset="0"/>
                            <a:cs typeface="Calibri" panose="020F0502020204030204" pitchFamily="34" charset="0"/>
                          </a:rPr>
                          <m:t>2</m:t>
                        </m:r>
                      </m:e>
                      <m:sup>
                        <m:r>
                          <a:rPr lang="de-AT" sz="1800" b="0" i="1" smtClean="0">
                            <a:latin typeface="Cambria Math" panose="02040503050406030204" pitchFamily="18" charset="0"/>
                            <a:ea typeface="Calibri" panose="020F0502020204030204" pitchFamily="34" charset="0"/>
                            <a:cs typeface="Calibri" panose="020F0502020204030204" pitchFamily="34" charset="0"/>
                          </a:rPr>
                          <m:t>𝑖</m:t>
                        </m:r>
                      </m:sup>
                    </m:sSup>
                  </m:oMath>
                </a14:m>
                <a:r>
                  <a:rPr lang="en-US" sz="1800" noProof="0" dirty="0">
                    <a:latin typeface="Calibri" panose="020F0502020204030204" pitchFamily="34" charset="0"/>
                    <a:ea typeface="Calibri" panose="020F0502020204030204" pitchFamily="34" charset="0"/>
                    <a:cs typeface="Calibri" panose="020F0502020204030204" pitchFamily="34" charset="0"/>
                  </a:rPr>
                  <a:t>, where </a:t>
                </a:r>
                <a14:m>
                  <m:oMath xmlns:m="http://schemas.openxmlformats.org/officeDocument/2006/math">
                    <m:r>
                      <a:rPr lang="en-US" sz="1800" i="1" noProof="0" dirty="0" smtClean="0">
                        <a:latin typeface="Cambria Math" panose="02040503050406030204" pitchFamily="18" charset="0"/>
                        <a:ea typeface="Calibri" panose="020F0502020204030204" pitchFamily="34" charset="0"/>
                        <a:cs typeface="Calibri" panose="020F0502020204030204" pitchFamily="34" charset="0"/>
                      </a:rPr>
                      <m:t>𝑖</m:t>
                    </m:r>
                  </m:oMath>
                </a14:m>
                <a:r>
                  <a:rPr lang="en-US" sz="1800" noProof="0" dirty="0">
                    <a:latin typeface="Calibri" panose="020F0502020204030204" pitchFamily="34" charset="0"/>
                    <a:ea typeface="Calibri" panose="020F0502020204030204" pitchFamily="34" charset="0"/>
                    <a:cs typeface="Calibri" panose="020F0502020204030204" pitchFamily="34" charset="0"/>
                  </a:rPr>
                  <a:t> grows until </a:t>
                </a:r>
                <a14:m>
                  <m:oMath xmlns:m="http://schemas.openxmlformats.org/officeDocument/2006/math">
                    <m:func>
                      <m:funcPr>
                        <m:ctrlPr>
                          <a:rPr lang="de-AT" sz="1800" b="0" i="1" noProof="0" dirty="0" smtClean="0">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de-AT" sz="1800" b="0" i="0" noProof="0" dirty="0" smtClean="0">
                            <a:latin typeface="Cambria Math" panose="02040503050406030204" pitchFamily="18" charset="0"/>
                            <a:ea typeface="Calibri" panose="020F0502020204030204" pitchFamily="34" charset="0"/>
                            <a:cs typeface="Calibri" panose="020F0502020204030204" pitchFamily="34" charset="0"/>
                          </a:rPr>
                          <m:t>log</m:t>
                        </m:r>
                      </m:fName>
                      <m:e>
                        <m:r>
                          <a:rPr lang="de-AT" sz="1800" b="0" i="1" noProof="0" dirty="0" smtClean="0">
                            <a:latin typeface="Cambria Math" panose="02040503050406030204" pitchFamily="18" charset="0"/>
                            <a:ea typeface="Calibri" panose="020F0502020204030204" pitchFamily="34" charset="0"/>
                            <a:cs typeface="Calibri" panose="020F0502020204030204" pitchFamily="34" charset="0"/>
                          </a:rPr>
                          <m:t>𝑛</m:t>
                        </m:r>
                      </m:e>
                    </m:func>
                  </m:oMath>
                </a14:m>
                <a:r>
                  <a:rPr lang="en-US" sz="1800" noProof="0" dirty="0">
                    <a:latin typeface="Calibri" panose="020F0502020204030204" pitchFamily="34" charset="0"/>
                    <a:ea typeface="Calibri" panose="020F0502020204030204" pitchFamily="34" charset="0"/>
                    <a:cs typeface="Calibri" panose="020F0502020204030204" pitchFamily="34" charset="0"/>
                  </a:rPr>
                  <a:t> </a:t>
                </a:r>
              </a:p>
              <a:p>
                <a:pPr marL="114300" indent="0">
                  <a:spcBef>
                    <a:spcPts val="600"/>
                  </a:spcBef>
                  <a:spcAft>
                    <a:spcPts val="600"/>
                  </a:spcAft>
                </a:pPr>
                <a14:m>
                  <m:oMathPara xmlns:m="http://schemas.openxmlformats.org/officeDocument/2006/math">
                    <m:oMathParaPr>
                      <m:jc m:val="centerGroup"/>
                    </m:oMathParaPr>
                    <m:oMath xmlns:m="http://schemas.openxmlformats.org/officeDocument/2006/math">
                      <m:nary>
                        <m:naryPr>
                          <m:chr m:val="∑"/>
                          <m:ctrlPr>
                            <a:rPr lang="en-US" sz="1800" i="1" noProof="0" smtClean="0">
                              <a:latin typeface="Cambria Math" panose="02040503050406030204" pitchFamily="18" charset="0"/>
                              <a:ea typeface="Calibri" panose="020F0502020204030204" pitchFamily="34" charset="0"/>
                              <a:cs typeface="Calibri" panose="020F0502020204030204" pitchFamily="34" charset="0"/>
                            </a:rPr>
                          </m:ctrlPr>
                        </m:naryPr>
                        <m:sub>
                          <m:r>
                            <m:rPr>
                              <m:brk m:alnAt="23"/>
                            </m:rPr>
                            <a:rPr lang="de-AT" sz="1800" b="0" i="1" noProof="0" smtClean="0">
                              <a:latin typeface="Cambria Math" panose="02040503050406030204" pitchFamily="18" charset="0"/>
                              <a:ea typeface="Calibri" panose="020F0502020204030204" pitchFamily="34" charset="0"/>
                              <a:cs typeface="Calibri" panose="020F0502020204030204" pitchFamily="34" charset="0"/>
                            </a:rPr>
                            <m:t>𝑖</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=1</m:t>
                          </m:r>
                        </m:sub>
                        <m:sup>
                          <m:r>
                            <a:rPr lang="de-AT" sz="1800" b="0" i="1" noProof="0" smtClean="0">
                              <a:latin typeface="Cambria Math" panose="02040503050406030204" pitchFamily="18" charset="0"/>
                              <a:ea typeface="Calibri" panose="020F0502020204030204" pitchFamily="34" charset="0"/>
                              <a:cs typeface="Calibri" panose="020F0502020204030204" pitchFamily="34" charset="0"/>
                            </a:rPr>
                            <m:t>𝑛</m:t>
                          </m:r>
                        </m:sup>
                        <m:e>
                          <m:r>
                            <a:rPr lang="de-AT" sz="1800" b="0" i="1" noProof="0" smtClean="0">
                              <a:latin typeface="Cambria Math" panose="02040503050406030204" pitchFamily="18" charset="0"/>
                              <a:ea typeface="Calibri" panose="020F0502020204030204" pitchFamily="34" charset="0"/>
                              <a:cs typeface="Calibri" panose="020F0502020204030204" pitchFamily="34" charset="0"/>
                            </a:rPr>
                            <m:t>1</m:t>
                          </m:r>
                        </m:e>
                      </m:nary>
                      <m:r>
                        <a:rPr lang="de-AT" sz="1800" b="0" i="1" noProof="0" smtClean="0">
                          <a:latin typeface="Cambria Math" panose="02040503050406030204" pitchFamily="18" charset="0"/>
                          <a:ea typeface="Calibri" panose="020F0502020204030204" pitchFamily="34" charset="0"/>
                          <a:cs typeface="Calibri" panose="020F0502020204030204" pitchFamily="34" charset="0"/>
                        </a:rPr>
                        <m:t>+</m:t>
                      </m:r>
                      <m:nary>
                        <m:naryPr>
                          <m:chr m:val="∑"/>
                          <m:ctrlPr>
                            <a:rPr lang="en-US" sz="1800" i="1" noProof="0" smtClean="0">
                              <a:latin typeface="Cambria Math" panose="02040503050406030204" pitchFamily="18" charset="0"/>
                              <a:ea typeface="Calibri" panose="020F0502020204030204" pitchFamily="34" charset="0"/>
                              <a:cs typeface="Calibri" panose="020F0502020204030204" pitchFamily="34" charset="0"/>
                            </a:rPr>
                          </m:ctrlPr>
                        </m:naryPr>
                        <m:sub>
                          <m:r>
                            <a:rPr lang="en-GB" sz="1800" b="0" i="1" noProof="0" smtClean="0">
                              <a:latin typeface="Cambria Math" panose="02040503050406030204" pitchFamily="18" charset="0"/>
                              <a:ea typeface="Calibri" panose="020F0502020204030204" pitchFamily="34" charset="0"/>
                              <a:cs typeface="Calibri" panose="020F0502020204030204" pitchFamily="34" charset="0"/>
                            </a:rPr>
                            <m:t>𝑗</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=1</m:t>
                          </m:r>
                        </m:sub>
                        <m:sup>
                          <m:func>
                            <m:funcPr>
                              <m:ctrlPr>
                                <a:rPr lang="de-AT" sz="1800" b="0" i="1" noProof="0" smtClean="0">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de-AT" sz="1800" b="0" i="0" noProof="0" smtClean="0">
                                  <a:latin typeface="Cambria Math" panose="02040503050406030204" pitchFamily="18" charset="0"/>
                                  <a:ea typeface="Calibri" panose="020F0502020204030204" pitchFamily="34" charset="0"/>
                                  <a:cs typeface="Calibri" panose="020F0502020204030204" pitchFamily="34" charset="0"/>
                                </a:rPr>
                                <m:t>log</m:t>
                              </m:r>
                            </m:fName>
                            <m:e>
                              <m:r>
                                <a:rPr lang="de-AT" sz="1800" b="0" i="1" noProof="0" smtClean="0">
                                  <a:latin typeface="Cambria Math" panose="02040503050406030204" pitchFamily="18" charset="0"/>
                                  <a:ea typeface="Calibri" panose="020F0502020204030204" pitchFamily="34" charset="0"/>
                                  <a:cs typeface="Calibri" panose="020F0502020204030204" pitchFamily="34" charset="0"/>
                                </a:rPr>
                                <m:t>𝑛</m:t>
                              </m:r>
                            </m:e>
                          </m:func>
                        </m:sup>
                        <m:e>
                          <m:r>
                            <a:rPr lang="de-AT" sz="1800" b="0" i="1" noProof="0" smtClean="0">
                              <a:latin typeface="Cambria Math" panose="02040503050406030204" pitchFamily="18" charset="0"/>
                              <a:ea typeface="Calibri" panose="020F0502020204030204" pitchFamily="34" charset="0"/>
                              <a:cs typeface="Calibri" panose="020F0502020204030204" pitchFamily="34" charset="0"/>
                            </a:rPr>
                            <m:t> </m:t>
                          </m:r>
                          <m:sSup>
                            <m:sSupPr>
                              <m:ctrlPr>
                                <a:rPr lang="de-AT" sz="1800" b="0" i="1" noProof="0" smtClean="0">
                                  <a:latin typeface="Cambria Math" panose="02040503050406030204" pitchFamily="18" charset="0"/>
                                  <a:ea typeface="Calibri" panose="020F0502020204030204" pitchFamily="34" charset="0"/>
                                  <a:cs typeface="Calibri" panose="020F0502020204030204" pitchFamily="34" charset="0"/>
                                </a:rPr>
                              </m:ctrlPr>
                            </m:sSupPr>
                            <m:e>
                              <m:r>
                                <a:rPr lang="de-AT" sz="1800" b="0" i="1" noProof="0" smtClean="0">
                                  <a:latin typeface="Cambria Math" panose="02040503050406030204" pitchFamily="18" charset="0"/>
                                  <a:ea typeface="Calibri" panose="020F0502020204030204" pitchFamily="34" charset="0"/>
                                  <a:cs typeface="Calibri" panose="020F0502020204030204" pitchFamily="34" charset="0"/>
                                </a:rPr>
                                <m:t>2</m:t>
                              </m:r>
                            </m:e>
                            <m:sup>
                              <m:r>
                                <a:rPr lang="en-GB" sz="1800" b="0" i="1" noProof="0" smtClean="0">
                                  <a:latin typeface="Cambria Math" panose="02040503050406030204" pitchFamily="18" charset="0"/>
                                  <a:ea typeface="Calibri" panose="020F0502020204030204" pitchFamily="34" charset="0"/>
                                  <a:cs typeface="Calibri" panose="020F0502020204030204" pitchFamily="34" charset="0"/>
                                </a:rPr>
                                <m:t>𝑗</m:t>
                              </m:r>
                            </m:sup>
                          </m:sSup>
                          <m:r>
                            <a:rPr lang="de-AT" sz="1800" b="0" i="1" noProof="0" smtClean="0">
                              <a:latin typeface="Cambria Math" panose="02040503050406030204" pitchFamily="18" charset="0"/>
                              <a:ea typeface="Calibri" panose="020F0502020204030204" pitchFamily="34" charset="0"/>
                              <a:cs typeface="Calibri" panose="020F0502020204030204" pitchFamily="34" charset="0"/>
                            </a:rPr>
                            <m:t> </m:t>
                          </m:r>
                        </m:e>
                      </m:nary>
                      <m:r>
                        <a:rPr lang="de-AT" sz="1800" b="0" i="1" noProof="0" smtClean="0">
                          <a:latin typeface="Cambria Math" panose="02040503050406030204" pitchFamily="18" charset="0"/>
                          <a:ea typeface="Calibri" panose="020F0502020204030204" pitchFamily="34" charset="0"/>
                          <a:cs typeface="Calibri" panose="020F0502020204030204" pitchFamily="34" charset="0"/>
                        </a:rPr>
                        <m:t>=</m:t>
                      </m:r>
                      <m:nary>
                        <m:naryPr>
                          <m:chr m:val="∑"/>
                          <m:ctrlPr>
                            <a:rPr lang="en-US" sz="1800" i="1">
                              <a:latin typeface="Cambria Math" panose="02040503050406030204" pitchFamily="18" charset="0"/>
                              <a:ea typeface="Calibri" panose="020F0502020204030204" pitchFamily="34" charset="0"/>
                              <a:cs typeface="Calibri" panose="020F0502020204030204" pitchFamily="34" charset="0"/>
                            </a:rPr>
                          </m:ctrlPr>
                        </m:naryPr>
                        <m:sub>
                          <m:r>
                            <a:rPr lang="en-GB" sz="1800" i="1">
                              <a:latin typeface="Cambria Math" panose="02040503050406030204" pitchFamily="18" charset="0"/>
                              <a:ea typeface="Calibri" panose="020F0502020204030204" pitchFamily="34" charset="0"/>
                              <a:cs typeface="Calibri" panose="020F0502020204030204" pitchFamily="34" charset="0"/>
                            </a:rPr>
                            <m:t>𝑗</m:t>
                          </m:r>
                          <m:r>
                            <a:rPr lang="de-AT" sz="1800" i="1">
                              <a:latin typeface="Cambria Math" panose="02040503050406030204" pitchFamily="18" charset="0"/>
                              <a:ea typeface="Calibri" panose="020F0502020204030204" pitchFamily="34" charset="0"/>
                              <a:cs typeface="Calibri" panose="020F0502020204030204" pitchFamily="34" charset="0"/>
                            </a:rPr>
                            <m:t>=</m:t>
                          </m:r>
                          <m:r>
                            <a:rPr lang="en-GB" sz="1800" b="0" i="1" smtClean="0">
                              <a:latin typeface="Cambria Math" panose="02040503050406030204" pitchFamily="18" charset="0"/>
                              <a:ea typeface="Calibri" panose="020F0502020204030204" pitchFamily="34" charset="0"/>
                              <a:cs typeface="Calibri" panose="020F0502020204030204" pitchFamily="34" charset="0"/>
                            </a:rPr>
                            <m:t>0</m:t>
                          </m:r>
                        </m:sub>
                        <m:sup>
                          <m:func>
                            <m:funcPr>
                              <m:ctrlPr>
                                <a:rPr lang="de-AT" sz="1800" i="1">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de-AT" sz="1800">
                                  <a:latin typeface="Cambria Math" panose="02040503050406030204" pitchFamily="18" charset="0"/>
                                  <a:ea typeface="Calibri" panose="020F0502020204030204" pitchFamily="34" charset="0"/>
                                  <a:cs typeface="Calibri" panose="020F0502020204030204" pitchFamily="34" charset="0"/>
                                </a:rPr>
                                <m:t>log</m:t>
                              </m:r>
                            </m:fName>
                            <m:e>
                              <m:r>
                                <a:rPr lang="de-AT" sz="1800" i="1">
                                  <a:latin typeface="Cambria Math" panose="02040503050406030204" pitchFamily="18" charset="0"/>
                                  <a:ea typeface="Calibri" panose="020F0502020204030204" pitchFamily="34" charset="0"/>
                                  <a:cs typeface="Calibri" panose="020F0502020204030204" pitchFamily="34" charset="0"/>
                                </a:rPr>
                                <m:t>𝑛</m:t>
                              </m:r>
                            </m:e>
                          </m:func>
                        </m:sup>
                        <m:e>
                          <m:r>
                            <a:rPr lang="de-AT" sz="1800" i="1">
                              <a:latin typeface="Cambria Math" panose="02040503050406030204" pitchFamily="18" charset="0"/>
                              <a:ea typeface="Calibri" panose="020F0502020204030204" pitchFamily="34" charset="0"/>
                              <a:cs typeface="Calibri" panose="020F0502020204030204" pitchFamily="34" charset="0"/>
                            </a:rPr>
                            <m:t> </m:t>
                          </m:r>
                          <m:sSup>
                            <m:sSupPr>
                              <m:ctrlPr>
                                <a:rPr lang="de-AT" sz="1800" i="1">
                                  <a:latin typeface="Cambria Math" panose="02040503050406030204" pitchFamily="18" charset="0"/>
                                  <a:ea typeface="Calibri" panose="020F0502020204030204" pitchFamily="34" charset="0"/>
                                  <a:cs typeface="Calibri" panose="020F0502020204030204" pitchFamily="34" charset="0"/>
                                </a:rPr>
                              </m:ctrlPr>
                            </m:sSupPr>
                            <m:e>
                              <m:r>
                                <a:rPr lang="de-AT" sz="1800" i="1">
                                  <a:latin typeface="Cambria Math" panose="02040503050406030204" pitchFamily="18" charset="0"/>
                                  <a:ea typeface="Calibri" panose="020F0502020204030204" pitchFamily="34" charset="0"/>
                                  <a:cs typeface="Calibri" panose="020F0502020204030204" pitchFamily="34" charset="0"/>
                                </a:rPr>
                                <m:t>2</m:t>
                              </m:r>
                            </m:e>
                            <m:sup>
                              <m:r>
                                <a:rPr lang="en-GB" sz="1800" i="1">
                                  <a:latin typeface="Cambria Math" panose="02040503050406030204" pitchFamily="18" charset="0"/>
                                  <a:ea typeface="Calibri" panose="020F0502020204030204" pitchFamily="34" charset="0"/>
                                  <a:cs typeface="Calibri" panose="020F0502020204030204" pitchFamily="34" charset="0"/>
                                </a:rPr>
                                <m:t>𝑗</m:t>
                              </m:r>
                            </m:sup>
                          </m:sSup>
                          <m:r>
                            <a:rPr lang="de-AT" sz="1800" i="1">
                              <a:latin typeface="Cambria Math" panose="02040503050406030204" pitchFamily="18" charset="0"/>
                              <a:ea typeface="Calibri" panose="020F0502020204030204" pitchFamily="34" charset="0"/>
                              <a:cs typeface="Calibri" panose="020F0502020204030204" pitchFamily="34" charset="0"/>
                            </a:rPr>
                            <m:t> </m:t>
                          </m:r>
                        </m:e>
                      </m:nary>
                      <m:r>
                        <a:rPr lang="en-GB" sz="1800" b="0" i="1" smtClean="0">
                          <a:latin typeface="Cambria Math" panose="02040503050406030204" pitchFamily="18" charset="0"/>
                          <a:ea typeface="Calibri" panose="020F0502020204030204" pitchFamily="34" charset="0"/>
                          <a:cs typeface="Calibri" panose="020F0502020204030204" pitchFamily="34" charset="0"/>
                        </a:rPr>
                        <m:t>− </m:t>
                      </m:r>
                      <m:sSup>
                        <m:sSupPr>
                          <m:ctrlPr>
                            <a:rPr lang="en-GB" sz="1800" b="0" i="1" smtClean="0">
                              <a:latin typeface="Cambria Math" panose="02040503050406030204" pitchFamily="18" charset="0"/>
                              <a:cs typeface="Calibri" panose="020F0502020204030204" pitchFamily="34" charset="0"/>
                            </a:rPr>
                          </m:ctrlPr>
                        </m:sSupPr>
                        <m:e>
                          <m:r>
                            <a:rPr lang="en-GB" sz="1800" b="0" i="1" smtClean="0">
                              <a:latin typeface="Cambria Math" panose="02040503050406030204" pitchFamily="18" charset="0"/>
                              <a:cs typeface="Calibri" panose="020F0502020204030204" pitchFamily="34" charset="0"/>
                            </a:rPr>
                            <m:t>2</m:t>
                          </m:r>
                        </m:e>
                        <m:sup>
                          <m:r>
                            <a:rPr lang="en-GB" sz="1800" b="0" i="1" smtClean="0">
                              <a:latin typeface="Cambria Math" panose="02040503050406030204" pitchFamily="18" charset="0"/>
                              <a:cs typeface="Calibri" panose="020F0502020204030204" pitchFamily="34" charset="0"/>
                            </a:rPr>
                            <m:t>0</m:t>
                          </m:r>
                        </m:sup>
                      </m:sSup>
                      <m:r>
                        <a:rPr lang="en-GB" sz="1800" b="0" i="1" smtClean="0">
                          <a:latin typeface="Cambria Math" panose="02040503050406030204" pitchFamily="18" charset="0"/>
                          <a:cs typeface="Calibri" panose="020F0502020204030204" pitchFamily="34" charset="0"/>
                        </a:rPr>
                        <m:t> = </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𝑛</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 </m:t>
                      </m:r>
                      <m:sSup>
                        <m:sSupPr>
                          <m:ctrlPr>
                            <a:rPr lang="de-AT" sz="1800" b="0" i="1" noProof="0" smtClean="0">
                              <a:latin typeface="Cambria Math" panose="02040503050406030204" pitchFamily="18" charset="0"/>
                              <a:ea typeface="Calibri" panose="020F0502020204030204" pitchFamily="34" charset="0"/>
                              <a:cs typeface="Calibri" panose="020F0502020204030204" pitchFamily="34" charset="0"/>
                            </a:rPr>
                          </m:ctrlPr>
                        </m:sSupPr>
                        <m:e>
                          <m:r>
                            <a:rPr lang="de-AT" sz="1800" b="0" i="1" noProof="0" smtClean="0">
                              <a:latin typeface="Cambria Math" panose="02040503050406030204" pitchFamily="18" charset="0"/>
                              <a:ea typeface="Calibri" panose="020F0502020204030204" pitchFamily="34" charset="0"/>
                              <a:cs typeface="Calibri" panose="020F0502020204030204" pitchFamily="34" charset="0"/>
                            </a:rPr>
                            <m:t>2</m:t>
                          </m:r>
                        </m:e>
                        <m:sup>
                          <m:func>
                            <m:funcPr>
                              <m:ctrlPr>
                                <a:rPr lang="de-AT" sz="1800" b="0" i="1" noProof="0" smtClean="0">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de-AT" sz="1800" b="0" i="0" noProof="0" smtClean="0">
                                  <a:latin typeface="Cambria Math" panose="02040503050406030204" pitchFamily="18" charset="0"/>
                                  <a:ea typeface="Calibri" panose="020F0502020204030204" pitchFamily="34" charset="0"/>
                                  <a:cs typeface="Calibri" panose="020F0502020204030204" pitchFamily="34" charset="0"/>
                                </a:rPr>
                                <m:t>log</m:t>
                              </m:r>
                            </m:fName>
                            <m:e>
                              <m:r>
                                <a:rPr lang="de-AT" sz="1800" b="0" i="1" noProof="0" smtClean="0">
                                  <a:latin typeface="Cambria Math" panose="02040503050406030204" pitchFamily="18" charset="0"/>
                                  <a:ea typeface="Calibri" panose="020F0502020204030204" pitchFamily="34" charset="0"/>
                                  <a:cs typeface="Calibri" panose="020F0502020204030204" pitchFamily="34" charset="0"/>
                                </a:rPr>
                                <m:t>𝑛</m:t>
                              </m:r>
                              <m:r>
                                <a:rPr lang="en-GB" sz="1800" b="0" i="1" noProof="0" smtClean="0">
                                  <a:latin typeface="Cambria Math" panose="02040503050406030204" pitchFamily="18" charset="0"/>
                                  <a:ea typeface="Calibri" panose="020F0502020204030204" pitchFamily="34" charset="0"/>
                                  <a:cs typeface="Calibri" panose="020F0502020204030204" pitchFamily="34" charset="0"/>
                                </a:rPr>
                                <m:t>+1</m:t>
                              </m:r>
                            </m:e>
                          </m:func>
                          <m:r>
                            <a:rPr lang="de-AT" sz="1800" b="0" i="1" noProof="0" smtClean="0">
                              <a:latin typeface="Cambria Math" panose="02040503050406030204" pitchFamily="18" charset="0"/>
                              <a:ea typeface="Calibri" panose="020F0502020204030204" pitchFamily="34" charset="0"/>
                              <a:cs typeface="Calibri" panose="020F0502020204030204" pitchFamily="34" charset="0"/>
                            </a:rPr>
                            <m:t> </m:t>
                          </m:r>
                        </m:sup>
                      </m:sSup>
                      <m:r>
                        <a:rPr lang="de-AT" sz="1800" b="0" i="1" noProof="0" smtClean="0">
                          <a:latin typeface="Cambria Math" panose="02040503050406030204" pitchFamily="18" charset="0"/>
                          <a:ea typeface="Calibri" panose="020F0502020204030204" pitchFamily="34" charset="0"/>
                          <a:cs typeface="Calibri" panose="020F0502020204030204" pitchFamily="34" charset="0"/>
                        </a:rPr>
                        <m:t>−</m:t>
                      </m:r>
                      <m:r>
                        <a:rPr lang="en-GB" sz="1800" b="0" i="1" noProof="0" smtClean="0">
                          <a:latin typeface="Cambria Math" panose="02040503050406030204" pitchFamily="18" charset="0"/>
                          <a:ea typeface="Calibri" panose="020F0502020204030204" pitchFamily="34" charset="0"/>
                          <a:cs typeface="Calibri" panose="020F0502020204030204" pitchFamily="34" charset="0"/>
                        </a:rPr>
                        <m:t>2</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𝑛</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+2</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𝑛</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 −2=3</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𝑛</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 −2</m:t>
                      </m:r>
                    </m:oMath>
                  </m:oMathPara>
                </a14:m>
                <a:endParaRPr lang="en-US" sz="1800" noProof="0" dirty="0">
                  <a:latin typeface="Calibri" panose="020F0502020204030204" pitchFamily="34" charset="0"/>
                  <a:ea typeface="Calibri" panose="020F0502020204030204" pitchFamily="34" charset="0"/>
                  <a:cs typeface="Calibri" panose="020F0502020204030204" pitchFamily="34" charset="0"/>
                </a:endParaRPr>
              </a:p>
              <a:p>
                <a:pPr marL="114300" indent="0">
                  <a:spcBef>
                    <a:spcPts val="600"/>
                  </a:spcBef>
                  <a:spcAft>
                    <a:spcPts val="600"/>
                  </a:spcAft>
                </a:pPr>
                <a:r>
                  <a:rPr lang="en-US" sz="1800" dirty="0">
                    <a:latin typeface="Calibri" panose="020F0502020204030204" pitchFamily="34" charset="0"/>
                    <a:ea typeface="Calibri" panose="020F0502020204030204" pitchFamily="34" charset="0"/>
                    <a:cs typeface="Calibri" panose="020F0502020204030204" pitchFamily="34" charset="0"/>
                  </a:rPr>
                  <a:t>	(Note the right part is the geometric series with </a:t>
                </a:r>
                <a14:m>
                  <m:oMath xmlns:m="http://schemas.openxmlformats.org/officeDocument/2006/math">
                    <m:r>
                      <a:rPr lang="en-GB" sz="1800" b="0" i="1" smtClean="0">
                        <a:latin typeface="Cambria Math" panose="02040503050406030204" pitchFamily="18" charset="0"/>
                        <a:ea typeface="Calibri" panose="020F0502020204030204" pitchFamily="34" charset="0"/>
                        <a:cs typeface="Calibri" panose="020F0502020204030204" pitchFamily="34" charset="0"/>
                      </a:rPr>
                      <m:t>𝑟</m:t>
                    </m:r>
                    <m:r>
                      <a:rPr lang="en-GB" sz="1800" b="0" i="1" smtClean="0">
                        <a:latin typeface="Cambria Math" panose="02040503050406030204" pitchFamily="18" charset="0"/>
                        <a:ea typeface="Calibri" panose="020F0502020204030204" pitchFamily="34" charset="0"/>
                        <a:cs typeface="Calibri" panose="020F0502020204030204" pitchFamily="34" charset="0"/>
                      </a:rPr>
                      <m:t>=2</m:t>
                    </m:r>
                  </m:oMath>
                </a14:m>
                <a:r>
                  <a:rPr lang="en-US" sz="1800" dirty="0">
                    <a:latin typeface="Calibri" panose="020F0502020204030204" pitchFamily="34" charset="0"/>
                    <a:ea typeface="Calibri" panose="020F0502020204030204" pitchFamily="34" charset="0"/>
                    <a:cs typeface="Calibri" panose="020F0502020204030204" pitchFamily="34" charset="0"/>
                  </a:rPr>
                  <a:t>, see exercise.)</a:t>
                </a:r>
                <a:endParaRPr lang="en-US" sz="1800" noProof="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This is the cost of adding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oMath>
                </a14:m>
                <a:r>
                  <a:rPr lang="en-US" sz="1800" dirty="0">
                    <a:latin typeface="Calibri" panose="020F0502020204030204" pitchFamily="34" charset="0"/>
                    <a:ea typeface="Calibri" panose="020F0502020204030204" pitchFamily="34" charset="0"/>
                    <a:cs typeface="Calibri" panose="020F0502020204030204" pitchFamily="34" charset="0"/>
                  </a:rPr>
                  <a:t> elements with </a:t>
                </a:r>
                <a14:m>
                  <m:oMath xmlns:m="http://schemas.openxmlformats.org/officeDocument/2006/math">
                    <m:r>
                      <m:rPr>
                        <m:sty m:val="p"/>
                      </m:rPr>
                      <a:rPr lang="en-GB" sz="1800" b="0" i="1" smtClean="0">
                        <a:latin typeface="Cambria Math" panose="02040503050406030204" pitchFamily="18" charset="0"/>
                        <a:ea typeface="Calibri" panose="020F0502020204030204" pitchFamily="34" charset="0"/>
                        <a:cs typeface="Calibri" panose="020F0502020204030204" pitchFamily="34" charset="0"/>
                      </a:rPr>
                      <m:t>log</m:t>
                    </m:r>
                    <m:r>
                      <a:rPr lang="en-GB" sz="1800" b="0" i="1" smtClean="0">
                        <a:latin typeface="Cambria Math" panose="02040503050406030204" pitchFamily="18" charset="0"/>
                        <a:ea typeface="Calibri" panose="020F0502020204030204" pitchFamily="34" charset="0"/>
                        <a:cs typeface="Calibri" panose="020F0502020204030204" pitchFamily="34" charset="0"/>
                      </a:rPr>
                      <m:t>(</m:t>
                    </m:r>
                    <m:r>
                      <a:rPr lang="en-GB" sz="1800" b="0" i="1" smtClean="0">
                        <a:latin typeface="Cambria Math" panose="02040503050406030204" pitchFamily="18" charset="0"/>
                        <a:ea typeface="Calibri" panose="020F0502020204030204" pitchFamily="34" charset="0"/>
                        <a:cs typeface="Calibri" panose="020F0502020204030204" pitchFamily="34" charset="0"/>
                      </a:rPr>
                      <m:t>𝑛</m:t>
                    </m:r>
                    <m:r>
                      <a:rPr lang="en-GB" sz="1800" b="0" i="1" smtClean="0">
                        <a:latin typeface="Cambria Math" panose="02040503050406030204" pitchFamily="18" charset="0"/>
                        <a:ea typeface="Calibri" panose="020F0502020204030204" pitchFamily="34" charset="0"/>
                        <a:cs typeface="Calibri" panose="020F0502020204030204" pitchFamily="34" charset="0"/>
                      </a:rPr>
                      <m:t>)</m:t>
                    </m:r>
                  </m:oMath>
                </a14:m>
                <a:r>
                  <a:rPr lang="en-US" sz="1800" dirty="0">
                    <a:latin typeface="Calibri" panose="020F0502020204030204" pitchFamily="34" charset="0"/>
                    <a:ea typeface="Calibri" panose="020F0502020204030204" pitchFamily="34" charset="0"/>
                    <a:cs typeface="Calibri" panose="020F0502020204030204" pitchFamily="34" charset="0"/>
                  </a:rPr>
                  <a:t> resizes</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Per</a:t>
                </a:r>
                <a:r>
                  <a:rPr lang="en-US" sz="1800" dirty="0">
                    <a:latin typeface="Calibri" panose="020F0502020204030204" pitchFamily="34" charset="0"/>
                    <a:ea typeface="Calibri" panose="020F0502020204030204" pitchFamily="34" charset="0"/>
                    <a:cs typeface="Calibri" panose="020F0502020204030204" pitchFamily="34" charset="0"/>
                  </a:rPr>
                  <a:t> element we have:</a:t>
                </a:r>
              </a:p>
              <a:p>
                <a:pPr marL="114300" indent="0">
                  <a:spcBef>
                    <a:spcPts val="600"/>
                  </a:spcBef>
                  <a:spcAft>
                    <a:spcPts val="600"/>
                  </a:spcAft>
                </a:pPr>
                <a14:m>
                  <m:oMathPara xmlns:m="http://schemas.openxmlformats.org/officeDocument/2006/math">
                    <m:oMathParaPr>
                      <m:jc m:val="centerGroup"/>
                    </m:oMathParaPr>
                    <m:oMath xmlns:m="http://schemas.openxmlformats.org/officeDocument/2006/math">
                      <m:f>
                        <m:fPr>
                          <m:ctrlPr>
                            <a:rPr lang="de-AT" sz="1800" b="0" i="1" noProof="0" smtClean="0">
                              <a:latin typeface="Cambria Math" panose="02040503050406030204" pitchFamily="18" charset="0"/>
                              <a:ea typeface="Calibri" panose="020F0502020204030204" pitchFamily="34" charset="0"/>
                              <a:cs typeface="Calibri" panose="020F0502020204030204" pitchFamily="34" charset="0"/>
                            </a:rPr>
                          </m:ctrlPr>
                        </m:fPr>
                        <m:num>
                          <m:r>
                            <a:rPr lang="de-AT" sz="1800" b="0" i="1" noProof="0" smtClean="0">
                              <a:latin typeface="Cambria Math" panose="02040503050406030204" pitchFamily="18" charset="0"/>
                              <a:ea typeface="Calibri" panose="020F0502020204030204" pitchFamily="34" charset="0"/>
                              <a:cs typeface="Calibri" panose="020F0502020204030204" pitchFamily="34" charset="0"/>
                            </a:rPr>
                            <m:t>3</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𝑛</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 −2</m:t>
                          </m:r>
                        </m:num>
                        <m:den>
                          <m:r>
                            <a:rPr lang="de-AT" sz="1800" b="0" i="1" noProof="0" smtClean="0">
                              <a:latin typeface="Cambria Math" panose="02040503050406030204" pitchFamily="18" charset="0"/>
                              <a:ea typeface="Calibri" panose="020F0502020204030204" pitchFamily="34" charset="0"/>
                              <a:cs typeface="Calibri" panose="020F0502020204030204" pitchFamily="34" charset="0"/>
                            </a:rPr>
                            <m:t>𝑛</m:t>
                          </m:r>
                        </m:den>
                      </m:f>
                      <m:r>
                        <a:rPr lang="de-AT" sz="1800" b="0" i="1" noProof="0" smtClean="0">
                          <a:latin typeface="Cambria Math" panose="02040503050406030204" pitchFamily="18" charset="0"/>
                          <a:ea typeface="Calibri" panose="020F0502020204030204" pitchFamily="34" charset="0"/>
                          <a:cs typeface="Calibri" panose="020F0502020204030204" pitchFamily="34" charset="0"/>
                        </a:rPr>
                        <m:t>=</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𝑂</m:t>
                      </m:r>
                      <m:r>
                        <a:rPr lang="de-AT" sz="1800" b="0" i="1" noProof="0" smtClean="0">
                          <a:latin typeface="Cambria Math" panose="02040503050406030204" pitchFamily="18" charset="0"/>
                          <a:ea typeface="Calibri" panose="020F0502020204030204" pitchFamily="34" charset="0"/>
                          <a:cs typeface="Calibri" panose="020F0502020204030204" pitchFamily="34" charset="0"/>
                        </a:rPr>
                        <m:t>(1)</m:t>
                      </m:r>
                    </m:oMath>
                  </m:oMathPara>
                </a14:m>
                <a:endParaRPr lang="en-US" sz="1800" noProof="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In fact, if grow the dynamic array with a geometric progression</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will always have </a:t>
                </a:r>
                <a14:m>
                  <m:oMath xmlns:m="http://schemas.openxmlformats.org/officeDocument/2006/math">
                    <m:r>
                      <a:rPr lang="en-US" sz="1800" i="1" dirty="0">
                        <a:latin typeface="Cambria Math" panose="02040503050406030204" pitchFamily="18" charset="0"/>
                        <a:ea typeface="Calibri" panose="020F0502020204030204" pitchFamily="34" charset="0"/>
                        <a:cs typeface="Calibri" panose="020F0502020204030204" pitchFamily="34" charset="0"/>
                      </a:rPr>
                      <m:t>𝑂</m:t>
                    </m:r>
                    <m:r>
                      <a:rPr lang="en-US" sz="1800" i="1" dirty="0">
                        <a:latin typeface="Cambria Math" panose="02040503050406030204" pitchFamily="18" charset="0"/>
                        <a:ea typeface="Calibri" panose="020F0502020204030204" pitchFamily="34" charset="0"/>
                        <a:cs typeface="Calibri" panose="020F0502020204030204" pitchFamily="34" charset="0"/>
                      </a:rPr>
                      <m:t>(1)</m:t>
                    </m:r>
                  </m:oMath>
                </a14:m>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amortized</a:t>
                </a: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071562"/>
                <a:ext cx="8229300" cy="5343525"/>
              </a:xfrm>
              <a:blipFill>
                <a:blip r:embed="rId3"/>
                <a:stretch>
                  <a:fillRect l="-6481" b="-1425"/>
                </a:stretch>
              </a:blipFill>
            </p:spPr>
            <p:txBody>
              <a:bodyPr/>
              <a:lstStyle/>
              <a:p>
                <a:r>
                  <a:rPr lang="en-AT">
                    <a:noFill/>
                  </a:rPr>
                  <a:t> </a:t>
                </a:r>
              </a:p>
            </p:txBody>
          </p:sp>
        </mc:Fallback>
      </mc:AlternateContent>
    </p:spTree>
    <p:extLst>
      <p:ext uri="{BB962C8B-B14F-4D97-AF65-F5344CB8AC3E}">
        <p14:creationId xmlns:p14="http://schemas.microsoft.com/office/powerpoint/2010/main" val="3738292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1861018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mc:AlternateContent xmlns:mc="http://schemas.openxmlformats.org/markup-compatibility/2006" xmlns:a14="http://schemas.microsoft.com/office/drawing/2010/main">
        <mc:Choice Requires="a14">
          <p:sp>
            <p:nvSpPr>
              <p:cNvPr id="4" name="Textfeld 2">
                <a:extLst>
                  <a:ext uri="{FF2B5EF4-FFF2-40B4-BE49-F238E27FC236}">
                    <a16:creationId xmlns:a16="http://schemas.microsoft.com/office/drawing/2014/main" id="{B1AB2DE2-BFB4-403B-9976-58C0812A00AF}"/>
                  </a:ext>
                </a:extLst>
              </p:cNvPr>
              <p:cNvSpPr txBox="1"/>
              <p:nvPr/>
            </p:nvSpPr>
            <p:spPr>
              <a:xfrm>
                <a:off x="457200" y="1605600"/>
                <a:ext cx="8229600" cy="3124189"/>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lang="en-US" sz="1800" b="1" dirty="0">
                    <a:latin typeface="Calibri" panose="020F0502020204030204" pitchFamily="34" charset="0"/>
                    <a:cs typeface="Calibri" panose="020F0502020204030204" pitchFamily="34" charset="0"/>
                  </a:rPr>
                  <a:t>1</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Using the formula for the k-</a:t>
                </a:r>
                <a:r>
                  <a:rPr kumimoji="0" lang="en-US"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partial sum of the geometric series show that growing a dynamic array with geometric progression will always result in the amortized complexity of </a:t>
                </a:r>
                <a14:m>
                  <m:oMath xmlns:m="http://schemas.openxmlformats.org/officeDocument/2006/math">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𝑂</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(1)</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for adding elements to the array. </a:t>
                </a:r>
                <a:r>
                  <a:rPr lang="en-US" sz="1800" dirty="0">
                    <a:latin typeface="Calibri" panose="020F0502020204030204" pitchFamily="34" charset="0"/>
                    <a:cs typeface="Calibri" panose="020F0502020204030204" pitchFamily="34" charset="0"/>
                  </a:rPr>
                  <a:t>Illustrate this on an array that we grow by 25%  (</a:t>
                </a:r>
                <a14:m>
                  <m:oMath xmlns:m="http://schemas.openxmlformats.org/officeDocument/2006/math">
                    <m:r>
                      <m:rPr>
                        <m:sty m:val="p"/>
                      </m:rPr>
                      <a:rPr lang="en-GB" sz="1800" b="0" i="1" smtClean="0">
                        <a:latin typeface="Cambria Math" panose="02040503050406030204" pitchFamily="18" charset="0"/>
                        <a:cs typeface="Calibri" panose="020F0502020204030204" pitchFamily="34" charset="0"/>
                      </a:rPr>
                      <m:t>r</m:t>
                    </m:r>
                    <m:r>
                      <a:rPr lang="en-GB" sz="1800" b="0" i="1" smtClean="0">
                        <a:latin typeface="Cambria Math" panose="02040503050406030204" pitchFamily="18" charset="0"/>
                        <a:cs typeface="Calibri" panose="020F0502020204030204" pitchFamily="34" charset="0"/>
                      </a:rPr>
                      <m:t>=1.25</m:t>
                    </m:r>
                  </m:oMath>
                </a14:m>
                <a:r>
                  <a:rPr lang="en-US" sz="1800" dirty="0">
                    <a:latin typeface="Calibri" panose="020F0502020204030204" pitchFamily="34" charset="0"/>
                    <a:cs typeface="Calibri" panose="020F0502020204030204" pitchFamily="34" charset="0"/>
                  </a:rPr>
                  <a:t>) whenever we increase its size.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nary>
                        <m:naryPr>
                          <m:chr m:val="∑"/>
                          <m:ctrlPr>
                            <a:rPr kumimoji="0" lang="en-US" sz="180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ctrlPr>
                        </m:naryPr>
                        <m:sub>
                          <m:r>
                            <m:rPr>
                              <m:brk m:alnAt="23"/>
                            </m:rP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𝑗</m:t>
                          </m:r>
                          <m: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=1</m:t>
                          </m:r>
                        </m:sub>
                        <m:sup>
                          <m: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𝑘</m:t>
                          </m:r>
                        </m:sup>
                        <m:e>
                          <m:sSup>
                            <m:sSupPr>
                              <m:ctrlPr>
                                <a:rPr kumimoji="0" lang="en-US" sz="180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ctrlPr>
                            </m:sSupPr>
                            <m:e>
                              <m: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𝑟</m:t>
                              </m:r>
                            </m:e>
                            <m:sup>
                              <m: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𝑗</m:t>
                              </m:r>
                            </m:sup>
                          </m:sSup>
                        </m:e>
                      </m:nary>
                      <m: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 </m:t>
                      </m:r>
                      <m:f>
                        <m:fPr>
                          <m:ctrlP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ctrlPr>
                        </m:fPr>
                        <m:num>
                          <m:r>
                            <a:rPr kumimoji="0" lang="en-GB"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𝑟</m:t>
                          </m:r>
                          <m:r>
                            <a:rPr kumimoji="0" lang="en-GB"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(1−</m:t>
                          </m:r>
                          <m:sSup>
                            <m:sSupPr>
                              <m:ctrlP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ctrlPr>
                            </m:sSupPr>
                            <m:e>
                              <m: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𝑟</m:t>
                              </m:r>
                            </m:e>
                            <m:sup>
                              <m: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𝑘</m:t>
                              </m:r>
                            </m:sup>
                          </m:sSup>
                          <m:r>
                            <a:rPr kumimoji="0" lang="en-GB"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m:t>
                          </m:r>
                        </m:num>
                        <m:den>
                          <m: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1−</m:t>
                          </m:r>
                          <m: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𝑟</m:t>
                          </m:r>
                        </m:den>
                      </m:f>
                    </m:oMath>
                  </m:oMathPara>
                </a14:m>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latin typeface="Calibri" panose="020F0502020204030204" pitchFamily="34" charset="0"/>
                  <a:ea typeface="Cambria Math" panose="02040503050406030204" pitchFamily="18"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ea typeface="Cambria Math" panose="02040503050406030204" pitchFamily="18" charset="0"/>
                    <a:cs typeface="Calibri" panose="020F0502020204030204" pitchFamily="34" charset="0"/>
                  </a:rPr>
                  <a:t>Task 2: </a:t>
                </a:r>
                <a:r>
                  <a:rPr lang="en-US" sz="1800" dirty="0">
                    <a:latin typeface="Calibri" panose="020F0502020204030204" pitchFamily="34" charset="0"/>
                    <a:ea typeface="Cambria Math" panose="02040503050406030204" pitchFamily="18" charset="0"/>
                    <a:cs typeface="Calibri" panose="020F0502020204030204" pitchFamily="34" charset="0"/>
                  </a:rPr>
                  <a:t>Why do we not want to increase by a constant number of cells when we grow the array? Note, that this results in an arithmetic progression.</a:t>
                </a:r>
              </a:p>
            </p:txBody>
          </p:sp>
        </mc:Choice>
        <mc:Fallback xmlns="">
          <p:sp>
            <p:nvSpPr>
              <p:cNvPr id="4" name="Textfeld 2">
                <a:extLst>
                  <a:ext uri="{FF2B5EF4-FFF2-40B4-BE49-F238E27FC236}">
                    <a16:creationId xmlns:a16="http://schemas.microsoft.com/office/drawing/2014/main" id="{B1AB2DE2-BFB4-403B-9976-58C0812A00AF}"/>
                  </a:ext>
                </a:extLst>
              </p:cNvPr>
              <p:cNvSpPr txBox="1">
                <a:spLocks noRot="1" noChangeAspect="1" noMove="1" noResize="1" noEditPoints="1" noAdjustHandles="1" noChangeArrowheads="1" noChangeShapeType="1" noTextEdit="1"/>
              </p:cNvSpPr>
              <p:nvPr/>
            </p:nvSpPr>
            <p:spPr>
              <a:xfrm>
                <a:off x="457200" y="1605600"/>
                <a:ext cx="8229600" cy="3124189"/>
              </a:xfrm>
              <a:prstGeom prst="rect">
                <a:avLst/>
              </a:prstGeom>
              <a:blipFill>
                <a:blip r:embed="rId3"/>
                <a:stretch>
                  <a:fillRect l="-617" t="-810" r="-154" b="-14170"/>
                </a:stretch>
              </a:blipFill>
            </p:spPr>
            <p:txBody>
              <a:bodyPr/>
              <a:lstStyle/>
              <a:p>
                <a:r>
                  <a:rPr lang="en-AT">
                    <a:noFill/>
                  </a:rPr>
                  <a:t> </a:t>
                </a:r>
              </a:p>
            </p:txBody>
          </p:sp>
        </mc:Fallback>
      </mc:AlternateContent>
    </p:spTree>
    <p:extLst>
      <p:ext uri="{BB962C8B-B14F-4D97-AF65-F5344CB8AC3E}">
        <p14:creationId xmlns:p14="http://schemas.microsoft.com/office/powerpoint/2010/main" val="2302625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Shrinking dynamic arrays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071562"/>
                <a:ext cx="8229300" cy="4193381"/>
              </a:xfrm>
            </p:spPr>
            <p:txBody>
              <a:bodyPr/>
              <a:lstStyle/>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final </a:t>
                </a:r>
                <a:r>
                  <a:rPr lang="de-AT" sz="1800" dirty="0" err="1">
                    <a:latin typeface="Calibri" panose="020F0502020204030204" pitchFamily="34" charset="0"/>
                    <a:ea typeface="Calibri" panose="020F0502020204030204" pitchFamily="34" charset="0"/>
                    <a:cs typeface="Calibri" panose="020F0502020204030204" pitchFamily="34" charset="0"/>
                  </a:rPr>
                  <a:t>array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size</a:t>
                </a:r>
                <a:r>
                  <a:rPr lang="de-AT" sz="1800" dirty="0">
                    <a:latin typeface="Calibri" panose="020F0502020204030204" pitchFamily="34" charset="0"/>
                    <a:ea typeface="Calibri" panose="020F0502020204030204" pitchFamily="34" charset="0"/>
                    <a:cs typeface="Calibri" panose="020F0502020204030204" pitchFamily="34" charset="0"/>
                  </a:rPr>
                  <a:t> will </a:t>
                </a:r>
                <a:r>
                  <a:rPr lang="de-AT" sz="1800" dirty="0" err="1">
                    <a:latin typeface="Calibri" panose="020F0502020204030204" pitchFamily="34" charset="0"/>
                    <a:ea typeface="Calibri" panose="020F0502020204030204" pitchFamily="34" charset="0"/>
                    <a:cs typeface="Calibri" panose="020F0502020204030204" pitchFamily="34" charset="0"/>
                  </a:rPr>
                  <a:t>be</a:t>
                </a:r>
                <a:r>
                  <a:rPr lang="de-AT" sz="1800" dirty="0">
                    <a:latin typeface="Calibri" panose="020F0502020204030204" pitchFamily="34" charset="0"/>
                    <a:ea typeface="Calibri" panose="020F0502020204030204" pitchFamily="34" charset="0"/>
                    <a:cs typeface="Calibri" panose="020F0502020204030204" pitchFamily="34" charset="0"/>
                  </a:rPr>
                  <a:t> proportional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overall</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number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elements</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However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if</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container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using</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dynamic</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array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supports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removal</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elements</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857250" lvl="1"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proportional </a:t>
                </a:r>
                <a:r>
                  <a:rPr lang="de-AT" sz="1800" dirty="0" err="1">
                    <a:latin typeface="Calibri" panose="020F0502020204030204" pitchFamily="34" charset="0"/>
                    <a:ea typeface="Calibri" panose="020F0502020204030204" pitchFamily="34" charset="0"/>
                    <a:cs typeface="Calibri" panose="020F0502020204030204" pitchFamily="34" charset="0"/>
                  </a:rPr>
                  <a:t>size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not </a:t>
                </a:r>
                <a:r>
                  <a:rPr lang="de-AT" sz="1800" dirty="0" err="1">
                    <a:latin typeface="Calibri" panose="020F0502020204030204" pitchFamily="34" charset="0"/>
                    <a:ea typeface="Calibri" panose="020F0502020204030204" pitchFamily="34" charset="0"/>
                    <a:cs typeface="Calibri" panose="020F0502020204030204" pitchFamily="34" charset="0"/>
                  </a:rPr>
                  <a:t>guaranteed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anymore</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will </a:t>
                </a:r>
                <a:r>
                  <a:rPr lang="de-AT" sz="1800" dirty="0" err="1">
                    <a:latin typeface="Calibri" panose="020F0502020204030204" pitchFamily="34" charset="0"/>
                    <a:ea typeface="Calibri" panose="020F0502020204030204" pitchFamily="34" charset="0"/>
                    <a:cs typeface="Calibri" panose="020F0502020204030204" pitchFamily="34" charset="0"/>
                  </a:rPr>
                  <a:t>need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shrink</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size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occasionally</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need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make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sure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that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size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does</a:t>
                </a:r>
                <a:r>
                  <a:rPr lang="de-AT" sz="1800" dirty="0">
                    <a:latin typeface="Calibri" panose="020F0502020204030204" pitchFamily="34" charset="0"/>
                    <a:ea typeface="Calibri" panose="020F0502020204030204" pitchFamily="34" charset="0"/>
                    <a:cs typeface="Calibri" panose="020F0502020204030204" pitchFamily="34" charset="0"/>
                  </a:rPr>
                  <a:t> not </a:t>
                </a:r>
                <a:r>
                  <a:rPr lang="de-AT" sz="1800" dirty="0" err="1">
                    <a:latin typeface="Calibri" panose="020F0502020204030204" pitchFamily="34" charset="0"/>
                    <a:ea typeface="Calibri" panose="020F0502020204030204" pitchFamily="34" charset="0"/>
                    <a:cs typeface="Calibri" panose="020F0502020204030204" pitchFamily="34" charset="0"/>
                  </a:rPr>
                  <a:t>rapidly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oscillate</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857250" lvl="1"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can</a:t>
                </a:r>
                <a:r>
                  <a:rPr lang="de-AT" sz="1800" dirty="0">
                    <a:latin typeface="Calibri" panose="020F0502020204030204" pitchFamily="34" charset="0"/>
                    <a:ea typeface="Calibri" panose="020F0502020204030204" pitchFamily="34" charset="0"/>
                    <a:cs typeface="Calibri" panose="020F0502020204030204" pitchFamily="34" charset="0"/>
                  </a:rPr>
                  <a:t> not </a:t>
                </a:r>
                <a:r>
                  <a:rPr lang="de-AT" sz="1800" dirty="0" err="1">
                    <a:latin typeface="Calibri" panose="020F0502020204030204" pitchFamily="34" charset="0"/>
                    <a:ea typeface="Calibri" panose="020F0502020204030204" pitchFamily="34" charset="0"/>
                    <a:cs typeface="Calibri" panose="020F0502020204030204" pitchFamily="34" charset="0"/>
                  </a:rPr>
                  <a:t>guarantee</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𝑂</m:t>
                    </m:r>
                    <m:r>
                      <a:rPr lang="de-AT" sz="1800" i="1" dirty="0" smtClean="0">
                        <a:latin typeface="Cambria Math" panose="02040503050406030204" pitchFamily="18" charset="0"/>
                        <a:ea typeface="Calibri" panose="020F0502020204030204" pitchFamily="34" charset="0"/>
                        <a:cs typeface="Calibri" panose="020F0502020204030204" pitchFamily="34" charset="0"/>
                      </a:rPr>
                      <m:t>(1)</m:t>
                    </m:r>
                  </m:oMath>
                </a14:m>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amortized</a:t>
                </a:r>
                <a:r>
                  <a:rPr lang="de-AT" sz="1800" dirty="0">
                    <a:latin typeface="Calibri" panose="020F0502020204030204" pitchFamily="34" charset="0"/>
                    <a:ea typeface="Calibri" panose="020F0502020204030204" pitchFamily="34" charset="0"/>
                    <a:cs typeface="Calibri" panose="020F0502020204030204" pitchFamily="34" charset="0"/>
                  </a:rPr>
                  <a:t> in </a:t>
                </a:r>
                <a:r>
                  <a:rPr lang="de-AT" sz="1800" dirty="0" err="1">
                    <a:latin typeface="Calibri" panose="020F0502020204030204" pitchFamily="34" charset="0"/>
                    <a:ea typeface="Calibri" panose="020F0502020204030204" pitchFamily="34" charset="0"/>
                    <a:cs typeface="Calibri" panose="020F0502020204030204" pitchFamily="34" charset="0"/>
                  </a:rPr>
                  <a:t>case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oscillation</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Intuitive </a:t>
                </a:r>
                <a:r>
                  <a:rPr lang="de-AT" sz="1800" dirty="0" err="1">
                    <a:latin typeface="Calibri" panose="020F0502020204030204" pitchFamily="34" charset="0"/>
                    <a:ea typeface="Calibri" panose="020F0502020204030204" pitchFamily="34" charset="0"/>
                    <a:cs typeface="Calibri" panose="020F0502020204030204" pitchFamily="34" charset="0"/>
                  </a:rPr>
                  <a:t>strategy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reverse </a:t>
                </a:r>
                <a:r>
                  <a:rPr lang="de-AT" sz="1800" dirty="0" err="1">
                    <a:latin typeface="Calibri" panose="020F0502020204030204" pitchFamily="34" charset="0"/>
                    <a:ea typeface="Calibri" panose="020F0502020204030204" pitchFamily="34" charset="0"/>
                    <a:cs typeface="Calibri" panose="020F0502020204030204" pitchFamily="34" charset="0"/>
                  </a:rPr>
                  <a:t>growing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when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shrink</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size</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857250" lvl="1"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halve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capacity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when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number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elements</a:t>
                </a:r>
                <a:r>
                  <a:rPr lang="de-AT" sz="1800" dirty="0">
                    <a:latin typeface="Calibri" panose="020F0502020204030204" pitchFamily="34" charset="0"/>
                    <a:ea typeface="Calibri" panose="020F0502020204030204" pitchFamily="34" charset="0"/>
                    <a:cs typeface="Calibri" panose="020F0502020204030204" pitchFamily="34" charset="0"/>
                  </a:rPr>
                  <a:t> falls </a:t>
                </a:r>
                <a:r>
                  <a:rPr lang="de-AT" sz="1800" dirty="0" err="1">
                    <a:latin typeface="Calibri" panose="020F0502020204030204" pitchFamily="34" charset="0"/>
                    <a:ea typeface="Calibri" panose="020F0502020204030204" pitchFamily="34" charset="0"/>
                    <a:cs typeface="Calibri" panose="020F0502020204030204" pitchFamily="34" charset="0"/>
                  </a:rPr>
                  <a:t>below</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one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fourth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capacity</a:t>
                </a:r>
                <a:endParaRPr lang="de-AT"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071562"/>
                <a:ext cx="8229300" cy="4193381"/>
              </a:xfrm>
              <a:blipFill>
                <a:blip r:embed="rId3"/>
                <a:stretch>
                  <a:fillRect r="-593"/>
                </a:stretch>
              </a:blipFill>
            </p:spPr>
            <p:txBody>
              <a:bodyPr/>
              <a:lstStyle/>
              <a:p>
                <a:r>
                  <a:rPr lang="de-AT">
                    <a:noFill/>
                  </a:rPr>
                  <a:t> </a:t>
                </a:r>
              </a:p>
            </p:txBody>
          </p:sp>
        </mc:Fallback>
      </mc:AlternateContent>
    </p:spTree>
    <p:extLst>
      <p:ext uri="{BB962C8B-B14F-4D97-AF65-F5344CB8AC3E}">
        <p14:creationId xmlns:p14="http://schemas.microsoft.com/office/powerpoint/2010/main" val="15424230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Python’s lists revisited</a:t>
            </a:r>
            <a:endParaRPr lang="en-US" sz="4400" b="1" noProof="0" dirty="0"/>
          </a:p>
        </p:txBody>
      </p:sp>
    </p:spTree>
    <p:extLst>
      <p:ext uri="{BB962C8B-B14F-4D97-AF65-F5344CB8AC3E}">
        <p14:creationId xmlns:p14="http://schemas.microsoft.com/office/powerpoint/2010/main" val="13712322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Python lists are implemented as dynamic arrays</a:t>
            </a:r>
            <a:endParaRPr lang="en-US" sz="2800" b="1" noProof="0" dirty="0">
              <a:latin typeface="Calibri" panose="020F0502020204030204" pitchFamily="34" charset="0"/>
              <a:cs typeface="Calibri" panose="020F0502020204030204" pitchFamily="34" charset="0"/>
            </a:endParaRP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257299"/>
            <a:ext cx="8229300" cy="614363"/>
          </a:xfrm>
        </p:spPr>
        <p:txBody>
          <a:bodyPr/>
          <a:lstStyle/>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Let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us</a:t>
            </a:r>
            <a:r>
              <a:rPr lang="de-AT" sz="1800" dirty="0">
                <a:latin typeface="Calibri" panose="020F0502020204030204" pitchFamily="34" charset="0"/>
                <a:ea typeface="Calibri" panose="020F0502020204030204" pitchFamily="34" charset="0"/>
                <a:cs typeface="Calibri" panose="020F0502020204030204" pitchFamily="34" charset="0"/>
              </a:rPr>
              <a:t> check </a:t>
            </a:r>
            <a:r>
              <a:rPr lang="de-AT" sz="1800" dirty="0" err="1">
                <a:latin typeface="Calibri" panose="020F0502020204030204" pitchFamily="34" charset="0"/>
                <a:ea typeface="Calibri" panose="020F0502020204030204" pitchFamily="34" charset="0"/>
                <a:cs typeface="Calibri" panose="020F0502020204030204" pitchFamily="34" charset="0"/>
              </a:rPr>
              <a:t>amortized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costs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adding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elements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python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list</a:t>
            </a:r>
            <a:endParaRPr lang="de-AT" sz="1800" dirty="0">
              <a:latin typeface="Calibri" panose="020F0502020204030204" pitchFamily="34" charset="0"/>
              <a:ea typeface="Calibri" panose="020F0502020204030204" pitchFamily="34" charset="0"/>
              <a:cs typeface="Calibri" panose="020F0502020204030204" pitchFamily="34" charset="0"/>
            </a:endParaRPr>
          </a:p>
        </p:txBody>
      </p:sp>
      <p:sp>
        <p:nvSpPr>
          <p:cNvPr id="6" name="Rechteck 5">
            <a:extLst>
              <a:ext uri="{FF2B5EF4-FFF2-40B4-BE49-F238E27FC236}">
                <a16:creationId xmlns:a16="http://schemas.microsoft.com/office/drawing/2014/main" id="{B2D7E016-804C-4E7E-A5AB-E34DEDD5A67D}"/>
              </a:ext>
            </a:extLst>
          </p:cNvPr>
          <p:cNvSpPr/>
          <p:nvPr/>
        </p:nvSpPr>
        <p:spPr>
          <a:xfrm>
            <a:off x="578645" y="1797313"/>
            <a:ext cx="8279306" cy="2996143"/>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z="1200" spc="-1" dirty="0">
                <a:solidFill>
                  <a:srgbClr val="0F0F0F"/>
                </a:solidFill>
                <a:latin typeface="Consolas" panose="020B0609020204030204" pitchFamily="49" charset="0"/>
              </a:rPr>
              <a:t>def </a:t>
            </a:r>
            <a:r>
              <a:rPr lang="en-US" sz="1200" spc="-1" dirty="0" err="1">
                <a:solidFill>
                  <a:srgbClr val="0F0F0F"/>
                </a:solidFill>
                <a:latin typeface="Consolas" panose="020B0609020204030204" pitchFamily="49" charset="0"/>
              </a:rPr>
              <a:t>append_cost</a:t>
            </a:r>
            <a:r>
              <a:rPr lang="en-US" sz="1200" spc="-1" dirty="0">
                <a:solidFill>
                  <a:srgbClr val="0F0F0F"/>
                </a:solidFill>
                <a:latin typeface="Consolas" panose="020B0609020204030204" pitchFamily="49" charset="0"/>
              </a:rPr>
              <a:t>(n=100):</a:t>
            </a:r>
          </a:p>
          <a:p>
            <a:r>
              <a:rPr lang="en-US" sz="1200" spc="-1" dirty="0">
                <a:solidFill>
                  <a:srgbClr val="0F0F0F"/>
                </a:solidFill>
                <a:latin typeface="Consolas" panose="020B0609020204030204" pitchFamily="49" charset="0"/>
              </a:rPr>
              <a:t>    data = []</a:t>
            </a:r>
          </a:p>
          <a:p>
            <a:r>
              <a:rPr lang="en-US" sz="1200" spc="-1" dirty="0">
                <a:solidFill>
                  <a:srgbClr val="0F0F0F"/>
                </a:solidFill>
                <a:latin typeface="Consolas" panose="020B0609020204030204" pitchFamily="49" charset="0"/>
              </a:rPr>
              <a:t>    for </a:t>
            </a:r>
            <a:r>
              <a:rPr lang="en-US" sz="1200" spc="-1" dirty="0" err="1">
                <a:solidFill>
                  <a:srgbClr val="0F0F0F"/>
                </a:solidFill>
                <a:latin typeface="Consolas" panose="020B0609020204030204" pitchFamily="49" charset="0"/>
              </a:rPr>
              <a:t>i</a:t>
            </a:r>
            <a:r>
              <a:rPr lang="en-US" sz="1200" spc="-1" dirty="0">
                <a:solidFill>
                  <a:srgbClr val="0F0F0F"/>
                </a:solidFill>
                <a:latin typeface="Consolas" panose="020B0609020204030204" pitchFamily="49" charset="0"/>
              </a:rPr>
              <a:t> in range(n):</a:t>
            </a: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data.append</a:t>
            </a:r>
            <a:r>
              <a:rPr lang="en-US" sz="1200" spc="-1" dirty="0">
                <a:solidFill>
                  <a:srgbClr val="0F0F0F"/>
                </a:solidFill>
                <a:latin typeface="Consolas" panose="020B0609020204030204" pitchFamily="49" charset="0"/>
              </a:rPr>
              <a:t>(None)</a:t>
            </a:r>
          </a:p>
          <a:p>
            <a:endParaRPr lang="en-US" sz="1200" spc="-1" dirty="0">
              <a:solidFill>
                <a:srgbClr val="0F0F0F"/>
              </a:solidFill>
              <a:latin typeface="Consolas" panose="020B0609020204030204" pitchFamily="49" charset="0"/>
            </a:endParaRPr>
          </a:p>
          <a:p>
            <a:endParaRPr lang="en-US" sz="1200" spc="-1" dirty="0">
              <a:solidFill>
                <a:srgbClr val="0F0F0F"/>
              </a:solidFill>
              <a:latin typeface="Consolas" panose="020B0609020204030204" pitchFamily="49" charset="0"/>
            </a:endParaRPr>
          </a:p>
          <a:p>
            <a:r>
              <a:rPr lang="en-US" sz="1200" spc="-1" dirty="0">
                <a:solidFill>
                  <a:srgbClr val="0F0F0F"/>
                </a:solidFill>
                <a:latin typeface="Consolas" panose="020B0609020204030204" pitchFamily="49" charset="0"/>
              </a:rPr>
              <a:t>ns = [1, 10, 100, 1000, 10000, 100000, 1000000]</a:t>
            </a:r>
          </a:p>
          <a:p>
            <a:r>
              <a:rPr lang="en-US" sz="1200" spc="-1" dirty="0">
                <a:solidFill>
                  <a:srgbClr val="0F0F0F"/>
                </a:solidFill>
                <a:latin typeface="Consolas" panose="020B0609020204030204" pitchFamily="49" charset="0"/>
              </a:rPr>
              <a:t>results = []</a:t>
            </a:r>
          </a:p>
          <a:p>
            <a:r>
              <a:rPr lang="en-US" sz="1200" spc="-1" dirty="0">
                <a:solidFill>
                  <a:srgbClr val="0F0F0F"/>
                </a:solidFill>
                <a:latin typeface="Consolas" panose="020B0609020204030204" pitchFamily="49" charset="0"/>
              </a:rPr>
              <a:t>for n in ns:</a:t>
            </a:r>
          </a:p>
          <a:p>
            <a:r>
              <a:rPr lang="en-US" sz="1200" spc="-1" dirty="0">
                <a:solidFill>
                  <a:srgbClr val="0F0F0F"/>
                </a:solidFill>
                <a:latin typeface="Consolas" panose="020B0609020204030204" pitchFamily="49" charset="0"/>
              </a:rPr>
              <a:t>    print(n)</a:t>
            </a:r>
          </a:p>
          <a:p>
            <a:r>
              <a:rPr lang="en-US" sz="1200" spc="-1" dirty="0">
                <a:solidFill>
                  <a:srgbClr val="0F0F0F"/>
                </a:solidFill>
                <a:latin typeface="Consolas" panose="020B0609020204030204" pitchFamily="49" charset="0"/>
              </a:rPr>
              <a:t>    time = </a:t>
            </a:r>
            <a:r>
              <a:rPr lang="en-US" sz="1200" spc="-1" dirty="0" err="1">
                <a:solidFill>
                  <a:srgbClr val="0F0F0F"/>
                </a:solidFill>
                <a:latin typeface="Consolas" panose="020B0609020204030204" pitchFamily="49" charset="0"/>
              </a:rPr>
              <a:t>np.array</a:t>
            </a:r>
            <a:r>
              <a:rPr lang="en-US" sz="1200" spc="-1" dirty="0">
                <a:solidFill>
                  <a:srgbClr val="0F0F0F"/>
                </a:solidFill>
                <a:latin typeface="Consolas" panose="020B0609020204030204" pitchFamily="49" charset="0"/>
              </a:rPr>
              <a:t>(</a:t>
            </a:r>
            <a:r>
              <a:rPr lang="en-US" sz="1200" spc="-1" dirty="0" err="1">
                <a:solidFill>
                  <a:srgbClr val="0F0F0F"/>
                </a:solidFill>
                <a:latin typeface="Consolas" panose="020B0609020204030204" pitchFamily="49" charset="0"/>
              </a:rPr>
              <a:t>timeit.repeat</a:t>
            </a:r>
            <a:r>
              <a:rPr lang="en-US" sz="1200" spc="-1" dirty="0">
                <a:solidFill>
                  <a:srgbClr val="0F0F0F"/>
                </a:solidFill>
                <a:latin typeface="Consolas" panose="020B0609020204030204" pitchFamily="49" charset="0"/>
              </a:rPr>
              <a:t>('</a:t>
            </a:r>
            <a:r>
              <a:rPr lang="en-US" sz="1200" spc="-1" dirty="0" err="1">
                <a:solidFill>
                  <a:srgbClr val="0F0F0F"/>
                </a:solidFill>
                <a:latin typeface="Consolas" panose="020B0609020204030204" pitchFamily="49" charset="0"/>
              </a:rPr>
              <a:t>append_cost</a:t>
            </a:r>
            <a:r>
              <a:rPr lang="en-US" sz="1200" spc="-1" dirty="0">
                <a:solidFill>
                  <a:srgbClr val="0F0F0F"/>
                </a:solidFill>
                <a:latin typeface="Consolas" panose="020B0609020204030204" pitchFamily="49" charset="0"/>
              </a:rPr>
              <a:t>(n)', </a:t>
            </a:r>
            <a:r>
              <a:rPr lang="en-US" sz="1200" spc="-1" dirty="0" err="1">
                <a:solidFill>
                  <a:srgbClr val="0F0F0F"/>
                </a:solidFill>
                <a:latin typeface="Consolas" panose="020B0609020204030204" pitchFamily="49" charset="0"/>
              </a:rPr>
              <a:t>globals</a:t>
            </a:r>
            <a:r>
              <a:rPr lang="en-US" sz="1200" spc="-1" dirty="0">
                <a:solidFill>
                  <a:srgbClr val="0F0F0F"/>
                </a:solidFill>
                <a:latin typeface="Consolas" panose="020B0609020204030204" pitchFamily="49" charset="0"/>
              </a:rPr>
              <a:t>=</a:t>
            </a:r>
            <a:r>
              <a:rPr lang="en-US" sz="1200" spc="-1" dirty="0" err="1">
                <a:solidFill>
                  <a:srgbClr val="0F0F0F"/>
                </a:solidFill>
                <a:latin typeface="Consolas" panose="020B0609020204030204" pitchFamily="49" charset="0"/>
              </a:rPr>
              <a:t>globals</a:t>
            </a:r>
            <a:r>
              <a:rPr lang="en-US" sz="1200" spc="-1" dirty="0">
                <a:solidFill>
                  <a:srgbClr val="0F0F0F"/>
                </a:solidFill>
                <a:latin typeface="Consolas" panose="020B0609020204030204" pitchFamily="49" charset="0"/>
              </a:rPr>
              <a:t>(), number=1, repeat=30))</a:t>
            </a:r>
          </a:p>
          <a:p>
            <a:r>
              <a:rPr lang="en-US" sz="1200" spc="-1" dirty="0">
                <a:solidFill>
                  <a:srgbClr val="0F0F0F"/>
                </a:solidFill>
                <a:latin typeface="Consolas" panose="020B0609020204030204" pitchFamily="49" charset="0"/>
              </a:rPr>
              <a:t>    time /= n</a:t>
            </a: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results.append</a:t>
            </a:r>
            <a:r>
              <a:rPr lang="en-US" sz="1200" spc="-1" dirty="0">
                <a:solidFill>
                  <a:srgbClr val="0F0F0F"/>
                </a:solidFill>
                <a:latin typeface="Consolas" panose="020B0609020204030204" pitchFamily="49" charset="0"/>
              </a:rPr>
              <a:t>([n, </a:t>
            </a:r>
            <a:r>
              <a:rPr lang="en-US" sz="1200" spc="-1" dirty="0" err="1">
                <a:solidFill>
                  <a:srgbClr val="0F0F0F"/>
                </a:solidFill>
                <a:latin typeface="Consolas" panose="020B0609020204030204" pitchFamily="49" charset="0"/>
              </a:rPr>
              <a:t>np.mean</a:t>
            </a:r>
            <a:r>
              <a:rPr lang="en-US" sz="1200" spc="-1" dirty="0">
                <a:solidFill>
                  <a:srgbClr val="0F0F0F"/>
                </a:solidFill>
                <a:latin typeface="Consolas" panose="020B0609020204030204" pitchFamily="49" charset="0"/>
              </a:rPr>
              <a:t>(time), </a:t>
            </a:r>
            <a:r>
              <a:rPr lang="en-US" sz="1200" spc="-1" dirty="0" err="1">
                <a:solidFill>
                  <a:srgbClr val="0F0F0F"/>
                </a:solidFill>
                <a:latin typeface="Consolas" panose="020B0609020204030204" pitchFamily="49" charset="0"/>
              </a:rPr>
              <a:t>np.std</a:t>
            </a:r>
            <a:r>
              <a:rPr lang="en-US" sz="1200" spc="-1" dirty="0">
                <a:solidFill>
                  <a:srgbClr val="0F0F0F"/>
                </a:solidFill>
                <a:latin typeface="Consolas" panose="020B0609020204030204" pitchFamily="49" charset="0"/>
              </a:rPr>
              <a:t>(time, </a:t>
            </a:r>
            <a:r>
              <a:rPr lang="en-US" sz="1200" spc="-1" dirty="0" err="1">
                <a:solidFill>
                  <a:srgbClr val="0F0F0F"/>
                </a:solidFill>
                <a:latin typeface="Consolas" panose="020B0609020204030204" pitchFamily="49" charset="0"/>
              </a:rPr>
              <a:t>ddof</a:t>
            </a:r>
            <a:r>
              <a:rPr lang="en-US" sz="1200" spc="-1" dirty="0">
                <a:solidFill>
                  <a:srgbClr val="0F0F0F"/>
                </a:solidFill>
                <a:latin typeface="Consolas" panose="020B0609020204030204" pitchFamily="49" charset="0"/>
              </a:rPr>
              <a:t>=1)])</a:t>
            </a:r>
          </a:p>
        </p:txBody>
      </p:sp>
      <p:sp>
        <p:nvSpPr>
          <p:cNvPr id="5" name="Textplatzhalter 2">
            <a:extLst>
              <a:ext uri="{FF2B5EF4-FFF2-40B4-BE49-F238E27FC236}">
                <a16:creationId xmlns:a16="http://schemas.microsoft.com/office/drawing/2014/main" id="{10C1AEB7-705E-4BA0-B5A2-1D0B6F092E9A}"/>
              </a:ext>
            </a:extLst>
          </p:cNvPr>
          <p:cNvSpPr txBox="1">
            <a:spLocks/>
          </p:cNvSpPr>
          <p:nvPr/>
        </p:nvSpPr>
        <p:spPr>
          <a:xfrm>
            <a:off x="520562" y="4986339"/>
            <a:ext cx="8229300" cy="5838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hlinkClick r:id="rId3"/>
              </a:rPr>
              <a:t>Notebook example</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18632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Python lists are implemented as dynamic arrays</a:t>
            </a:r>
            <a:endParaRPr lang="en-US" sz="2800" b="1" noProof="0" dirty="0">
              <a:latin typeface="Calibri" panose="020F0502020204030204" pitchFamily="34" charset="0"/>
              <a:cs typeface="Calibri" panose="020F0502020204030204" pitchFamily="34" charset="0"/>
            </a:endParaRPr>
          </a:p>
        </p:txBody>
      </p:sp>
      <p:pic>
        <p:nvPicPr>
          <p:cNvPr id="9" name="Grafik 8">
            <a:extLst>
              <a:ext uri="{FF2B5EF4-FFF2-40B4-BE49-F238E27FC236}">
                <a16:creationId xmlns:a16="http://schemas.microsoft.com/office/drawing/2014/main" id="{762411A2-9052-44FA-815F-996FFC1FF0E5}"/>
              </a:ext>
            </a:extLst>
          </p:cNvPr>
          <p:cNvPicPr>
            <a:picLocks noChangeAspect="1"/>
          </p:cNvPicPr>
          <p:nvPr/>
        </p:nvPicPr>
        <p:blipFill>
          <a:blip r:embed="rId3"/>
          <a:stretch>
            <a:fillRect/>
          </a:stretch>
        </p:blipFill>
        <p:spPr>
          <a:xfrm>
            <a:off x="1556048" y="1267049"/>
            <a:ext cx="6273502" cy="4705126"/>
          </a:xfrm>
          <a:prstGeom prst="rect">
            <a:avLst/>
          </a:prstGeom>
        </p:spPr>
      </p:pic>
    </p:spTree>
    <p:extLst>
      <p:ext uri="{BB962C8B-B14F-4D97-AF65-F5344CB8AC3E}">
        <p14:creationId xmlns:p14="http://schemas.microsoft.com/office/powerpoint/2010/main" val="30895645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Python lists are implemented as dynamic arrays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graphicFrame>
            <p:nvGraphicFramePr>
              <p:cNvPr id="7" name="Tabelle 6">
                <a:extLst>
                  <a:ext uri="{FF2B5EF4-FFF2-40B4-BE49-F238E27FC236}">
                    <a16:creationId xmlns:a16="http://schemas.microsoft.com/office/drawing/2014/main" id="{B3903C2A-961F-4E32-958D-778B7FE21E38}"/>
                  </a:ext>
                </a:extLst>
              </p:cNvPr>
              <p:cNvGraphicFramePr/>
              <p:nvPr>
                <p:extLst>
                  <p:ext uri="{D42A27DB-BD31-4B8C-83A1-F6EECF244321}">
                    <p14:modId xmlns:p14="http://schemas.microsoft.com/office/powerpoint/2010/main" val="1186477134"/>
                  </p:ext>
                </p:extLst>
              </p:nvPr>
            </p:nvGraphicFramePr>
            <p:xfrm>
              <a:off x="2330879" y="1459950"/>
              <a:ext cx="4481941" cy="3938100"/>
            </p:xfrm>
            <a:graphic>
              <a:graphicData uri="http://schemas.openxmlformats.org/drawingml/2006/table">
                <a:tbl>
                  <a:tblPr firstRow="1" bandRow="1">
                    <a:tableStyleId>{21E4AEA4-8DFA-4A89-87EB-49C32662AFE0}</a:tableStyleId>
                  </a:tblPr>
                  <a:tblGrid>
                    <a:gridCol w="2953790">
                      <a:extLst>
                        <a:ext uri="{9D8B030D-6E8A-4147-A177-3AD203B41FA5}">
                          <a16:colId xmlns:a16="http://schemas.microsoft.com/office/drawing/2014/main" val="4091769654"/>
                        </a:ext>
                      </a:extLst>
                    </a:gridCol>
                    <a:gridCol w="1528151">
                      <a:extLst>
                        <a:ext uri="{9D8B030D-6E8A-4147-A177-3AD203B41FA5}">
                          <a16:colId xmlns:a16="http://schemas.microsoft.com/office/drawing/2014/main" val="20000"/>
                        </a:ext>
                      </a:extLst>
                    </a:gridCol>
                  </a:tblGrid>
                  <a:tr h="280042">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Operation</a:t>
                          </a:r>
                        </a:p>
                      </a:txBody>
                      <a:tcPr marL="63607" marR="63607" marT="32313" marB="32313" anchor="ctr"/>
                    </a:tc>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Complexity</a:t>
                          </a:r>
                        </a:p>
                      </a:txBody>
                      <a:tcPr marL="63607" marR="63607" marT="32313" marB="32313" anchor="ctr"/>
                    </a:tc>
                    <a:extLst>
                      <a:ext uri="{0D108BD9-81ED-4DB2-BD59-A6C34878D82A}">
                        <a16:rowId xmlns:a16="http://schemas.microsoft.com/office/drawing/2014/main" val="10000"/>
                      </a:ext>
                    </a:extLst>
                  </a:tr>
                  <a:tr h="280042">
                    <a:tc>
                      <a:txBody>
                        <a:bodyPr/>
                        <a:lstStyle/>
                        <a:p>
                          <a:pPr algn="l"/>
                          <a14:m>
                            <m:oMathPara xmlns:m="http://schemas.openxmlformats.org/officeDocument/2006/math">
                              <m:oMathParaPr>
                                <m:jc m:val="left"/>
                              </m:oMathParaPr>
                              <m:oMath xmlns:m="http://schemas.openxmlformats.org/officeDocument/2006/math">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𝑑𝑎𝑡𝑎</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𝑗</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 = </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𝑣𝑎𝑙𝑢𝑒</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0001"/>
                      </a:ext>
                    </a:extLst>
                  </a:tr>
                  <a:tr h="280042">
                    <a:tc>
                      <a:txBody>
                        <a:bodyPr/>
                        <a:lstStyle/>
                        <a:p>
                          <a:pPr algn="l"/>
                          <a14:m>
                            <m:oMathPara xmlns:m="http://schemas.openxmlformats.org/officeDocument/2006/math">
                              <m:oMathParaPr>
                                <m:jc m:val="left"/>
                              </m:oMathParaPr>
                              <m:oMath xmlns:m="http://schemas.openxmlformats.org/officeDocument/2006/math">
                                <m:r>
                                  <a:rPr lang="en-US" sz="1800" i="1" strike="noStrike" spc="-1" dirty="0" smtClean="0">
                                    <a:latin typeface="Cambria Math" panose="02040503050406030204" pitchFamily="18" charset="0"/>
                                    <a:ea typeface="Calibri" panose="020F0502020204030204" pitchFamily="34" charset="0"/>
                                    <a:cs typeface="Calibri" panose="020F0502020204030204" pitchFamily="34" charset="0"/>
                                  </a:rPr>
                                  <m:t>𝑑𝑎𝑡𝑎</m:t>
                                </m:r>
                                <m:r>
                                  <a:rPr lang="en-US" sz="180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en-US" sz="1800" i="1" strike="noStrike" spc="-1" dirty="0" smtClean="0">
                                    <a:latin typeface="Cambria Math" panose="02040503050406030204" pitchFamily="18" charset="0"/>
                                    <a:ea typeface="Calibri" panose="020F0502020204030204" pitchFamily="34" charset="0"/>
                                    <a:cs typeface="Calibri" panose="020F0502020204030204" pitchFamily="34" charset="0"/>
                                  </a:rPr>
                                  <m:t>𝑎𝑝𝑝𝑒𝑛𝑑</m:t>
                                </m:r>
                                <m:r>
                                  <a:rPr lang="en-US" sz="180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en-US" sz="1800" i="1" strike="noStrike" spc="-1" dirty="0" smtClean="0">
                                    <a:latin typeface="Cambria Math" panose="02040503050406030204" pitchFamily="18" charset="0"/>
                                    <a:ea typeface="Calibri" panose="020F0502020204030204" pitchFamily="34" charset="0"/>
                                    <a:cs typeface="Calibri" panose="020F0502020204030204" pitchFamily="34" charset="0"/>
                                  </a:rPr>
                                  <m:t>𝑣𝑎𝑙𝑢𝑒</m:t>
                                </m:r>
                                <m:r>
                                  <a:rPr lang="en-US" sz="180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14:m>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d>
                                <m:dPr>
                                  <m:ctrlP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ctrlPr>
                                </m:dPr>
                                <m:e>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e>
                              </m:d>
                            </m:oMath>
                          </a14:m>
                          <a:r>
                            <a:rPr lang="en-US" sz="1800" b="0" strike="noStrike" spc="-1" baseline="30000" dirty="0">
                              <a:latin typeface="Calibri" panose="020F0502020204030204" pitchFamily="34" charset="0"/>
                              <a:ea typeface="Calibri" panose="020F0502020204030204" pitchFamily="34" charset="0"/>
                              <a:cs typeface="Calibri" panose="020F0502020204030204" pitchFamily="34" charset="0"/>
                            </a:rPr>
                            <a:t>*</a:t>
                          </a:r>
                        </a:p>
                      </a:txBody>
                      <a:tcPr marL="63607" marR="63607" marT="32313" marB="32313"/>
                    </a:tc>
                    <a:extLst>
                      <a:ext uri="{0D108BD9-81ED-4DB2-BD59-A6C34878D82A}">
                        <a16:rowId xmlns:a16="http://schemas.microsoft.com/office/drawing/2014/main" val="10002"/>
                      </a:ext>
                    </a:extLst>
                  </a:tr>
                  <a:tr h="280042">
                    <a:tc>
                      <a:txBody>
                        <a:bodyPr/>
                        <a:lstStyle/>
                        <a:p>
                          <a:pPr algn="l"/>
                          <a14:m>
                            <m:oMathPara xmlns:m="http://schemas.openxmlformats.org/officeDocument/2006/math">
                              <m:oMathParaPr>
                                <m:jc m:val="left"/>
                              </m:oMathParaPr>
                              <m:oMath xmlns:m="http://schemas.openxmlformats.org/officeDocument/2006/math">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𝑑𝑎𝑡𝑎</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𝑖𝑛𝑠𝑒𝑟𝑡</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𝑘</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 </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𝑣𝑎𝑙𝑢𝑒</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𝑛</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𝑘</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oMath>
                          </a14:m>
                          <a:r>
                            <a:rPr lang="en-US" sz="1800" b="0" strike="noStrike" spc="-1" baseline="30000" dirty="0">
                              <a:latin typeface="Calibri" panose="020F0502020204030204" pitchFamily="34" charset="0"/>
                              <a:ea typeface="Calibri" panose="020F0502020204030204" pitchFamily="34" charset="0"/>
                              <a:cs typeface="Calibri" panose="020F0502020204030204" pitchFamily="34" charset="0"/>
                            </a:rPr>
                            <a:t>*</a:t>
                          </a:r>
                        </a:p>
                      </a:txBody>
                      <a:tcPr marL="63607" marR="63607" marT="32313" marB="32313"/>
                    </a:tc>
                    <a:extLst>
                      <a:ext uri="{0D108BD9-81ED-4DB2-BD59-A6C34878D82A}">
                        <a16:rowId xmlns:a16="http://schemas.microsoft.com/office/drawing/2014/main" val="10003"/>
                      </a:ext>
                    </a:extLst>
                  </a:tr>
                  <a:tr h="280042">
                    <a:tc>
                      <a:txBody>
                        <a:bodyPr/>
                        <a:lstStyle/>
                        <a:p>
                          <a:pPr algn="l"/>
                          <a14:m>
                            <m:oMathPara xmlns:m="http://schemas.openxmlformats.org/officeDocument/2006/math">
                              <m:oMathParaPr>
                                <m:jc m:val="left"/>
                              </m:oMathParaPr>
                              <m:oMath xmlns:m="http://schemas.openxmlformats.org/officeDocument/2006/math">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𝑑𝑎𝑡𝑎</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𝑝𝑜𝑝</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d>
                                <m:dPr>
                                  <m:ctrlP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ctrlPr>
                                </m:dPr>
                                <m:e>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e>
                              </m:d>
                            </m:oMath>
                          </a14:m>
                          <a:r>
                            <a:rPr lang="en-US" sz="1800" b="0" strike="noStrike" spc="-1" baseline="30000" dirty="0">
                              <a:latin typeface="Calibri" panose="020F0502020204030204" pitchFamily="34" charset="0"/>
                              <a:ea typeface="Calibri" panose="020F0502020204030204" pitchFamily="34" charset="0"/>
                              <a:cs typeface="Calibri" panose="020F0502020204030204" pitchFamily="34" charset="0"/>
                            </a:rPr>
                            <a:t>*</a:t>
                          </a:r>
                        </a:p>
                      </a:txBody>
                      <a:tcPr marL="63607" marR="63607" marT="32313" marB="32313"/>
                    </a:tc>
                    <a:extLst>
                      <a:ext uri="{0D108BD9-81ED-4DB2-BD59-A6C34878D82A}">
                        <a16:rowId xmlns:a16="http://schemas.microsoft.com/office/drawing/2014/main" val="1789822921"/>
                      </a:ext>
                    </a:extLst>
                  </a:tr>
                  <a:tr h="280042">
                    <a:tc>
                      <a:txBody>
                        <a:bodyPr/>
                        <a:lstStyle/>
                        <a:p>
                          <a:pPr algn="l"/>
                          <a14:m>
                            <m:oMathPara xmlns:m="http://schemas.openxmlformats.org/officeDocument/2006/math">
                              <m:oMathParaPr>
                                <m:jc m:val="left"/>
                              </m:oMathParaPr>
                              <m:oMath xmlns:m="http://schemas.openxmlformats.org/officeDocument/2006/math">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𝑑𝑎𝑡𝑎</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𝑝𝑜𝑝</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𝑘</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p>
                          <a:pPr algn="l"/>
                          <a14:m>
                            <m:oMathPara xmlns:m="http://schemas.openxmlformats.org/officeDocument/2006/math">
                              <m:oMathParaPr>
                                <m:jc m:val="left"/>
                              </m:oMathParaPr>
                              <m:oMath xmlns:m="http://schemas.openxmlformats.org/officeDocument/2006/math">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𝑑𝑒𝑙</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 </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𝑑𝑎𝑡𝑎</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𝑘</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𝑛</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𝑘</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oMath>
                          </a14:m>
                          <a:r>
                            <a:rPr lang="en-US" sz="1800" b="0" strike="noStrike" spc="-1" baseline="30000" dirty="0">
                              <a:latin typeface="Calibri" panose="020F0502020204030204" pitchFamily="34" charset="0"/>
                              <a:ea typeface="Calibri" panose="020F0502020204030204" pitchFamily="34" charset="0"/>
                              <a:cs typeface="Calibri" panose="020F0502020204030204" pitchFamily="34" charset="0"/>
                            </a:rPr>
                            <a:t>*</a:t>
                          </a:r>
                        </a:p>
                      </a:txBody>
                      <a:tcPr marL="63607" marR="63607" marT="32313" marB="32313"/>
                    </a:tc>
                    <a:extLst>
                      <a:ext uri="{0D108BD9-81ED-4DB2-BD59-A6C34878D82A}">
                        <a16:rowId xmlns:a16="http://schemas.microsoft.com/office/drawing/2014/main" val="3644088934"/>
                      </a:ext>
                    </a:extLst>
                  </a:tr>
                  <a:tr h="280042">
                    <a:tc>
                      <a:txBody>
                        <a:bodyPr/>
                        <a:lstStyle/>
                        <a:p>
                          <a:pPr algn="l"/>
                          <a14:m>
                            <m:oMathPara xmlns:m="http://schemas.openxmlformats.org/officeDocument/2006/math">
                              <m:oMathParaPr>
                                <m:jc m:val="left"/>
                              </m:oMathParaPr>
                              <m:oMath xmlns:m="http://schemas.openxmlformats.org/officeDocument/2006/math">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𝑑𝑎𝑡𝑎</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𝑟𝑒𝑚𝑜𝑣𝑒</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𝑣𝑎𝑙𝑢𝑒</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𝑛</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oMath>
                          </a14:m>
                          <a:r>
                            <a:rPr lang="en-US" sz="1800" b="0" strike="noStrike" spc="-1" baseline="30000" dirty="0">
                              <a:latin typeface="Calibri" panose="020F0502020204030204" pitchFamily="34" charset="0"/>
                              <a:ea typeface="Calibri" panose="020F0502020204030204" pitchFamily="34" charset="0"/>
                              <a:cs typeface="Calibri" panose="020F0502020204030204" pitchFamily="34" charset="0"/>
                            </a:rPr>
                            <a:t>*</a:t>
                          </a:r>
                        </a:p>
                      </a:txBody>
                      <a:tcPr marL="63607" marR="63607" marT="32313" marB="32313"/>
                    </a:tc>
                    <a:extLst>
                      <a:ext uri="{0D108BD9-81ED-4DB2-BD59-A6C34878D82A}">
                        <a16:rowId xmlns:a16="http://schemas.microsoft.com/office/drawing/2014/main" val="1427484794"/>
                      </a:ext>
                    </a:extLst>
                  </a:tr>
                  <a:tr h="280042">
                    <a:tc>
                      <a:txBody>
                        <a:bodyPr/>
                        <a:lstStyle/>
                        <a:p>
                          <a:pPr algn="l"/>
                          <a14:m>
                            <m:oMathPara xmlns:m="http://schemas.openxmlformats.org/officeDocument/2006/math">
                              <m:oMathParaPr>
                                <m:jc m:val="left"/>
                              </m:oMathParaPr>
                              <m:oMath xmlns:m="http://schemas.openxmlformats.org/officeDocument/2006/math">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𝑑𝑎𝑡𝑎</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1.</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𝑒𝑥𝑡𝑒𝑛𝑑</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𝑑𝑎𝑡𝑎</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2)</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p>
                          <a:pPr algn="l"/>
                          <a14:m>
                            <m:oMathPara xmlns:m="http://schemas.openxmlformats.org/officeDocument/2006/math">
                              <m:oMathParaPr>
                                <m:jc m:val="left"/>
                              </m:oMathParaPr>
                              <m:oMath xmlns:m="http://schemas.openxmlformats.org/officeDocument/2006/math">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𝑑𝑎𝑡𝑎</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1 += </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𝑑𝑎𝑡𝑎</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2</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ctrlPr>
                                </m:sSubPr>
                                <m:e>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𝑛</m:t>
                                  </m:r>
                                </m:e>
                                <m:sub>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2</m:t>
                                  </m:r>
                                </m:sub>
                              </m:sSub>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oMath>
                          </a14:m>
                          <a:r>
                            <a:rPr lang="en-US" sz="1800" b="0" strike="noStrike" spc="-1" baseline="30000" dirty="0">
                              <a:latin typeface="Calibri" panose="020F0502020204030204" pitchFamily="34" charset="0"/>
                              <a:ea typeface="Calibri" panose="020F0502020204030204" pitchFamily="34" charset="0"/>
                              <a:cs typeface="Calibri" panose="020F0502020204030204" pitchFamily="34" charset="0"/>
                            </a:rPr>
                            <a:t>*</a:t>
                          </a:r>
                        </a:p>
                      </a:txBody>
                      <a:tcPr marL="63607" marR="63607" marT="32313" marB="32313"/>
                    </a:tc>
                    <a:extLst>
                      <a:ext uri="{0D108BD9-81ED-4DB2-BD59-A6C34878D82A}">
                        <a16:rowId xmlns:a16="http://schemas.microsoft.com/office/drawing/2014/main" val="3249249491"/>
                      </a:ext>
                    </a:extLst>
                  </a:tr>
                  <a:tr h="280042">
                    <a:tc>
                      <a:txBody>
                        <a:bodyPr/>
                        <a:lstStyle/>
                        <a:p>
                          <a:pPr algn="l"/>
                          <a14:m>
                            <m:oMathPara xmlns:m="http://schemas.openxmlformats.org/officeDocument/2006/math">
                              <m:oMathParaPr>
                                <m:jc m:val="left"/>
                              </m:oMathParaPr>
                              <m:oMath xmlns:m="http://schemas.openxmlformats.org/officeDocument/2006/math">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𝑑𝑎𝑡𝑎</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𝑟𝑒𝑣𝑒𝑟𝑠𝑒</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𝑛</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746889954"/>
                      </a:ext>
                    </a:extLst>
                  </a:tr>
                  <a:tr h="280042">
                    <a:tc>
                      <a:txBody>
                        <a:bodyPr/>
                        <a:lstStyle/>
                        <a:p>
                          <a:pPr algn="l"/>
                          <a14:m>
                            <m:oMathPara xmlns:m="http://schemas.openxmlformats.org/officeDocument/2006/math">
                              <m:oMathParaPr>
                                <m:jc m:val="left"/>
                              </m:oMathParaPr>
                              <m:oMath xmlns:m="http://schemas.openxmlformats.org/officeDocument/2006/math">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𝑑𝑎𝑡𝑎</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𝑠𝑜𝑟𝑡</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𝑛</m:t>
                                </m:r>
                                <m:func>
                                  <m:funcPr>
                                    <m:ctrlP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de-AT" sz="1800" b="0" i="0" strike="noStrike" spc="-1" smtClean="0">
                                        <a:latin typeface="Cambria Math" panose="02040503050406030204" pitchFamily="18" charset="0"/>
                                        <a:ea typeface="Calibri" panose="020F0502020204030204" pitchFamily="34" charset="0"/>
                                        <a:cs typeface="Calibri" panose="020F0502020204030204" pitchFamily="34" charset="0"/>
                                      </a:rPr>
                                      <m:t>log</m:t>
                                    </m:r>
                                  </m:fName>
                                  <m:e>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𝑛</m:t>
                                    </m:r>
                                  </m:e>
                                </m:func>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3473287688"/>
                      </a:ext>
                    </a:extLst>
                  </a:tr>
                </a:tbl>
              </a:graphicData>
            </a:graphic>
          </p:graphicFrame>
        </mc:Choice>
        <mc:Fallback xmlns="">
          <p:graphicFrame>
            <p:nvGraphicFramePr>
              <p:cNvPr id="7" name="Tabelle 6">
                <a:extLst>
                  <a:ext uri="{FF2B5EF4-FFF2-40B4-BE49-F238E27FC236}">
                    <a16:creationId xmlns:a16="http://schemas.microsoft.com/office/drawing/2014/main" id="{B3903C2A-961F-4E32-958D-778B7FE21E38}"/>
                  </a:ext>
                </a:extLst>
              </p:cNvPr>
              <p:cNvGraphicFramePr/>
              <p:nvPr>
                <p:extLst>
                  <p:ext uri="{D42A27DB-BD31-4B8C-83A1-F6EECF244321}">
                    <p14:modId xmlns:p14="http://schemas.microsoft.com/office/powerpoint/2010/main" val="1186477134"/>
                  </p:ext>
                </p:extLst>
              </p:nvPr>
            </p:nvGraphicFramePr>
            <p:xfrm>
              <a:off x="2330879" y="1459950"/>
              <a:ext cx="4481941" cy="3938100"/>
            </p:xfrm>
            <a:graphic>
              <a:graphicData uri="http://schemas.openxmlformats.org/drawingml/2006/table">
                <a:tbl>
                  <a:tblPr firstRow="1" bandRow="1">
                    <a:tableStyleId>{21E4AEA4-8DFA-4A89-87EB-49C32662AFE0}</a:tableStyleId>
                  </a:tblPr>
                  <a:tblGrid>
                    <a:gridCol w="2953790">
                      <a:extLst>
                        <a:ext uri="{9D8B030D-6E8A-4147-A177-3AD203B41FA5}">
                          <a16:colId xmlns:a16="http://schemas.microsoft.com/office/drawing/2014/main" val="4091769654"/>
                        </a:ext>
                      </a:extLst>
                    </a:gridCol>
                    <a:gridCol w="1528151">
                      <a:extLst>
                        <a:ext uri="{9D8B030D-6E8A-4147-A177-3AD203B41FA5}">
                          <a16:colId xmlns:a16="http://schemas.microsoft.com/office/drawing/2014/main" val="20000"/>
                        </a:ext>
                      </a:extLst>
                    </a:gridCol>
                  </a:tblGrid>
                  <a:tr h="338946">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Operation</a:t>
                          </a:r>
                        </a:p>
                      </a:txBody>
                      <a:tcPr marL="63607" marR="63607" marT="32313" marB="32313" anchor="ctr"/>
                    </a:tc>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Complexity</a:t>
                          </a:r>
                        </a:p>
                      </a:txBody>
                      <a:tcPr marL="63607" marR="63607" marT="32313" marB="32313" anchor="ctr"/>
                    </a:tc>
                    <a:extLst>
                      <a:ext uri="{0D108BD9-81ED-4DB2-BD59-A6C34878D82A}">
                        <a16:rowId xmlns:a16="http://schemas.microsoft.com/office/drawing/2014/main" val="10000"/>
                      </a:ext>
                    </a:extLst>
                  </a:tr>
                  <a:tr h="338946">
                    <a:tc>
                      <a:txBody>
                        <a:bodyPr/>
                        <a:lstStyle/>
                        <a:p>
                          <a:endParaRPr lang="de-DE"/>
                        </a:p>
                      </a:txBody>
                      <a:tcPr marL="63607" marR="63607" marT="32313" marB="32313">
                        <a:blipFill>
                          <a:blip r:embed="rId3"/>
                          <a:stretch>
                            <a:fillRect l="-206" t="-114545" r="-52577" b="-994545"/>
                          </a:stretch>
                        </a:blipFill>
                      </a:tcPr>
                    </a:tc>
                    <a:tc>
                      <a:txBody>
                        <a:bodyPr/>
                        <a:lstStyle/>
                        <a:p>
                          <a:endParaRPr lang="de-DE"/>
                        </a:p>
                      </a:txBody>
                      <a:tcPr marL="63607" marR="63607" marT="32313" marB="32313">
                        <a:blipFill>
                          <a:blip r:embed="rId3"/>
                          <a:stretch>
                            <a:fillRect l="-193625" t="-114545" r="-1594" b="-994545"/>
                          </a:stretch>
                        </a:blipFill>
                      </a:tcPr>
                    </a:tc>
                    <a:extLst>
                      <a:ext uri="{0D108BD9-81ED-4DB2-BD59-A6C34878D82A}">
                        <a16:rowId xmlns:a16="http://schemas.microsoft.com/office/drawing/2014/main" val="10001"/>
                      </a:ext>
                    </a:extLst>
                  </a:tr>
                  <a:tr h="338946">
                    <a:tc>
                      <a:txBody>
                        <a:bodyPr/>
                        <a:lstStyle/>
                        <a:p>
                          <a:endParaRPr lang="de-DE"/>
                        </a:p>
                      </a:txBody>
                      <a:tcPr marL="63607" marR="63607" marT="32313" marB="32313">
                        <a:blipFill>
                          <a:blip r:embed="rId3"/>
                          <a:stretch>
                            <a:fillRect l="-206" t="-210714" r="-52577" b="-876786"/>
                          </a:stretch>
                        </a:blipFill>
                      </a:tcPr>
                    </a:tc>
                    <a:tc>
                      <a:txBody>
                        <a:bodyPr/>
                        <a:lstStyle/>
                        <a:p>
                          <a:endParaRPr lang="de-DE"/>
                        </a:p>
                      </a:txBody>
                      <a:tcPr marL="63607" marR="63607" marT="32313" marB="32313">
                        <a:blipFill>
                          <a:blip r:embed="rId3"/>
                          <a:stretch>
                            <a:fillRect l="-193625" t="-210714" r="-1594" b="-876786"/>
                          </a:stretch>
                        </a:blipFill>
                      </a:tcPr>
                    </a:tc>
                    <a:extLst>
                      <a:ext uri="{0D108BD9-81ED-4DB2-BD59-A6C34878D82A}">
                        <a16:rowId xmlns:a16="http://schemas.microsoft.com/office/drawing/2014/main" val="10002"/>
                      </a:ext>
                    </a:extLst>
                  </a:tr>
                  <a:tr h="338946">
                    <a:tc>
                      <a:txBody>
                        <a:bodyPr/>
                        <a:lstStyle/>
                        <a:p>
                          <a:endParaRPr lang="de-DE"/>
                        </a:p>
                      </a:txBody>
                      <a:tcPr marL="63607" marR="63607" marT="32313" marB="32313">
                        <a:blipFill>
                          <a:blip r:embed="rId3"/>
                          <a:stretch>
                            <a:fillRect l="-206" t="-310714" r="-52577" b="-776786"/>
                          </a:stretch>
                        </a:blipFill>
                      </a:tcPr>
                    </a:tc>
                    <a:tc>
                      <a:txBody>
                        <a:bodyPr/>
                        <a:lstStyle/>
                        <a:p>
                          <a:endParaRPr lang="de-DE"/>
                        </a:p>
                      </a:txBody>
                      <a:tcPr marL="63607" marR="63607" marT="32313" marB="32313">
                        <a:blipFill>
                          <a:blip r:embed="rId3"/>
                          <a:stretch>
                            <a:fillRect l="-193625" t="-310714" r="-1594" b="-776786"/>
                          </a:stretch>
                        </a:blipFill>
                      </a:tcPr>
                    </a:tc>
                    <a:extLst>
                      <a:ext uri="{0D108BD9-81ED-4DB2-BD59-A6C34878D82A}">
                        <a16:rowId xmlns:a16="http://schemas.microsoft.com/office/drawing/2014/main" val="10003"/>
                      </a:ext>
                    </a:extLst>
                  </a:tr>
                  <a:tr h="338946">
                    <a:tc>
                      <a:txBody>
                        <a:bodyPr/>
                        <a:lstStyle/>
                        <a:p>
                          <a:endParaRPr lang="de-DE"/>
                        </a:p>
                      </a:txBody>
                      <a:tcPr marL="63607" marR="63607" marT="32313" marB="32313">
                        <a:blipFill>
                          <a:blip r:embed="rId3"/>
                          <a:stretch>
                            <a:fillRect l="-206" t="-418182" r="-52577" b="-690909"/>
                          </a:stretch>
                        </a:blipFill>
                      </a:tcPr>
                    </a:tc>
                    <a:tc>
                      <a:txBody>
                        <a:bodyPr/>
                        <a:lstStyle/>
                        <a:p>
                          <a:endParaRPr lang="de-DE"/>
                        </a:p>
                      </a:txBody>
                      <a:tcPr marL="63607" marR="63607" marT="32313" marB="32313">
                        <a:blipFill>
                          <a:blip r:embed="rId3"/>
                          <a:stretch>
                            <a:fillRect l="-193625" t="-418182" r="-1594" b="-690909"/>
                          </a:stretch>
                        </a:blipFill>
                      </a:tcPr>
                    </a:tc>
                    <a:extLst>
                      <a:ext uri="{0D108BD9-81ED-4DB2-BD59-A6C34878D82A}">
                        <a16:rowId xmlns:a16="http://schemas.microsoft.com/office/drawing/2014/main" val="1789822921"/>
                      </a:ext>
                    </a:extLst>
                  </a:tr>
                  <a:tr h="613266">
                    <a:tc>
                      <a:txBody>
                        <a:bodyPr/>
                        <a:lstStyle/>
                        <a:p>
                          <a:endParaRPr lang="de-DE"/>
                        </a:p>
                      </a:txBody>
                      <a:tcPr marL="63607" marR="63607" marT="32313" marB="32313">
                        <a:blipFill>
                          <a:blip r:embed="rId3"/>
                          <a:stretch>
                            <a:fillRect l="-206" t="-282178" r="-52577" b="-276238"/>
                          </a:stretch>
                        </a:blipFill>
                      </a:tcPr>
                    </a:tc>
                    <a:tc>
                      <a:txBody>
                        <a:bodyPr/>
                        <a:lstStyle/>
                        <a:p>
                          <a:endParaRPr lang="de-DE"/>
                        </a:p>
                      </a:txBody>
                      <a:tcPr marL="63607" marR="63607" marT="32313" marB="32313">
                        <a:blipFill>
                          <a:blip r:embed="rId3"/>
                          <a:stretch>
                            <a:fillRect l="-193625" t="-282178" r="-1594" b="-276238"/>
                          </a:stretch>
                        </a:blipFill>
                      </a:tcPr>
                    </a:tc>
                    <a:extLst>
                      <a:ext uri="{0D108BD9-81ED-4DB2-BD59-A6C34878D82A}">
                        <a16:rowId xmlns:a16="http://schemas.microsoft.com/office/drawing/2014/main" val="3644088934"/>
                      </a:ext>
                    </a:extLst>
                  </a:tr>
                  <a:tr h="338946">
                    <a:tc>
                      <a:txBody>
                        <a:bodyPr/>
                        <a:lstStyle/>
                        <a:p>
                          <a:endParaRPr lang="de-DE"/>
                        </a:p>
                      </a:txBody>
                      <a:tcPr marL="63607" marR="63607" marT="32313" marB="32313">
                        <a:blipFill>
                          <a:blip r:embed="rId3"/>
                          <a:stretch>
                            <a:fillRect l="-206" t="-689286" r="-52577" b="-398214"/>
                          </a:stretch>
                        </a:blipFill>
                      </a:tcPr>
                    </a:tc>
                    <a:tc>
                      <a:txBody>
                        <a:bodyPr/>
                        <a:lstStyle/>
                        <a:p>
                          <a:endParaRPr lang="de-DE"/>
                        </a:p>
                      </a:txBody>
                      <a:tcPr marL="63607" marR="63607" marT="32313" marB="32313">
                        <a:blipFill>
                          <a:blip r:embed="rId3"/>
                          <a:stretch>
                            <a:fillRect l="-193625" t="-689286" r="-1594" b="-398214"/>
                          </a:stretch>
                        </a:blipFill>
                      </a:tcPr>
                    </a:tc>
                    <a:extLst>
                      <a:ext uri="{0D108BD9-81ED-4DB2-BD59-A6C34878D82A}">
                        <a16:rowId xmlns:a16="http://schemas.microsoft.com/office/drawing/2014/main" val="1427484794"/>
                      </a:ext>
                    </a:extLst>
                  </a:tr>
                  <a:tr h="613266">
                    <a:tc>
                      <a:txBody>
                        <a:bodyPr/>
                        <a:lstStyle/>
                        <a:p>
                          <a:endParaRPr lang="de-DE"/>
                        </a:p>
                      </a:txBody>
                      <a:tcPr marL="63607" marR="63607" marT="32313" marB="32313">
                        <a:blipFill>
                          <a:blip r:embed="rId3"/>
                          <a:stretch>
                            <a:fillRect l="-206" t="-437624" r="-52577" b="-120792"/>
                          </a:stretch>
                        </a:blipFill>
                      </a:tcPr>
                    </a:tc>
                    <a:tc>
                      <a:txBody>
                        <a:bodyPr/>
                        <a:lstStyle/>
                        <a:p>
                          <a:endParaRPr lang="de-DE"/>
                        </a:p>
                      </a:txBody>
                      <a:tcPr marL="63607" marR="63607" marT="32313" marB="32313">
                        <a:blipFill>
                          <a:blip r:embed="rId3"/>
                          <a:stretch>
                            <a:fillRect l="-193625" t="-437624" r="-1594" b="-120792"/>
                          </a:stretch>
                        </a:blipFill>
                      </a:tcPr>
                    </a:tc>
                    <a:extLst>
                      <a:ext uri="{0D108BD9-81ED-4DB2-BD59-A6C34878D82A}">
                        <a16:rowId xmlns:a16="http://schemas.microsoft.com/office/drawing/2014/main" val="3249249491"/>
                      </a:ext>
                    </a:extLst>
                  </a:tr>
                  <a:tr h="338946">
                    <a:tc>
                      <a:txBody>
                        <a:bodyPr/>
                        <a:lstStyle/>
                        <a:p>
                          <a:endParaRPr lang="de-DE"/>
                        </a:p>
                      </a:txBody>
                      <a:tcPr marL="63607" marR="63607" marT="32313" marB="32313">
                        <a:blipFill>
                          <a:blip r:embed="rId3"/>
                          <a:stretch>
                            <a:fillRect l="-206" t="-987273" r="-52577" b="-121818"/>
                          </a:stretch>
                        </a:blipFill>
                      </a:tcPr>
                    </a:tc>
                    <a:tc>
                      <a:txBody>
                        <a:bodyPr/>
                        <a:lstStyle/>
                        <a:p>
                          <a:endParaRPr lang="de-DE"/>
                        </a:p>
                      </a:txBody>
                      <a:tcPr marL="63607" marR="63607" marT="32313" marB="32313">
                        <a:blipFill>
                          <a:blip r:embed="rId3"/>
                          <a:stretch>
                            <a:fillRect l="-193625" t="-987273" r="-1594" b="-121818"/>
                          </a:stretch>
                        </a:blipFill>
                      </a:tcPr>
                    </a:tc>
                    <a:extLst>
                      <a:ext uri="{0D108BD9-81ED-4DB2-BD59-A6C34878D82A}">
                        <a16:rowId xmlns:a16="http://schemas.microsoft.com/office/drawing/2014/main" val="1746889954"/>
                      </a:ext>
                    </a:extLst>
                  </a:tr>
                  <a:tr h="338946">
                    <a:tc>
                      <a:txBody>
                        <a:bodyPr/>
                        <a:lstStyle/>
                        <a:p>
                          <a:endParaRPr lang="de-DE"/>
                        </a:p>
                      </a:txBody>
                      <a:tcPr marL="63607" marR="63607" marT="32313" marB="32313">
                        <a:blipFill>
                          <a:blip r:embed="rId3"/>
                          <a:stretch>
                            <a:fillRect l="-206" t="-1067857" r="-52577" b="-19643"/>
                          </a:stretch>
                        </a:blipFill>
                      </a:tcPr>
                    </a:tc>
                    <a:tc>
                      <a:txBody>
                        <a:bodyPr/>
                        <a:lstStyle/>
                        <a:p>
                          <a:endParaRPr lang="de-DE"/>
                        </a:p>
                      </a:txBody>
                      <a:tcPr marL="63607" marR="63607" marT="32313" marB="32313">
                        <a:blipFill>
                          <a:blip r:embed="rId3"/>
                          <a:stretch>
                            <a:fillRect l="-193625" t="-1067857" r="-1594" b="-19643"/>
                          </a:stretch>
                        </a:blipFill>
                      </a:tcPr>
                    </a:tc>
                    <a:extLst>
                      <a:ext uri="{0D108BD9-81ED-4DB2-BD59-A6C34878D82A}">
                        <a16:rowId xmlns:a16="http://schemas.microsoft.com/office/drawing/2014/main" val="3473287688"/>
                      </a:ext>
                    </a:extLst>
                  </a:tr>
                </a:tbl>
              </a:graphicData>
            </a:graphic>
          </p:graphicFrame>
        </mc:Fallback>
      </mc:AlternateContent>
      <p:sp>
        <p:nvSpPr>
          <p:cNvPr id="3" name="Textfeld 2">
            <a:extLst>
              <a:ext uri="{FF2B5EF4-FFF2-40B4-BE49-F238E27FC236}">
                <a16:creationId xmlns:a16="http://schemas.microsoft.com/office/drawing/2014/main" id="{263DA31A-ABA4-4E15-833B-D6CD7F78844E}"/>
              </a:ext>
            </a:extLst>
          </p:cNvPr>
          <p:cNvSpPr txBox="1"/>
          <p:nvPr/>
        </p:nvSpPr>
        <p:spPr>
          <a:xfrm>
            <a:off x="5329237" y="5439600"/>
            <a:ext cx="1269899" cy="369332"/>
          </a:xfrm>
          <a:prstGeom prst="rect">
            <a:avLst/>
          </a:prstGeom>
          <a:noFill/>
        </p:spPr>
        <p:txBody>
          <a:bodyPr wrap="none" rtlCol="0">
            <a:spAutoFit/>
          </a:bodyPr>
          <a:lstStyle/>
          <a:p>
            <a:r>
              <a:rPr lang="de-AT" sz="1800" baseline="30000" dirty="0">
                <a:latin typeface="Calibri" panose="020F0502020204030204" pitchFamily="34" charset="0"/>
                <a:ea typeface="Calibri" panose="020F0502020204030204" pitchFamily="34" charset="0"/>
                <a:cs typeface="Calibri" panose="020F0502020204030204" pitchFamily="34" charset="0"/>
              </a:rPr>
              <a: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amortized</a:t>
            </a:r>
            <a:endParaRPr lang="de-AT"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578465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3591982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p:sp>
        <p:nvSpPr>
          <p:cNvPr id="4" name="Textfeld 2">
            <a:extLst>
              <a:ext uri="{FF2B5EF4-FFF2-40B4-BE49-F238E27FC236}">
                <a16:creationId xmlns:a16="http://schemas.microsoft.com/office/drawing/2014/main" id="{B1AB2DE2-BFB4-403B-9976-58C0812A00AF}"/>
              </a:ext>
            </a:extLst>
          </p:cNvPr>
          <p:cNvSpPr txBox="1"/>
          <p:nvPr/>
        </p:nvSpPr>
        <p:spPr>
          <a:xfrm>
            <a:off x="457200" y="1605600"/>
            <a:ext cx="8229600" cy="2308324"/>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3: </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Using the previous code for measuring the time of append operation as a template, measure the time of inserting the element at the first, middle, and the last position in the list. Repeat the experiment for the lists of size 1, 10, 100, 1000, 10000, 100000. Store the results </a:t>
            </a:r>
            <a:r>
              <a:rPr lang="en-US" sz="1800" dirty="0">
                <a:latin typeface="Calibri" panose="020F0502020204030204" pitchFamily="34" charset="0"/>
                <a:cs typeface="Calibri" panose="020F0502020204030204" pitchFamily="34" charset="0"/>
              </a:rPr>
              <a:t>and plot them at the end of the experiment. Use a logarithmic scale for the list size.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 4: </a:t>
            </a:r>
            <a:r>
              <a:rPr lang="en-US" sz="1800" dirty="0">
                <a:latin typeface="Calibri" panose="020F0502020204030204" pitchFamily="34" charset="0"/>
                <a:cs typeface="Calibri" panose="020F0502020204030204" pitchFamily="34" charset="0"/>
              </a:rPr>
              <a:t>Repeat the previous example but use the pop operation for removing the elements instead of insert operation.</a:t>
            </a:r>
          </a:p>
        </p:txBody>
      </p:sp>
    </p:spTree>
    <p:extLst>
      <p:ext uri="{BB962C8B-B14F-4D97-AF65-F5344CB8AC3E}">
        <p14:creationId xmlns:p14="http://schemas.microsoft.com/office/powerpoint/2010/main" val="40674449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Stacks</a:t>
            </a:r>
            <a:endParaRPr lang="en-US" sz="4400" b="1" noProof="0" dirty="0"/>
          </a:p>
        </p:txBody>
      </p:sp>
    </p:spTree>
    <p:extLst>
      <p:ext uri="{BB962C8B-B14F-4D97-AF65-F5344CB8AC3E}">
        <p14:creationId xmlns:p14="http://schemas.microsoft.com/office/powerpoint/2010/main" val="37779381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Stacks</a:t>
            </a:r>
            <a:endParaRPr lang="en-US" sz="2800" b="1" noProof="0" dirty="0">
              <a:latin typeface="Calibri" panose="020F0502020204030204" pitchFamily="34" charset="0"/>
              <a:cs typeface="Calibri" panose="020F0502020204030204" pitchFamily="34" charset="0"/>
            </a:endParaRP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250156"/>
            <a:ext cx="8229300" cy="3636170"/>
          </a:xfrm>
        </p:spPr>
        <p:txBody>
          <a:bodyPr/>
          <a:lstStyle/>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A </a:t>
            </a:r>
            <a:r>
              <a:rPr lang="de-AT" sz="1800" dirty="0" err="1">
                <a:latin typeface="Calibri" panose="020F0502020204030204" pitchFamily="34" charset="0"/>
                <a:ea typeface="Calibri" panose="020F0502020204030204" pitchFamily="34" charset="0"/>
                <a:cs typeface="Calibri" panose="020F0502020204030204" pitchFamily="34" charset="0"/>
              </a:rPr>
              <a:t>stack</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collection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objects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following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b="1" dirty="0">
                <a:latin typeface="Calibri" panose="020F0502020204030204" pitchFamily="34" charset="0"/>
                <a:ea typeface="Calibri" panose="020F0502020204030204" pitchFamily="34" charset="0"/>
                <a:cs typeface="Calibri" panose="020F0502020204030204" pitchFamily="34" charset="0"/>
              </a:rPr>
              <a:t>last-in, first-out (LIFO) </a:t>
            </a:r>
            <a:r>
              <a:rPr lang="de-AT" sz="1800" dirty="0" err="1">
                <a:latin typeface="Calibri" panose="020F0502020204030204" pitchFamily="34" charset="0"/>
                <a:ea typeface="Calibri" panose="020F0502020204030204" pitchFamily="34" charset="0"/>
                <a:cs typeface="Calibri" panose="020F0502020204030204" pitchFamily="34" charset="0"/>
              </a:rPr>
              <a:t>principle</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Users </a:t>
            </a:r>
            <a:r>
              <a:rPr lang="de-AT" sz="1800" dirty="0" err="1">
                <a:latin typeface="Calibri" panose="020F0502020204030204" pitchFamily="34" charset="0"/>
                <a:ea typeface="Calibri" panose="020F0502020204030204" pitchFamily="34" charset="0"/>
                <a:cs typeface="Calibri" panose="020F0502020204030204" pitchFamily="34" charset="0"/>
              </a:rPr>
              <a:t>can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insert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objects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into</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stack</a:t>
            </a:r>
            <a:r>
              <a:rPr lang="de-AT" sz="1800" dirty="0">
                <a:latin typeface="Calibri" panose="020F0502020204030204" pitchFamily="34" charset="0"/>
                <a:ea typeface="Calibri" panose="020F0502020204030204" pitchFamily="34" charset="0"/>
                <a:cs typeface="Calibri" panose="020F0502020204030204" pitchFamily="34" charset="0"/>
              </a:rPr>
              <a:t> at </a:t>
            </a:r>
            <a:r>
              <a:rPr lang="de-AT" sz="1800" dirty="0" err="1">
                <a:latin typeface="Calibri" panose="020F0502020204030204" pitchFamily="34" charset="0"/>
                <a:ea typeface="Calibri" panose="020F0502020204030204" pitchFamily="34" charset="0"/>
                <a:cs typeface="Calibri" panose="020F0502020204030204" pitchFamily="34" charset="0"/>
              </a:rPr>
              <a:t>any</a:t>
            </a:r>
            <a:r>
              <a:rPr lang="de-AT" sz="1800" dirty="0">
                <a:latin typeface="Calibri" panose="020F0502020204030204" pitchFamily="34" charset="0"/>
                <a:ea typeface="Calibri" panose="020F0502020204030204" pitchFamily="34" charset="0"/>
                <a:cs typeface="Calibri" panose="020F0502020204030204" pitchFamily="34" charset="0"/>
              </a:rPr>
              <a:t> time</a:t>
            </a: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But </a:t>
            </a:r>
            <a:r>
              <a:rPr lang="de-AT" sz="1800" dirty="0" err="1">
                <a:latin typeface="Calibri" panose="020F0502020204030204" pitchFamily="34" charset="0"/>
                <a:ea typeface="Calibri" panose="020F0502020204030204" pitchFamily="34" charset="0"/>
                <a:cs typeface="Calibri" panose="020F0502020204030204" pitchFamily="34" charset="0"/>
              </a:rPr>
              <a:t>you</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can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only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access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remove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most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recently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inserted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object</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a:t>
            </a:r>
            <a:r>
              <a:rPr lang="de-AT" sz="1800" dirty="0" err="1">
                <a:latin typeface="Calibri" panose="020F0502020204030204" pitchFamily="34" charset="0"/>
                <a:ea typeface="Calibri" panose="020F0502020204030204" pitchFamily="34" charset="0"/>
                <a:cs typeface="Calibri" panose="020F0502020204030204" pitchFamily="34" charset="0"/>
              </a:rPr>
              <a:t>most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recently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added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object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remains</a:t>
            </a:r>
            <a:r>
              <a:rPr lang="de-AT" sz="1800" dirty="0">
                <a:latin typeface="Calibri" panose="020F0502020204030204" pitchFamily="34" charset="0"/>
                <a:ea typeface="Calibri" panose="020F0502020204030204" pitchFamily="34" charset="0"/>
                <a:cs typeface="Calibri" panose="020F0502020204030204" pitchFamily="34" charset="0"/>
              </a:rPr>
              <a:t>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b="1" dirty="0">
                <a:latin typeface="Calibri" panose="020F0502020204030204" pitchFamily="34" charset="0"/>
                <a:ea typeface="Calibri" panose="020F0502020204030204" pitchFamily="34" charset="0"/>
                <a:cs typeface="Calibri" panose="020F0502020204030204" pitchFamily="34" charset="0"/>
              </a:rPr>
              <a:t>top </a:t>
            </a:r>
            <a:r>
              <a:rPr lang="de-AT" sz="1800" b="1" dirty="0" err="1">
                <a:latin typeface="Calibri" panose="020F0502020204030204" pitchFamily="34" charset="0"/>
                <a:ea typeface="Calibri" panose="020F0502020204030204" pitchFamily="34" charset="0"/>
                <a:cs typeface="Calibri" panose="020F0502020204030204" pitchFamily="34" charset="0"/>
              </a:rPr>
              <a:t>of</a:t>
            </a:r>
            <a:r>
              <a:rPr lang="de-AT" sz="1800" b="1" dirty="0">
                <a:latin typeface="Calibri" panose="020F0502020204030204" pitchFamily="34" charset="0"/>
                <a:ea typeface="Calibri" panose="020F0502020204030204" pitchFamily="34" charset="0"/>
                <a:cs typeface="Calibri" panose="020F0502020204030204" pitchFamily="34" charset="0"/>
              </a:rPr>
              <a:t> </a:t>
            </a:r>
            <a:r>
              <a:rPr lang="de-AT" sz="1800" b="1" dirty="0" err="1">
                <a:latin typeface="Calibri" panose="020F0502020204030204" pitchFamily="34" charset="0"/>
                <a:ea typeface="Calibri" panose="020F0502020204030204" pitchFamily="34" charset="0"/>
                <a:cs typeface="Calibri" panose="020F0502020204030204" pitchFamily="34" charset="0"/>
              </a:rPr>
              <a:t>the</a:t>
            </a:r>
            <a:r>
              <a:rPr lang="de-AT" sz="1800" b="1" dirty="0">
                <a:latin typeface="Calibri" panose="020F0502020204030204" pitchFamily="34" charset="0"/>
                <a:ea typeface="Calibri" panose="020F0502020204030204" pitchFamily="34" charset="0"/>
                <a:cs typeface="Calibri" panose="020F0502020204030204" pitchFamily="34" charset="0"/>
              </a:rPr>
              <a:t> </a:t>
            </a:r>
            <a:r>
              <a:rPr lang="de-AT" sz="1800" b="1" dirty="0" err="1">
                <a:latin typeface="Calibri" panose="020F0502020204030204" pitchFamily="34" charset="0"/>
                <a:ea typeface="Calibri" panose="020F0502020204030204" pitchFamily="34" charset="0"/>
                <a:cs typeface="Calibri" panose="020F0502020204030204" pitchFamily="34" charset="0"/>
              </a:rPr>
              <a:t>stack</a:t>
            </a:r>
            <a:r>
              <a:rPr lang="de-AT" sz="1800" b="1" dirty="0">
                <a:latin typeface="Calibri" panose="020F0502020204030204" pitchFamily="34" charset="0"/>
                <a:ea typeface="Calibri" panose="020F0502020204030204" pitchFamily="34" charset="0"/>
                <a:cs typeface="Calibri" panose="020F0502020204030204" pitchFamily="34" charset="0"/>
              </a:rPr>
              <a:t> </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fundamental </a:t>
            </a:r>
            <a:r>
              <a:rPr lang="de-AT" sz="1800" dirty="0" err="1">
                <a:latin typeface="Calibri" panose="020F0502020204030204" pitchFamily="34" charset="0"/>
                <a:ea typeface="Calibri" panose="020F0502020204030204" pitchFamily="34" charset="0"/>
                <a:cs typeface="Calibri" panose="020F0502020204030204" pitchFamily="34" charset="0"/>
              </a:rPr>
              <a:t>operations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pushing</a:t>
            </a:r>
            <a:r>
              <a:rPr lang="de-AT" sz="1800" dirty="0">
                <a:latin typeface="Calibri" panose="020F0502020204030204" pitchFamily="34" charset="0"/>
                <a:ea typeface="Calibri" panose="020F0502020204030204" pitchFamily="34" charset="0"/>
                <a:cs typeface="Calibri" panose="020F0502020204030204" pitchFamily="34" charset="0"/>
              </a:rPr>
              <a:t> and </a:t>
            </a:r>
            <a:r>
              <a:rPr lang="de-AT" sz="1800" dirty="0" err="1">
                <a:latin typeface="Calibri" panose="020F0502020204030204" pitchFamily="34" charset="0"/>
                <a:ea typeface="Calibri" panose="020F0502020204030204" pitchFamily="34" charset="0"/>
                <a:cs typeface="Calibri" panose="020F0502020204030204" pitchFamily="34" charset="0"/>
              </a:rPr>
              <a:t>popping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onto</a:t>
            </a:r>
            <a:r>
              <a:rPr lang="de-AT" sz="1800" dirty="0">
                <a:latin typeface="Calibri" panose="020F0502020204030204" pitchFamily="34" charset="0"/>
                <a:ea typeface="Calibri" panose="020F0502020204030204" pitchFamily="34" charset="0"/>
                <a:cs typeface="Calibri" panose="020F0502020204030204" pitchFamily="34" charset="0"/>
              </a:rPr>
              <a:t>/</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top</a:t>
            </a: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For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example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browser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history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implemented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as</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stack</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857250" lvl="1"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Every Web </a:t>
            </a:r>
            <a:r>
              <a:rPr lang="de-AT" sz="1800" dirty="0" err="1">
                <a:latin typeface="Calibri" panose="020F0502020204030204" pitchFamily="34" charset="0"/>
                <a:ea typeface="Calibri" panose="020F0502020204030204" pitchFamily="34" charset="0"/>
                <a:cs typeface="Calibri" panose="020F0502020204030204" pitchFamily="34" charset="0"/>
              </a:rPr>
              <a:t>page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that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you</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visit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pushed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onto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stack</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857250" lvl="1"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When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you</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click</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back </a:t>
            </a:r>
            <a:r>
              <a:rPr lang="de-AT" sz="1800" dirty="0" err="1">
                <a:latin typeface="Calibri" panose="020F0502020204030204" pitchFamily="34" charset="0"/>
                <a:ea typeface="Calibri" panose="020F0502020204030204" pitchFamily="34" charset="0"/>
                <a:cs typeface="Calibri" panose="020F0502020204030204" pitchFamily="34" charset="0"/>
              </a:rPr>
              <a:t>button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last </a:t>
            </a:r>
            <a:r>
              <a:rPr lang="de-AT" sz="1800" dirty="0" err="1">
                <a:latin typeface="Calibri" panose="020F0502020204030204" pitchFamily="34" charset="0"/>
                <a:ea typeface="Calibri" panose="020F0502020204030204" pitchFamily="34" charset="0"/>
                <a:cs typeface="Calibri" panose="020F0502020204030204" pitchFamily="34" charset="0"/>
              </a:rPr>
              <a:t>visited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page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popped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stack</a:t>
            </a:r>
            <a:r>
              <a:rPr lang="de-AT" sz="1800" dirty="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7544693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Stacks</a:t>
            </a:r>
            <a:endParaRPr lang="en-US" sz="2800" b="1" noProof="0" dirty="0">
              <a:latin typeface="Calibri" panose="020F0502020204030204" pitchFamily="34" charset="0"/>
              <a:cs typeface="Calibri" panose="020F0502020204030204" pitchFamily="34" charset="0"/>
            </a:endParaRPr>
          </a:p>
        </p:txBody>
      </p:sp>
      <p:graphicFrame>
        <p:nvGraphicFramePr>
          <p:cNvPr id="6" name="Tabelle 5">
            <a:extLst>
              <a:ext uri="{FF2B5EF4-FFF2-40B4-BE49-F238E27FC236}">
                <a16:creationId xmlns:a16="http://schemas.microsoft.com/office/drawing/2014/main" id="{7D1490D8-8773-42D7-ABA6-25C71664D7E5}"/>
              </a:ext>
            </a:extLst>
          </p:cNvPr>
          <p:cNvGraphicFramePr>
            <a:graphicFrameLocks noGrp="1"/>
          </p:cNvGraphicFramePr>
          <p:nvPr>
            <p:extLst>
              <p:ext uri="{D42A27DB-BD31-4B8C-83A1-F6EECF244321}">
                <p14:modId xmlns:p14="http://schemas.microsoft.com/office/powerpoint/2010/main" val="1316998828"/>
              </p:ext>
            </p:extLst>
          </p:nvPr>
        </p:nvGraphicFramePr>
        <p:xfrm>
          <a:off x="3906316" y="1946275"/>
          <a:ext cx="583200" cy="370840"/>
        </p:xfrm>
        <a:graphic>
          <a:graphicData uri="http://schemas.openxmlformats.org/drawingml/2006/table">
            <a:tbl>
              <a:tblPr firstRow="1" bandRow="1">
                <a:tableStyleId>{8A107856-5554-42FB-B03E-39F5DBC370BA}</a:tableStyleId>
              </a:tblPr>
              <a:tblGrid>
                <a:gridCol w="583200">
                  <a:extLst>
                    <a:ext uri="{9D8B030D-6E8A-4147-A177-3AD203B41FA5}">
                      <a16:colId xmlns:a16="http://schemas.microsoft.com/office/drawing/2014/main" val="1043724596"/>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7</a:t>
                      </a:r>
                    </a:p>
                  </a:txBody>
                  <a:tcPr/>
                </a:tc>
                <a:extLst>
                  <a:ext uri="{0D108BD9-81ED-4DB2-BD59-A6C34878D82A}">
                    <a16:rowId xmlns:a16="http://schemas.microsoft.com/office/drawing/2014/main" val="74951030"/>
                  </a:ext>
                </a:extLst>
              </a:tr>
            </a:tbl>
          </a:graphicData>
        </a:graphic>
      </p:graphicFrame>
      <mc:AlternateContent xmlns:mc="http://schemas.openxmlformats.org/markup-compatibility/2006" xmlns:a14="http://schemas.microsoft.com/office/drawing/2010/main">
        <mc:Choice Requires="a14">
          <p:sp>
            <p:nvSpPr>
              <p:cNvPr id="9" name="Rechteck 8">
                <a:extLst>
                  <a:ext uri="{FF2B5EF4-FFF2-40B4-BE49-F238E27FC236}">
                    <a16:creationId xmlns:a16="http://schemas.microsoft.com/office/drawing/2014/main" id="{DE3EF865-2362-44C9-B3FF-E1F1905AD312}"/>
                  </a:ext>
                </a:extLst>
              </p:cNvPr>
              <p:cNvSpPr/>
              <p:nvPr/>
            </p:nvSpPr>
            <p:spPr>
              <a:xfrm>
                <a:off x="2463342" y="2379860"/>
                <a:ext cx="1022844"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i="1" dirty="0" smtClean="0">
                          <a:latin typeface="Cambria Math" panose="02040503050406030204" pitchFamily="18" charset="0"/>
                        </a:rPr>
                        <m:t>𝑠</m:t>
                      </m:r>
                      <m:r>
                        <a:rPr lang="de-AT" i="1" dirty="0" smtClean="0">
                          <a:latin typeface="Cambria Math" panose="02040503050406030204" pitchFamily="18" charset="0"/>
                        </a:rPr>
                        <m:t>.</m:t>
                      </m:r>
                      <m:r>
                        <a:rPr lang="de-AT" i="1" dirty="0" smtClean="0">
                          <a:latin typeface="Cambria Math" panose="02040503050406030204" pitchFamily="18" charset="0"/>
                        </a:rPr>
                        <m:t>𝑝𝑢𝑠h</m:t>
                      </m:r>
                      <m:r>
                        <a:rPr lang="de-AT" i="1" dirty="0" smtClean="0">
                          <a:latin typeface="Cambria Math" panose="02040503050406030204" pitchFamily="18" charset="0"/>
                        </a:rPr>
                        <m:t>(7)</m:t>
                      </m:r>
                    </m:oMath>
                  </m:oMathPara>
                </a14:m>
                <a:endParaRPr lang="de-AT" dirty="0"/>
              </a:p>
            </p:txBody>
          </p:sp>
        </mc:Choice>
        <mc:Fallback xmlns="">
          <p:sp>
            <p:nvSpPr>
              <p:cNvPr id="9" name="Rechteck 8">
                <a:extLst>
                  <a:ext uri="{FF2B5EF4-FFF2-40B4-BE49-F238E27FC236}">
                    <a16:creationId xmlns:a16="http://schemas.microsoft.com/office/drawing/2014/main" id="{DE3EF865-2362-44C9-B3FF-E1F1905AD312}"/>
                  </a:ext>
                </a:extLst>
              </p:cNvPr>
              <p:cNvSpPr>
                <a:spLocks noRot="1" noChangeAspect="1" noMove="1" noResize="1" noEditPoints="1" noAdjustHandles="1" noChangeArrowheads="1" noChangeShapeType="1" noTextEdit="1"/>
              </p:cNvSpPr>
              <p:nvPr/>
            </p:nvSpPr>
            <p:spPr>
              <a:xfrm>
                <a:off x="2463342" y="2379860"/>
                <a:ext cx="1022844" cy="307777"/>
              </a:xfrm>
              <a:prstGeom prst="rect">
                <a:avLst/>
              </a:prstGeom>
              <a:blipFill>
                <a:blip r:embed="rId3"/>
                <a:stretch>
                  <a:fillRect b="-7843"/>
                </a:stretch>
              </a:blipFill>
            </p:spPr>
            <p:txBody>
              <a:bodyPr/>
              <a:lstStyle/>
              <a:p>
                <a:r>
                  <a:rPr lang="de-AT">
                    <a:noFill/>
                  </a:rPr>
                  <a:t> </a:t>
                </a:r>
              </a:p>
            </p:txBody>
          </p:sp>
        </mc:Fallback>
      </mc:AlternateContent>
    </p:spTree>
    <p:extLst>
      <p:ext uri="{BB962C8B-B14F-4D97-AF65-F5344CB8AC3E}">
        <p14:creationId xmlns:p14="http://schemas.microsoft.com/office/powerpoint/2010/main" val="15400937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Stacks</a:t>
            </a:r>
            <a:endParaRPr lang="en-US" sz="2800" b="1" noProof="0" dirty="0">
              <a:latin typeface="Calibri" panose="020F0502020204030204" pitchFamily="34" charset="0"/>
              <a:cs typeface="Calibri" panose="020F0502020204030204" pitchFamily="34" charset="0"/>
            </a:endParaRPr>
          </a:p>
        </p:txBody>
      </p:sp>
      <p:graphicFrame>
        <p:nvGraphicFramePr>
          <p:cNvPr id="6" name="Tabelle 5">
            <a:extLst>
              <a:ext uri="{FF2B5EF4-FFF2-40B4-BE49-F238E27FC236}">
                <a16:creationId xmlns:a16="http://schemas.microsoft.com/office/drawing/2014/main" id="{7D1490D8-8773-42D7-ABA6-25C71664D7E5}"/>
              </a:ext>
            </a:extLst>
          </p:cNvPr>
          <p:cNvGraphicFramePr>
            <a:graphicFrameLocks noGrp="1"/>
          </p:cNvGraphicFramePr>
          <p:nvPr/>
        </p:nvGraphicFramePr>
        <p:xfrm>
          <a:off x="3906316" y="1946275"/>
          <a:ext cx="583200" cy="741680"/>
        </p:xfrm>
        <a:graphic>
          <a:graphicData uri="http://schemas.openxmlformats.org/drawingml/2006/table">
            <a:tbl>
              <a:tblPr firstRow="1" bandRow="1">
                <a:tableStyleId>{8A107856-5554-42FB-B03E-39F5DBC370BA}</a:tableStyleId>
              </a:tblPr>
              <a:tblGrid>
                <a:gridCol w="583200">
                  <a:extLst>
                    <a:ext uri="{9D8B030D-6E8A-4147-A177-3AD203B41FA5}">
                      <a16:colId xmlns:a16="http://schemas.microsoft.com/office/drawing/2014/main" val="1043724596"/>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9</a:t>
                      </a:r>
                    </a:p>
                  </a:txBody>
                  <a:tcPr/>
                </a:tc>
                <a:extLst>
                  <a:ext uri="{0D108BD9-81ED-4DB2-BD59-A6C34878D82A}">
                    <a16:rowId xmlns:a16="http://schemas.microsoft.com/office/drawing/2014/main" val="2397180504"/>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7</a:t>
                      </a:r>
                    </a:p>
                  </a:txBody>
                  <a:tcPr/>
                </a:tc>
                <a:extLst>
                  <a:ext uri="{0D108BD9-81ED-4DB2-BD59-A6C34878D82A}">
                    <a16:rowId xmlns:a16="http://schemas.microsoft.com/office/drawing/2014/main" val="74951030"/>
                  </a:ext>
                </a:extLst>
              </a:tr>
            </a:tbl>
          </a:graphicData>
        </a:graphic>
      </p:graphicFrame>
      <mc:AlternateContent xmlns:mc="http://schemas.openxmlformats.org/markup-compatibility/2006" xmlns:a14="http://schemas.microsoft.com/office/drawing/2010/main">
        <mc:Choice Requires="a14">
          <p:sp>
            <p:nvSpPr>
              <p:cNvPr id="9" name="Rechteck 8">
                <a:extLst>
                  <a:ext uri="{FF2B5EF4-FFF2-40B4-BE49-F238E27FC236}">
                    <a16:creationId xmlns:a16="http://schemas.microsoft.com/office/drawing/2014/main" id="{DE3EF865-2362-44C9-B3FF-E1F1905AD312}"/>
                  </a:ext>
                </a:extLst>
              </p:cNvPr>
              <p:cNvSpPr/>
              <p:nvPr/>
            </p:nvSpPr>
            <p:spPr>
              <a:xfrm>
                <a:off x="2463342" y="2379860"/>
                <a:ext cx="1022844"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i="1" dirty="0" smtClean="0">
                          <a:latin typeface="Cambria Math" panose="02040503050406030204" pitchFamily="18" charset="0"/>
                        </a:rPr>
                        <m:t>𝑠</m:t>
                      </m:r>
                      <m:r>
                        <a:rPr lang="de-AT" i="1" dirty="0" smtClean="0">
                          <a:latin typeface="Cambria Math" panose="02040503050406030204" pitchFamily="18" charset="0"/>
                        </a:rPr>
                        <m:t>.</m:t>
                      </m:r>
                      <m:r>
                        <a:rPr lang="de-AT" i="1" dirty="0" smtClean="0">
                          <a:latin typeface="Cambria Math" panose="02040503050406030204" pitchFamily="18" charset="0"/>
                        </a:rPr>
                        <m:t>𝑝𝑢𝑠h</m:t>
                      </m:r>
                      <m:r>
                        <a:rPr lang="de-AT" i="1" dirty="0" smtClean="0">
                          <a:latin typeface="Cambria Math" panose="02040503050406030204" pitchFamily="18" charset="0"/>
                        </a:rPr>
                        <m:t>(9)</m:t>
                      </m:r>
                    </m:oMath>
                  </m:oMathPara>
                </a14:m>
                <a:endParaRPr lang="de-AT" dirty="0"/>
              </a:p>
            </p:txBody>
          </p:sp>
        </mc:Choice>
        <mc:Fallback xmlns="">
          <p:sp>
            <p:nvSpPr>
              <p:cNvPr id="9" name="Rechteck 8">
                <a:extLst>
                  <a:ext uri="{FF2B5EF4-FFF2-40B4-BE49-F238E27FC236}">
                    <a16:creationId xmlns:a16="http://schemas.microsoft.com/office/drawing/2014/main" id="{DE3EF865-2362-44C9-B3FF-E1F1905AD312}"/>
                  </a:ext>
                </a:extLst>
              </p:cNvPr>
              <p:cNvSpPr>
                <a:spLocks noRot="1" noChangeAspect="1" noMove="1" noResize="1" noEditPoints="1" noAdjustHandles="1" noChangeArrowheads="1" noChangeShapeType="1" noTextEdit="1"/>
              </p:cNvSpPr>
              <p:nvPr/>
            </p:nvSpPr>
            <p:spPr>
              <a:xfrm>
                <a:off x="2463342" y="2379860"/>
                <a:ext cx="1022844" cy="307777"/>
              </a:xfrm>
              <a:prstGeom prst="rect">
                <a:avLst/>
              </a:prstGeom>
              <a:blipFill>
                <a:blip r:embed="rId3"/>
                <a:stretch>
                  <a:fillRect b="-7843"/>
                </a:stretch>
              </a:blipFill>
            </p:spPr>
            <p:txBody>
              <a:bodyPr/>
              <a:lstStyle/>
              <a:p>
                <a:r>
                  <a:rPr lang="de-AT">
                    <a:noFill/>
                  </a:rPr>
                  <a:t> </a:t>
                </a:r>
              </a:p>
            </p:txBody>
          </p:sp>
        </mc:Fallback>
      </mc:AlternateContent>
    </p:spTree>
    <p:extLst>
      <p:ext uri="{BB962C8B-B14F-4D97-AF65-F5344CB8AC3E}">
        <p14:creationId xmlns:p14="http://schemas.microsoft.com/office/powerpoint/2010/main" val="27151899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Stacks</a:t>
            </a:r>
            <a:endParaRPr lang="en-US" sz="2800" b="1" noProof="0" dirty="0">
              <a:latin typeface="Calibri" panose="020F0502020204030204" pitchFamily="34" charset="0"/>
              <a:cs typeface="Calibri" panose="020F0502020204030204" pitchFamily="34" charset="0"/>
            </a:endParaRPr>
          </a:p>
        </p:txBody>
      </p:sp>
      <p:graphicFrame>
        <p:nvGraphicFramePr>
          <p:cNvPr id="6" name="Tabelle 5">
            <a:extLst>
              <a:ext uri="{FF2B5EF4-FFF2-40B4-BE49-F238E27FC236}">
                <a16:creationId xmlns:a16="http://schemas.microsoft.com/office/drawing/2014/main" id="{7D1490D8-8773-42D7-ABA6-25C71664D7E5}"/>
              </a:ext>
            </a:extLst>
          </p:cNvPr>
          <p:cNvGraphicFramePr>
            <a:graphicFrameLocks noGrp="1"/>
          </p:cNvGraphicFramePr>
          <p:nvPr/>
        </p:nvGraphicFramePr>
        <p:xfrm>
          <a:off x="3906316" y="1946275"/>
          <a:ext cx="583200" cy="1112520"/>
        </p:xfrm>
        <a:graphic>
          <a:graphicData uri="http://schemas.openxmlformats.org/drawingml/2006/table">
            <a:tbl>
              <a:tblPr firstRow="1" bandRow="1">
                <a:tableStyleId>{8A107856-5554-42FB-B03E-39F5DBC370BA}</a:tableStyleId>
              </a:tblPr>
              <a:tblGrid>
                <a:gridCol w="583200">
                  <a:extLst>
                    <a:ext uri="{9D8B030D-6E8A-4147-A177-3AD203B41FA5}">
                      <a16:colId xmlns:a16="http://schemas.microsoft.com/office/drawing/2014/main" val="1043724596"/>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4</a:t>
                      </a:r>
                    </a:p>
                  </a:txBody>
                  <a:tcPr/>
                </a:tc>
                <a:extLst>
                  <a:ext uri="{0D108BD9-81ED-4DB2-BD59-A6C34878D82A}">
                    <a16:rowId xmlns:a16="http://schemas.microsoft.com/office/drawing/2014/main" val="1530272506"/>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9</a:t>
                      </a:r>
                    </a:p>
                  </a:txBody>
                  <a:tcPr/>
                </a:tc>
                <a:extLst>
                  <a:ext uri="{0D108BD9-81ED-4DB2-BD59-A6C34878D82A}">
                    <a16:rowId xmlns:a16="http://schemas.microsoft.com/office/drawing/2014/main" val="2397180504"/>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7</a:t>
                      </a:r>
                    </a:p>
                  </a:txBody>
                  <a:tcPr/>
                </a:tc>
                <a:extLst>
                  <a:ext uri="{0D108BD9-81ED-4DB2-BD59-A6C34878D82A}">
                    <a16:rowId xmlns:a16="http://schemas.microsoft.com/office/drawing/2014/main" val="74951030"/>
                  </a:ext>
                </a:extLst>
              </a:tr>
            </a:tbl>
          </a:graphicData>
        </a:graphic>
      </p:graphicFrame>
      <mc:AlternateContent xmlns:mc="http://schemas.openxmlformats.org/markup-compatibility/2006" xmlns:a14="http://schemas.microsoft.com/office/drawing/2010/main">
        <mc:Choice Requires="a14">
          <p:sp>
            <p:nvSpPr>
              <p:cNvPr id="9" name="Rechteck 8">
                <a:extLst>
                  <a:ext uri="{FF2B5EF4-FFF2-40B4-BE49-F238E27FC236}">
                    <a16:creationId xmlns:a16="http://schemas.microsoft.com/office/drawing/2014/main" id="{DE3EF865-2362-44C9-B3FF-E1F1905AD312}"/>
                  </a:ext>
                </a:extLst>
              </p:cNvPr>
              <p:cNvSpPr/>
              <p:nvPr/>
            </p:nvSpPr>
            <p:spPr>
              <a:xfrm>
                <a:off x="2463342" y="2379860"/>
                <a:ext cx="1022844"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i="1" dirty="0" smtClean="0">
                          <a:latin typeface="Cambria Math" panose="02040503050406030204" pitchFamily="18" charset="0"/>
                        </a:rPr>
                        <m:t>𝑠</m:t>
                      </m:r>
                      <m:r>
                        <a:rPr lang="de-AT" i="1" dirty="0" smtClean="0">
                          <a:latin typeface="Cambria Math" panose="02040503050406030204" pitchFamily="18" charset="0"/>
                        </a:rPr>
                        <m:t>.</m:t>
                      </m:r>
                      <m:r>
                        <a:rPr lang="de-AT" i="1" dirty="0" smtClean="0">
                          <a:latin typeface="Cambria Math" panose="02040503050406030204" pitchFamily="18" charset="0"/>
                        </a:rPr>
                        <m:t>𝑝𝑢𝑠h</m:t>
                      </m:r>
                      <m:r>
                        <a:rPr lang="de-AT" i="1" dirty="0" smtClean="0">
                          <a:latin typeface="Cambria Math" panose="02040503050406030204" pitchFamily="18" charset="0"/>
                        </a:rPr>
                        <m:t>(4)</m:t>
                      </m:r>
                    </m:oMath>
                  </m:oMathPara>
                </a14:m>
                <a:endParaRPr lang="de-AT" dirty="0"/>
              </a:p>
            </p:txBody>
          </p:sp>
        </mc:Choice>
        <mc:Fallback xmlns="">
          <p:sp>
            <p:nvSpPr>
              <p:cNvPr id="9" name="Rechteck 8">
                <a:extLst>
                  <a:ext uri="{FF2B5EF4-FFF2-40B4-BE49-F238E27FC236}">
                    <a16:creationId xmlns:a16="http://schemas.microsoft.com/office/drawing/2014/main" id="{DE3EF865-2362-44C9-B3FF-E1F1905AD312}"/>
                  </a:ext>
                </a:extLst>
              </p:cNvPr>
              <p:cNvSpPr>
                <a:spLocks noRot="1" noChangeAspect="1" noMove="1" noResize="1" noEditPoints="1" noAdjustHandles="1" noChangeArrowheads="1" noChangeShapeType="1" noTextEdit="1"/>
              </p:cNvSpPr>
              <p:nvPr/>
            </p:nvSpPr>
            <p:spPr>
              <a:xfrm>
                <a:off x="2463342" y="2379860"/>
                <a:ext cx="1022844" cy="307777"/>
              </a:xfrm>
              <a:prstGeom prst="rect">
                <a:avLst/>
              </a:prstGeom>
              <a:blipFill>
                <a:blip r:embed="rId3"/>
                <a:stretch>
                  <a:fillRect b="-7843"/>
                </a:stretch>
              </a:blipFill>
            </p:spPr>
            <p:txBody>
              <a:bodyPr/>
              <a:lstStyle/>
              <a:p>
                <a:r>
                  <a:rPr lang="de-AT">
                    <a:noFill/>
                  </a:rPr>
                  <a:t> </a:t>
                </a:r>
              </a:p>
            </p:txBody>
          </p:sp>
        </mc:Fallback>
      </mc:AlternateContent>
    </p:spTree>
    <p:extLst>
      <p:ext uri="{BB962C8B-B14F-4D97-AF65-F5344CB8AC3E}">
        <p14:creationId xmlns:p14="http://schemas.microsoft.com/office/powerpoint/2010/main" val="2792327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Stacks</a:t>
            </a:r>
            <a:endParaRPr lang="en-US" sz="2800" b="1" noProof="0" dirty="0">
              <a:latin typeface="Calibri" panose="020F0502020204030204" pitchFamily="34" charset="0"/>
              <a:cs typeface="Calibri" panose="020F0502020204030204" pitchFamily="34" charset="0"/>
            </a:endParaRPr>
          </a:p>
        </p:txBody>
      </p:sp>
      <p:graphicFrame>
        <p:nvGraphicFramePr>
          <p:cNvPr id="6" name="Tabelle 5">
            <a:extLst>
              <a:ext uri="{FF2B5EF4-FFF2-40B4-BE49-F238E27FC236}">
                <a16:creationId xmlns:a16="http://schemas.microsoft.com/office/drawing/2014/main" id="{7D1490D8-8773-42D7-ABA6-25C71664D7E5}"/>
              </a:ext>
            </a:extLst>
          </p:cNvPr>
          <p:cNvGraphicFramePr>
            <a:graphicFrameLocks noGrp="1"/>
          </p:cNvGraphicFramePr>
          <p:nvPr>
            <p:extLst>
              <p:ext uri="{D42A27DB-BD31-4B8C-83A1-F6EECF244321}">
                <p14:modId xmlns:p14="http://schemas.microsoft.com/office/powerpoint/2010/main" val="3956469781"/>
              </p:ext>
            </p:extLst>
          </p:nvPr>
        </p:nvGraphicFramePr>
        <p:xfrm>
          <a:off x="3906316" y="1946275"/>
          <a:ext cx="583200" cy="741680"/>
        </p:xfrm>
        <a:graphic>
          <a:graphicData uri="http://schemas.openxmlformats.org/drawingml/2006/table">
            <a:tbl>
              <a:tblPr firstRow="1" bandRow="1">
                <a:tableStyleId>{8A107856-5554-42FB-B03E-39F5DBC370BA}</a:tableStyleId>
              </a:tblPr>
              <a:tblGrid>
                <a:gridCol w="583200">
                  <a:extLst>
                    <a:ext uri="{9D8B030D-6E8A-4147-A177-3AD203B41FA5}">
                      <a16:colId xmlns:a16="http://schemas.microsoft.com/office/drawing/2014/main" val="1043724596"/>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9</a:t>
                      </a:r>
                    </a:p>
                  </a:txBody>
                  <a:tcPr/>
                </a:tc>
                <a:extLst>
                  <a:ext uri="{0D108BD9-81ED-4DB2-BD59-A6C34878D82A}">
                    <a16:rowId xmlns:a16="http://schemas.microsoft.com/office/drawing/2014/main" val="2397180504"/>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7</a:t>
                      </a:r>
                    </a:p>
                  </a:txBody>
                  <a:tcPr/>
                </a:tc>
                <a:extLst>
                  <a:ext uri="{0D108BD9-81ED-4DB2-BD59-A6C34878D82A}">
                    <a16:rowId xmlns:a16="http://schemas.microsoft.com/office/drawing/2014/main" val="74951030"/>
                  </a:ext>
                </a:extLst>
              </a:tr>
            </a:tbl>
          </a:graphicData>
        </a:graphic>
      </p:graphicFrame>
      <mc:AlternateContent xmlns:mc="http://schemas.openxmlformats.org/markup-compatibility/2006" xmlns:a14="http://schemas.microsoft.com/office/drawing/2010/main">
        <mc:Choice Requires="a14">
          <p:sp>
            <p:nvSpPr>
              <p:cNvPr id="11" name="Rechteck 10">
                <a:extLst>
                  <a:ext uri="{FF2B5EF4-FFF2-40B4-BE49-F238E27FC236}">
                    <a16:creationId xmlns:a16="http://schemas.microsoft.com/office/drawing/2014/main" id="{77FCF3BE-466C-457B-B6FD-D5719CBB8591}"/>
                  </a:ext>
                </a:extLst>
              </p:cNvPr>
              <p:cNvSpPr/>
              <p:nvPr/>
            </p:nvSpPr>
            <p:spPr>
              <a:xfrm>
                <a:off x="2463342" y="2379860"/>
                <a:ext cx="95026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i="1" dirty="0" smtClean="0">
                          <a:latin typeface="Cambria Math" panose="02040503050406030204" pitchFamily="18" charset="0"/>
                        </a:rPr>
                        <m:t>𝑠</m:t>
                      </m:r>
                      <m:r>
                        <a:rPr lang="de-AT" i="1" dirty="0" smtClean="0">
                          <a:latin typeface="Cambria Math" panose="02040503050406030204" pitchFamily="18" charset="0"/>
                        </a:rPr>
                        <m:t>.</m:t>
                      </m:r>
                      <m:r>
                        <a:rPr lang="de-AT" i="1" dirty="0" smtClean="0">
                          <a:latin typeface="Cambria Math" panose="02040503050406030204" pitchFamily="18" charset="0"/>
                        </a:rPr>
                        <m:t>𝑝𝑜𝑝</m:t>
                      </m:r>
                      <m:r>
                        <a:rPr lang="de-AT" b="0" i="1" dirty="0" smtClean="0">
                          <a:latin typeface="Cambria Math" panose="02040503050406030204" pitchFamily="18" charset="0"/>
                        </a:rPr>
                        <m:t>()</m:t>
                      </m:r>
                    </m:oMath>
                  </m:oMathPara>
                </a14:m>
                <a:endParaRPr lang="de-AT" dirty="0"/>
              </a:p>
              <a:p>
                <a:pPr/>
                <a14:m>
                  <m:oMathPara xmlns:m="http://schemas.openxmlformats.org/officeDocument/2006/math">
                    <m:oMathParaPr>
                      <m:jc m:val="centerGroup"/>
                    </m:oMathParaPr>
                    <m:oMath xmlns:m="http://schemas.openxmlformats.org/officeDocument/2006/math">
                      <m:r>
                        <a:rPr lang="de-AT" i="1" dirty="0" smtClean="0">
                          <a:latin typeface="Cambria Math" panose="02040503050406030204" pitchFamily="18" charset="0"/>
                        </a:rPr>
                        <m:t>𝑟</m:t>
                      </m:r>
                      <m:r>
                        <a:rPr lang="de-AT" i="1" dirty="0" err="1" smtClean="0">
                          <a:latin typeface="Cambria Math" panose="02040503050406030204" pitchFamily="18" charset="0"/>
                        </a:rPr>
                        <m:t>𝑒𝑡𝑢𝑟𝑛</m:t>
                      </m:r>
                      <m:r>
                        <a:rPr lang="de-AT" i="1" dirty="0" smtClean="0">
                          <a:latin typeface="Cambria Math" panose="02040503050406030204" pitchFamily="18" charset="0"/>
                        </a:rPr>
                        <m:t>:</m:t>
                      </m:r>
                      <m:r>
                        <a:rPr lang="de-AT" b="0" i="1" dirty="0" smtClean="0">
                          <a:latin typeface="Cambria Math" panose="02040503050406030204" pitchFamily="18" charset="0"/>
                        </a:rPr>
                        <m:t>4</m:t>
                      </m:r>
                    </m:oMath>
                  </m:oMathPara>
                </a14:m>
                <a:endParaRPr lang="de-AT" dirty="0"/>
              </a:p>
            </p:txBody>
          </p:sp>
        </mc:Choice>
        <mc:Fallback xmlns="">
          <p:sp>
            <p:nvSpPr>
              <p:cNvPr id="11" name="Rechteck 10">
                <a:extLst>
                  <a:ext uri="{FF2B5EF4-FFF2-40B4-BE49-F238E27FC236}">
                    <a16:creationId xmlns:a16="http://schemas.microsoft.com/office/drawing/2014/main" id="{77FCF3BE-466C-457B-B6FD-D5719CBB8591}"/>
                  </a:ext>
                </a:extLst>
              </p:cNvPr>
              <p:cNvSpPr>
                <a:spLocks noRot="1" noChangeAspect="1" noMove="1" noResize="1" noEditPoints="1" noAdjustHandles="1" noChangeArrowheads="1" noChangeShapeType="1" noTextEdit="1"/>
              </p:cNvSpPr>
              <p:nvPr/>
            </p:nvSpPr>
            <p:spPr>
              <a:xfrm>
                <a:off x="2463342" y="2379860"/>
                <a:ext cx="950260" cy="523220"/>
              </a:xfrm>
              <a:prstGeom prst="rect">
                <a:avLst/>
              </a:prstGeom>
              <a:blipFill>
                <a:blip r:embed="rId3"/>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11894417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Stacks</a:t>
            </a:r>
            <a:endParaRPr lang="en-US" sz="2800" b="1" noProof="0" dirty="0">
              <a:latin typeface="Calibri" panose="020F0502020204030204" pitchFamily="34" charset="0"/>
              <a:cs typeface="Calibri" panose="020F0502020204030204" pitchFamily="34" charset="0"/>
            </a:endParaRPr>
          </a:p>
        </p:txBody>
      </p:sp>
      <p:graphicFrame>
        <p:nvGraphicFramePr>
          <p:cNvPr id="6" name="Tabelle 5">
            <a:extLst>
              <a:ext uri="{FF2B5EF4-FFF2-40B4-BE49-F238E27FC236}">
                <a16:creationId xmlns:a16="http://schemas.microsoft.com/office/drawing/2014/main" id="{7D1490D8-8773-42D7-ABA6-25C71664D7E5}"/>
              </a:ext>
            </a:extLst>
          </p:cNvPr>
          <p:cNvGraphicFramePr>
            <a:graphicFrameLocks noGrp="1"/>
          </p:cNvGraphicFramePr>
          <p:nvPr/>
        </p:nvGraphicFramePr>
        <p:xfrm>
          <a:off x="3906316" y="1946275"/>
          <a:ext cx="583200" cy="1112520"/>
        </p:xfrm>
        <a:graphic>
          <a:graphicData uri="http://schemas.openxmlformats.org/drawingml/2006/table">
            <a:tbl>
              <a:tblPr firstRow="1" bandRow="1">
                <a:tableStyleId>{8A107856-5554-42FB-B03E-39F5DBC370BA}</a:tableStyleId>
              </a:tblPr>
              <a:tblGrid>
                <a:gridCol w="583200">
                  <a:extLst>
                    <a:ext uri="{9D8B030D-6E8A-4147-A177-3AD203B41FA5}">
                      <a16:colId xmlns:a16="http://schemas.microsoft.com/office/drawing/2014/main" val="1043724596"/>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6</a:t>
                      </a:r>
                    </a:p>
                  </a:txBody>
                  <a:tcPr/>
                </a:tc>
                <a:extLst>
                  <a:ext uri="{0D108BD9-81ED-4DB2-BD59-A6C34878D82A}">
                    <a16:rowId xmlns:a16="http://schemas.microsoft.com/office/drawing/2014/main" val="1530272506"/>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9</a:t>
                      </a:r>
                    </a:p>
                  </a:txBody>
                  <a:tcPr/>
                </a:tc>
                <a:extLst>
                  <a:ext uri="{0D108BD9-81ED-4DB2-BD59-A6C34878D82A}">
                    <a16:rowId xmlns:a16="http://schemas.microsoft.com/office/drawing/2014/main" val="2397180504"/>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7</a:t>
                      </a:r>
                    </a:p>
                  </a:txBody>
                  <a:tcPr/>
                </a:tc>
                <a:extLst>
                  <a:ext uri="{0D108BD9-81ED-4DB2-BD59-A6C34878D82A}">
                    <a16:rowId xmlns:a16="http://schemas.microsoft.com/office/drawing/2014/main" val="74951030"/>
                  </a:ext>
                </a:extLst>
              </a:tr>
            </a:tbl>
          </a:graphicData>
        </a:graphic>
      </p:graphicFrame>
      <mc:AlternateContent xmlns:mc="http://schemas.openxmlformats.org/markup-compatibility/2006" xmlns:a14="http://schemas.microsoft.com/office/drawing/2010/main">
        <mc:Choice Requires="a14">
          <p:sp>
            <p:nvSpPr>
              <p:cNvPr id="9" name="Rechteck 8">
                <a:extLst>
                  <a:ext uri="{FF2B5EF4-FFF2-40B4-BE49-F238E27FC236}">
                    <a16:creationId xmlns:a16="http://schemas.microsoft.com/office/drawing/2014/main" id="{DE3EF865-2362-44C9-B3FF-E1F1905AD312}"/>
                  </a:ext>
                </a:extLst>
              </p:cNvPr>
              <p:cNvSpPr/>
              <p:nvPr/>
            </p:nvSpPr>
            <p:spPr>
              <a:xfrm>
                <a:off x="2463342" y="2379860"/>
                <a:ext cx="1022844"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i="1" dirty="0" smtClean="0">
                          <a:latin typeface="Cambria Math" panose="02040503050406030204" pitchFamily="18" charset="0"/>
                        </a:rPr>
                        <m:t>𝑠</m:t>
                      </m:r>
                      <m:r>
                        <a:rPr lang="de-AT" i="1" dirty="0" smtClean="0">
                          <a:latin typeface="Cambria Math" panose="02040503050406030204" pitchFamily="18" charset="0"/>
                        </a:rPr>
                        <m:t>.</m:t>
                      </m:r>
                      <m:r>
                        <a:rPr lang="de-AT" i="1" dirty="0" smtClean="0">
                          <a:latin typeface="Cambria Math" panose="02040503050406030204" pitchFamily="18" charset="0"/>
                        </a:rPr>
                        <m:t>𝑝𝑢𝑠h</m:t>
                      </m:r>
                      <m:r>
                        <a:rPr lang="de-AT" i="1" dirty="0" smtClean="0">
                          <a:latin typeface="Cambria Math" panose="02040503050406030204" pitchFamily="18" charset="0"/>
                        </a:rPr>
                        <m:t>(6)</m:t>
                      </m:r>
                    </m:oMath>
                  </m:oMathPara>
                </a14:m>
                <a:endParaRPr lang="de-AT" dirty="0"/>
              </a:p>
            </p:txBody>
          </p:sp>
        </mc:Choice>
        <mc:Fallback xmlns="">
          <p:sp>
            <p:nvSpPr>
              <p:cNvPr id="9" name="Rechteck 8">
                <a:extLst>
                  <a:ext uri="{FF2B5EF4-FFF2-40B4-BE49-F238E27FC236}">
                    <a16:creationId xmlns:a16="http://schemas.microsoft.com/office/drawing/2014/main" id="{DE3EF865-2362-44C9-B3FF-E1F1905AD312}"/>
                  </a:ext>
                </a:extLst>
              </p:cNvPr>
              <p:cNvSpPr>
                <a:spLocks noRot="1" noChangeAspect="1" noMove="1" noResize="1" noEditPoints="1" noAdjustHandles="1" noChangeArrowheads="1" noChangeShapeType="1" noTextEdit="1"/>
              </p:cNvSpPr>
              <p:nvPr/>
            </p:nvSpPr>
            <p:spPr>
              <a:xfrm>
                <a:off x="2463342" y="2379860"/>
                <a:ext cx="1022844" cy="307777"/>
              </a:xfrm>
              <a:prstGeom prst="rect">
                <a:avLst/>
              </a:prstGeom>
              <a:blipFill>
                <a:blip r:embed="rId3"/>
                <a:stretch>
                  <a:fillRect b="-7843"/>
                </a:stretch>
              </a:blipFill>
            </p:spPr>
            <p:txBody>
              <a:bodyPr/>
              <a:lstStyle/>
              <a:p>
                <a:r>
                  <a:rPr lang="de-AT">
                    <a:noFill/>
                  </a:rPr>
                  <a:t> </a:t>
                </a:r>
              </a:p>
            </p:txBody>
          </p:sp>
        </mc:Fallback>
      </mc:AlternateContent>
    </p:spTree>
    <p:extLst>
      <p:ext uri="{BB962C8B-B14F-4D97-AF65-F5344CB8AC3E}">
        <p14:creationId xmlns:p14="http://schemas.microsoft.com/office/powerpoint/2010/main" val="40473494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Stacks</a:t>
            </a:r>
            <a:endParaRPr lang="en-US" sz="2800" b="1" noProof="0" dirty="0">
              <a:latin typeface="Calibri" panose="020F0502020204030204" pitchFamily="34" charset="0"/>
              <a:cs typeface="Calibri" panose="020F0502020204030204" pitchFamily="34" charset="0"/>
            </a:endParaRPr>
          </a:p>
        </p:txBody>
      </p:sp>
      <p:graphicFrame>
        <p:nvGraphicFramePr>
          <p:cNvPr id="6" name="Tabelle 5">
            <a:extLst>
              <a:ext uri="{FF2B5EF4-FFF2-40B4-BE49-F238E27FC236}">
                <a16:creationId xmlns:a16="http://schemas.microsoft.com/office/drawing/2014/main" id="{7D1490D8-8773-42D7-ABA6-25C71664D7E5}"/>
              </a:ext>
            </a:extLst>
          </p:cNvPr>
          <p:cNvGraphicFramePr>
            <a:graphicFrameLocks noGrp="1"/>
          </p:cNvGraphicFramePr>
          <p:nvPr/>
        </p:nvGraphicFramePr>
        <p:xfrm>
          <a:off x="3906316" y="1946275"/>
          <a:ext cx="583200" cy="1482725"/>
        </p:xfrm>
        <a:graphic>
          <a:graphicData uri="http://schemas.openxmlformats.org/drawingml/2006/table">
            <a:tbl>
              <a:tblPr firstRow="1" bandRow="1">
                <a:tableStyleId>{8A107856-5554-42FB-B03E-39F5DBC370BA}</a:tableStyleId>
              </a:tblPr>
              <a:tblGrid>
                <a:gridCol w="583200">
                  <a:extLst>
                    <a:ext uri="{9D8B030D-6E8A-4147-A177-3AD203B41FA5}">
                      <a16:colId xmlns:a16="http://schemas.microsoft.com/office/drawing/2014/main" val="1043724596"/>
                    </a:ext>
                  </a:extLst>
                </a:gridCol>
              </a:tblGrid>
              <a:tr h="370205">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8</a:t>
                      </a:r>
                    </a:p>
                  </a:txBody>
                  <a:tcPr/>
                </a:tc>
                <a:extLst>
                  <a:ext uri="{0D108BD9-81ED-4DB2-BD59-A6C34878D82A}">
                    <a16:rowId xmlns:a16="http://schemas.microsoft.com/office/drawing/2014/main" val="3905756574"/>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6</a:t>
                      </a:r>
                    </a:p>
                  </a:txBody>
                  <a:tcPr/>
                </a:tc>
                <a:extLst>
                  <a:ext uri="{0D108BD9-81ED-4DB2-BD59-A6C34878D82A}">
                    <a16:rowId xmlns:a16="http://schemas.microsoft.com/office/drawing/2014/main" val="1530272506"/>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9</a:t>
                      </a:r>
                    </a:p>
                  </a:txBody>
                  <a:tcPr/>
                </a:tc>
                <a:extLst>
                  <a:ext uri="{0D108BD9-81ED-4DB2-BD59-A6C34878D82A}">
                    <a16:rowId xmlns:a16="http://schemas.microsoft.com/office/drawing/2014/main" val="2397180504"/>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7</a:t>
                      </a:r>
                    </a:p>
                  </a:txBody>
                  <a:tcPr/>
                </a:tc>
                <a:extLst>
                  <a:ext uri="{0D108BD9-81ED-4DB2-BD59-A6C34878D82A}">
                    <a16:rowId xmlns:a16="http://schemas.microsoft.com/office/drawing/2014/main" val="74951030"/>
                  </a:ext>
                </a:extLst>
              </a:tr>
            </a:tbl>
          </a:graphicData>
        </a:graphic>
      </p:graphicFrame>
      <mc:AlternateContent xmlns:mc="http://schemas.openxmlformats.org/markup-compatibility/2006" xmlns:a14="http://schemas.microsoft.com/office/drawing/2010/main">
        <mc:Choice Requires="a14">
          <p:sp>
            <p:nvSpPr>
              <p:cNvPr id="9" name="Rechteck 8">
                <a:extLst>
                  <a:ext uri="{FF2B5EF4-FFF2-40B4-BE49-F238E27FC236}">
                    <a16:creationId xmlns:a16="http://schemas.microsoft.com/office/drawing/2014/main" id="{DE3EF865-2362-44C9-B3FF-E1F1905AD312}"/>
                  </a:ext>
                </a:extLst>
              </p:cNvPr>
              <p:cNvSpPr/>
              <p:nvPr/>
            </p:nvSpPr>
            <p:spPr>
              <a:xfrm>
                <a:off x="2463342" y="2379860"/>
                <a:ext cx="1022844"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i="1" dirty="0" smtClean="0">
                          <a:latin typeface="Cambria Math" panose="02040503050406030204" pitchFamily="18" charset="0"/>
                        </a:rPr>
                        <m:t>𝑠</m:t>
                      </m:r>
                      <m:r>
                        <a:rPr lang="de-AT" i="1" dirty="0" smtClean="0">
                          <a:latin typeface="Cambria Math" panose="02040503050406030204" pitchFamily="18" charset="0"/>
                        </a:rPr>
                        <m:t>.</m:t>
                      </m:r>
                      <m:r>
                        <a:rPr lang="de-AT" i="1" dirty="0" smtClean="0">
                          <a:latin typeface="Cambria Math" panose="02040503050406030204" pitchFamily="18" charset="0"/>
                        </a:rPr>
                        <m:t>𝑝𝑢𝑠h</m:t>
                      </m:r>
                      <m:r>
                        <a:rPr lang="de-AT" i="1" dirty="0" smtClean="0">
                          <a:latin typeface="Cambria Math" panose="02040503050406030204" pitchFamily="18" charset="0"/>
                        </a:rPr>
                        <m:t>(8)</m:t>
                      </m:r>
                    </m:oMath>
                  </m:oMathPara>
                </a14:m>
                <a:endParaRPr lang="de-AT" dirty="0"/>
              </a:p>
            </p:txBody>
          </p:sp>
        </mc:Choice>
        <mc:Fallback xmlns="">
          <p:sp>
            <p:nvSpPr>
              <p:cNvPr id="9" name="Rechteck 8">
                <a:extLst>
                  <a:ext uri="{FF2B5EF4-FFF2-40B4-BE49-F238E27FC236}">
                    <a16:creationId xmlns:a16="http://schemas.microsoft.com/office/drawing/2014/main" id="{DE3EF865-2362-44C9-B3FF-E1F1905AD312}"/>
                  </a:ext>
                </a:extLst>
              </p:cNvPr>
              <p:cNvSpPr>
                <a:spLocks noRot="1" noChangeAspect="1" noMove="1" noResize="1" noEditPoints="1" noAdjustHandles="1" noChangeArrowheads="1" noChangeShapeType="1" noTextEdit="1"/>
              </p:cNvSpPr>
              <p:nvPr/>
            </p:nvSpPr>
            <p:spPr>
              <a:xfrm>
                <a:off x="2463342" y="2379860"/>
                <a:ext cx="1022844" cy="307777"/>
              </a:xfrm>
              <a:prstGeom prst="rect">
                <a:avLst/>
              </a:prstGeom>
              <a:blipFill>
                <a:blip r:embed="rId3"/>
                <a:stretch>
                  <a:fillRect b="-7843"/>
                </a:stretch>
              </a:blipFill>
            </p:spPr>
            <p:txBody>
              <a:bodyPr/>
              <a:lstStyle/>
              <a:p>
                <a:r>
                  <a:rPr lang="de-AT">
                    <a:noFill/>
                  </a:rPr>
                  <a:t> </a:t>
                </a:r>
              </a:p>
            </p:txBody>
          </p:sp>
        </mc:Fallback>
      </mc:AlternateContent>
    </p:spTree>
    <p:extLst>
      <p:ext uri="{BB962C8B-B14F-4D97-AF65-F5344CB8AC3E}">
        <p14:creationId xmlns:p14="http://schemas.microsoft.com/office/powerpoint/2010/main" val="21316478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Stacks</a:t>
            </a:r>
            <a:endParaRPr lang="en-US" sz="2800" b="1" noProof="0" dirty="0">
              <a:latin typeface="Calibri" panose="020F0502020204030204" pitchFamily="34" charset="0"/>
              <a:cs typeface="Calibri" panose="020F0502020204030204" pitchFamily="34" charset="0"/>
            </a:endParaRPr>
          </a:p>
        </p:txBody>
      </p:sp>
      <p:graphicFrame>
        <p:nvGraphicFramePr>
          <p:cNvPr id="6" name="Tabelle 5">
            <a:extLst>
              <a:ext uri="{FF2B5EF4-FFF2-40B4-BE49-F238E27FC236}">
                <a16:creationId xmlns:a16="http://schemas.microsoft.com/office/drawing/2014/main" id="{7D1490D8-8773-42D7-ABA6-25C71664D7E5}"/>
              </a:ext>
            </a:extLst>
          </p:cNvPr>
          <p:cNvGraphicFramePr>
            <a:graphicFrameLocks noGrp="1"/>
          </p:cNvGraphicFramePr>
          <p:nvPr>
            <p:extLst>
              <p:ext uri="{D42A27DB-BD31-4B8C-83A1-F6EECF244321}">
                <p14:modId xmlns:p14="http://schemas.microsoft.com/office/powerpoint/2010/main" val="226852510"/>
              </p:ext>
            </p:extLst>
          </p:nvPr>
        </p:nvGraphicFramePr>
        <p:xfrm>
          <a:off x="3906316" y="1946275"/>
          <a:ext cx="583200" cy="1112520"/>
        </p:xfrm>
        <a:graphic>
          <a:graphicData uri="http://schemas.openxmlformats.org/drawingml/2006/table">
            <a:tbl>
              <a:tblPr firstRow="1" bandRow="1">
                <a:tableStyleId>{8A107856-5554-42FB-B03E-39F5DBC370BA}</a:tableStyleId>
              </a:tblPr>
              <a:tblGrid>
                <a:gridCol w="583200">
                  <a:extLst>
                    <a:ext uri="{9D8B030D-6E8A-4147-A177-3AD203B41FA5}">
                      <a16:colId xmlns:a16="http://schemas.microsoft.com/office/drawing/2014/main" val="1043724596"/>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6</a:t>
                      </a:r>
                    </a:p>
                  </a:txBody>
                  <a:tcPr/>
                </a:tc>
                <a:extLst>
                  <a:ext uri="{0D108BD9-81ED-4DB2-BD59-A6C34878D82A}">
                    <a16:rowId xmlns:a16="http://schemas.microsoft.com/office/drawing/2014/main" val="1530272506"/>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9</a:t>
                      </a:r>
                    </a:p>
                  </a:txBody>
                  <a:tcPr/>
                </a:tc>
                <a:extLst>
                  <a:ext uri="{0D108BD9-81ED-4DB2-BD59-A6C34878D82A}">
                    <a16:rowId xmlns:a16="http://schemas.microsoft.com/office/drawing/2014/main" val="2397180504"/>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7</a:t>
                      </a:r>
                    </a:p>
                  </a:txBody>
                  <a:tcPr/>
                </a:tc>
                <a:extLst>
                  <a:ext uri="{0D108BD9-81ED-4DB2-BD59-A6C34878D82A}">
                    <a16:rowId xmlns:a16="http://schemas.microsoft.com/office/drawing/2014/main" val="74951030"/>
                  </a:ext>
                </a:extLst>
              </a:tr>
            </a:tbl>
          </a:graphicData>
        </a:graphic>
      </p:graphicFrame>
      <mc:AlternateContent xmlns:mc="http://schemas.openxmlformats.org/markup-compatibility/2006" xmlns:a14="http://schemas.microsoft.com/office/drawing/2010/main">
        <mc:Choice Requires="a14">
          <p:sp>
            <p:nvSpPr>
              <p:cNvPr id="5" name="Rechteck 4">
                <a:extLst>
                  <a:ext uri="{FF2B5EF4-FFF2-40B4-BE49-F238E27FC236}">
                    <a16:creationId xmlns:a16="http://schemas.microsoft.com/office/drawing/2014/main" id="{AE8428C4-60C0-4B5C-B755-DA87ECC78120}"/>
                  </a:ext>
                </a:extLst>
              </p:cNvPr>
              <p:cNvSpPr/>
              <p:nvPr/>
            </p:nvSpPr>
            <p:spPr>
              <a:xfrm>
                <a:off x="2463342" y="2379860"/>
                <a:ext cx="99033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i="1" dirty="0" smtClean="0">
                          <a:latin typeface="Cambria Math" panose="02040503050406030204" pitchFamily="18" charset="0"/>
                        </a:rPr>
                        <m:t>𝑠</m:t>
                      </m:r>
                      <m:r>
                        <a:rPr lang="de-AT" i="1" dirty="0" smtClean="0">
                          <a:latin typeface="Cambria Math" panose="02040503050406030204" pitchFamily="18" charset="0"/>
                        </a:rPr>
                        <m:t>.</m:t>
                      </m:r>
                      <m:r>
                        <a:rPr lang="de-AT" i="1" dirty="0" smtClean="0">
                          <a:latin typeface="Cambria Math" panose="02040503050406030204" pitchFamily="18" charset="0"/>
                        </a:rPr>
                        <m:t>𝑝𝑜𝑝</m:t>
                      </m:r>
                      <m:r>
                        <a:rPr lang="de-AT" b="0" i="1" dirty="0" smtClean="0">
                          <a:latin typeface="Cambria Math" panose="02040503050406030204" pitchFamily="18" charset="0"/>
                        </a:rPr>
                        <m:t>()</m:t>
                      </m:r>
                    </m:oMath>
                  </m:oMathPara>
                </a14:m>
                <a:endParaRPr lang="de-AT" dirty="0"/>
              </a:p>
              <a:p>
                <a:pPr/>
                <a14:m>
                  <m:oMathPara xmlns:m="http://schemas.openxmlformats.org/officeDocument/2006/math">
                    <m:oMathParaPr>
                      <m:jc m:val="centerGroup"/>
                    </m:oMathParaPr>
                    <m:oMath xmlns:m="http://schemas.openxmlformats.org/officeDocument/2006/math">
                      <m:r>
                        <a:rPr lang="de-AT" i="1" dirty="0" smtClean="0">
                          <a:latin typeface="Cambria Math" panose="02040503050406030204" pitchFamily="18" charset="0"/>
                        </a:rPr>
                        <m:t>𝑟</m:t>
                      </m:r>
                      <m:r>
                        <a:rPr lang="de-AT" i="1" dirty="0" err="1" smtClean="0">
                          <a:latin typeface="Cambria Math" panose="02040503050406030204" pitchFamily="18" charset="0"/>
                        </a:rPr>
                        <m:t>𝑒𝑡𝑢𝑟𝑛</m:t>
                      </m:r>
                      <m:r>
                        <a:rPr lang="de-AT" i="1" dirty="0" smtClean="0">
                          <a:latin typeface="Cambria Math" panose="02040503050406030204" pitchFamily="18" charset="0"/>
                        </a:rPr>
                        <m:t>:</m:t>
                      </m:r>
                      <m:r>
                        <a:rPr lang="de-AT" i="1" dirty="0">
                          <a:latin typeface="Cambria Math" panose="02040503050406030204" pitchFamily="18" charset="0"/>
                        </a:rPr>
                        <m:t> 8</m:t>
                      </m:r>
                    </m:oMath>
                  </m:oMathPara>
                </a14:m>
                <a:endParaRPr lang="de-AT" dirty="0"/>
              </a:p>
            </p:txBody>
          </p:sp>
        </mc:Choice>
        <mc:Fallback xmlns="">
          <p:sp>
            <p:nvSpPr>
              <p:cNvPr id="5" name="Rechteck 4">
                <a:extLst>
                  <a:ext uri="{FF2B5EF4-FFF2-40B4-BE49-F238E27FC236}">
                    <a16:creationId xmlns:a16="http://schemas.microsoft.com/office/drawing/2014/main" id="{AE8428C4-60C0-4B5C-B755-DA87ECC78120}"/>
                  </a:ext>
                </a:extLst>
              </p:cNvPr>
              <p:cNvSpPr>
                <a:spLocks noRot="1" noChangeAspect="1" noMove="1" noResize="1" noEditPoints="1" noAdjustHandles="1" noChangeArrowheads="1" noChangeShapeType="1" noTextEdit="1"/>
              </p:cNvSpPr>
              <p:nvPr/>
            </p:nvSpPr>
            <p:spPr>
              <a:xfrm>
                <a:off x="2463342" y="2379860"/>
                <a:ext cx="990336" cy="523220"/>
              </a:xfrm>
              <a:prstGeom prst="rect">
                <a:avLst/>
              </a:prstGeom>
              <a:blipFill>
                <a:blip r:embed="rId3"/>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20310510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13135538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mc:AlternateContent xmlns:mc="http://schemas.openxmlformats.org/markup-compatibility/2006" xmlns:a14="http://schemas.microsoft.com/office/drawing/2010/main">
        <mc:Choice Requires="a14">
          <p:sp>
            <p:nvSpPr>
              <p:cNvPr id="4" name="Textfeld 2">
                <a:extLst>
                  <a:ext uri="{FF2B5EF4-FFF2-40B4-BE49-F238E27FC236}">
                    <a16:creationId xmlns:a16="http://schemas.microsoft.com/office/drawing/2014/main" id="{B1AB2DE2-BFB4-403B-9976-58C0812A00AF}"/>
                  </a:ext>
                </a:extLst>
              </p:cNvPr>
              <p:cNvSpPr txBox="1"/>
              <p:nvPr/>
            </p:nvSpPr>
            <p:spPr>
              <a:xfrm>
                <a:off x="457200" y="1605600"/>
                <a:ext cx="8229600" cy="1470980"/>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5: </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What values are returned during the following series of stack operations, if executed upon an initially empty stack? </a:t>
                </a:r>
                <a14:m>
                  <m:oMath xmlns:m="http://schemas.openxmlformats.org/officeDocument/2006/math">
                    <m:r>
                      <a:rPr lang="en-US" sz="1800" i="1" dirty="0" smtClean="0">
                        <a:latin typeface="Cambria Math" panose="02040503050406030204" pitchFamily="18" charset="0"/>
                        <a:cs typeface="Calibri" panose="020F0502020204030204" pitchFamily="34" charset="0"/>
                      </a:rPr>
                      <m:t>𝑝</m:t>
                    </m:r>
                    <m:r>
                      <a:rPr kumimoji="0" lang="en-US"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𝑢𝑠h</m:t>
                    </m:r>
                    <m:d>
                      <m:dPr>
                        <m:ctrlP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ctrlPr>
                      </m:dPr>
                      <m:e>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5</m:t>
                        </m:r>
                      </m:e>
                    </m:d>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𝑝𝑢𝑠h</m:t>
                    </m:r>
                    <m:d>
                      <m:dPr>
                        <m:ctrlP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ctrlPr>
                      </m:dPr>
                      <m:e>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3</m:t>
                        </m:r>
                      </m:e>
                    </m:d>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𝑝𝑜𝑝</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𝑝𝑢𝑠h</m:t>
                    </m:r>
                    <m:d>
                      <m:dPr>
                        <m:ctrlP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ctrlPr>
                      </m:dPr>
                      <m:e>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2</m:t>
                        </m:r>
                      </m:e>
                    </m:d>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𝑝𝑢𝑠h</m:t>
                    </m:r>
                    <m:d>
                      <m:dPr>
                        <m:ctrlP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ctrlPr>
                      </m:dPr>
                      <m:e>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8</m:t>
                        </m:r>
                      </m:e>
                    </m:d>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𝑝𝑜𝑝</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oMath>
                </a14:m>
                <a:endParaRPr kumimoji="0" lang="de-AT" sz="1800" i="1" u="none" strike="noStrike" kern="0" cap="none" spc="0" normalizeH="0" baseline="0" noProof="0" dirty="0">
                  <a:ln>
                    <a:noFill/>
                  </a:ln>
                  <a:solidFill>
                    <a:srgbClr val="000000"/>
                  </a:solidFill>
                  <a:effectLst/>
                  <a:uLnTx/>
                  <a:uFillTx/>
                  <a:latin typeface="Cambria Math" panose="02040503050406030204" pitchFamily="18" charset="0"/>
                  <a:cs typeface="Calibri" panose="020F0502020204030204" pitchFamily="34" charset="0"/>
                  <a:sym typeface="Arial"/>
                </a:endParaRPr>
              </a:p>
              <a:p>
                <a:pPr lvl="0">
                  <a:defRPr/>
                </a:pPr>
                <a14:m>
                  <m:oMathPara xmlns:m="http://schemas.openxmlformats.org/officeDocument/2006/math">
                    <m:oMathParaPr>
                      <m:jc m:val="left"/>
                    </m:oMathParaPr>
                    <m:oMath xmlns:m="http://schemas.openxmlformats.org/officeDocument/2006/math">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𝑝𝑜𝑝</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𝑝𝑢𝑠h</m:t>
                      </m:r>
                      <m:d>
                        <m:dPr>
                          <m:ctrlP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ctrlPr>
                        </m:dPr>
                        <m:e>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9</m:t>
                          </m:r>
                        </m:e>
                      </m:d>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𝑝𝑢𝑠h</m:t>
                      </m:r>
                      <m:d>
                        <m:dPr>
                          <m:ctrlP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ctrlPr>
                        </m:dPr>
                        <m:e>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1</m:t>
                          </m:r>
                        </m:e>
                      </m:d>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𝑝𝑜𝑝</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𝑝𝑢𝑠h</m:t>
                      </m:r>
                      <m:d>
                        <m:dPr>
                          <m:ctrlP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ctrlPr>
                        </m:dPr>
                        <m:e>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7</m:t>
                          </m:r>
                        </m:e>
                      </m:d>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𝑝𝑢𝑠h</m:t>
                      </m:r>
                      <m:d>
                        <m:dPr>
                          <m:ctrlP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ctrlPr>
                        </m:dPr>
                        <m:e>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6</m:t>
                          </m:r>
                        </m:e>
                      </m:d>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oMath>
                  </m:oMathPara>
                </a14:m>
                <a:endParaRPr kumimoji="0" lang="de-AT" sz="1800" i="1" u="none" strike="noStrike" kern="0" cap="none" spc="0" normalizeH="0" baseline="0" noProof="0" dirty="0">
                  <a:ln>
                    <a:noFill/>
                  </a:ln>
                  <a:solidFill>
                    <a:srgbClr val="000000"/>
                  </a:solidFill>
                  <a:effectLst/>
                  <a:uLnTx/>
                  <a:uFillTx/>
                  <a:latin typeface="Cambria Math" panose="02040503050406030204" pitchFamily="18" charset="0"/>
                  <a:cs typeface="Calibri" panose="020F0502020204030204" pitchFamily="34" charset="0"/>
                  <a:sym typeface="Arial"/>
                </a:endParaRPr>
              </a:p>
              <a:p>
                <a:pPr lvl="0">
                  <a:defRPr/>
                </a:pPr>
                <a14:m>
                  <m:oMath xmlns:m="http://schemas.openxmlformats.org/officeDocument/2006/math">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𝑝𝑜𝑝</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𝑝𝑜𝑝</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𝑝𝑢𝑠h</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(4), </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𝑝𝑜𝑝</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𝑝𝑜𝑝</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a:t>
                </a:r>
                <a:endParaRPr lang="en-US" sz="1800" dirty="0">
                  <a:latin typeface="Calibri" panose="020F0502020204030204" pitchFamily="34" charset="0"/>
                  <a:cs typeface="Calibri" panose="020F0502020204030204" pitchFamily="34" charset="0"/>
                </a:endParaRPr>
              </a:p>
            </p:txBody>
          </p:sp>
        </mc:Choice>
        <mc:Fallback xmlns="">
          <p:sp>
            <p:nvSpPr>
              <p:cNvPr id="4" name="Textfeld 2">
                <a:extLst>
                  <a:ext uri="{FF2B5EF4-FFF2-40B4-BE49-F238E27FC236}">
                    <a16:creationId xmlns:a16="http://schemas.microsoft.com/office/drawing/2014/main" id="{B1AB2DE2-BFB4-403B-9976-58C0812A00AF}"/>
                  </a:ext>
                </a:extLst>
              </p:cNvPr>
              <p:cNvSpPr txBox="1">
                <a:spLocks noRot="1" noChangeAspect="1" noMove="1" noResize="1" noEditPoints="1" noAdjustHandles="1" noChangeArrowheads="1" noChangeShapeType="1" noTextEdit="1"/>
              </p:cNvSpPr>
              <p:nvPr/>
            </p:nvSpPr>
            <p:spPr>
              <a:xfrm>
                <a:off x="457200" y="1605600"/>
                <a:ext cx="8229600" cy="1470980"/>
              </a:xfrm>
              <a:prstGeom prst="rect">
                <a:avLst/>
              </a:prstGeom>
              <a:blipFill>
                <a:blip r:embed="rId3"/>
                <a:stretch>
                  <a:fillRect l="-593" t="-2066" b="-5785"/>
                </a:stretch>
              </a:blipFill>
            </p:spPr>
            <p:txBody>
              <a:bodyPr/>
              <a:lstStyle/>
              <a:p>
                <a:r>
                  <a:rPr lang="de-AT">
                    <a:noFill/>
                  </a:rPr>
                  <a:t> </a:t>
                </a:r>
              </a:p>
            </p:txBody>
          </p:sp>
        </mc:Fallback>
      </mc:AlternateContent>
    </p:spTree>
    <p:extLst>
      <p:ext uri="{BB962C8B-B14F-4D97-AF65-F5344CB8AC3E}">
        <p14:creationId xmlns:p14="http://schemas.microsoft.com/office/powerpoint/2010/main" val="5956583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Implementing stacks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250156"/>
                <a:ext cx="8229300" cy="3507582"/>
              </a:xfrm>
            </p:spPr>
            <p:txBody>
              <a:bodyPr/>
              <a:lstStyle/>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can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implement</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stack</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easily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with</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python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list</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Adding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element</a:t>
                </a:r>
                <a:r>
                  <a:rPr lang="de-AT" sz="1800" dirty="0">
                    <a:latin typeface="Calibri" panose="020F0502020204030204" pitchFamily="34" charset="0"/>
                    <a:ea typeface="Calibri" panose="020F0502020204030204" pitchFamily="34" charset="0"/>
                    <a:cs typeface="Calibri" panose="020F0502020204030204" pitchFamily="34" charset="0"/>
                  </a:rPr>
                  <a:t>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end </a:t>
                </a:r>
                <a:r>
                  <a:rPr lang="de-AT" sz="1800" dirty="0" err="1">
                    <a:latin typeface="Calibri" panose="020F0502020204030204" pitchFamily="34" charset="0"/>
                    <a:ea typeface="Calibri" panose="020F0502020204030204" pitchFamily="34" charset="0"/>
                    <a:cs typeface="Calibri" panose="020F0502020204030204" pitchFamily="34" charset="0"/>
                  </a:rPr>
                  <a:t>can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done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with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𝑎𝑝𝑝𝑒𝑛𝑑</m:t>
                    </m:r>
                  </m:oMath>
                </a14:m>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method</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Removing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last </a:t>
                </a:r>
                <a:r>
                  <a:rPr lang="de-AT" sz="1800" dirty="0" err="1">
                    <a:latin typeface="Calibri" panose="020F0502020204030204" pitchFamily="34" charset="0"/>
                    <a:ea typeface="Calibri" panose="020F0502020204030204" pitchFamily="34" charset="0"/>
                    <a:cs typeface="Calibri" panose="020F0502020204030204" pitchFamily="34" charset="0"/>
                  </a:rPr>
                  <a:t>element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can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done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with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𝑝𝑜𝑝</m:t>
                    </m:r>
                  </m:oMath>
                </a14:m>
                <a:r>
                  <a:rPr lang="de-AT" sz="1800" dirty="0">
                    <a:latin typeface="Calibri" panose="020F0502020204030204" pitchFamily="34" charset="0"/>
                    <a:ea typeface="Calibri" panose="020F0502020204030204" pitchFamily="34" charset="0"/>
                    <a:cs typeface="Calibri" panose="020F0502020204030204" pitchFamily="34" charset="0"/>
                  </a:rPr>
                  <a:t> method</a:t>
                </a: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It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natural</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align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top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stack</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with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end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list</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However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lists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include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behavior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which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stacks</a:t>
                </a:r>
                <a:r>
                  <a:rPr lang="de-AT" sz="1800" dirty="0">
                    <a:latin typeface="Calibri" panose="020F0502020204030204" pitchFamily="34" charset="0"/>
                    <a:ea typeface="Calibri" panose="020F0502020204030204" pitchFamily="34" charset="0"/>
                    <a:cs typeface="Calibri" panose="020F0502020204030204" pitchFamily="34" charset="0"/>
                  </a:rPr>
                  <a:t> do not</a:t>
                </a:r>
              </a:p>
              <a:p>
                <a:pPr marL="857250" lvl="1" indent="-285750">
                  <a:spcBef>
                    <a:spcPts val="600"/>
                  </a:spcBef>
                  <a:spcAft>
                    <a:spcPts val="600"/>
                  </a:spcAft>
                  <a:buFont typeface="Wingdings" panose="05000000000000000000" pitchFamily="2" charset="2"/>
                  <a:buChar char="v"/>
                </a:pP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𝑖</m:t>
                    </m:r>
                    <m:r>
                      <a:rPr lang="de-AT" sz="1800" i="1" dirty="0" err="1" smtClean="0">
                        <a:latin typeface="Cambria Math" panose="02040503050406030204" pitchFamily="18" charset="0"/>
                        <a:ea typeface="Calibri" panose="020F0502020204030204" pitchFamily="34" charset="0"/>
                        <a:cs typeface="Calibri" panose="020F0502020204030204" pitchFamily="34" charset="0"/>
                      </a:rPr>
                      <m:t>𝑛𝑠𝑒𝑟𝑡</m:t>
                    </m:r>
                    <m:r>
                      <a:rPr lang="de-AT" sz="1800" i="1" dirty="0" smtClean="0">
                        <a:latin typeface="Cambria Math" panose="02040503050406030204" pitchFamily="18" charset="0"/>
                        <a:ea typeface="Calibri" panose="020F0502020204030204" pitchFamily="34" charset="0"/>
                        <a:cs typeface="Calibri" panose="020F0502020204030204" pitchFamily="34" charset="0"/>
                      </a:rPr>
                      <m:t>,</m:t>
                    </m:r>
                    <m:r>
                      <a:rPr lang="de-AT" sz="1800" i="1" dirty="0">
                        <a:latin typeface="Cambria Math" panose="02040503050406030204" pitchFamily="18" charset="0"/>
                        <a:ea typeface="Calibri" panose="020F0502020204030204" pitchFamily="34" charset="0"/>
                        <a:cs typeface="Calibri" panose="020F0502020204030204" pitchFamily="34" charset="0"/>
                      </a:rPr>
                      <m:t> </m:t>
                    </m:r>
                    <m:r>
                      <a:rPr lang="de-AT" sz="1800" i="1" dirty="0" err="1" smtClean="0">
                        <a:latin typeface="Cambria Math" panose="02040503050406030204" pitchFamily="18" charset="0"/>
                        <a:ea typeface="Calibri" panose="020F0502020204030204" pitchFamily="34" charset="0"/>
                        <a:cs typeface="Calibri" panose="020F0502020204030204" pitchFamily="34" charset="0"/>
                      </a:rPr>
                      <m:t>𝑟𝑒𝑚𝑜𝑣𝑒</m:t>
                    </m:r>
                    <m:r>
                      <a:rPr lang="de-AT" sz="1800" i="1" dirty="0" smtClean="0">
                        <a:latin typeface="Cambria Math" panose="02040503050406030204" pitchFamily="18" charset="0"/>
                        <a:ea typeface="Calibri" panose="020F0502020204030204" pitchFamily="34" charset="0"/>
                        <a:cs typeface="Calibri" panose="020F0502020204030204" pitchFamily="34" charset="0"/>
                      </a:rPr>
                      <m:t>, </m:t>
                    </m:r>
                    <m:r>
                      <a:rPr lang="de-AT" sz="1800" i="1" dirty="0" err="1" smtClean="0">
                        <a:latin typeface="Cambria Math" panose="02040503050406030204" pitchFamily="18" charset="0"/>
                        <a:ea typeface="Calibri" panose="020F0502020204030204" pitchFamily="34" charset="0"/>
                        <a:cs typeface="Calibri" panose="020F0502020204030204" pitchFamily="34" charset="0"/>
                      </a:rPr>
                      <m:t>𝑠𝑜𝑟𝑡</m:t>
                    </m:r>
                  </m:oMath>
                </a14:m>
                <a:r>
                  <a:rPr lang="de-AT" sz="1800" dirty="0">
                    <a:latin typeface="Calibri" panose="020F0502020204030204" pitchFamily="34" charset="0"/>
                    <a:ea typeface="Calibri" panose="020F0502020204030204" pitchFamily="34" charset="0"/>
                    <a:cs typeface="Calibri" panose="020F0502020204030204" pitchFamily="34" charset="0"/>
                  </a:rPr>
                  <a:t>, etc.</a:t>
                </a: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could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use</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list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internally</a:t>
                </a:r>
                <a:r>
                  <a:rPr lang="de-AT" sz="1800" dirty="0">
                    <a:latin typeface="Calibri" panose="020F0502020204030204" pitchFamily="34" charset="0"/>
                    <a:ea typeface="Calibri" panose="020F0502020204030204" pitchFamily="34" charset="0"/>
                    <a:cs typeface="Calibri" panose="020F0502020204030204" pitchFamily="34" charset="0"/>
                  </a:rPr>
                  <a:t> but </a:t>
                </a:r>
                <a:r>
                  <a:rPr lang="de-AT" sz="1800" dirty="0" err="1">
                    <a:latin typeface="Calibri" panose="020F0502020204030204" pitchFamily="34" charset="0"/>
                    <a:ea typeface="Calibri" panose="020F0502020204030204" pitchFamily="34" charset="0"/>
                    <a:cs typeface="Calibri" panose="020F0502020204030204" pitchFamily="34" charset="0"/>
                  </a:rPr>
                  <a:t>provide</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public</a:t>
                </a:r>
                <a:r>
                  <a:rPr lang="de-AT" sz="1800" dirty="0">
                    <a:latin typeface="Calibri" panose="020F0502020204030204" pitchFamily="34" charset="0"/>
                    <a:ea typeface="Calibri" panose="020F0502020204030204" pitchFamily="34" charset="0"/>
                    <a:cs typeface="Calibri" panose="020F0502020204030204" pitchFamily="34" charset="0"/>
                  </a:rPr>
                  <a:t> interface </a:t>
                </a:r>
                <a:r>
                  <a:rPr lang="de-AT" sz="1800" dirty="0" err="1">
                    <a:latin typeface="Calibri" panose="020F0502020204030204" pitchFamily="34" charset="0"/>
                    <a:ea typeface="Calibri" panose="020F0502020204030204" pitchFamily="34" charset="0"/>
                    <a:cs typeface="Calibri" panose="020F0502020204030204" pitchFamily="34" charset="0"/>
                  </a:rPr>
                  <a:t>consistent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with</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stack</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will </a:t>
                </a:r>
                <a:r>
                  <a:rPr lang="de-AT" sz="1800" dirty="0" err="1">
                    <a:latin typeface="Calibri" panose="020F0502020204030204" pitchFamily="34" charset="0"/>
                    <a:ea typeface="Calibri" panose="020F0502020204030204" pitchFamily="34" charset="0"/>
                    <a:cs typeface="Calibri" panose="020F0502020204030204" pitchFamily="34" charset="0"/>
                  </a:rPr>
                  <a:t>use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b="1" dirty="0" err="1">
                    <a:latin typeface="Calibri" panose="020F0502020204030204" pitchFamily="34" charset="0"/>
                    <a:ea typeface="Calibri" panose="020F0502020204030204" pitchFamily="34" charset="0"/>
                    <a:cs typeface="Calibri" panose="020F0502020204030204" pitchFamily="34" charset="0"/>
                  </a:rPr>
                  <a:t>adapter</a:t>
                </a:r>
                <a:r>
                  <a:rPr lang="de-AT" sz="1800" b="1" dirty="0">
                    <a:latin typeface="Calibri" panose="020F0502020204030204" pitchFamily="34" charset="0"/>
                    <a:ea typeface="Calibri" panose="020F0502020204030204" pitchFamily="34" charset="0"/>
                    <a:cs typeface="Calibri" panose="020F0502020204030204" pitchFamily="34" charset="0"/>
                  </a:rPr>
                  <a:t> design </a:t>
                </a:r>
                <a:r>
                  <a:rPr lang="de-AT" sz="1800" b="1" dirty="0" err="1">
                    <a:latin typeface="Calibri" panose="020F0502020204030204" pitchFamily="34" charset="0"/>
                    <a:ea typeface="Calibri" panose="020F0502020204030204" pitchFamily="34" charset="0"/>
                    <a:cs typeface="Calibri" panose="020F0502020204030204" pitchFamily="34" charset="0"/>
                  </a:rPr>
                  <a:t>pattern</a:t>
                </a:r>
                <a:r>
                  <a:rPr lang="de-AT" sz="1800" b="1"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software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engineering</a:t>
                </a:r>
                <a:endParaRPr lang="de-AT"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250156"/>
                <a:ext cx="8229300" cy="3507582"/>
              </a:xfrm>
              <a:blipFill>
                <a:blip r:embed="rId3"/>
                <a:stretch>
                  <a:fillRect b="-722"/>
                </a:stretch>
              </a:blipFill>
            </p:spPr>
            <p:txBody>
              <a:bodyPr/>
              <a:lstStyle/>
              <a:p>
                <a:r>
                  <a:rPr lang="en-US">
                    <a:noFill/>
                  </a:rPr>
                  <a:t> </a:t>
                </a:r>
              </a:p>
            </p:txBody>
          </p:sp>
        </mc:Fallback>
      </mc:AlternateContent>
    </p:spTree>
    <p:extLst>
      <p:ext uri="{BB962C8B-B14F-4D97-AF65-F5344CB8AC3E}">
        <p14:creationId xmlns:p14="http://schemas.microsoft.com/office/powerpoint/2010/main" val="40242720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Adapting lists to represent stacks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graphicFrame>
            <p:nvGraphicFramePr>
              <p:cNvPr id="6" name="Tabelle 5">
                <a:extLst>
                  <a:ext uri="{FF2B5EF4-FFF2-40B4-BE49-F238E27FC236}">
                    <a16:creationId xmlns:a16="http://schemas.microsoft.com/office/drawing/2014/main" id="{BD0AB5BF-8E63-4F02-92C6-8F6992CDB774}"/>
                  </a:ext>
                </a:extLst>
              </p:cNvPr>
              <p:cNvGraphicFramePr/>
              <p:nvPr>
                <p:extLst>
                  <p:ext uri="{D42A27DB-BD31-4B8C-83A1-F6EECF244321}">
                    <p14:modId xmlns:p14="http://schemas.microsoft.com/office/powerpoint/2010/main" val="2656141973"/>
                  </p:ext>
                </p:extLst>
              </p:nvPr>
            </p:nvGraphicFramePr>
            <p:xfrm>
              <a:off x="1845104" y="1418400"/>
              <a:ext cx="5720509" cy="2033676"/>
            </p:xfrm>
            <a:graphic>
              <a:graphicData uri="http://schemas.openxmlformats.org/drawingml/2006/table">
                <a:tbl>
                  <a:tblPr firstRow="1" bandRow="1">
                    <a:tableStyleId>{21E4AEA4-8DFA-4A89-87EB-49C32662AFE0}</a:tableStyleId>
                  </a:tblPr>
                  <a:tblGrid>
                    <a:gridCol w="2953790">
                      <a:extLst>
                        <a:ext uri="{9D8B030D-6E8A-4147-A177-3AD203B41FA5}">
                          <a16:colId xmlns:a16="http://schemas.microsoft.com/office/drawing/2014/main" val="4091769654"/>
                        </a:ext>
                      </a:extLst>
                    </a:gridCol>
                    <a:gridCol w="2766719">
                      <a:extLst>
                        <a:ext uri="{9D8B030D-6E8A-4147-A177-3AD203B41FA5}">
                          <a16:colId xmlns:a16="http://schemas.microsoft.com/office/drawing/2014/main" val="20000"/>
                        </a:ext>
                      </a:extLst>
                    </a:gridCol>
                  </a:tblGrid>
                  <a:tr h="280042">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Stack method</a:t>
                          </a:r>
                        </a:p>
                      </a:txBody>
                      <a:tcPr marL="63607" marR="63607" marT="32313" marB="32313" anchor="ctr"/>
                    </a:tc>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Realization with python list</a:t>
                          </a:r>
                        </a:p>
                      </a:txBody>
                      <a:tcPr marL="63607" marR="63607" marT="32313" marB="32313" anchor="ctr"/>
                    </a:tc>
                    <a:extLst>
                      <a:ext uri="{0D108BD9-81ED-4DB2-BD59-A6C34878D82A}">
                        <a16:rowId xmlns:a16="http://schemas.microsoft.com/office/drawing/2014/main" val="10000"/>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𝑠</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𝑝𝑢𝑠h</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𝑒</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𝑙</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𝑎𝑝𝑝𝑒𝑛𝑑</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𝑒</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0001"/>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𝑠</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𝑝𝑜𝑝</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𝑙</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𝑝𝑜𝑝</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0002"/>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𝑠</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𝑡𝑜𝑝</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𝑙</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0003"/>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𝑠</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𝑖𝑠</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_</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𝑒𝑚𝑝𝑡𝑦</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𝑙𝑒𝑛</m:t>
                                </m:r>
                                <m:d>
                                  <m:dPr>
                                    <m:ctrlP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ctrlPr>
                                  </m:dPr>
                                  <m:e>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𝑙</m:t>
                                    </m:r>
                                  </m:e>
                                </m:d>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==0</m:t>
                                </m:r>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789822921"/>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𝑙𝑒𝑛</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𝑠</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𝑙𝑒𝑛</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𝑙</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427484794"/>
                      </a:ext>
                    </a:extLst>
                  </a:tr>
                </a:tbl>
              </a:graphicData>
            </a:graphic>
          </p:graphicFrame>
        </mc:Choice>
        <mc:Fallback xmlns="">
          <p:graphicFrame>
            <p:nvGraphicFramePr>
              <p:cNvPr id="6" name="Tabelle 5">
                <a:extLst>
                  <a:ext uri="{FF2B5EF4-FFF2-40B4-BE49-F238E27FC236}">
                    <a16:creationId xmlns:a16="http://schemas.microsoft.com/office/drawing/2014/main" id="{BD0AB5BF-8E63-4F02-92C6-8F6992CDB774}"/>
                  </a:ext>
                </a:extLst>
              </p:cNvPr>
              <p:cNvGraphicFramePr/>
              <p:nvPr>
                <p:extLst>
                  <p:ext uri="{D42A27DB-BD31-4B8C-83A1-F6EECF244321}">
                    <p14:modId xmlns:p14="http://schemas.microsoft.com/office/powerpoint/2010/main" val="2656141973"/>
                  </p:ext>
                </p:extLst>
              </p:nvPr>
            </p:nvGraphicFramePr>
            <p:xfrm>
              <a:off x="1845104" y="1418400"/>
              <a:ext cx="5720509" cy="2033676"/>
            </p:xfrm>
            <a:graphic>
              <a:graphicData uri="http://schemas.openxmlformats.org/drawingml/2006/table">
                <a:tbl>
                  <a:tblPr firstRow="1" bandRow="1">
                    <a:tableStyleId>{21E4AEA4-8DFA-4A89-87EB-49C32662AFE0}</a:tableStyleId>
                  </a:tblPr>
                  <a:tblGrid>
                    <a:gridCol w="2953790">
                      <a:extLst>
                        <a:ext uri="{9D8B030D-6E8A-4147-A177-3AD203B41FA5}">
                          <a16:colId xmlns:a16="http://schemas.microsoft.com/office/drawing/2014/main" val="4091769654"/>
                        </a:ext>
                      </a:extLst>
                    </a:gridCol>
                    <a:gridCol w="2766719">
                      <a:extLst>
                        <a:ext uri="{9D8B030D-6E8A-4147-A177-3AD203B41FA5}">
                          <a16:colId xmlns:a16="http://schemas.microsoft.com/office/drawing/2014/main" val="20000"/>
                        </a:ext>
                      </a:extLst>
                    </a:gridCol>
                  </a:tblGrid>
                  <a:tr h="338946">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Stack method</a:t>
                          </a:r>
                        </a:p>
                      </a:txBody>
                      <a:tcPr marL="63607" marR="63607" marT="32313" marB="32313" anchor="ctr"/>
                    </a:tc>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Realization with python list</a:t>
                          </a:r>
                        </a:p>
                      </a:txBody>
                      <a:tcPr marL="63607" marR="63607" marT="32313" marB="32313" anchor="ctr"/>
                    </a:tc>
                    <a:extLst>
                      <a:ext uri="{0D108BD9-81ED-4DB2-BD59-A6C34878D82A}">
                        <a16:rowId xmlns:a16="http://schemas.microsoft.com/office/drawing/2014/main" val="10000"/>
                      </a:ext>
                    </a:extLst>
                  </a:tr>
                  <a:tr h="338946">
                    <a:tc>
                      <a:txBody>
                        <a:bodyPr/>
                        <a:lstStyle/>
                        <a:p>
                          <a:endParaRPr lang="de-DE"/>
                        </a:p>
                      </a:txBody>
                      <a:tcPr marL="63607" marR="63607" marT="32313" marB="32313">
                        <a:blipFill>
                          <a:blip r:embed="rId3"/>
                          <a:stretch>
                            <a:fillRect l="-206" t="-112500" r="-94639" b="-417857"/>
                          </a:stretch>
                        </a:blipFill>
                      </a:tcPr>
                    </a:tc>
                    <a:tc>
                      <a:txBody>
                        <a:bodyPr/>
                        <a:lstStyle/>
                        <a:p>
                          <a:endParaRPr lang="de-DE"/>
                        </a:p>
                      </a:txBody>
                      <a:tcPr marL="63607" marR="63607" marT="32313" marB="32313">
                        <a:blipFill>
                          <a:blip r:embed="rId3"/>
                          <a:stretch>
                            <a:fillRect l="-106813" t="-112500" r="-879" b="-417857"/>
                          </a:stretch>
                        </a:blipFill>
                      </a:tcPr>
                    </a:tc>
                    <a:extLst>
                      <a:ext uri="{0D108BD9-81ED-4DB2-BD59-A6C34878D82A}">
                        <a16:rowId xmlns:a16="http://schemas.microsoft.com/office/drawing/2014/main" val="10001"/>
                      </a:ext>
                    </a:extLst>
                  </a:tr>
                  <a:tr h="338946">
                    <a:tc>
                      <a:txBody>
                        <a:bodyPr/>
                        <a:lstStyle/>
                        <a:p>
                          <a:endParaRPr lang="de-DE"/>
                        </a:p>
                      </a:txBody>
                      <a:tcPr marL="63607" marR="63607" marT="32313" marB="32313">
                        <a:blipFill>
                          <a:blip r:embed="rId3"/>
                          <a:stretch>
                            <a:fillRect l="-206" t="-212500" r="-94639" b="-317857"/>
                          </a:stretch>
                        </a:blipFill>
                      </a:tcPr>
                    </a:tc>
                    <a:tc>
                      <a:txBody>
                        <a:bodyPr/>
                        <a:lstStyle/>
                        <a:p>
                          <a:endParaRPr lang="de-DE"/>
                        </a:p>
                      </a:txBody>
                      <a:tcPr marL="63607" marR="63607" marT="32313" marB="32313">
                        <a:blipFill>
                          <a:blip r:embed="rId3"/>
                          <a:stretch>
                            <a:fillRect l="-106813" t="-212500" r="-879" b="-317857"/>
                          </a:stretch>
                        </a:blipFill>
                      </a:tcPr>
                    </a:tc>
                    <a:extLst>
                      <a:ext uri="{0D108BD9-81ED-4DB2-BD59-A6C34878D82A}">
                        <a16:rowId xmlns:a16="http://schemas.microsoft.com/office/drawing/2014/main" val="10002"/>
                      </a:ext>
                    </a:extLst>
                  </a:tr>
                  <a:tr h="338946">
                    <a:tc>
                      <a:txBody>
                        <a:bodyPr/>
                        <a:lstStyle/>
                        <a:p>
                          <a:endParaRPr lang="de-DE"/>
                        </a:p>
                      </a:txBody>
                      <a:tcPr marL="63607" marR="63607" marT="32313" marB="32313">
                        <a:blipFill>
                          <a:blip r:embed="rId3"/>
                          <a:stretch>
                            <a:fillRect l="-206" t="-318182" r="-94639" b="-223636"/>
                          </a:stretch>
                        </a:blipFill>
                      </a:tcPr>
                    </a:tc>
                    <a:tc>
                      <a:txBody>
                        <a:bodyPr/>
                        <a:lstStyle/>
                        <a:p>
                          <a:endParaRPr lang="de-DE"/>
                        </a:p>
                      </a:txBody>
                      <a:tcPr marL="63607" marR="63607" marT="32313" marB="32313">
                        <a:blipFill>
                          <a:blip r:embed="rId3"/>
                          <a:stretch>
                            <a:fillRect l="-106813" t="-318182" r="-879" b="-223636"/>
                          </a:stretch>
                        </a:blipFill>
                      </a:tcPr>
                    </a:tc>
                    <a:extLst>
                      <a:ext uri="{0D108BD9-81ED-4DB2-BD59-A6C34878D82A}">
                        <a16:rowId xmlns:a16="http://schemas.microsoft.com/office/drawing/2014/main" val="10003"/>
                      </a:ext>
                    </a:extLst>
                  </a:tr>
                  <a:tr h="338946">
                    <a:tc>
                      <a:txBody>
                        <a:bodyPr/>
                        <a:lstStyle/>
                        <a:p>
                          <a:endParaRPr lang="de-DE"/>
                        </a:p>
                      </a:txBody>
                      <a:tcPr marL="63607" marR="63607" marT="32313" marB="32313">
                        <a:blipFill>
                          <a:blip r:embed="rId3"/>
                          <a:stretch>
                            <a:fillRect l="-206" t="-410714" r="-94639" b="-119643"/>
                          </a:stretch>
                        </a:blipFill>
                      </a:tcPr>
                    </a:tc>
                    <a:tc>
                      <a:txBody>
                        <a:bodyPr/>
                        <a:lstStyle/>
                        <a:p>
                          <a:endParaRPr lang="de-DE"/>
                        </a:p>
                      </a:txBody>
                      <a:tcPr marL="63607" marR="63607" marT="32313" marB="32313">
                        <a:blipFill>
                          <a:blip r:embed="rId3"/>
                          <a:stretch>
                            <a:fillRect l="-106813" t="-410714" r="-879" b="-119643"/>
                          </a:stretch>
                        </a:blipFill>
                      </a:tcPr>
                    </a:tc>
                    <a:extLst>
                      <a:ext uri="{0D108BD9-81ED-4DB2-BD59-A6C34878D82A}">
                        <a16:rowId xmlns:a16="http://schemas.microsoft.com/office/drawing/2014/main" val="1789822921"/>
                      </a:ext>
                    </a:extLst>
                  </a:tr>
                  <a:tr h="338946">
                    <a:tc>
                      <a:txBody>
                        <a:bodyPr/>
                        <a:lstStyle/>
                        <a:p>
                          <a:endParaRPr lang="de-DE"/>
                        </a:p>
                      </a:txBody>
                      <a:tcPr marL="63607" marR="63607" marT="32313" marB="32313">
                        <a:blipFill>
                          <a:blip r:embed="rId3"/>
                          <a:stretch>
                            <a:fillRect l="-206" t="-510714" r="-94639" b="-19643"/>
                          </a:stretch>
                        </a:blipFill>
                      </a:tcPr>
                    </a:tc>
                    <a:tc>
                      <a:txBody>
                        <a:bodyPr/>
                        <a:lstStyle/>
                        <a:p>
                          <a:endParaRPr lang="de-DE"/>
                        </a:p>
                      </a:txBody>
                      <a:tcPr marL="63607" marR="63607" marT="32313" marB="32313">
                        <a:blipFill>
                          <a:blip r:embed="rId3"/>
                          <a:stretch>
                            <a:fillRect l="-106813" t="-510714" r="-879" b="-19643"/>
                          </a:stretch>
                        </a:blipFill>
                      </a:tcPr>
                    </a:tc>
                    <a:extLst>
                      <a:ext uri="{0D108BD9-81ED-4DB2-BD59-A6C34878D82A}">
                        <a16:rowId xmlns:a16="http://schemas.microsoft.com/office/drawing/2014/main" val="1427484794"/>
                      </a:ext>
                    </a:extLst>
                  </a:tr>
                </a:tbl>
              </a:graphicData>
            </a:graphic>
          </p:graphicFrame>
        </mc:Fallback>
      </mc:AlternateContent>
      <p:sp>
        <p:nvSpPr>
          <p:cNvPr id="7" name="Textplatzhalter 2">
            <a:extLst>
              <a:ext uri="{FF2B5EF4-FFF2-40B4-BE49-F238E27FC236}">
                <a16:creationId xmlns:a16="http://schemas.microsoft.com/office/drawing/2014/main" id="{DA8E846A-368F-4F96-8859-E9BA1CF5D9B1}"/>
              </a:ext>
            </a:extLst>
          </p:cNvPr>
          <p:cNvSpPr>
            <a:spLocks noGrp="1"/>
          </p:cNvSpPr>
          <p:nvPr>
            <p:ph type="body" idx="1"/>
          </p:nvPr>
        </p:nvSpPr>
        <p:spPr>
          <a:xfrm>
            <a:off x="590708" y="3557588"/>
            <a:ext cx="8229300" cy="928687"/>
          </a:xfrm>
        </p:spPr>
        <p:txBody>
          <a:bodyPr/>
          <a:lstStyle/>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All </a:t>
            </a:r>
            <a:r>
              <a:rPr lang="de-AT" sz="1800" dirty="0" err="1">
                <a:latin typeface="Calibri" panose="020F0502020204030204" pitchFamily="34" charset="0"/>
                <a:ea typeface="Calibri" panose="020F0502020204030204" pitchFamily="34" charset="0"/>
                <a:cs typeface="Calibri" panose="020F0502020204030204" pitchFamily="34" charset="0"/>
              </a:rPr>
              <a:t>other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list‘s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behavior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will </a:t>
            </a:r>
            <a:r>
              <a:rPr lang="de-AT" sz="1800" dirty="0" err="1">
                <a:latin typeface="Calibri" panose="020F0502020204030204" pitchFamily="34" charset="0"/>
                <a:ea typeface="Calibri" panose="020F0502020204030204" pitchFamily="34" charset="0"/>
                <a:cs typeface="Calibri" panose="020F0502020204030204" pitchFamily="34" charset="0"/>
              </a:rPr>
              <a:t>hide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outside </a:t>
            </a:r>
            <a:r>
              <a:rPr lang="de-AT" sz="1800" dirty="0" err="1">
                <a:latin typeface="Calibri" panose="020F0502020204030204" pitchFamily="34" charset="0"/>
                <a:ea typeface="Calibri" panose="020F0502020204030204" pitchFamily="34" charset="0"/>
                <a:cs typeface="Calibri" panose="020F0502020204030204" pitchFamily="34" charset="0"/>
              </a:rPr>
              <a:t>by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indicating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that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list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private</a:t>
            </a: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Recollect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encapsulation</a:t>
            </a:r>
            <a:r>
              <a:rPr lang="de-AT" sz="1800" dirty="0">
                <a:latin typeface="Calibri" panose="020F0502020204030204" pitchFamily="34" charset="0"/>
                <a:ea typeface="Calibri" panose="020F0502020204030204" pitchFamily="34" charset="0"/>
                <a:cs typeface="Calibri" panose="020F0502020204030204" pitchFamily="34" charset="0"/>
              </a:rPr>
              <a:t> and </a:t>
            </a:r>
            <a:r>
              <a:rPr lang="de-AT" sz="1800" dirty="0" err="1">
                <a:latin typeface="Calibri" panose="020F0502020204030204" pitchFamily="34" charset="0"/>
                <a:ea typeface="Calibri" panose="020F0502020204030204" pitchFamily="34" charset="0"/>
                <a:cs typeface="Calibri" panose="020F0502020204030204" pitchFamily="34" charset="0"/>
              </a:rPr>
              <a:t>information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hiding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OO </a:t>
            </a:r>
            <a:r>
              <a:rPr lang="de-AT" sz="1800" dirty="0" err="1">
                <a:latin typeface="Calibri" panose="020F0502020204030204" pitchFamily="34" charset="0"/>
                <a:ea typeface="Calibri" panose="020F0502020204030204" pitchFamily="34" charset="0"/>
                <a:cs typeface="Calibri" panose="020F0502020204030204" pitchFamily="34" charset="0"/>
              </a:rPr>
              <a:t>programming</a:t>
            </a:r>
            <a:endParaRPr lang="de-AT"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07547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Adapting lists to represent stacks</a:t>
            </a:r>
            <a:endParaRPr lang="en-US" sz="2800" b="1" noProof="0" dirty="0">
              <a:latin typeface="Calibri" panose="020F0502020204030204" pitchFamily="34" charset="0"/>
              <a:cs typeface="Calibri" panose="020F0502020204030204" pitchFamily="34" charset="0"/>
            </a:endParaRPr>
          </a:p>
        </p:txBody>
      </p:sp>
      <p:sp>
        <p:nvSpPr>
          <p:cNvPr id="8" name="Rechteck 7">
            <a:extLst>
              <a:ext uri="{FF2B5EF4-FFF2-40B4-BE49-F238E27FC236}">
                <a16:creationId xmlns:a16="http://schemas.microsoft.com/office/drawing/2014/main" id="{9197E0F5-82C1-49E2-940A-01517E9E4395}"/>
              </a:ext>
            </a:extLst>
          </p:cNvPr>
          <p:cNvSpPr/>
          <p:nvPr/>
        </p:nvSpPr>
        <p:spPr>
          <a:xfrm>
            <a:off x="664370" y="1418400"/>
            <a:ext cx="8279306" cy="4575206"/>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z="1200" spc="-1" dirty="0">
                <a:solidFill>
                  <a:srgbClr val="0F0F0F"/>
                </a:solidFill>
                <a:latin typeface="Consolas" panose="020B0609020204030204" pitchFamily="49" charset="0"/>
              </a:rPr>
              <a:t>class </a:t>
            </a:r>
            <a:r>
              <a:rPr lang="en-US" sz="1200" spc="-1" dirty="0" err="1">
                <a:solidFill>
                  <a:srgbClr val="0F0F0F"/>
                </a:solidFill>
                <a:latin typeface="Consolas" panose="020B0609020204030204" pitchFamily="49" charset="0"/>
              </a:rPr>
              <a:t>StackEmpty</a:t>
            </a:r>
            <a:r>
              <a:rPr lang="en-US" sz="1200" spc="-1" dirty="0">
                <a:solidFill>
                  <a:srgbClr val="0F0F0F"/>
                </a:solidFill>
                <a:latin typeface="Consolas" panose="020B0609020204030204" pitchFamily="49" charset="0"/>
              </a:rPr>
              <a:t>(Exception):</a:t>
            </a:r>
          </a:p>
          <a:p>
            <a:r>
              <a:rPr lang="en-US" sz="1200" spc="-1" dirty="0">
                <a:solidFill>
                  <a:srgbClr val="0F0F0F"/>
                </a:solidFill>
                <a:latin typeface="Consolas" panose="020B0609020204030204" pitchFamily="49" charset="0"/>
              </a:rPr>
              <a:t>    pass</a:t>
            </a:r>
          </a:p>
          <a:p>
            <a:endParaRPr lang="en-US" sz="1200" spc="-1" dirty="0">
              <a:solidFill>
                <a:srgbClr val="0F0F0F"/>
              </a:solidFill>
              <a:latin typeface="Consolas" panose="020B0609020204030204" pitchFamily="49" charset="0"/>
            </a:endParaRPr>
          </a:p>
          <a:p>
            <a:endParaRPr lang="en-US" sz="1200" spc="-1" dirty="0">
              <a:solidFill>
                <a:srgbClr val="0F0F0F"/>
              </a:solidFill>
              <a:latin typeface="Consolas" panose="020B0609020204030204" pitchFamily="49" charset="0"/>
            </a:endParaRPr>
          </a:p>
          <a:p>
            <a:r>
              <a:rPr lang="en-US" sz="1200" spc="-1" dirty="0">
                <a:solidFill>
                  <a:srgbClr val="0F0F0F"/>
                </a:solidFill>
                <a:latin typeface="Consolas" panose="020B0609020204030204" pitchFamily="49" charset="0"/>
              </a:rPr>
              <a:t>class Stack:</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def __</a:t>
            </a:r>
            <a:r>
              <a:rPr lang="en-US" sz="1200" spc="-1" dirty="0" err="1">
                <a:solidFill>
                  <a:srgbClr val="0F0F0F"/>
                </a:solidFill>
                <a:latin typeface="Consolas" panose="020B0609020204030204" pitchFamily="49" charset="0"/>
              </a:rPr>
              <a:t>init</a:t>
            </a:r>
            <a:r>
              <a:rPr lang="en-US" sz="1200" spc="-1" dirty="0">
                <a:solidFill>
                  <a:srgbClr val="0F0F0F"/>
                </a:solidFill>
                <a:latin typeface="Consolas" panose="020B0609020204030204" pitchFamily="49" charset="0"/>
              </a:rPr>
              <a:t>__(self):</a:t>
            </a: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self._data</a:t>
            </a:r>
            <a:r>
              <a:rPr lang="en-US" sz="1200" spc="-1" dirty="0">
                <a:solidFill>
                  <a:srgbClr val="0F0F0F"/>
                </a:solidFill>
                <a:latin typeface="Consolas" panose="020B0609020204030204" pitchFamily="49" charset="0"/>
              </a:rPr>
              <a:t> = []</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def __</a:t>
            </a:r>
            <a:r>
              <a:rPr lang="en-US" sz="1200" spc="-1" dirty="0" err="1">
                <a:solidFill>
                  <a:srgbClr val="0F0F0F"/>
                </a:solidFill>
                <a:latin typeface="Consolas" panose="020B0609020204030204" pitchFamily="49" charset="0"/>
              </a:rPr>
              <a:t>len</a:t>
            </a:r>
            <a:r>
              <a:rPr lang="en-US" sz="1200" spc="-1" dirty="0">
                <a:solidFill>
                  <a:srgbClr val="0F0F0F"/>
                </a:solidFill>
                <a:latin typeface="Consolas" panose="020B0609020204030204" pitchFamily="49" charset="0"/>
              </a:rPr>
              <a:t>__(self):</a:t>
            </a:r>
          </a:p>
          <a:p>
            <a:r>
              <a:rPr lang="en-US" sz="1200" spc="-1" dirty="0">
                <a:solidFill>
                  <a:srgbClr val="0F0F0F"/>
                </a:solidFill>
                <a:latin typeface="Consolas" panose="020B0609020204030204" pitchFamily="49" charset="0"/>
              </a:rPr>
              <a:t>        return </a:t>
            </a:r>
            <a:r>
              <a:rPr lang="en-US" sz="1200" spc="-1" dirty="0" err="1">
                <a:solidFill>
                  <a:srgbClr val="0F0F0F"/>
                </a:solidFill>
                <a:latin typeface="Consolas" panose="020B0609020204030204" pitchFamily="49" charset="0"/>
              </a:rPr>
              <a:t>len</a:t>
            </a:r>
            <a:r>
              <a:rPr lang="en-US" sz="1200" spc="-1" dirty="0">
                <a:solidFill>
                  <a:srgbClr val="0F0F0F"/>
                </a:solidFill>
                <a:latin typeface="Consolas" panose="020B0609020204030204" pitchFamily="49" charset="0"/>
              </a:rPr>
              <a:t>(</a:t>
            </a:r>
            <a:r>
              <a:rPr lang="en-US" sz="1200" spc="-1" dirty="0" err="1">
                <a:solidFill>
                  <a:srgbClr val="0F0F0F"/>
                </a:solidFill>
                <a:latin typeface="Consolas" panose="020B0609020204030204" pitchFamily="49" charset="0"/>
              </a:rPr>
              <a:t>self._data</a:t>
            </a:r>
            <a:r>
              <a:rPr lang="en-US" sz="1200" spc="-1" dirty="0">
                <a:solidFill>
                  <a:srgbClr val="0F0F0F"/>
                </a:solidFill>
                <a:latin typeface="Consolas" panose="020B0609020204030204" pitchFamily="49" charset="0"/>
              </a:rPr>
              <a:t>)</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def </a:t>
            </a:r>
            <a:r>
              <a:rPr lang="en-US" sz="1200" spc="-1" dirty="0" err="1">
                <a:solidFill>
                  <a:srgbClr val="0F0F0F"/>
                </a:solidFill>
                <a:latin typeface="Consolas" panose="020B0609020204030204" pitchFamily="49" charset="0"/>
              </a:rPr>
              <a:t>is_empty</a:t>
            </a:r>
            <a:r>
              <a:rPr lang="en-US" sz="1200" spc="-1" dirty="0">
                <a:solidFill>
                  <a:srgbClr val="0F0F0F"/>
                </a:solidFill>
                <a:latin typeface="Consolas" panose="020B0609020204030204" pitchFamily="49" charset="0"/>
              </a:rPr>
              <a:t>(self):</a:t>
            </a:r>
          </a:p>
          <a:p>
            <a:r>
              <a:rPr lang="en-US" sz="1200" spc="-1" dirty="0">
                <a:solidFill>
                  <a:srgbClr val="0F0F0F"/>
                </a:solidFill>
                <a:latin typeface="Consolas" panose="020B0609020204030204" pitchFamily="49" charset="0"/>
              </a:rPr>
              <a:t>        return </a:t>
            </a:r>
            <a:r>
              <a:rPr lang="en-US" sz="1200" spc="-1" dirty="0" err="1">
                <a:solidFill>
                  <a:srgbClr val="0F0F0F"/>
                </a:solidFill>
                <a:latin typeface="Consolas" panose="020B0609020204030204" pitchFamily="49" charset="0"/>
              </a:rPr>
              <a:t>len</a:t>
            </a:r>
            <a:r>
              <a:rPr lang="en-US" sz="1200" spc="-1" dirty="0">
                <a:solidFill>
                  <a:srgbClr val="0F0F0F"/>
                </a:solidFill>
                <a:latin typeface="Consolas" panose="020B0609020204030204" pitchFamily="49" charset="0"/>
              </a:rPr>
              <a:t>(</a:t>
            </a:r>
            <a:r>
              <a:rPr lang="en-US" sz="1200" spc="-1" dirty="0" err="1">
                <a:solidFill>
                  <a:srgbClr val="0F0F0F"/>
                </a:solidFill>
                <a:latin typeface="Consolas" panose="020B0609020204030204" pitchFamily="49" charset="0"/>
              </a:rPr>
              <a:t>self._data</a:t>
            </a:r>
            <a:r>
              <a:rPr lang="en-US" sz="1200" spc="-1" dirty="0">
                <a:solidFill>
                  <a:srgbClr val="0F0F0F"/>
                </a:solidFill>
                <a:latin typeface="Consolas" panose="020B0609020204030204" pitchFamily="49" charset="0"/>
              </a:rPr>
              <a:t>) == 0</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def push(self, e):</a:t>
            </a:r>
          </a:p>
          <a:p>
            <a:r>
              <a:rPr lang="en-US" sz="1200" spc="-1" dirty="0">
                <a:solidFill>
                  <a:srgbClr val="0F0F0F"/>
                </a:solidFill>
                <a:latin typeface="Consolas" panose="020B0609020204030204" pitchFamily="49" charset="0"/>
              </a:rPr>
              <a:t>        self._</a:t>
            </a:r>
            <a:r>
              <a:rPr lang="en-US" sz="1200" spc="-1" dirty="0" err="1">
                <a:solidFill>
                  <a:srgbClr val="0F0F0F"/>
                </a:solidFill>
                <a:latin typeface="Consolas" panose="020B0609020204030204" pitchFamily="49" charset="0"/>
              </a:rPr>
              <a:t>data.append</a:t>
            </a:r>
            <a:r>
              <a:rPr lang="en-US" sz="1200" spc="-1" dirty="0">
                <a:solidFill>
                  <a:srgbClr val="0F0F0F"/>
                </a:solidFill>
                <a:latin typeface="Consolas" panose="020B0609020204030204" pitchFamily="49" charset="0"/>
              </a:rPr>
              <a:t>(e)</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a:t>
            </a:r>
          </a:p>
        </p:txBody>
      </p:sp>
    </p:spTree>
    <p:extLst>
      <p:ext uri="{BB962C8B-B14F-4D97-AF65-F5344CB8AC3E}">
        <p14:creationId xmlns:p14="http://schemas.microsoft.com/office/powerpoint/2010/main" val="29158586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Adapting lists to represent stacks</a:t>
            </a:r>
            <a:endParaRPr lang="en-US" sz="2800" b="1" noProof="0" dirty="0">
              <a:latin typeface="Calibri" panose="020F0502020204030204" pitchFamily="34" charset="0"/>
              <a:cs typeface="Calibri" panose="020F0502020204030204" pitchFamily="34" charset="0"/>
            </a:endParaRPr>
          </a:p>
        </p:txBody>
      </p:sp>
      <p:sp>
        <p:nvSpPr>
          <p:cNvPr id="8" name="Rechteck 7">
            <a:extLst>
              <a:ext uri="{FF2B5EF4-FFF2-40B4-BE49-F238E27FC236}">
                <a16:creationId xmlns:a16="http://schemas.microsoft.com/office/drawing/2014/main" id="{9197E0F5-82C1-49E2-940A-01517E9E4395}"/>
              </a:ext>
            </a:extLst>
          </p:cNvPr>
          <p:cNvSpPr/>
          <p:nvPr/>
        </p:nvSpPr>
        <p:spPr>
          <a:xfrm>
            <a:off x="664370" y="1418400"/>
            <a:ext cx="8279306" cy="3125025"/>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def top(self):</a:t>
            </a:r>
          </a:p>
          <a:p>
            <a:r>
              <a:rPr lang="en-US" sz="1200" spc="-1" dirty="0">
                <a:solidFill>
                  <a:srgbClr val="0F0F0F"/>
                </a:solidFill>
                <a:latin typeface="Consolas" panose="020B0609020204030204" pitchFamily="49" charset="0"/>
              </a:rPr>
              <a:t>        if </a:t>
            </a:r>
            <a:r>
              <a:rPr lang="en-US" sz="1200" spc="-1" dirty="0" err="1">
                <a:solidFill>
                  <a:srgbClr val="0F0F0F"/>
                </a:solidFill>
                <a:latin typeface="Consolas" panose="020B0609020204030204" pitchFamily="49" charset="0"/>
              </a:rPr>
              <a:t>self.is_empty</a:t>
            </a:r>
            <a:r>
              <a:rPr lang="en-US" sz="1200" spc="-1" dirty="0">
                <a:solidFill>
                  <a:srgbClr val="0F0F0F"/>
                </a:solidFill>
                <a:latin typeface="Consolas" panose="020B0609020204030204" pitchFamily="49" charset="0"/>
              </a:rPr>
              <a:t>():</a:t>
            </a:r>
          </a:p>
          <a:p>
            <a:r>
              <a:rPr lang="en-US" sz="1200" spc="-1" dirty="0">
                <a:solidFill>
                  <a:srgbClr val="0F0F0F"/>
                </a:solidFill>
                <a:latin typeface="Consolas" panose="020B0609020204030204" pitchFamily="49" charset="0"/>
              </a:rPr>
              <a:t>            raise </a:t>
            </a:r>
            <a:r>
              <a:rPr lang="en-US" sz="1200" spc="-1" dirty="0" err="1">
                <a:solidFill>
                  <a:srgbClr val="0F0F0F"/>
                </a:solidFill>
                <a:latin typeface="Consolas" panose="020B0609020204030204" pitchFamily="49" charset="0"/>
              </a:rPr>
              <a:t>StackEmpty</a:t>
            </a:r>
            <a:r>
              <a:rPr lang="en-US" sz="1200" spc="-1" dirty="0">
                <a:solidFill>
                  <a:srgbClr val="0F0F0F"/>
                </a:solidFill>
                <a:latin typeface="Consolas" panose="020B0609020204030204" pitchFamily="49" charset="0"/>
              </a:rPr>
              <a:t>('Stack is empty')</a:t>
            </a:r>
          </a:p>
          <a:p>
            <a:r>
              <a:rPr lang="en-US" sz="1200" spc="-1" dirty="0">
                <a:solidFill>
                  <a:srgbClr val="0F0F0F"/>
                </a:solidFill>
                <a:latin typeface="Consolas" panose="020B0609020204030204" pitchFamily="49" charset="0"/>
              </a:rPr>
              <a:t>        return </a:t>
            </a:r>
            <a:r>
              <a:rPr lang="en-US" sz="1200" spc="-1" dirty="0" err="1">
                <a:solidFill>
                  <a:srgbClr val="0F0F0F"/>
                </a:solidFill>
                <a:latin typeface="Consolas" panose="020B0609020204030204" pitchFamily="49" charset="0"/>
              </a:rPr>
              <a:t>self._data</a:t>
            </a:r>
            <a:r>
              <a:rPr lang="en-US" sz="1200" spc="-1" dirty="0">
                <a:solidFill>
                  <a:srgbClr val="0F0F0F"/>
                </a:solidFill>
                <a:latin typeface="Consolas" panose="020B0609020204030204" pitchFamily="49" charset="0"/>
              </a:rPr>
              <a:t>[-1]</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def pop(self):</a:t>
            </a:r>
          </a:p>
          <a:p>
            <a:r>
              <a:rPr lang="en-US" sz="1200" spc="-1" dirty="0">
                <a:solidFill>
                  <a:srgbClr val="0F0F0F"/>
                </a:solidFill>
                <a:latin typeface="Consolas" panose="020B0609020204030204" pitchFamily="49" charset="0"/>
              </a:rPr>
              <a:t>        if </a:t>
            </a:r>
            <a:r>
              <a:rPr lang="en-US" sz="1200" spc="-1" dirty="0" err="1">
                <a:solidFill>
                  <a:srgbClr val="0F0F0F"/>
                </a:solidFill>
                <a:latin typeface="Consolas" panose="020B0609020204030204" pitchFamily="49" charset="0"/>
              </a:rPr>
              <a:t>self.is_empty</a:t>
            </a:r>
            <a:r>
              <a:rPr lang="en-US" sz="1200" spc="-1" dirty="0">
                <a:solidFill>
                  <a:srgbClr val="0F0F0F"/>
                </a:solidFill>
                <a:latin typeface="Consolas" panose="020B0609020204030204" pitchFamily="49" charset="0"/>
              </a:rPr>
              <a:t>():</a:t>
            </a:r>
          </a:p>
          <a:p>
            <a:r>
              <a:rPr lang="en-US" sz="1200" spc="-1" dirty="0">
                <a:solidFill>
                  <a:srgbClr val="0F0F0F"/>
                </a:solidFill>
                <a:latin typeface="Consolas" panose="020B0609020204030204" pitchFamily="49" charset="0"/>
              </a:rPr>
              <a:t>            raise </a:t>
            </a:r>
            <a:r>
              <a:rPr lang="en-US" sz="1200" spc="-1" dirty="0" err="1">
                <a:solidFill>
                  <a:srgbClr val="0F0F0F"/>
                </a:solidFill>
                <a:latin typeface="Consolas" panose="020B0609020204030204" pitchFamily="49" charset="0"/>
              </a:rPr>
              <a:t>StackEmpty</a:t>
            </a:r>
            <a:r>
              <a:rPr lang="en-US" sz="1200" spc="-1" dirty="0">
                <a:solidFill>
                  <a:srgbClr val="0F0F0F"/>
                </a:solidFill>
                <a:latin typeface="Consolas" panose="020B0609020204030204" pitchFamily="49" charset="0"/>
              </a:rPr>
              <a:t>('Stack is empty')</a:t>
            </a:r>
          </a:p>
          <a:p>
            <a:r>
              <a:rPr lang="en-US" sz="1200" spc="-1" dirty="0">
                <a:solidFill>
                  <a:srgbClr val="0F0F0F"/>
                </a:solidFill>
                <a:latin typeface="Consolas" panose="020B0609020204030204" pitchFamily="49" charset="0"/>
              </a:rPr>
              <a:t>        return self._</a:t>
            </a:r>
            <a:r>
              <a:rPr lang="en-US" sz="1200" spc="-1" dirty="0" err="1">
                <a:solidFill>
                  <a:srgbClr val="0F0F0F"/>
                </a:solidFill>
                <a:latin typeface="Consolas" panose="020B0609020204030204" pitchFamily="49" charset="0"/>
              </a:rPr>
              <a:t>data.pop</a:t>
            </a:r>
            <a:r>
              <a:rPr lang="en-US" sz="1200" spc="-1" dirty="0">
                <a:solidFill>
                  <a:srgbClr val="0F0F0F"/>
                </a:solidFill>
                <a:latin typeface="Consolas" panose="020B0609020204030204" pitchFamily="49" charset="0"/>
              </a:rPr>
              <a:t>()</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def __str__(self):</a:t>
            </a:r>
          </a:p>
          <a:p>
            <a:r>
              <a:rPr lang="en-US" sz="1200" spc="-1" dirty="0">
                <a:solidFill>
                  <a:srgbClr val="0F0F0F"/>
                </a:solidFill>
                <a:latin typeface="Consolas" panose="020B0609020204030204" pitchFamily="49" charset="0"/>
              </a:rPr>
              <a:t>        return f'{</a:t>
            </a:r>
            <a:r>
              <a:rPr lang="en-US" sz="1200" spc="-1" dirty="0" err="1">
                <a:solidFill>
                  <a:srgbClr val="0F0F0F"/>
                </a:solidFill>
                <a:latin typeface="Consolas" panose="020B0609020204030204" pitchFamily="49" charset="0"/>
              </a:rPr>
              <a:t>self._data</a:t>
            </a:r>
            <a:r>
              <a:rPr lang="en-US" sz="1200" spc="-1" dirty="0">
                <a:solidFill>
                  <a:srgbClr val="0F0F0F"/>
                </a:solidFill>
                <a:latin typeface="Consolas" panose="020B0609020204030204" pitchFamily="49" charset="0"/>
              </a:rPr>
              <a:t>}'</a:t>
            </a:r>
          </a:p>
        </p:txBody>
      </p:sp>
      <p:sp>
        <p:nvSpPr>
          <p:cNvPr id="9" name="Textplatzhalter 2">
            <a:extLst>
              <a:ext uri="{FF2B5EF4-FFF2-40B4-BE49-F238E27FC236}">
                <a16:creationId xmlns:a16="http://schemas.microsoft.com/office/drawing/2014/main" id="{7EE57F85-F2CE-4F34-95D7-FE4768F0A5B9}"/>
              </a:ext>
            </a:extLst>
          </p:cNvPr>
          <p:cNvSpPr txBox="1">
            <a:spLocks/>
          </p:cNvSpPr>
          <p:nvPr/>
        </p:nvSpPr>
        <p:spPr>
          <a:xfrm>
            <a:off x="606287" y="4607426"/>
            <a:ext cx="8229300" cy="5838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hlinkClick r:id="rId3"/>
              </a:rPr>
              <a:t>Notebook example</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798220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Complexity of array-based stacks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graphicFrame>
            <p:nvGraphicFramePr>
              <p:cNvPr id="7" name="Tabelle 6">
                <a:extLst>
                  <a:ext uri="{FF2B5EF4-FFF2-40B4-BE49-F238E27FC236}">
                    <a16:creationId xmlns:a16="http://schemas.microsoft.com/office/drawing/2014/main" id="{B3903C2A-961F-4E32-958D-778B7FE21E38}"/>
                  </a:ext>
                </a:extLst>
              </p:cNvPr>
              <p:cNvGraphicFramePr/>
              <p:nvPr>
                <p:extLst>
                  <p:ext uri="{D42A27DB-BD31-4B8C-83A1-F6EECF244321}">
                    <p14:modId xmlns:p14="http://schemas.microsoft.com/office/powerpoint/2010/main" val="1330414747"/>
                  </p:ext>
                </p:extLst>
              </p:nvPr>
            </p:nvGraphicFramePr>
            <p:xfrm>
              <a:off x="2330879" y="2188614"/>
              <a:ext cx="4481941" cy="2033676"/>
            </p:xfrm>
            <a:graphic>
              <a:graphicData uri="http://schemas.openxmlformats.org/drawingml/2006/table">
                <a:tbl>
                  <a:tblPr firstRow="1" bandRow="1">
                    <a:tableStyleId>{21E4AEA4-8DFA-4A89-87EB-49C32662AFE0}</a:tableStyleId>
                  </a:tblPr>
                  <a:tblGrid>
                    <a:gridCol w="2953790">
                      <a:extLst>
                        <a:ext uri="{9D8B030D-6E8A-4147-A177-3AD203B41FA5}">
                          <a16:colId xmlns:a16="http://schemas.microsoft.com/office/drawing/2014/main" val="4091769654"/>
                        </a:ext>
                      </a:extLst>
                    </a:gridCol>
                    <a:gridCol w="1528151">
                      <a:extLst>
                        <a:ext uri="{9D8B030D-6E8A-4147-A177-3AD203B41FA5}">
                          <a16:colId xmlns:a16="http://schemas.microsoft.com/office/drawing/2014/main" val="20000"/>
                        </a:ext>
                      </a:extLst>
                    </a:gridCol>
                  </a:tblGrid>
                  <a:tr h="280042">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Operation</a:t>
                          </a:r>
                        </a:p>
                      </a:txBody>
                      <a:tcPr marL="63607" marR="63607" marT="32313" marB="32313" anchor="ctr"/>
                    </a:tc>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Complexity</a:t>
                          </a:r>
                        </a:p>
                      </a:txBody>
                      <a:tcPr marL="63607" marR="63607" marT="32313" marB="32313" anchor="ctr"/>
                    </a:tc>
                    <a:extLst>
                      <a:ext uri="{0D108BD9-81ED-4DB2-BD59-A6C34878D82A}">
                        <a16:rowId xmlns:a16="http://schemas.microsoft.com/office/drawing/2014/main" val="10000"/>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𝑠</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𝑝𝑢𝑠h</m:t>
                                </m:r>
                                <m:r>
                                  <a:rPr lang="en-US" sz="180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en-US" sz="1800" i="1" strike="noStrike" spc="-1" dirty="0" smtClean="0">
                                    <a:latin typeface="Cambria Math" panose="02040503050406030204" pitchFamily="18" charset="0"/>
                                    <a:ea typeface="Calibri" panose="020F0502020204030204" pitchFamily="34" charset="0"/>
                                    <a:cs typeface="Calibri" panose="020F0502020204030204" pitchFamily="34" charset="0"/>
                                  </a:rPr>
                                  <m:t>𝑣𝑎𝑙𝑢𝑒</m:t>
                                </m:r>
                                <m:r>
                                  <a:rPr lang="en-US" sz="180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14:m>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d>
                                <m:dPr>
                                  <m:ctrlP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ctrlPr>
                                </m:dPr>
                                <m:e>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e>
                              </m:d>
                            </m:oMath>
                          </a14:m>
                          <a:r>
                            <a:rPr lang="en-US" sz="1800" b="0" strike="noStrike" spc="-1" baseline="30000" dirty="0">
                              <a:latin typeface="Calibri" panose="020F0502020204030204" pitchFamily="34" charset="0"/>
                              <a:ea typeface="Calibri" panose="020F0502020204030204" pitchFamily="34" charset="0"/>
                              <a:cs typeface="Calibri" panose="020F0502020204030204" pitchFamily="34" charset="0"/>
                            </a:rPr>
                            <a:t>*</a:t>
                          </a:r>
                        </a:p>
                      </a:txBody>
                      <a:tcPr marL="63607" marR="63607" marT="32313" marB="32313"/>
                    </a:tc>
                    <a:extLst>
                      <a:ext uri="{0D108BD9-81ED-4DB2-BD59-A6C34878D82A}">
                        <a16:rowId xmlns:a16="http://schemas.microsoft.com/office/drawing/2014/main" val="10002"/>
                      </a:ext>
                    </a:extLst>
                  </a:tr>
                  <a:tr h="280042">
                    <a:tc>
                      <a:txBody>
                        <a:bodyPr/>
                        <a:lstStyle/>
                        <a:p>
                          <a:pPr algn="l"/>
                          <a14:m>
                            <m:oMathPara xmlns:m="http://schemas.openxmlformats.org/officeDocument/2006/math">
                              <m:oMathParaPr>
                                <m:jc m:val="left"/>
                              </m:oMathParaPr>
                              <m:oMath xmlns:m="http://schemas.openxmlformats.org/officeDocument/2006/math">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𝑠</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𝑝𝑜𝑝</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oMath>
                          </a14:m>
                          <a:r>
                            <a:rPr lang="en-US" sz="1800" b="0" strike="noStrike" spc="-1" baseline="30000" dirty="0">
                              <a:latin typeface="Calibri" panose="020F0502020204030204" pitchFamily="34" charset="0"/>
                              <a:ea typeface="Calibri" panose="020F0502020204030204" pitchFamily="34" charset="0"/>
                              <a:cs typeface="Calibri" panose="020F0502020204030204" pitchFamily="34" charset="0"/>
                            </a:rPr>
                            <a:t>*</a:t>
                          </a:r>
                        </a:p>
                      </a:txBody>
                      <a:tcPr marL="63607" marR="63607" marT="32313" marB="32313"/>
                    </a:tc>
                    <a:extLst>
                      <a:ext uri="{0D108BD9-81ED-4DB2-BD59-A6C34878D82A}">
                        <a16:rowId xmlns:a16="http://schemas.microsoft.com/office/drawing/2014/main" val="10003"/>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𝑠</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𝑡</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𝑜𝑝</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d>
                                  <m:dPr>
                                    <m:ctrlP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ctrlPr>
                                  </m:dPr>
                                  <m:e>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e>
                                </m:d>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789822921"/>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𝑠</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𝑖𝑠</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_</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𝑒𝑚𝑝𝑡𝑦</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427484794"/>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𝑙</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𝑒</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𝑛</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𝑠</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746889954"/>
                      </a:ext>
                    </a:extLst>
                  </a:tr>
                </a:tbl>
              </a:graphicData>
            </a:graphic>
          </p:graphicFrame>
        </mc:Choice>
        <mc:Fallback xmlns="">
          <p:graphicFrame>
            <p:nvGraphicFramePr>
              <p:cNvPr id="7" name="Tabelle 6">
                <a:extLst>
                  <a:ext uri="{FF2B5EF4-FFF2-40B4-BE49-F238E27FC236}">
                    <a16:creationId xmlns:a16="http://schemas.microsoft.com/office/drawing/2014/main" id="{B3903C2A-961F-4E32-958D-778B7FE21E38}"/>
                  </a:ext>
                </a:extLst>
              </p:cNvPr>
              <p:cNvGraphicFramePr/>
              <p:nvPr>
                <p:extLst>
                  <p:ext uri="{D42A27DB-BD31-4B8C-83A1-F6EECF244321}">
                    <p14:modId xmlns:p14="http://schemas.microsoft.com/office/powerpoint/2010/main" val="1330414747"/>
                  </p:ext>
                </p:extLst>
              </p:nvPr>
            </p:nvGraphicFramePr>
            <p:xfrm>
              <a:off x="2330879" y="2188614"/>
              <a:ext cx="4481941" cy="2033676"/>
            </p:xfrm>
            <a:graphic>
              <a:graphicData uri="http://schemas.openxmlformats.org/drawingml/2006/table">
                <a:tbl>
                  <a:tblPr firstRow="1" bandRow="1">
                    <a:tableStyleId>{21E4AEA4-8DFA-4A89-87EB-49C32662AFE0}</a:tableStyleId>
                  </a:tblPr>
                  <a:tblGrid>
                    <a:gridCol w="2953790">
                      <a:extLst>
                        <a:ext uri="{9D8B030D-6E8A-4147-A177-3AD203B41FA5}">
                          <a16:colId xmlns:a16="http://schemas.microsoft.com/office/drawing/2014/main" val="4091769654"/>
                        </a:ext>
                      </a:extLst>
                    </a:gridCol>
                    <a:gridCol w="1528151">
                      <a:extLst>
                        <a:ext uri="{9D8B030D-6E8A-4147-A177-3AD203B41FA5}">
                          <a16:colId xmlns:a16="http://schemas.microsoft.com/office/drawing/2014/main" val="20000"/>
                        </a:ext>
                      </a:extLst>
                    </a:gridCol>
                  </a:tblGrid>
                  <a:tr h="338946">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Operation</a:t>
                          </a:r>
                        </a:p>
                      </a:txBody>
                      <a:tcPr marL="63607" marR="63607" marT="32313" marB="32313" anchor="ctr"/>
                    </a:tc>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Complexity</a:t>
                          </a:r>
                        </a:p>
                      </a:txBody>
                      <a:tcPr marL="63607" marR="63607" marT="32313" marB="32313" anchor="ctr"/>
                    </a:tc>
                    <a:extLst>
                      <a:ext uri="{0D108BD9-81ED-4DB2-BD59-A6C34878D82A}">
                        <a16:rowId xmlns:a16="http://schemas.microsoft.com/office/drawing/2014/main" val="10000"/>
                      </a:ext>
                    </a:extLst>
                  </a:tr>
                  <a:tr h="338946">
                    <a:tc>
                      <a:txBody>
                        <a:bodyPr/>
                        <a:lstStyle/>
                        <a:p>
                          <a:endParaRPr lang="de-DE"/>
                        </a:p>
                      </a:txBody>
                      <a:tcPr marL="63607" marR="63607" marT="32313" marB="32313">
                        <a:blipFill>
                          <a:blip r:embed="rId3"/>
                          <a:stretch>
                            <a:fillRect l="-206" t="-116364" r="-52577" b="-425455"/>
                          </a:stretch>
                        </a:blipFill>
                      </a:tcPr>
                    </a:tc>
                    <a:tc>
                      <a:txBody>
                        <a:bodyPr/>
                        <a:lstStyle/>
                        <a:p>
                          <a:endParaRPr lang="de-DE"/>
                        </a:p>
                      </a:txBody>
                      <a:tcPr marL="63607" marR="63607" marT="32313" marB="32313">
                        <a:blipFill>
                          <a:blip r:embed="rId3"/>
                          <a:stretch>
                            <a:fillRect l="-193625" t="-116364" r="-1594" b="-425455"/>
                          </a:stretch>
                        </a:blipFill>
                      </a:tcPr>
                    </a:tc>
                    <a:extLst>
                      <a:ext uri="{0D108BD9-81ED-4DB2-BD59-A6C34878D82A}">
                        <a16:rowId xmlns:a16="http://schemas.microsoft.com/office/drawing/2014/main" val="10002"/>
                      </a:ext>
                    </a:extLst>
                  </a:tr>
                  <a:tr h="338946">
                    <a:tc>
                      <a:txBody>
                        <a:bodyPr/>
                        <a:lstStyle/>
                        <a:p>
                          <a:endParaRPr lang="de-DE"/>
                        </a:p>
                      </a:txBody>
                      <a:tcPr marL="63607" marR="63607" marT="32313" marB="32313">
                        <a:blipFill>
                          <a:blip r:embed="rId3"/>
                          <a:stretch>
                            <a:fillRect l="-206" t="-212500" r="-52577" b="-317857"/>
                          </a:stretch>
                        </a:blipFill>
                      </a:tcPr>
                    </a:tc>
                    <a:tc>
                      <a:txBody>
                        <a:bodyPr/>
                        <a:lstStyle/>
                        <a:p>
                          <a:endParaRPr lang="de-DE"/>
                        </a:p>
                      </a:txBody>
                      <a:tcPr marL="63607" marR="63607" marT="32313" marB="32313">
                        <a:blipFill>
                          <a:blip r:embed="rId3"/>
                          <a:stretch>
                            <a:fillRect l="-193625" t="-212500" r="-1594" b="-317857"/>
                          </a:stretch>
                        </a:blipFill>
                      </a:tcPr>
                    </a:tc>
                    <a:extLst>
                      <a:ext uri="{0D108BD9-81ED-4DB2-BD59-A6C34878D82A}">
                        <a16:rowId xmlns:a16="http://schemas.microsoft.com/office/drawing/2014/main" val="10003"/>
                      </a:ext>
                    </a:extLst>
                  </a:tr>
                  <a:tr h="338946">
                    <a:tc>
                      <a:txBody>
                        <a:bodyPr/>
                        <a:lstStyle/>
                        <a:p>
                          <a:endParaRPr lang="de-DE"/>
                        </a:p>
                      </a:txBody>
                      <a:tcPr marL="63607" marR="63607" marT="32313" marB="32313">
                        <a:blipFill>
                          <a:blip r:embed="rId3"/>
                          <a:stretch>
                            <a:fillRect l="-206" t="-312500" r="-52577" b="-217857"/>
                          </a:stretch>
                        </a:blipFill>
                      </a:tcPr>
                    </a:tc>
                    <a:tc>
                      <a:txBody>
                        <a:bodyPr/>
                        <a:lstStyle/>
                        <a:p>
                          <a:endParaRPr lang="de-DE"/>
                        </a:p>
                      </a:txBody>
                      <a:tcPr marL="63607" marR="63607" marT="32313" marB="32313">
                        <a:blipFill>
                          <a:blip r:embed="rId3"/>
                          <a:stretch>
                            <a:fillRect l="-193625" t="-312500" r="-1594" b="-217857"/>
                          </a:stretch>
                        </a:blipFill>
                      </a:tcPr>
                    </a:tc>
                    <a:extLst>
                      <a:ext uri="{0D108BD9-81ED-4DB2-BD59-A6C34878D82A}">
                        <a16:rowId xmlns:a16="http://schemas.microsoft.com/office/drawing/2014/main" val="1789822921"/>
                      </a:ext>
                    </a:extLst>
                  </a:tr>
                  <a:tr h="338946">
                    <a:tc>
                      <a:txBody>
                        <a:bodyPr/>
                        <a:lstStyle/>
                        <a:p>
                          <a:endParaRPr lang="de-DE"/>
                        </a:p>
                      </a:txBody>
                      <a:tcPr marL="63607" marR="63607" marT="32313" marB="32313">
                        <a:blipFill>
                          <a:blip r:embed="rId3"/>
                          <a:stretch>
                            <a:fillRect l="-206" t="-420000" r="-52577" b="-121818"/>
                          </a:stretch>
                        </a:blipFill>
                      </a:tcPr>
                    </a:tc>
                    <a:tc>
                      <a:txBody>
                        <a:bodyPr/>
                        <a:lstStyle/>
                        <a:p>
                          <a:endParaRPr lang="de-DE"/>
                        </a:p>
                      </a:txBody>
                      <a:tcPr marL="63607" marR="63607" marT="32313" marB="32313">
                        <a:blipFill>
                          <a:blip r:embed="rId3"/>
                          <a:stretch>
                            <a:fillRect l="-193625" t="-420000" r="-1594" b="-121818"/>
                          </a:stretch>
                        </a:blipFill>
                      </a:tcPr>
                    </a:tc>
                    <a:extLst>
                      <a:ext uri="{0D108BD9-81ED-4DB2-BD59-A6C34878D82A}">
                        <a16:rowId xmlns:a16="http://schemas.microsoft.com/office/drawing/2014/main" val="1427484794"/>
                      </a:ext>
                    </a:extLst>
                  </a:tr>
                  <a:tr h="338946">
                    <a:tc>
                      <a:txBody>
                        <a:bodyPr/>
                        <a:lstStyle/>
                        <a:p>
                          <a:endParaRPr lang="de-DE"/>
                        </a:p>
                      </a:txBody>
                      <a:tcPr marL="63607" marR="63607" marT="32313" marB="32313">
                        <a:blipFill>
                          <a:blip r:embed="rId3"/>
                          <a:stretch>
                            <a:fillRect l="-206" t="-510714" r="-52577" b="-19643"/>
                          </a:stretch>
                        </a:blipFill>
                      </a:tcPr>
                    </a:tc>
                    <a:tc>
                      <a:txBody>
                        <a:bodyPr/>
                        <a:lstStyle/>
                        <a:p>
                          <a:endParaRPr lang="de-DE"/>
                        </a:p>
                      </a:txBody>
                      <a:tcPr marL="63607" marR="63607" marT="32313" marB="32313">
                        <a:blipFill>
                          <a:blip r:embed="rId3"/>
                          <a:stretch>
                            <a:fillRect l="-193625" t="-510714" r="-1594" b="-19643"/>
                          </a:stretch>
                        </a:blipFill>
                      </a:tcPr>
                    </a:tc>
                    <a:extLst>
                      <a:ext uri="{0D108BD9-81ED-4DB2-BD59-A6C34878D82A}">
                        <a16:rowId xmlns:a16="http://schemas.microsoft.com/office/drawing/2014/main" val="1746889954"/>
                      </a:ext>
                    </a:extLst>
                  </a:tr>
                </a:tbl>
              </a:graphicData>
            </a:graphic>
          </p:graphicFrame>
        </mc:Fallback>
      </mc:AlternateContent>
      <p:sp>
        <p:nvSpPr>
          <p:cNvPr id="3" name="Textfeld 2">
            <a:extLst>
              <a:ext uri="{FF2B5EF4-FFF2-40B4-BE49-F238E27FC236}">
                <a16:creationId xmlns:a16="http://schemas.microsoft.com/office/drawing/2014/main" id="{263DA31A-ABA4-4E15-833B-D6CD7F78844E}"/>
              </a:ext>
            </a:extLst>
          </p:cNvPr>
          <p:cNvSpPr txBox="1"/>
          <p:nvPr/>
        </p:nvSpPr>
        <p:spPr>
          <a:xfrm>
            <a:off x="5214937" y="4318032"/>
            <a:ext cx="1269899" cy="369332"/>
          </a:xfrm>
          <a:prstGeom prst="rect">
            <a:avLst/>
          </a:prstGeom>
          <a:noFill/>
        </p:spPr>
        <p:txBody>
          <a:bodyPr wrap="none" rtlCol="0">
            <a:spAutoFit/>
          </a:bodyPr>
          <a:lstStyle/>
          <a:p>
            <a:r>
              <a:rPr lang="de-AT" sz="1800" baseline="30000" dirty="0">
                <a:latin typeface="Calibri" panose="020F0502020204030204" pitchFamily="34" charset="0"/>
                <a:ea typeface="Calibri" panose="020F0502020204030204" pitchFamily="34" charset="0"/>
                <a:cs typeface="Calibri" panose="020F0502020204030204" pitchFamily="34" charset="0"/>
              </a:rPr>
              <a: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amortized</a:t>
            </a:r>
            <a:endParaRPr lang="de-AT"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49542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18422093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mc:AlternateContent xmlns:mc="http://schemas.openxmlformats.org/markup-compatibility/2006" xmlns:a14="http://schemas.microsoft.com/office/drawing/2010/main">
        <mc:Choice Requires="a14">
          <p:sp>
            <p:nvSpPr>
              <p:cNvPr id="4" name="Textfeld 2">
                <a:extLst>
                  <a:ext uri="{FF2B5EF4-FFF2-40B4-BE49-F238E27FC236}">
                    <a16:creationId xmlns:a16="http://schemas.microsoft.com/office/drawing/2014/main" id="{B1AB2DE2-BFB4-403B-9976-58C0812A00AF}"/>
                  </a:ext>
                </a:extLst>
              </p:cNvPr>
              <p:cNvSpPr txBox="1"/>
              <p:nvPr/>
            </p:nvSpPr>
            <p:spPr>
              <a:xfrm>
                <a:off x="457200" y="1605600"/>
                <a:ext cx="8229600" cy="2031325"/>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6: </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Implement a function called </a:t>
                </a:r>
                <a14:m>
                  <m:oMath xmlns:m="http://schemas.openxmlformats.org/officeDocument/2006/math">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𝑖𝑠</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_</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𝑚𝑎𝑡𝑐h𝑒𝑑</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𝑒𝑥𝑝𝑟</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that checks whether parentheses in an arithmetic expression match with each other, i.e., whether each opening symbol matched with a corresponding closing symbol. For example, in the expression </a:t>
                </a:r>
                <a14:m>
                  <m:oMath xmlns:m="http://schemas.openxmlformats.org/officeDocument/2006/math">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[(5+</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𝑥</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en-US"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𝑦</m:t>
                    </m:r>
                    <m:r>
                      <a:rPr kumimoji="0" lang="en-US"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en-US"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𝑧</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all parentheses are correctly matched but in the </a:t>
                </a:r>
                <a:r>
                  <a:rPr lang="en-US" sz="1800" dirty="0">
                    <a:latin typeface="Calibri" panose="020F0502020204030204" pitchFamily="34" charset="0"/>
                    <a:cs typeface="Calibri" panose="020F0502020204030204" pitchFamily="34" charset="0"/>
                  </a:rPr>
                  <a:t>expression </a:t>
                </a:r>
                <a14:m>
                  <m:oMath xmlns:m="http://schemas.openxmlformats.org/officeDocument/2006/math">
                    <m:r>
                      <a:rPr lang="en-US" sz="1800" i="1" dirty="0" smtClean="0">
                        <a:latin typeface="Cambria Math" panose="02040503050406030204" pitchFamily="18" charset="0"/>
                        <a:cs typeface="Calibri" panose="020F0502020204030204" pitchFamily="34" charset="0"/>
                      </a:rPr>
                      <m:t>[(5+</m:t>
                    </m:r>
                    <m:r>
                      <a:rPr lang="en-US" sz="1800" i="1" dirty="0" smtClean="0">
                        <a:latin typeface="Cambria Math" panose="02040503050406030204" pitchFamily="18" charset="0"/>
                        <a:cs typeface="Calibri" panose="020F0502020204030204" pitchFamily="34" charset="0"/>
                      </a:rPr>
                      <m:t>𝑥</m:t>
                    </m:r>
                    <m:r>
                      <a:rPr lang="en-US" sz="1800" i="1" dirty="0" smtClean="0">
                        <a:latin typeface="Cambria Math" panose="02040503050406030204" pitchFamily="18" charset="0"/>
                        <a:cs typeface="Calibri" panose="020F0502020204030204" pitchFamily="34" charset="0"/>
                      </a:rPr>
                      <m:t>)−(</m:t>
                    </m:r>
                    <m:r>
                      <a:rPr lang="en-US" sz="1800" i="1" dirty="0" err="1">
                        <a:latin typeface="Cambria Math" panose="02040503050406030204" pitchFamily="18" charset="0"/>
                        <a:cs typeface="Calibri" panose="020F0502020204030204" pitchFamily="34" charset="0"/>
                      </a:rPr>
                      <m:t>𝑦</m:t>
                    </m:r>
                    <m:r>
                      <a:rPr lang="en-US" sz="1800" i="1" dirty="0" err="1">
                        <a:latin typeface="Cambria Math" panose="02040503050406030204" pitchFamily="18" charset="0"/>
                        <a:cs typeface="Calibri" panose="020F0502020204030204" pitchFamily="34" charset="0"/>
                      </a:rPr>
                      <m:t>+</m:t>
                    </m:r>
                    <m:r>
                      <a:rPr lang="en-US" sz="1800" i="1" dirty="0" err="1">
                        <a:latin typeface="Cambria Math" panose="02040503050406030204" pitchFamily="18" charset="0"/>
                        <a:cs typeface="Calibri" panose="020F0502020204030204" pitchFamily="34" charset="0"/>
                      </a:rPr>
                      <m:t>𝑧</m:t>
                    </m:r>
                    <m:r>
                      <a:rPr lang="en-US" sz="1800" i="1" dirty="0" smtClean="0">
                        <a:latin typeface="Cambria Math" panose="02040503050406030204" pitchFamily="18" charset="0"/>
                        <a:cs typeface="Calibri" panose="020F0502020204030204" pitchFamily="34" charset="0"/>
                      </a:rPr>
                      <m:t>)]] </m:t>
                    </m:r>
                  </m:oMath>
                </a14:m>
                <a:r>
                  <a:rPr lang="en-US" sz="1800" dirty="0">
                    <a:latin typeface="Calibri" panose="020F0502020204030204" pitchFamily="34" charset="0"/>
                    <a:cs typeface="Calibri" panose="020F0502020204030204" pitchFamily="34" charset="0"/>
                  </a:rPr>
                  <a:t>they are not matched. The parentheses that you have to check are </a:t>
                </a:r>
                <a14:m>
                  <m:oMath xmlns:m="http://schemas.openxmlformats.org/officeDocument/2006/math">
                    <m:r>
                      <a:rPr lang="en-US" sz="1800" i="1" dirty="0" smtClean="0">
                        <a:latin typeface="Cambria Math" panose="02040503050406030204" pitchFamily="18" charset="0"/>
                        <a:cs typeface="Calibri" panose="020F0502020204030204" pitchFamily="34" charset="0"/>
                      </a:rPr>
                      <m:t>([{</m:t>
                    </m:r>
                  </m:oMath>
                </a14:m>
                <a:r>
                  <a:rPr lang="en-US" sz="1800" dirty="0">
                    <a:latin typeface="Calibri" panose="020F0502020204030204" pitchFamily="34" charset="0"/>
                    <a:cs typeface="Calibri" panose="020F0502020204030204" pitchFamily="34" charset="0"/>
                  </a:rPr>
                  <a:t> and </a:t>
                </a:r>
                <a14:m>
                  <m:oMath xmlns:m="http://schemas.openxmlformats.org/officeDocument/2006/math">
                    <m:r>
                      <a:rPr lang="en-US" sz="1800" i="1" dirty="0" smtClean="0">
                        <a:latin typeface="Cambria Math" panose="02040503050406030204" pitchFamily="18" charset="0"/>
                        <a:cs typeface="Calibri" panose="020F0502020204030204" pitchFamily="34" charset="0"/>
                      </a:rPr>
                      <m:t>)]}</m:t>
                    </m:r>
                  </m:oMath>
                </a14:m>
                <a:r>
                  <a:rPr lang="en-US" sz="1800" dirty="0">
                    <a:latin typeface="Calibri" panose="020F0502020204030204" pitchFamily="34" charset="0"/>
                    <a:cs typeface="Calibri" panose="020F0502020204030204" pitchFamily="34" charset="0"/>
                  </a:rPr>
                  <a:t>.</a:t>
                </a:r>
              </a:p>
              <a:p>
                <a:pPr lvl="0">
                  <a:defRPr/>
                </a:pPr>
                <a:r>
                  <a:rPr lang="en-US" sz="1800" dirty="0">
                    <a:latin typeface="Calibri" panose="020F0502020204030204" pitchFamily="34" charset="0"/>
                    <a:cs typeface="Calibri" panose="020F0502020204030204" pitchFamily="34" charset="0"/>
                  </a:rPr>
                  <a:t>Hint: use a stack.</a:t>
                </a:r>
              </a:p>
            </p:txBody>
          </p:sp>
        </mc:Choice>
        <mc:Fallback xmlns="">
          <p:sp>
            <p:nvSpPr>
              <p:cNvPr id="4" name="Textfeld 2">
                <a:extLst>
                  <a:ext uri="{FF2B5EF4-FFF2-40B4-BE49-F238E27FC236}">
                    <a16:creationId xmlns:a16="http://schemas.microsoft.com/office/drawing/2014/main" id="{B1AB2DE2-BFB4-403B-9976-58C0812A00AF}"/>
                  </a:ext>
                </a:extLst>
              </p:cNvPr>
              <p:cNvSpPr txBox="1">
                <a:spLocks noRot="1" noChangeAspect="1" noMove="1" noResize="1" noEditPoints="1" noAdjustHandles="1" noChangeArrowheads="1" noChangeShapeType="1" noTextEdit="1"/>
              </p:cNvSpPr>
              <p:nvPr/>
            </p:nvSpPr>
            <p:spPr>
              <a:xfrm>
                <a:off x="457200" y="1605600"/>
                <a:ext cx="8229600" cy="2031325"/>
              </a:xfrm>
              <a:prstGeom prst="rect">
                <a:avLst/>
              </a:prstGeom>
              <a:blipFill>
                <a:blip r:embed="rId3"/>
                <a:stretch>
                  <a:fillRect l="-593" t="-1497" r="-1185" b="-3593"/>
                </a:stretch>
              </a:blipFill>
            </p:spPr>
            <p:txBody>
              <a:bodyPr/>
              <a:lstStyle/>
              <a:p>
                <a:r>
                  <a:rPr lang="de-AT">
                    <a:noFill/>
                  </a:rPr>
                  <a:t> </a:t>
                </a:r>
              </a:p>
            </p:txBody>
          </p:sp>
        </mc:Fallback>
      </mc:AlternateContent>
    </p:spTree>
    <p:extLst>
      <p:ext uri="{BB962C8B-B14F-4D97-AF65-F5344CB8AC3E}">
        <p14:creationId xmlns:p14="http://schemas.microsoft.com/office/powerpoint/2010/main" val="27062804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Queues</a:t>
            </a:r>
            <a:endParaRPr lang="en-US" sz="4400" b="1" noProof="0" dirty="0"/>
          </a:p>
        </p:txBody>
      </p:sp>
    </p:spTree>
    <p:extLst>
      <p:ext uri="{BB962C8B-B14F-4D97-AF65-F5344CB8AC3E}">
        <p14:creationId xmlns:p14="http://schemas.microsoft.com/office/powerpoint/2010/main" val="964416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Queues</a:t>
            </a:r>
            <a:endParaRPr lang="en-US" sz="2800" b="1" noProof="0" dirty="0">
              <a:latin typeface="Calibri" panose="020F0502020204030204" pitchFamily="34" charset="0"/>
              <a:cs typeface="Calibri" panose="020F0502020204030204" pitchFamily="34" charset="0"/>
            </a:endParaRP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250155"/>
            <a:ext cx="8229300" cy="4550569"/>
          </a:xfrm>
        </p:spPr>
        <p:txBody>
          <a:bodyPr/>
          <a:lstStyle/>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Another</a:t>
            </a:r>
            <a:r>
              <a:rPr lang="de-AT" sz="1800" dirty="0">
                <a:latin typeface="Calibri" panose="020F0502020204030204" pitchFamily="34" charset="0"/>
                <a:ea typeface="Calibri" panose="020F0502020204030204" pitchFamily="34" charset="0"/>
                <a:cs typeface="Calibri" panose="020F0502020204030204" pitchFamily="34" charset="0"/>
              </a:rPr>
              <a:t> fundamental </a:t>
            </a:r>
            <a:r>
              <a:rPr lang="de-AT" sz="1800" dirty="0" err="1">
                <a:latin typeface="Calibri" panose="020F0502020204030204" pitchFamily="34" charset="0"/>
                <a:ea typeface="Calibri" panose="020F0502020204030204" pitchFamily="34" charset="0"/>
                <a:cs typeface="Calibri" panose="020F0502020204030204" pitchFamily="34" charset="0"/>
              </a:rPr>
              <a:t>data</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structure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queue</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Collection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objects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inserted</a:t>
            </a:r>
            <a:r>
              <a:rPr lang="de-AT" sz="1800" dirty="0">
                <a:latin typeface="Calibri" panose="020F0502020204030204" pitchFamily="34" charset="0"/>
                <a:ea typeface="Calibri" panose="020F0502020204030204" pitchFamily="34" charset="0"/>
                <a:cs typeface="Calibri" panose="020F0502020204030204" pitchFamily="34" charset="0"/>
              </a:rPr>
              <a:t>/</a:t>
            </a:r>
            <a:r>
              <a:rPr lang="de-AT" sz="1800" dirty="0" err="1">
                <a:latin typeface="Calibri" panose="020F0502020204030204" pitchFamily="34" charset="0"/>
                <a:ea typeface="Calibri" panose="020F0502020204030204" pitchFamily="34" charset="0"/>
                <a:cs typeface="Calibri" panose="020F0502020204030204" pitchFamily="34" charset="0"/>
              </a:rPr>
              <a:t>removed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following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b="1" dirty="0">
                <a:latin typeface="Calibri" panose="020F0502020204030204" pitchFamily="34" charset="0"/>
                <a:ea typeface="Calibri" panose="020F0502020204030204" pitchFamily="34" charset="0"/>
                <a:cs typeface="Calibri" panose="020F0502020204030204" pitchFamily="34" charset="0"/>
              </a:rPr>
              <a:t>first-in, first-out (FIFO) </a:t>
            </a:r>
            <a:r>
              <a:rPr lang="de-AT" sz="1800" dirty="0" err="1">
                <a:latin typeface="Calibri" panose="020F0502020204030204" pitchFamily="34" charset="0"/>
                <a:ea typeface="Calibri" panose="020F0502020204030204" pitchFamily="34" charset="0"/>
                <a:cs typeface="Calibri" panose="020F0502020204030204" pitchFamily="34" charset="0"/>
              </a:rPr>
              <a:t>principle</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Elements </a:t>
            </a:r>
            <a:r>
              <a:rPr lang="de-AT" sz="1800" dirty="0" err="1">
                <a:latin typeface="Calibri" panose="020F0502020204030204" pitchFamily="34" charset="0"/>
                <a:ea typeface="Calibri" panose="020F0502020204030204" pitchFamily="34" charset="0"/>
                <a:cs typeface="Calibri" panose="020F0502020204030204" pitchFamily="34" charset="0"/>
              </a:rPr>
              <a:t>can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inserted</a:t>
            </a:r>
            <a:r>
              <a:rPr lang="de-AT" sz="1800" dirty="0">
                <a:latin typeface="Calibri" panose="020F0502020204030204" pitchFamily="34" charset="0"/>
                <a:ea typeface="Calibri" panose="020F0502020204030204" pitchFamily="34" charset="0"/>
                <a:cs typeface="Calibri" panose="020F0502020204030204" pitchFamily="34" charset="0"/>
              </a:rPr>
              <a:t> at </a:t>
            </a:r>
            <a:r>
              <a:rPr lang="de-AT" sz="1800" dirty="0" err="1">
                <a:latin typeface="Calibri" panose="020F0502020204030204" pitchFamily="34" charset="0"/>
                <a:ea typeface="Calibri" panose="020F0502020204030204" pitchFamily="34" charset="0"/>
                <a:cs typeface="Calibri" panose="020F0502020204030204" pitchFamily="34" charset="0"/>
              </a:rPr>
              <a:t>any</a:t>
            </a:r>
            <a:r>
              <a:rPr lang="de-AT" sz="1800" dirty="0">
                <a:latin typeface="Calibri" panose="020F0502020204030204" pitchFamily="34" charset="0"/>
                <a:ea typeface="Calibri" panose="020F0502020204030204" pitchFamily="34" charset="0"/>
                <a:cs typeface="Calibri" panose="020F0502020204030204" pitchFamily="34" charset="0"/>
              </a:rPr>
              <a:t> time</a:t>
            </a: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a:t>
            </a:r>
            <a:r>
              <a:rPr lang="de-AT" sz="1800" dirty="0" err="1">
                <a:latin typeface="Calibri" panose="020F0502020204030204" pitchFamily="34" charset="0"/>
                <a:ea typeface="Calibri" panose="020F0502020204030204" pitchFamily="34" charset="0"/>
                <a:cs typeface="Calibri" panose="020F0502020204030204" pitchFamily="34" charset="0"/>
              </a:rPr>
              <a:t>element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that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in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queue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longest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removed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first</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Elements </a:t>
            </a:r>
            <a:r>
              <a:rPr lang="de-AT" sz="1800" dirty="0" err="1">
                <a:latin typeface="Calibri" panose="020F0502020204030204" pitchFamily="34" charset="0"/>
                <a:ea typeface="Calibri" panose="020F0502020204030204" pitchFamily="34" charset="0"/>
                <a:cs typeface="Calibri" panose="020F0502020204030204" pitchFamily="34" charset="0"/>
              </a:rPr>
              <a:t>are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inserted</a:t>
            </a:r>
            <a:r>
              <a:rPr lang="de-AT" sz="1800" dirty="0">
                <a:latin typeface="Calibri" panose="020F0502020204030204" pitchFamily="34" charset="0"/>
                <a:ea typeface="Calibri" panose="020F0502020204030204" pitchFamily="34" charset="0"/>
                <a:cs typeface="Calibri" panose="020F0502020204030204" pitchFamily="34" charset="0"/>
              </a:rPr>
              <a:t>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back but </a:t>
            </a:r>
            <a:r>
              <a:rPr lang="de-AT" sz="1800" dirty="0" err="1">
                <a:latin typeface="Calibri" panose="020F0502020204030204" pitchFamily="34" charset="0"/>
                <a:ea typeface="Calibri" panose="020F0502020204030204" pitchFamily="34" charset="0"/>
                <a:cs typeface="Calibri" panose="020F0502020204030204" pitchFamily="34" charset="0"/>
              </a:rPr>
              <a:t>removed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front</a:t>
            </a: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For example</a:t>
            </a:r>
            <a:endParaRPr lang="en-GB" sz="1800" dirty="0">
              <a:latin typeface="Calibri" panose="020F0502020204030204" pitchFamily="34" charset="0"/>
              <a:ea typeface="Calibri" panose="020F0502020204030204" pitchFamily="34" charset="0"/>
              <a:cs typeface="Calibri" panose="020F0502020204030204" pitchFamily="34" charset="0"/>
            </a:endParaRPr>
          </a:p>
          <a:p>
            <a:pPr marL="857250" lvl="1" indent="-285750">
              <a:spcBef>
                <a:spcPts val="600"/>
              </a:spcBef>
              <a:spcAft>
                <a:spcPts val="600"/>
              </a:spcAft>
              <a:buFont typeface="Wingdings" panose="05000000000000000000" pitchFamily="2" charset="2"/>
              <a:buChar char="v"/>
            </a:pPr>
            <a:r>
              <a:rPr lang="en-GB" sz="1800" dirty="0">
                <a:latin typeface="Calibri" panose="020F0502020204030204" pitchFamily="34" charset="0"/>
                <a:ea typeface="Calibri" panose="020F0502020204030204" pitchFamily="34" charset="0"/>
                <a:cs typeface="Calibri" panose="020F0502020204030204" pitchFamily="34" charset="0"/>
              </a:rPr>
              <a:t>P</a:t>
            </a:r>
            <a:r>
              <a:rPr lang="de-AT" sz="1800" dirty="0">
                <a:latin typeface="Calibri" panose="020F0502020204030204" pitchFamily="34" charset="0"/>
                <a:ea typeface="Calibri" panose="020F0502020204030204" pitchFamily="34" charset="0"/>
                <a:cs typeface="Calibri" panose="020F0502020204030204" pitchFamily="34" charset="0"/>
              </a:rPr>
              <a:t>eople waiting in line in the bank, post office, at the counter, etc.</a:t>
            </a:r>
          </a:p>
          <a:p>
            <a:pPr marL="857250" lvl="1"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Web server responding to the requests</a:t>
            </a: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Fundamental </a:t>
            </a:r>
            <a:r>
              <a:rPr lang="de-AT" sz="1800" dirty="0" err="1">
                <a:latin typeface="Calibri" panose="020F0502020204030204" pitchFamily="34" charset="0"/>
                <a:ea typeface="Calibri" panose="020F0502020204030204" pitchFamily="34" charset="0"/>
                <a:cs typeface="Calibri" panose="020F0502020204030204" pitchFamily="34" charset="0"/>
              </a:rPr>
              <a:t>operations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i="1" dirty="0" err="1">
                <a:latin typeface="Calibri" panose="020F0502020204030204" pitchFamily="34" charset="0"/>
                <a:ea typeface="Calibri" panose="020F0502020204030204" pitchFamily="34" charset="0"/>
                <a:cs typeface="Calibri" panose="020F0502020204030204" pitchFamily="34" charset="0"/>
              </a:rPr>
              <a:t>enqueue</a:t>
            </a:r>
            <a:r>
              <a:rPr lang="de-AT" sz="1800" dirty="0">
                <a:latin typeface="Calibri" panose="020F0502020204030204" pitchFamily="34" charset="0"/>
                <a:ea typeface="Calibri" panose="020F0502020204030204" pitchFamily="34" charset="0"/>
                <a:cs typeface="Calibri" panose="020F0502020204030204" pitchFamily="34" charset="0"/>
              </a:rPr>
              <a:t> and </a:t>
            </a:r>
            <a:r>
              <a:rPr lang="de-AT" sz="1800" i="1" dirty="0" err="1">
                <a:latin typeface="Calibri" panose="020F0502020204030204" pitchFamily="34" charset="0"/>
                <a:ea typeface="Calibri" panose="020F0502020204030204" pitchFamily="34" charset="0"/>
                <a:cs typeface="Calibri" panose="020F0502020204030204" pitchFamily="34" charset="0"/>
              </a:rPr>
              <a:t>dequeue</a:t>
            </a:r>
            <a:endParaRPr lang="de-AT" sz="1800" i="1"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a:t>
            </a:r>
            <a:r>
              <a:rPr lang="de-AT" sz="1800" dirty="0" err="1">
                <a:latin typeface="Calibri" panose="020F0502020204030204" pitchFamily="34" charset="0"/>
                <a:ea typeface="Calibri" panose="020F0502020204030204" pitchFamily="34" charset="0"/>
                <a:cs typeface="Calibri" panose="020F0502020204030204" pitchFamily="34" charset="0"/>
              </a:rPr>
              <a:t>enqueue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operation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adds</a:t>
            </a:r>
            <a:r>
              <a:rPr lang="de-AT" sz="1800" dirty="0">
                <a:latin typeface="Calibri" panose="020F0502020204030204" pitchFamily="34" charset="0"/>
                <a:ea typeface="Calibri" panose="020F0502020204030204" pitchFamily="34" charset="0"/>
                <a:cs typeface="Calibri" panose="020F0502020204030204" pitchFamily="34" charset="0"/>
              </a:rPr>
              <a:t> an </a:t>
            </a:r>
            <a:r>
              <a:rPr lang="de-AT" sz="1800" dirty="0" err="1">
                <a:latin typeface="Calibri" panose="020F0502020204030204" pitchFamily="34" charset="0"/>
                <a:ea typeface="Calibri" panose="020F0502020204030204" pitchFamily="34" charset="0"/>
                <a:cs typeface="Calibri" panose="020F0502020204030204" pitchFamily="34" charset="0"/>
              </a:rPr>
              <a:t>element</a:t>
            </a:r>
            <a:r>
              <a:rPr lang="de-AT" sz="1800" dirty="0">
                <a:latin typeface="Calibri" panose="020F0502020204030204" pitchFamily="34" charset="0"/>
                <a:ea typeface="Calibri" panose="020F0502020204030204" pitchFamily="34" charset="0"/>
                <a:cs typeface="Calibri" panose="020F0502020204030204" pitchFamily="34" charset="0"/>
              </a:rPr>
              <a:t>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back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queue</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a:t>
            </a:r>
            <a:r>
              <a:rPr lang="de-AT" sz="1800" dirty="0" err="1">
                <a:latin typeface="Calibri" panose="020F0502020204030204" pitchFamily="34" charset="0"/>
                <a:ea typeface="Calibri" panose="020F0502020204030204" pitchFamily="34" charset="0"/>
                <a:cs typeface="Calibri" panose="020F0502020204030204" pitchFamily="34" charset="0"/>
              </a:rPr>
              <a:t>dequeue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operation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removes</a:t>
            </a:r>
            <a:r>
              <a:rPr lang="de-AT" sz="1800" dirty="0">
                <a:latin typeface="Calibri" panose="020F0502020204030204" pitchFamily="34" charset="0"/>
                <a:ea typeface="Calibri" panose="020F0502020204030204" pitchFamily="34" charset="0"/>
                <a:cs typeface="Calibri" panose="020F0502020204030204" pitchFamily="34" charset="0"/>
              </a:rPr>
              <a:t> and </a:t>
            </a:r>
            <a:r>
              <a:rPr lang="de-AT" sz="1800" dirty="0" err="1">
                <a:latin typeface="Calibri" panose="020F0502020204030204" pitchFamily="34" charset="0"/>
                <a:ea typeface="Calibri" panose="020F0502020204030204" pitchFamily="34" charset="0"/>
                <a:cs typeface="Calibri" panose="020F0502020204030204" pitchFamily="34" charset="0"/>
              </a:rPr>
              <a:t>returns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element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front</a:t>
            </a:r>
          </a:p>
        </p:txBody>
      </p:sp>
    </p:spTree>
    <p:extLst>
      <p:ext uri="{BB962C8B-B14F-4D97-AF65-F5344CB8AC3E}">
        <p14:creationId xmlns:p14="http://schemas.microsoft.com/office/powerpoint/2010/main" val="26677660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Queues</a:t>
            </a:r>
            <a:endParaRPr lang="en-US" sz="2800" b="1" noProof="0" dirty="0">
              <a:latin typeface="Calibri" panose="020F0502020204030204" pitchFamily="34" charset="0"/>
              <a:cs typeface="Calibri" panose="020F0502020204030204" pitchFamily="34" charset="0"/>
            </a:endParaRPr>
          </a:p>
        </p:txBody>
      </p:sp>
      <p:graphicFrame>
        <p:nvGraphicFramePr>
          <p:cNvPr id="6" name="Tabelle 5">
            <a:extLst>
              <a:ext uri="{FF2B5EF4-FFF2-40B4-BE49-F238E27FC236}">
                <a16:creationId xmlns:a16="http://schemas.microsoft.com/office/drawing/2014/main" id="{7D1490D8-8773-42D7-ABA6-25C71664D7E5}"/>
              </a:ext>
            </a:extLst>
          </p:cNvPr>
          <p:cNvGraphicFramePr>
            <a:graphicFrameLocks noGrp="1"/>
          </p:cNvGraphicFramePr>
          <p:nvPr/>
        </p:nvGraphicFramePr>
        <p:xfrm>
          <a:off x="3906316" y="1946275"/>
          <a:ext cx="583200" cy="370840"/>
        </p:xfrm>
        <a:graphic>
          <a:graphicData uri="http://schemas.openxmlformats.org/drawingml/2006/table">
            <a:tbl>
              <a:tblPr firstRow="1" bandRow="1">
                <a:tableStyleId>{8A107856-5554-42FB-B03E-39F5DBC370BA}</a:tableStyleId>
              </a:tblPr>
              <a:tblGrid>
                <a:gridCol w="583200">
                  <a:extLst>
                    <a:ext uri="{9D8B030D-6E8A-4147-A177-3AD203B41FA5}">
                      <a16:colId xmlns:a16="http://schemas.microsoft.com/office/drawing/2014/main" val="1043724596"/>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7</a:t>
                      </a:r>
                    </a:p>
                  </a:txBody>
                  <a:tcPr/>
                </a:tc>
                <a:extLst>
                  <a:ext uri="{0D108BD9-81ED-4DB2-BD59-A6C34878D82A}">
                    <a16:rowId xmlns:a16="http://schemas.microsoft.com/office/drawing/2014/main" val="74951030"/>
                  </a:ext>
                </a:extLst>
              </a:tr>
            </a:tbl>
          </a:graphicData>
        </a:graphic>
      </p:graphicFrame>
      <mc:AlternateContent xmlns:mc="http://schemas.openxmlformats.org/markup-compatibility/2006" xmlns:a14="http://schemas.microsoft.com/office/drawing/2010/main">
        <mc:Choice Requires="a14">
          <p:sp>
            <p:nvSpPr>
              <p:cNvPr id="9" name="Rechteck 8">
                <a:extLst>
                  <a:ext uri="{FF2B5EF4-FFF2-40B4-BE49-F238E27FC236}">
                    <a16:creationId xmlns:a16="http://schemas.microsoft.com/office/drawing/2014/main" id="{DE3EF865-2362-44C9-B3FF-E1F1905AD312}"/>
                  </a:ext>
                </a:extLst>
              </p:cNvPr>
              <p:cNvSpPr/>
              <p:nvPr/>
            </p:nvSpPr>
            <p:spPr>
              <a:xfrm>
                <a:off x="2463342" y="2379860"/>
                <a:ext cx="1326902"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b="0" i="1" dirty="0" smtClean="0">
                          <a:latin typeface="Cambria Math" panose="02040503050406030204" pitchFamily="18" charset="0"/>
                        </a:rPr>
                        <m:t>𝑞</m:t>
                      </m:r>
                      <m:r>
                        <a:rPr lang="de-AT" i="1" dirty="0" smtClean="0">
                          <a:latin typeface="Cambria Math" panose="02040503050406030204" pitchFamily="18" charset="0"/>
                        </a:rPr>
                        <m:t>.</m:t>
                      </m:r>
                      <m:r>
                        <a:rPr lang="de-AT" b="0" i="1" dirty="0" smtClean="0">
                          <a:latin typeface="Cambria Math" panose="02040503050406030204" pitchFamily="18" charset="0"/>
                        </a:rPr>
                        <m:t>𝑒𝑛𝑞𝑢𝑒𝑢𝑒</m:t>
                      </m:r>
                      <m:r>
                        <a:rPr lang="de-AT" i="1" dirty="0" smtClean="0">
                          <a:latin typeface="Cambria Math" panose="02040503050406030204" pitchFamily="18" charset="0"/>
                        </a:rPr>
                        <m:t>(7)</m:t>
                      </m:r>
                    </m:oMath>
                  </m:oMathPara>
                </a14:m>
                <a:endParaRPr lang="de-AT" dirty="0"/>
              </a:p>
            </p:txBody>
          </p:sp>
        </mc:Choice>
        <mc:Fallback xmlns="">
          <p:sp>
            <p:nvSpPr>
              <p:cNvPr id="9" name="Rechteck 8">
                <a:extLst>
                  <a:ext uri="{FF2B5EF4-FFF2-40B4-BE49-F238E27FC236}">
                    <a16:creationId xmlns:a16="http://schemas.microsoft.com/office/drawing/2014/main" id="{DE3EF865-2362-44C9-B3FF-E1F1905AD312}"/>
                  </a:ext>
                </a:extLst>
              </p:cNvPr>
              <p:cNvSpPr>
                <a:spLocks noRot="1" noChangeAspect="1" noMove="1" noResize="1" noEditPoints="1" noAdjustHandles="1" noChangeArrowheads="1" noChangeShapeType="1" noTextEdit="1"/>
              </p:cNvSpPr>
              <p:nvPr/>
            </p:nvSpPr>
            <p:spPr>
              <a:xfrm>
                <a:off x="2463342" y="2379860"/>
                <a:ext cx="1326902" cy="307777"/>
              </a:xfrm>
              <a:prstGeom prst="rect">
                <a:avLst/>
              </a:prstGeom>
              <a:blipFill>
                <a:blip r:embed="rId3"/>
                <a:stretch>
                  <a:fillRect b="-7843"/>
                </a:stretch>
              </a:blipFill>
            </p:spPr>
            <p:txBody>
              <a:bodyPr/>
              <a:lstStyle/>
              <a:p>
                <a:r>
                  <a:rPr lang="de-AT">
                    <a:noFill/>
                  </a:rPr>
                  <a:t> </a:t>
                </a:r>
              </a:p>
            </p:txBody>
          </p:sp>
        </mc:Fallback>
      </mc:AlternateContent>
    </p:spTree>
    <p:extLst>
      <p:ext uri="{BB962C8B-B14F-4D97-AF65-F5344CB8AC3E}">
        <p14:creationId xmlns:p14="http://schemas.microsoft.com/office/powerpoint/2010/main" val="9159491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Queues</a:t>
            </a:r>
            <a:endParaRPr lang="en-US" sz="2800" b="1" noProof="0" dirty="0">
              <a:latin typeface="Calibri" panose="020F0502020204030204" pitchFamily="34" charset="0"/>
              <a:cs typeface="Calibri" panose="020F0502020204030204" pitchFamily="34" charset="0"/>
            </a:endParaRPr>
          </a:p>
        </p:txBody>
      </p:sp>
      <p:graphicFrame>
        <p:nvGraphicFramePr>
          <p:cNvPr id="6" name="Tabelle 5">
            <a:extLst>
              <a:ext uri="{FF2B5EF4-FFF2-40B4-BE49-F238E27FC236}">
                <a16:creationId xmlns:a16="http://schemas.microsoft.com/office/drawing/2014/main" id="{7D1490D8-8773-42D7-ABA6-25C71664D7E5}"/>
              </a:ext>
            </a:extLst>
          </p:cNvPr>
          <p:cNvGraphicFramePr>
            <a:graphicFrameLocks noGrp="1"/>
          </p:cNvGraphicFramePr>
          <p:nvPr>
            <p:extLst>
              <p:ext uri="{D42A27DB-BD31-4B8C-83A1-F6EECF244321}">
                <p14:modId xmlns:p14="http://schemas.microsoft.com/office/powerpoint/2010/main" val="2322042266"/>
              </p:ext>
            </p:extLst>
          </p:nvPr>
        </p:nvGraphicFramePr>
        <p:xfrm>
          <a:off x="3906316" y="1946275"/>
          <a:ext cx="583200" cy="741680"/>
        </p:xfrm>
        <a:graphic>
          <a:graphicData uri="http://schemas.openxmlformats.org/drawingml/2006/table">
            <a:tbl>
              <a:tblPr firstRow="1" bandRow="1">
                <a:tableStyleId>{8A107856-5554-42FB-B03E-39F5DBC370BA}</a:tableStyleId>
              </a:tblPr>
              <a:tblGrid>
                <a:gridCol w="583200">
                  <a:extLst>
                    <a:ext uri="{9D8B030D-6E8A-4147-A177-3AD203B41FA5}">
                      <a16:colId xmlns:a16="http://schemas.microsoft.com/office/drawing/2014/main" val="1043724596"/>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7</a:t>
                      </a:r>
                    </a:p>
                  </a:txBody>
                  <a:tcPr/>
                </a:tc>
                <a:extLst>
                  <a:ext uri="{0D108BD9-81ED-4DB2-BD59-A6C34878D82A}">
                    <a16:rowId xmlns:a16="http://schemas.microsoft.com/office/drawing/2014/main" val="2397180504"/>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9</a:t>
                      </a:r>
                    </a:p>
                  </a:txBody>
                  <a:tcPr/>
                </a:tc>
                <a:extLst>
                  <a:ext uri="{0D108BD9-81ED-4DB2-BD59-A6C34878D82A}">
                    <a16:rowId xmlns:a16="http://schemas.microsoft.com/office/drawing/2014/main" val="74951030"/>
                  </a:ext>
                </a:extLst>
              </a:tr>
            </a:tbl>
          </a:graphicData>
        </a:graphic>
      </p:graphicFrame>
      <mc:AlternateContent xmlns:mc="http://schemas.openxmlformats.org/markup-compatibility/2006" xmlns:a14="http://schemas.microsoft.com/office/drawing/2010/main">
        <mc:Choice Requires="a14">
          <p:sp>
            <p:nvSpPr>
              <p:cNvPr id="9" name="Rechteck 8">
                <a:extLst>
                  <a:ext uri="{FF2B5EF4-FFF2-40B4-BE49-F238E27FC236}">
                    <a16:creationId xmlns:a16="http://schemas.microsoft.com/office/drawing/2014/main" id="{DE3EF865-2362-44C9-B3FF-E1F1905AD312}"/>
                  </a:ext>
                </a:extLst>
              </p:cNvPr>
              <p:cNvSpPr/>
              <p:nvPr/>
            </p:nvSpPr>
            <p:spPr>
              <a:xfrm>
                <a:off x="2463342" y="2379860"/>
                <a:ext cx="1326902"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b="0" i="1" dirty="0" smtClean="0">
                          <a:latin typeface="Cambria Math" panose="02040503050406030204" pitchFamily="18" charset="0"/>
                        </a:rPr>
                        <m:t>𝑞</m:t>
                      </m:r>
                      <m:r>
                        <a:rPr lang="de-AT" i="1" dirty="0" smtClean="0">
                          <a:latin typeface="Cambria Math" panose="02040503050406030204" pitchFamily="18" charset="0"/>
                        </a:rPr>
                        <m:t>.</m:t>
                      </m:r>
                      <m:r>
                        <a:rPr lang="de-AT" b="0" i="1" dirty="0" smtClean="0">
                          <a:latin typeface="Cambria Math" panose="02040503050406030204" pitchFamily="18" charset="0"/>
                        </a:rPr>
                        <m:t>𝑒𝑛𝑞𝑢𝑒𝑢𝑒</m:t>
                      </m:r>
                      <m:r>
                        <a:rPr lang="de-AT" i="1" dirty="0" smtClean="0">
                          <a:latin typeface="Cambria Math" panose="02040503050406030204" pitchFamily="18" charset="0"/>
                        </a:rPr>
                        <m:t>(9)</m:t>
                      </m:r>
                    </m:oMath>
                  </m:oMathPara>
                </a14:m>
                <a:endParaRPr lang="de-AT" dirty="0"/>
              </a:p>
            </p:txBody>
          </p:sp>
        </mc:Choice>
        <mc:Fallback xmlns="">
          <p:sp>
            <p:nvSpPr>
              <p:cNvPr id="9" name="Rechteck 8">
                <a:extLst>
                  <a:ext uri="{FF2B5EF4-FFF2-40B4-BE49-F238E27FC236}">
                    <a16:creationId xmlns:a16="http://schemas.microsoft.com/office/drawing/2014/main" id="{DE3EF865-2362-44C9-B3FF-E1F1905AD312}"/>
                  </a:ext>
                </a:extLst>
              </p:cNvPr>
              <p:cNvSpPr>
                <a:spLocks noRot="1" noChangeAspect="1" noMove="1" noResize="1" noEditPoints="1" noAdjustHandles="1" noChangeArrowheads="1" noChangeShapeType="1" noTextEdit="1"/>
              </p:cNvSpPr>
              <p:nvPr/>
            </p:nvSpPr>
            <p:spPr>
              <a:xfrm>
                <a:off x="2463342" y="2379860"/>
                <a:ext cx="1326902" cy="307777"/>
              </a:xfrm>
              <a:prstGeom prst="rect">
                <a:avLst/>
              </a:prstGeom>
              <a:blipFill>
                <a:blip r:embed="rId3"/>
                <a:stretch>
                  <a:fillRect b="-7843"/>
                </a:stretch>
              </a:blipFill>
            </p:spPr>
            <p:txBody>
              <a:bodyPr/>
              <a:lstStyle/>
              <a:p>
                <a:r>
                  <a:rPr lang="de-AT">
                    <a:noFill/>
                  </a:rPr>
                  <a:t> </a:t>
                </a:r>
              </a:p>
            </p:txBody>
          </p:sp>
        </mc:Fallback>
      </mc:AlternateContent>
    </p:spTree>
    <p:extLst>
      <p:ext uri="{BB962C8B-B14F-4D97-AF65-F5344CB8AC3E}">
        <p14:creationId xmlns:p14="http://schemas.microsoft.com/office/powerpoint/2010/main" val="15221178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Queues</a:t>
            </a:r>
            <a:endParaRPr lang="en-US" sz="2800" b="1" noProof="0" dirty="0">
              <a:latin typeface="Calibri" panose="020F0502020204030204" pitchFamily="34" charset="0"/>
              <a:cs typeface="Calibri" panose="020F0502020204030204" pitchFamily="34" charset="0"/>
            </a:endParaRPr>
          </a:p>
        </p:txBody>
      </p:sp>
      <p:graphicFrame>
        <p:nvGraphicFramePr>
          <p:cNvPr id="6" name="Tabelle 5">
            <a:extLst>
              <a:ext uri="{FF2B5EF4-FFF2-40B4-BE49-F238E27FC236}">
                <a16:creationId xmlns:a16="http://schemas.microsoft.com/office/drawing/2014/main" id="{7D1490D8-8773-42D7-ABA6-25C71664D7E5}"/>
              </a:ext>
            </a:extLst>
          </p:cNvPr>
          <p:cNvGraphicFramePr>
            <a:graphicFrameLocks noGrp="1"/>
          </p:cNvGraphicFramePr>
          <p:nvPr>
            <p:extLst>
              <p:ext uri="{D42A27DB-BD31-4B8C-83A1-F6EECF244321}">
                <p14:modId xmlns:p14="http://schemas.microsoft.com/office/powerpoint/2010/main" val="951004087"/>
              </p:ext>
            </p:extLst>
          </p:nvPr>
        </p:nvGraphicFramePr>
        <p:xfrm>
          <a:off x="3906316" y="1946275"/>
          <a:ext cx="583200" cy="1112520"/>
        </p:xfrm>
        <a:graphic>
          <a:graphicData uri="http://schemas.openxmlformats.org/drawingml/2006/table">
            <a:tbl>
              <a:tblPr firstRow="1" bandRow="1">
                <a:tableStyleId>{8A107856-5554-42FB-B03E-39F5DBC370BA}</a:tableStyleId>
              </a:tblPr>
              <a:tblGrid>
                <a:gridCol w="583200">
                  <a:extLst>
                    <a:ext uri="{9D8B030D-6E8A-4147-A177-3AD203B41FA5}">
                      <a16:colId xmlns:a16="http://schemas.microsoft.com/office/drawing/2014/main" val="1043724596"/>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7</a:t>
                      </a:r>
                    </a:p>
                  </a:txBody>
                  <a:tcPr/>
                </a:tc>
                <a:extLst>
                  <a:ext uri="{0D108BD9-81ED-4DB2-BD59-A6C34878D82A}">
                    <a16:rowId xmlns:a16="http://schemas.microsoft.com/office/drawing/2014/main" val="1530272506"/>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9</a:t>
                      </a:r>
                    </a:p>
                  </a:txBody>
                  <a:tcPr/>
                </a:tc>
                <a:extLst>
                  <a:ext uri="{0D108BD9-81ED-4DB2-BD59-A6C34878D82A}">
                    <a16:rowId xmlns:a16="http://schemas.microsoft.com/office/drawing/2014/main" val="2397180504"/>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4</a:t>
                      </a:r>
                    </a:p>
                  </a:txBody>
                  <a:tcPr/>
                </a:tc>
                <a:extLst>
                  <a:ext uri="{0D108BD9-81ED-4DB2-BD59-A6C34878D82A}">
                    <a16:rowId xmlns:a16="http://schemas.microsoft.com/office/drawing/2014/main" val="74951030"/>
                  </a:ext>
                </a:extLst>
              </a:tr>
            </a:tbl>
          </a:graphicData>
        </a:graphic>
      </p:graphicFrame>
      <mc:AlternateContent xmlns:mc="http://schemas.openxmlformats.org/markup-compatibility/2006" xmlns:a14="http://schemas.microsoft.com/office/drawing/2010/main">
        <mc:Choice Requires="a14">
          <p:sp>
            <p:nvSpPr>
              <p:cNvPr id="9" name="Rechteck 8">
                <a:extLst>
                  <a:ext uri="{FF2B5EF4-FFF2-40B4-BE49-F238E27FC236}">
                    <a16:creationId xmlns:a16="http://schemas.microsoft.com/office/drawing/2014/main" id="{DE3EF865-2362-44C9-B3FF-E1F1905AD312}"/>
                  </a:ext>
                </a:extLst>
              </p:cNvPr>
              <p:cNvSpPr/>
              <p:nvPr/>
            </p:nvSpPr>
            <p:spPr>
              <a:xfrm>
                <a:off x="2463342" y="2379860"/>
                <a:ext cx="1326902"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b="0" i="1" dirty="0" smtClean="0">
                          <a:latin typeface="Cambria Math" panose="02040503050406030204" pitchFamily="18" charset="0"/>
                        </a:rPr>
                        <m:t>𝑞</m:t>
                      </m:r>
                      <m:r>
                        <a:rPr lang="de-AT" i="1" dirty="0" smtClean="0">
                          <a:latin typeface="Cambria Math" panose="02040503050406030204" pitchFamily="18" charset="0"/>
                        </a:rPr>
                        <m:t>.</m:t>
                      </m:r>
                      <m:r>
                        <a:rPr lang="de-AT" b="0" i="1" dirty="0" smtClean="0">
                          <a:latin typeface="Cambria Math" panose="02040503050406030204" pitchFamily="18" charset="0"/>
                        </a:rPr>
                        <m:t>𝑒𝑛𝑞𝑢𝑒𝑢𝑒</m:t>
                      </m:r>
                      <m:r>
                        <a:rPr lang="de-AT" i="1" dirty="0" smtClean="0">
                          <a:latin typeface="Cambria Math" panose="02040503050406030204" pitchFamily="18" charset="0"/>
                        </a:rPr>
                        <m:t>(4)</m:t>
                      </m:r>
                    </m:oMath>
                  </m:oMathPara>
                </a14:m>
                <a:endParaRPr lang="de-AT" dirty="0"/>
              </a:p>
            </p:txBody>
          </p:sp>
        </mc:Choice>
        <mc:Fallback xmlns="">
          <p:sp>
            <p:nvSpPr>
              <p:cNvPr id="9" name="Rechteck 8">
                <a:extLst>
                  <a:ext uri="{FF2B5EF4-FFF2-40B4-BE49-F238E27FC236}">
                    <a16:creationId xmlns:a16="http://schemas.microsoft.com/office/drawing/2014/main" id="{DE3EF865-2362-44C9-B3FF-E1F1905AD312}"/>
                  </a:ext>
                </a:extLst>
              </p:cNvPr>
              <p:cNvSpPr>
                <a:spLocks noRot="1" noChangeAspect="1" noMove="1" noResize="1" noEditPoints="1" noAdjustHandles="1" noChangeArrowheads="1" noChangeShapeType="1" noTextEdit="1"/>
              </p:cNvSpPr>
              <p:nvPr/>
            </p:nvSpPr>
            <p:spPr>
              <a:xfrm>
                <a:off x="2463342" y="2379860"/>
                <a:ext cx="1326902" cy="307777"/>
              </a:xfrm>
              <a:prstGeom prst="rect">
                <a:avLst/>
              </a:prstGeom>
              <a:blipFill>
                <a:blip r:embed="rId3"/>
                <a:stretch>
                  <a:fillRect b="-7843"/>
                </a:stretch>
              </a:blipFill>
            </p:spPr>
            <p:txBody>
              <a:bodyPr/>
              <a:lstStyle/>
              <a:p>
                <a:r>
                  <a:rPr lang="de-AT">
                    <a:noFill/>
                  </a:rPr>
                  <a:t> </a:t>
                </a:r>
              </a:p>
            </p:txBody>
          </p:sp>
        </mc:Fallback>
      </mc:AlternateContent>
    </p:spTree>
    <p:extLst>
      <p:ext uri="{BB962C8B-B14F-4D97-AF65-F5344CB8AC3E}">
        <p14:creationId xmlns:p14="http://schemas.microsoft.com/office/powerpoint/2010/main" val="32704542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Queues</a:t>
            </a:r>
            <a:endParaRPr lang="en-US" sz="2800" b="1" noProof="0" dirty="0">
              <a:latin typeface="Calibri" panose="020F0502020204030204" pitchFamily="34" charset="0"/>
              <a:cs typeface="Calibri" panose="020F0502020204030204" pitchFamily="34" charset="0"/>
            </a:endParaRPr>
          </a:p>
        </p:txBody>
      </p:sp>
      <p:graphicFrame>
        <p:nvGraphicFramePr>
          <p:cNvPr id="6" name="Tabelle 5">
            <a:extLst>
              <a:ext uri="{FF2B5EF4-FFF2-40B4-BE49-F238E27FC236}">
                <a16:creationId xmlns:a16="http://schemas.microsoft.com/office/drawing/2014/main" id="{7D1490D8-8773-42D7-ABA6-25C71664D7E5}"/>
              </a:ext>
            </a:extLst>
          </p:cNvPr>
          <p:cNvGraphicFramePr>
            <a:graphicFrameLocks noGrp="1"/>
          </p:cNvGraphicFramePr>
          <p:nvPr>
            <p:extLst>
              <p:ext uri="{D42A27DB-BD31-4B8C-83A1-F6EECF244321}">
                <p14:modId xmlns:p14="http://schemas.microsoft.com/office/powerpoint/2010/main" val="849364762"/>
              </p:ext>
            </p:extLst>
          </p:nvPr>
        </p:nvGraphicFramePr>
        <p:xfrm>
          <a:off x="3906316" y="1946275"/>
          <a:ext cx="583200" cy="741680"/>
        </p:xfrm>
        <a:graphic>
          <a:graphicData uri="http://schemas.openxmlformats.org/drawingml/2006/table">
            <a:tbl>
              <a:tblPr firstRow="1" bandRow="1">
                <a:tableStyleId>{8A107856-5554-42FB-B03E-39F5DBC370BA}</a:tableStyleId>
              </a:tblPr>
              <a:tblGrid>
                <a:gridCol w="583200">
                  <a:extLst>
                    <a:ext uri="{9D8B030D-6E8A-4147-A177-3AD203B41FA5}">
                      <a16:colId xmlns:a16="http://schemas.microsoft.com/office/drawing/2014/main" val="1043724596"/>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9</a:t>
                      </a:r>
                    </a:p>
                  </a:txBody>
                  <a:tcPr/>
                </a:tc>
                <a:extLst>
                  <a:ext uri="{0D108BD9-81ED-4DB2-BD59-A6C34878D82A}">
                    <a16:rowId xmlns:a16="http://schemas.microsoft.com/office/drawing/2014/main" val="2397180504"/>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4</a:t>
                      </a:r>
                    </a:p>
                  </a:txBody>
                  <a:tcPr/>
                </a:tc>
                <a:extLst>
                  <a:ext uri="{0D108BD9-81ED-4DB2-BD59-A6C34878D82A}">
                    <a16:rowId xmlns:a16="http://schemas.microsoft.com/office/drawing/2014/main" val="74951030"/>
                  </a:ext>
                </a:extLst>
              </a:tr>
            </a:tbl>
          </a:graphicData>
        </a:graphic>
      </p:graphicFrame>
      <mc:AlternateContent xmlns:mc="http://schemas.openxmlformats.org/markup-compatibility/2006" xmlns:a14="http://schemas.microsoft.com/office/drawing/2010/main">
        <mc:Choice Requires="a14">
          <p:sp>
            <p:nvSpPr>
              <p:cNvPr id="11" name="Rechteck 10">
                <a:extLst>
                  <a:ext uri="{FF2B5EF4-FFF2-40B4-BE49-F238E27FC236}">
                    <a16:creationId xmlns:a16="http://schemas.microsoft.com/office/drawing/2014/main" id="{77FCF3BE-466C-457B-B6FD-D5719CBB8591}"/>
                  </a:ext>
                </a:extLst>
              </p:cNvPr>
              <p:cNvSpPr/>
              <p:nvPr/>
            </p:nvSpPr>
            <p:spPr>
              <a:xfrm>
                <a:off x="2463342" y="2379860"/>
                <a:ext cx="122911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b="0" i="1" dirty="0" smtClean="0">
                          <a:latin typeface="Cambria Math" panose="02040503050406030204" pitchFamily="18" charset="0"/>
                        </a:rPr>
                        <m:t>𝑞</m:t>
                      </m:r>
                      <m:r>
                        <a:rPr lang="de-AT" i="1" dirty="0" smtClean="0">
                          <a:latin typeface="Cambria Math" panose="02040503050406030204" pitchFamily="18" charset="0"/>
                        </a:rPr>
                        <m:t>.</m:t>
                      </m:r>
                      <m:r>
                        <a:rPr lang="de-AT" b="0" i="1" dirty="0" smtClean="0">
                          <a:latin typeface="Cambria Math" panose="02040503050406030204" pitchFamily="18" charset="0"/>
                        </a:rPr>
                        <m:t>𝑑𝑒𝑞𝑢𝑒𝑢𝑒</m:t>
                      </m:r>
                      <m:r>
                        <a:rPr lang="de-AT" b="0" i="1" dirty="0" smtClean="0">
                          <a:latin typeface="Cambria Math" panose="02040503050406030204" pitchFamily="18" charset="0"/>
                        </a:rPr>
                        <m:t>()</m:t>
                      </m:r>
                    </m:oMath>
                  </m:oMathPara>
                </a14:m>
                <a:endParaRPr lang="de-AT" dirty="0"/>
              </a:p>
              <a:p>
                <a:pPr/>
                <a14:m>
                  <m:oMathPara xmlns:m="http://schemas.openxmlformats.org/officeDocument/2006/math">
                    <m:oMathParaPr>
                      <m:jc m:val="centerGroup"/>
                    </m:oMathParaPr>
                    <m:oMath xmlns:m="http://schemas.openxmlformats.org/officeDocument/2006/math">
                      <m:r>
                        <a:rPr lang="de-AT" i="1" dirty="0" smtClean="0">
                          <a:latin typeface="Cambria Math" panose="02040503050406030204" pitchFamily="18" charset="0"/>
                        </a:rPr>
                        <m:t>𝑟</m:t>
                      </m:r>
                      <m:r>
                        <a:rPr lang="de-AT" i="1" dirty="0" err="1" smtClean="0">
                          <a:latin typeface="Cambria Math" panose="02040503050406030204" pitchFamily="18" charset="0"/>
                        </a:rPr>
                        <m:t>𝑒𝑡𝑢𝑟𝑛</m:t>
                      </m:r>
                      <m:r>
                        <a:rPr lang="de-AT" i="1" dirty="0" smtClean="0">
                          <a:latin typeface="Cambria Math" panose="02040503050406030204" pitchFamily="18" charset="0"/>
                        </a:rPr>
                        <m:t>:</m:t>
                      </m:r>
                      <m:r>
                        <a:rPr lang="de-AT" b="0" i="1" dirty="0" smtClean="0">
                          <a:latin typeface="Cambria Math" panose="02040503050406030204" pitchFamily="18" charset="0"/>
                        </a:rPr>
                        <m:t>7</m:t>
                      </m:r>
                    </m:oMath>
                  </m:oMathPara>
                </a14:m>
                <a:endParaRPr lang="de-AT" dirty="0"/>
              </a:p>
            </p:txBody>
          </p:sp>
        </mc:Choice>
        <mc:Fallback xmlns="">
          <p:sp>
            <p:nvSpPr>
              <p:cNvPr id="11" name="Rechteck 10">
                <a:extLst>
                  <a:ext uri="{FF2B5EF4-FFF2-40B4-BE49-F238E27FC236}">
                    <a16:creationId xmlns:a16="http://schemas.microsoft.com/office/drawing/2014/main" id="{77FCF3BE-466C-457B-B6FD-D5719CBB8591}"/>
                  </a:ext>
                </a:extLst>
              </p:cNvPr>
              <p:cNvSpPr>
                <a:spLocks noRot="1" noChangeAspect="1" noMove="1" noResize="1" noEditPoints="1" noAdjustHandles="1" noChangeArrowheads="1" noChangeShapeType="1" noTextEdit="1"/>
              </p:cNvSpPr>
              <p:nvPr/>
            </p:nvSpPr>
            <p:spPr>
              <a:xfrm>
                <a:off x="2463342" y="2379860"/>
                <a:ext cx="1229119" cy="523220"/>
              </a:xfrm>
              <a:prstGeom prst="rect">
                <a:avLst/>
              </a:prstGeom>
              <a:blipFill>
                <a:blip r:embed="rId3"/>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25800276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Queues</a:t>
            </a:r>
            <a:endParaRPr lang="en-US" sz="2800" b="1" noProof="0" dirty="0">
              <a:latin typeface="Calibri" panose="020F0502020204030204" pitchFamily="34" charset="0"/>
              <a:cs typeface="Calibri" panose="020F0502020204030204" pitchFamily="34" charset="0"/>
            </a:endParaRPr>
          </a:p>
        </p:txBody>
      </p:sp>
      <p:graphicFrame>
        <p:nvGraphicFramePr>
          <p:cNvPr id="6" name="Tabelle 5">
            <a:extLst>
              <a:ext uri="{FF2B5EF4-FFF2-40B4-BE49-F238E27FC236}">
                <a16:creationId xmlns:a16="http://schemas.microsoft.com/office/drawing/2014/main" id="{7D1490D8-8773-42D7-ABA6-25C71664D7E5}"/>
              </a:ext>
            </a:extLst>
          </p:cNvPr>
          <p:cNvGraphicFramePr>
            <a:graphicFrameLocks noGrp="1"/>
          </p:cNvGraphicFramePr>
          <p:nvPr>
            <p:extLst>
              <p:ext uri="{D42A27DB-BD31-4B8C-83A1-F6EECF244321}">
                <p14:modId xmlns:p14="http://schemas.microsoft.com/office/powerpoint/2010/main" val="2577472732"/>
              </p:ext>
            </p:extLst>
          </p:nvPr>
        </p:nvGraphicFramePr>
        <p:xfrm>
          <a:off x="3906316" y="1946275"/>
          <a:ext cx="583200" cy="1112520"/>
        </p:xfrm>
        <a:graphic>
          <a:graphicData uri="http://schemas.openxmlformats.org/drawingml/2006/table">
            <a:tbl>
              <a:tblPr firstRow="1" bandRow="1">
                <a:tableStyleId>{8A107856-5554-42FB-B03E-39F5DBC370BA}</a:tableStyleId>
              </a:tblPr>
              <a:tblGrid>
                <a:gridCol w="583200">
                  <a:extLst>
                    <a:ext uri="{9D8B030D-6E8A-4147-A177-3AD203B41FA5}">
                      <a16:colId xmlns:a16="http://schemas.microsoft.com/office/drawing/2014/main" val="1043724596"/>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9</a:t>
                      </a:r>
                    </a:p>
                  </a:txBody>
                  <a:tcPr/>
                </a:tc>
                <a:extLst>
                  <a:ext uri="{0D108BD9-81ED-4DB2-BD59-A6C34878D82A}">
                    <a16:rowId xmlns:a16="http://schemas.microsoft.com/office/drawing/2014/main" val="1530272506"/>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4</a:t>
                      </a:r>
                    </a:p>
                  </a:txBody>
                  <a:tcPr/>
                </a:tc>
                <a:extLst>
                  <a:ext uri="{0D108BD9-81ED-4DB2-BD59-A6C34878D82A}">
                    <a16:rowId xmlns:a16="http://schemas.microsoft.com/office/drawing/2014/main" val="2397180504"/>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6</a:t>
                      </a:r>
                    </a:p>
                  </a:txBody>
                  <a:tcPr/>
                </a:tc>
                <a:extLst>
                  <a:ext uri="{0D108BD9-81ED-4DB2-BD59-A6C34878D82A}">
                    <a16:rowId xmlns:a16="http://schemas.microsoft.com/office/drawing/2014/main" val="74951030"/>
                  </a:ext>
                </a:extLst>
              </a:tr>
            </a:tbl>
          </a:graphicData>
        </a:graphic>
      </p:graphicFrame>
      <mc:AlternateContent xmlns:mc="http://schemas.openxmlformats.org/markup-compatibility/2006" xmlns:a14="http://schemas.microsoft.com/office/drawing/2010/main">
        <mc:Choice Requires="a14">
          <p:sp>
            <p:nvSpPr>
              <p:cNvPr id="9" name="Rechteck 8">
                <a:extLst>
                  <a:ext uri="{FF2B5EF4-FFF2-40B4-BE49-F238E27FC236}">
                    <a16:creationId xmlns:a16="http://schemas.microsoft.com/office/drawing/2014/main" id="{DE3EF865-2362-44C9-B3FF-E1F1905AD312}"/>
                  </a:ext>
                </a:extLst>
              </p:cNvPr>
              <p:cNvSpPr/>
              <p:nvPr/>
            </p:nvSpPr>
            <p:spPr>
              <a:xfrm>
                <a:off x="2463342" y="2379860"/>
                <a:ext cx="1326902"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b="0" i="1" dirty="0" smtClean="0">
                          <a:latin typeface="Cambria Math" panose="02040503050406030204" pitchFamily="18" charset="0"/>
                        </a:rPr>
                        <m:t>𝑞</m:t>
                      </m:r>
                      <m:r>
                        <a:rPr lang="de-AT" i="1" dirty="0" smtClean="0">
                          <a:latin typeface="Cambria Math" panose="02040503050406030204" pitchFamily="18" charset="0"/>
                        </a:rPr>
                        <m:t>.</m:t>
                      </m:r>
                      <m:r>
                        <a:rPr lang="de-AT" b="0" i="1" dirty="0" smtClean="0">
                          <a:latin typeface="Cambria Math" panose="02040503050406030204" pitchFamily="18" charset="0"/>
                        </a:rPr>
                        <m:t>𝑒𝑛𝑞𝑢𝑒𝑢𝑒</m:t>
                      </m:r>
                      <m:r>
                        <a:rPr lang="de-AT" b="0" i="1" dirty="0" smtClean="0">
                          <a:latin typeface="Cambria Math" panose="02040503050406030204" pitchFamily="18" charset="0"/>
                        </a:rPr>
                        <m:t>(6)</m:t>
                      </m:r>
                    </m:oMath>
                  </m:oMathPara>
                </a14:m>
                <a:endParaRPr lang="de-AT" dirty="0"/>
              </a:p>
            </p:txBody>
          </p:sp>
        </mc:Choice>
        <mc:Fallback xmlns="">
          <p:sp>
            <p:nvSpPr>
              <p:cNvPr id="9" name="Rechteck 8">
                <a:extLst>
                  <a:ext uri="{FF2B5EF4-FFF2-40B4-BE49-F238E27FC236}">
                    <a16:creationId xmlns:a16="http://schemas.microsoft.com/office/drawing/2014/main" id="{DE3EF865-2362-44C9-B3FF-E1F1905AD312}"/>
                  </a:ext>
                </a:extLst>
              </p:cNvPr>
              <p:cNvSpPr>
                <a:spLocks noRot="1" noChangeAspect="1" noMove="1" noResize="1" noEditPoints="1" noAdjustHandles="1" noChangeArrowheads="1" noChangeShapeType="1" noTextEdit="1"/>
              </p:cNvSpPr>
              <p:nvPr/>
            </p:nvSpPr>
            <p:spPr>
              <a:xfrm>
                <a:off x="2463342" y="2379860"/>
                <a:ext cx="1326902" cy="307777"/>
              </a:xfrm>
              <a:prstGeom prst="rect">
                <a:avLst/>
              </a:prstGeom>
              <a:blipFill>
                <a:blip r:embed="rId3"/>
                <a:stretch>
                  <a:fillRect b="-7843"/>
                </a:stretch>
              </a:blipFill>
            </p:spPr>
            <p:txBody>
              <a:bodyPr/>
              <a:lstStyle/>
              <a:p>
                <a:r>
                  <a:rPr lang="de-AT">
                    <a:noFill/>
                  </a:rPr>
                  <a:t> </a:t>
                </a:r>
              </a:p>
            </p:txBody>
          </p:sp>
        </mc:Fallback>
      </mc:AlternateContent>
    </p:spTree>
    <p:extLst>
      <p:ext uri="{BB962C8B-B14F-4D97-AF65-F5344CB8AC3E}">
        <p14:creationId xmlns:p14="http://schemas.microsoft.com/office/powerpoint/2010/main" val="8654370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Queues</a:t>
            </a:r>
            <a:endParaRPr lang="en-US" sz="2800" b="1" noProof="0" dirty="0">
              <a:latin typeface="Calibri" panose="020F0502020204030204" pitchFamily="34" charset="0"/>
              <a:cs typeface="Calibri" panose="020F0502020204030204" pitchFamily="34" charset="0"/>
            </a:endParaRPr>
          </a:p>
        </p:txBody>
      </p:sp>
      <p:graphicFrame>
        <p:nvGraphicFramePr>
          <p:cNvPr id="6" name="Tabelle 5">
            <a:extLst>
              <a:ext uri="{FF2B5EF4-FFF2-40B4-BE49-F238E27FC236}">
                <a16:creationId xmlns:a16="http://schemas.microsoft.com/office/drawing/2014/main" id="{7D1490D8-8773-42D7-ABA6-25C71664D7E5}"/>
              </a:ext>
            </a:extLst>
          </p:cNvPr>
          <p:cNvGraphicFramePr>
            <a:graphicFrameLocks noGrp="1"/>
          </p:cNvGraphicFramePr>
          <p:nvPr>
            <p:extLst>
              <p:ext uri="{D42A27DB-BD31-4B8C-83A1-F6EECF244321}">
                <p14:modId xmlns:p14="http://schemas.microsoft.com/office/powerpoint/2010/main" val="3348616634"/>
              </p:ext>
            </p:extLst>
          </p:nvPr>
        </p:nvGraphicFramePr>
        <p:xfrm>
          <a:off x="3906316" y="1946275"/>
          <a:ext cx="583200" cy="1482725"/>
        </p:xfrm>
        <a:graphic>
          <a:graphicData uri="http://schemas.openxmlformats.org/drawingml/2006/table">
            <a:tbl>
              <a:tblPr firstRow="1" bandRow="1">
                <a:tableStyleId>{8A107856-5554-42FB-B03E-39F5DBC370BA}</a:tableStyleId>
              </a:tblPr>
              <a:tblGrid>
                <a:gridCol w="583200">
                  <a:extLst>
                    <a:ext uri="{9D8B030D-6E8A-4147-A177-3AD203B41FA5}">
                      <a16:colId xmlns:a16="http://schemas.microsoft.com/office/drawing/2014/main" val="1043724596"/>
                    </a:ext>
                  </a:extLst>
                </a:gridCol>
              </a:tblGrid>
              <a:tr h="370205">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9</a:t>
                      </a:r>
                    </a:p>
                  </a:txBody>
                  <a:tcPr/>
                </a:tc>
                <a:extLst>
                  <a:ext uri="{0D108BD9-81ED-4DB2-BD59-A6C34878D82A}">
                    <a16:rowId xmlns:a16="http://schemas.microsoft.com/office/drawing/2014/main" val="3905756574"/>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4</a:t>
                      </a:r>
                    </a:p>
                  </a:txBody>
                  <a:tcPr/>
                </a:tc>
                <a:extLst>
                  <a:ext uri="{0D108BD9-81ED-4DB2-BD59-A6C34878D82A}">
                    <a16:rowId xmlns:a16="http://schemas.microsoft.com/office/drawing/2014/main" val="1530272506"/>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6</a:t>
                      </a:r>
                    </a:p>
                  </a:txBody>
                  <a:tcPr/>
                </a:tc>
                <a:extLst>
                  <a:ext uri="{0D108BD9-81ED-4DB2-BD59-A6C34878D82A}">
                    <a16:rowId xmlns:a16="http://schemas.microsoft.com/office/drawing/2014/main" val="2397180504"/>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8</a:t>
                      </a:r>
                    </a:p>
                  </a:txBody>
                  <a:tcPr/>
                </a:tc>
                <a:extLst>
                  <a:ext uri="{0D108BD9-81ED-4DB2-BD59-A6C34878D82A}">
                    <a16:rowId xmlns:a16="http://schemas.microsoft.com/office/drawing/2014/main" val="74951030"/>
                  </a:ext>
                </a:extLst>
              </a:tr>
            </a:tbl>
          </a:graphicData>
        </a:graphic>
      </p:graphicFrame>
      <mc:AlternateContent xmlns:mc="http://schemas.openxmlformats.org/markup-compatibility/2006" xmlns:a14="http://schemas.microsoft.com/office/drawing/2010/main">
        <mc:Choice Requires="a14">
          <p:sp>
            <p:nvSpPr>
              <p:cNvPr id="9" name="Rechteck 8">
                <a:extLst>
                  <a:ext uri="{FF2B5EF4-FFF2-40B4-BE49-F238E27FC236}">
                    <a16:creationId xmlns:a16="http://schemas.microsoft.com/office/drawing/2014/main" id="{DE3EF865-2362-44C9-B3FF-E1F1905AD312}"/>
                  </a:ext>
                </a:extLst>
              </p:cNvPr>
              <p:cNvSpPr/>
              <p:nvPr/>
            </p:nvSpPr>
            <p:spPr>
              <a:xfrm>
                <a:off x="2463342" y="2379860"/>
                <a:ext cx="1326902"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b="0" i="1" dirty="0" smtClean="0">
                          <a:latin typeface="Cambria Math" panose="02040503050406030204" pitchFamily="18" charset="0"/>
                        </a:rPr>
                        <m:t>𝑞</m:t>
                      </m:r>
                      <m:r>
                        <a:rPr lang="de-AT" i="1" dirty="0" smtClean="0">
                          <a:latin typeface="Cambria Math" panose="02040503050406030204" pitchFamily="18" charset="0"/>
                        </a:rPr>
                        <m:t>.</m:t>
                      </m:r>
                      <m:r>
                        <a:rPr lang="de-AT" b="0" i="1" dirty="0" smtClean="0">
                          <a:latin typeface="Cambria Math" panose="02040503050406030204" pitchFamily="18" charset="0"/>
                        </a:rPr>
                        <m:t>𝑒𝑛𝑞𝑢𝑒𝑢𝑒</m:t>
                      </m:r>
                      <m:r>
                        <a:rPr lang="de-AT" i="1" dirty="0" smtClean="0">
                          <a:latin typeface="Cambria Math" panose="02040503050406030204" pitchFamily="18" charset="0"/>
                        </a:rPr>
                        <m:t>(8)</m:t>
                      </m:r>
                    </m:oMath>
                  </m:oMathPara>
                </a14:m>
                <a:endParaRPr lang="de-AT" dirty="0"/>
              </a:p>
            </p:txBody>
          </p:sp>
        </mc:Choice>
        <mc:Fallback xmlns="">
          <p:sp>
            <p:nvSpPr>
              <p:cNvPr id="9" name="Rechteck 8">
                <a:extLst>
                  <a:ext uri="{FF2B5EF4-FFF2-40B4-BE49-F238E27FC236}">
                    <a16:creationId xmlns:a16="http://schemas.microsoft.com/office/drawing/2014/main" id="{DE3EF865-2362-44C9-B3FF-E1F1905AD312}"/>
                  </a:ext>
                </a:extLst>
              </p:cNvPr>
              <p:cNvSpPr>
                <a:spLocks noRot="1" noChangeAspect="1" noMove="1" noResize="1" noEditPoints="1" noAdjustHandles="1" noChangeArrowheads="1" noChangeShapeType="1" noTextEdit="1"/>
              </p:cNvSpPr>
              <p:nvPr/>
            </p:nvSpPr>
            <p:spPr>
              <a:xfrm>
                <a:off x="2463342" y="2379860"/>
                <a:ext cx="1326902" cy="307777"/>
              </a:xfrm>
              <a:prstGeom prst="rect">
                <a:avLst/>
              </a:prstGeom>
              <a:blipFill>
                <a:blip r:embed="rId3"/>
                <a:stretch>
                  <a:fillRect b="-7843"/>
                </a:stretch>
              </a:blipFill>
            </p:spPr>
            <p:txBody>
              <a:bodyPr/>
              <a:lstStyle/>
              <a:p>
                <a:r>
                  <a:rPr lang="de-AT">
                    <a:noFill/>
                  </a:rPr>
                  <a:t> </a:t>
                </a:r>
              </a:p>
            </p:txBody>
          </p:sp>
        </mc:Fallback>
      </mc:AlternateContent>
    </p:spTree>
    <p:extLst>
      <p:ext uri="{BB962C8B-B14F-4D97-AF65-F5344CB8AC3E}">
        <p14:creationId xmlns:p14="http://schemas.microsoft.com/office/powerpoint/2010/main" val="30599628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Queues</a:t>
            </a:r>
            <a:endParaRPr lang="en-US" sz="2800" b="1" noProof="0" dirty="0">
              <a:latin typeface="Calibri" panose="020F0502020204030204" pitchFamily="34" charset="0"/>
              <a:cs typeface="Calibri" panose="020F0502020204030204" pitchFamily="34" charset="0"/>
            </a:endParaRPr>
          </a:p>
        </p:txBody>
      </p:sp>
      <p:graphicFrame>
        <p:nvGraphicFramePr>
          <p:cNvPr id="6" name="Tabelle 5">
            <a:extLst>
              <a:ext uri="{FF2B5EF4-FFF2-40B4-BE49-F238E27FC236}">
                <a16:creationId xmlns:a16="http://schemas.microsoft.com/office/drawing/2014/main" id="{7D1490D8-8773-42D7-ABA6-25C71664D7E5}"/>
              </a:ext>
            </a:extLst>
          </p:cNvPr>
          <p:cNvGraphicFramePr>
            <a:graphicFrameLocks noGrp="1"/>
          </p:cNvGraphicFramePr>
          <p:nvPr>
            <p:extLst>
              <p:ext uri="{D42A27DB-BD31-4B8C-83A1-F6EECF244321}">
                <p14:modId xmlns:p14="http://schemas.microsoft.com/office/powerpoint/2010/main" val="997255496"/>
              </p:ext>
            </p:extLst>
          </p:nvPr>
        </p:nvGraphicFramePr>
        <p:xfrm>
          <a:off x="3906316" y="1946275"/>
          <a:ext cx="583200" cy="1112520"/>
        </p:xfrm>
        <a:graphic>
          <a:graphicData uri="http://schemas.openxmlformats.org/drawingml/2006/table">
            <a:tbl>
              <a:tblPr firstRow="1" bandRow="1">
                <a:tableStyleId>{8A107856-5554-42FB-B03E-39F5DBC370BA}</a:tableStyleId>
              </a:tblPr>
              <a:tblGrid>
                <a:gridCol w="583200">
                  <a:extLst>
                    <a:ext uri="{9D8B030D-6E8A-4147-A177-3AD203B41FA5}">
                      <a16:colId xmlns:a16="http://schemas.microsoft.com/office/drawing/2014/main" val="1043724596"/>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4</a:t>
                      </a:r>
                    </a:p>
                  </a:txBody>
                  <a:tcPr/>
                </a:tc>
                <a:extLst>
                  <a:ext uri="{0D108BD9-81ED-4DB2-BD59-A6C34878D82A}">
                    <a16:rowId xmlns:a16="http://schemas.microsoft.com/office/drawing/2014/main" val="1530272506"/>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6</a:t>
                      </a:r>
                    </a:p>
                  </a:txBody>
                  <a:tcPr/>
                </a:tc>
                <a:extLst>
                  <a:ext uri="{0D108BD9-81ED-4DB2-BD59-A6C34878D82A}">
                    <a16:rowId xmlns:a16="http://schemas.microsoft.com/office/drawing/2014/main" val="2397180504"/>
                  </a:ext>
                </a:extLst>
              </a:tr>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8</a:t>
                      </a:r>
                    </a:p>
                  </a:txBody>
                  <a:tcPr/>
                </a:tc>
                <a:extLst>
                  <a:ext uri="{0D108BD9-81ED-4DB2-BD59-A6C34878D82A}">
                    <a16:rowId xmlns:a16="http://schemas.microsoft.com/office/drawing/2014/main" val="74951030"/>
                  </a:ext>
                </a:extLst>
              </a:tr>
            </a:tbl>
          </a:graphicData>
        </a:graphic>
      </p:graphicFrame>
      <mc:AlternateContent xmlns:mc="http://schemas.openxmlformats.org/markup-compatibility/2006" xmlns:a14="http://schemas.microsoft.com/office/drawing/2010/main">
        <mc:Choice Requires="a14">
          <p:sp>
            <p:nvSpPr>
              <p:cNvPr id="5" name="Rechteck 4">
                <a:extLst>
                  <a:ext uri="{FF2B5EF4-FFF2-40B4-BE49-F238E27FC236}">
                    <a16:creationId xmlns:a16="http://schemas.microsoft.com/office/drawing/2014/main" id="{AE8428C4-60C0-4B5C-B755-DA87ECC78120}"/>
                  </a:ext>
                </a:extLst>
              </p:cNvPr>
              <p:cNvSpPr/>
              <p:nvPr/>
            </p:nvSpPr>
            <p:spPr>
              <a:xfrm>
                <a:off x="2463342" y="2379860"/>
                <a:ext cx="122911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b="0" i="1" dirty="0" smtClean="0">
                          <a:latin typeface="Cambria Math" panose="02040503050406030204" pitchFamily="18" charset="0"/>
                        </a:rPr>
                        <m:t>𝑞</m:t>
                      </m:r>
                      <m:r>
                        <a:rPr lang="de-AT" i="1" dirty="0" smtClean="0">
                          <a:latin typeface="Cambria Math" panose="02040503050406030204" pitchFamily="18" charset="0"/>
                        </a:rPr>
                        <m:t>.</m:t>
                      </m:r>
                      <m:r>
                        <a:rPr lang="de-AT" b="0" i="1" dirty="0" smtClean="0">
                          <a:latin typeface="Cambria Math" panose="02040503050406030204" pitchFamily="18" charset="0"/>
                        </a:rPr>
                        <m:t>𝑑𝑒𝑞𝑢𝑒𝑢𝑒</m:t>
                      </m:r>
                      <m:r>
                        <a:rPr lang="de-AT" b="0" i="1" dirty="0" smtClean="0">
                          <a:latin typeface="Cambria Math" panose="02040503050406030204" pitchFamily="18" charset="0"/>
                        </a:rPr>
                        <m:t>()</m:t>
                      </m:r>
                    </m:oMath>
                  </m:oMathPara>
                </a14:m>
                <a:endParaRPr lang="de-AT" dirty="0"/>
              </a:p>
              <a:p>
                <a:pPr/>
                <a14:m>
                  <m:oMathPara xmlns:m="http://schemas.openxmlformats.org/officeDocument/2006/math">
                    <m:oMathParaPr>
                      <m:jc m:val="centerGroup"/>
                    </m:oMathParaPr>
                    <m:oMath xmlns:m="http://schemas.openxmlformats.org/officeDocument/2006/math">
                      <m:r>
                        <a:rPr lang="de-AT" i="1" dirty="0" smtClean="0">
                          <a:latin typeface="Cambria Math" panose="02040503050406030204" pitchFamily="18" charset="0"/>
                        </a:rPr>
                        <m:t>𝑟</m:t>
                      </m:r>
                      <m:r>
                        <a:rPr lang="de-AT" i="1" dirty="0" err="1" smtClean="0">
                          <a:latin typeface="Cambria Math" panose="02040503050406030204" pitchFamily="18" charset="0"/>
                        </a:rPr>
                        <m:t>𝑒𝑡𝑢𝑟𝑛</m:t>
                      </m:r>
                      <m:r>
                        <a:rPr lang="de-AT" i="1" dirty="0" smtClean="0">
                          <a:latin typeface="Cambria Math" panose="02040503050406030204" pitchFamily="18" charset="0"/>
                        </a:rPr>
                        <m:t>:</m:t>
                      </m:r>
                      <m:r>
                        <a:rPr lang="de-AT" b="0" i="1" dirty="0" smtClean="0">
                          <a:latin typeface="Cambria Math" panose="02040503050406030204" pitchFamily="18" charset="0"/>
                        </a:rPr>
                        <m:t>9</m:t>
                      </m:r>
                    </m:oMath>
                  </m:oMathPara>
                </a14:m>
                <a:endParaRPr lang="de-AT" dirty="0"/>
              </a:p>
            </p:txBody>
          </p:sp>
        </mc:Choice>
        <mc:Fallback xmlns="">
          <p:sp>
            <p:nvSpPr>
              <p:cNvPr id="5" name="Rechteck 4">
                <a:extLst>
                  <a:ext uri="{FF2B5EF4-FFF2-40B4-BE49-F238E27FC236}">
                    <a16:creationId xmlns:a16="http://schemas.microsoft.com/office/drawing/2014/main" id="{AE8428C4-60C0-4B5C-B755-DA87ECC78120}"/>
                  </a:ext>
                </a:extLst>
              </p:cNvPr>
              <p:cNvSpPr>
                <a:spLocks noRot="1" noChangeAspect="1" noMove="1" noResize="1" noEditPoints="1" noAdjustHandles="1" noChangeArrowheads="1" noChangeShapeType="1" noTextEdit="1"/>
              </p:cNvSpPr>
              <p:nvPr/>
            </p:nvSpPr>
            <p:spPr>
              <a:xfrm>
                <a:off x="2463342" y="2379860"/>
                <a:ext cx="1229119" cy="523220"/>
              </a:xfrm>
              <a:prstGeom prst="rect">
                <a:avLst/>
              </a:prstGeom>
              <a:blipFill>
                <a:blip r:embed="rId3"/>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3688914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4449646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mc:AlternateContent xmlns:mc="http://schemas.openxmlformats.org/markup-compatibility/2006" xmlns:a14="http://schemas.microsoft.com/office/drawing/2010/main">
        <mc:Choice Requires="a14">
          <p:sp>
            <p:nvSpPr>
              <p:cNvPr id="4" name="Textfeld 2">
                <a:extLst>
                  <a:ext uri="{FF2B5EF4-FFF2-40B4-BE49-F238E27FC236}">
                    <a16:creationId xmlns:a16="http://schemas.microsoft.com/office/drawing/2014/main" id="{B1AB2DE2-BFB4-403B-9976-58C0812A00AF}"/>
                  </a:ext>
                </a:extLst>
              </p:cNvPr>
              <p:cNvSpPr txBox="1"/>
              <p:nvPr/>
            </p:nvSpPr>
            <p:spPr>
              <a:xfrm>
                <a:off x="457200" y="1605600"/>
                <a:ext cx="8229600" cy="1470980"/>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7: </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What values are returned during the following series of queue operations, if executed upon an initially empty queue? </a:t>
                </a:r>
                <a14:m>
                  <m:oMath xmlns:m="http://schemas.openxmlformats.org/officeDocument/2006/math">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𝑒𝑛𝑞𝑢𝑒𝑢𝑒</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(5) </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𝑒𝑛𝑞𝑢𝑒𝑢𝑒</m:t>
                    </m:r>
                    <m:d>
                      <m:dPr>
                        <m:ctrlP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ctrlPr>
                      </m:dPr>
                      <m:e>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3</m:t>
                        </m:r>
                      </m:e>
                    </m:d>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𝑑𝑒𝑞𝑢𝑒𝑢𝑒</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𝑒𝑛𝑞𝑢𝑒𝑢𝑒</m:t>
                    </m:r>
                    <m:d>
                      <m:dPr>
                        <m:ctrlP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ctrlPr>
                      </m:dPr>
                      <m:e>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2</m:t>
                        </m:r>
                      </m:e>
                    </m:d>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𝑒𝑛𝑞𝑢𝑒𝑢𝑒</m:t>
                    </m:r>
                    <m:d>
                      <m:dPr>
                        <m:ctrlP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ctrlPr>
                      </m:dPr>
                      <m:e>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8</m:t>
                        </m:r>
                      </m:e>
                    </m:d>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𝑑𝑒𝑞𝑢𝑒𝑢𝑒</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oMath>
                </a14:m>
                <a:endParaRPr kumimoji="0" lang="de-AT" sz="1800" i="1" u="none" strike="noStrike" kern="0" cap="none" spc="0" normalizeH="0" baseline="0" noProof="0" dirty="0">
                  <a:ln>
                    <a:noFill/>
                  </a:ln>
                  <a:solidFill>
                    <a:srgbClr val="000000"/>
                  </a:solidFill>
                  <a:effectLst/>
                  <a:uLnTx/>
                  <a:uFillTx/>
                  <a:latin typeface="Cambria Math" panose="02040503050406030204" pitchFamily="18" charset="0"/>
                  <a:cs typeface="Calibri" panose="020F0502020204030204" pitchFamily="34" charset="0"/>
                  <a:sym typeface="Arial"/>
                </a:endParaRPr>
              </a:p>
              <a:p>
                <a:pPr lvl="0">
                  <a:defRPr/>
                </a:pPr>
                <a14:m>
                  <m:oMathPara xmlns:m="http://schemas.openxmlformats.org/officeDocument/2006/math">
                    <m:oMathParaPr>
                      <m:jc m:val="left"/>
                    </m:oMathParaPr>
                    <m:oMath xmlns:m="http://schemas.openxmlformats.org/officeDocument/2006/math">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𝑑𝑒𝑞𝑢𝑒𝑢𝑒</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𝑒𝑛𝑞𝑢𝑒𝑢𝑒</m:t>
                      </m:r>
                      <m:d>
                        <m:dPr>
                          <m:ctrlP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ctrlPr>
                        </m:dPr>
                        <m:e>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9</m:t>
                          </m:r>
                        </m:e>
                      </m:d>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𝑒𝑛𝑞𝑢𝑒𝑢𝑒</m:t>
                      </m:r>
                      <m:d>
                        <m:dPr>
                          <m:ctrlP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ctrlPr>
                        </m:dPr>
                        <m:e>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1</m:t>
                          </m:r>
                        </m:e>
                      </m:d>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𝑑𝑒𝑞𝑢𝑒𝑢𝑒</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𝑒𝑛𝑞𝑢𝑒𝑢𝑒</m:t>
                      </m:r>
                      <m:d>
                        <m:dPr>
                          <m:ctrlP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ctrlPr>
                        </m:dPr>
                        <m:e>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7</m:t>
                          </m:r>
                        </m:e>
                      </m:d>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𝑒𝑛𝑞𝑢𝑒𝑢𝑒</m:t>
                      </m:r>
                      <m:d>
                        <m:dPr>
                          <m:ctrlP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ctrlPr>
                        </m:dPr>
                        <m:e>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6</m:t>
                          </m:r>
                        </m:e>
                      </m:d>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oMath>
                  </m:oMathPara>
                </a14:m>
                <a:endParaRPr kumimoji="0" lang="de-AT" sz="1800" i="1" u="none" strike="noStrike" kern="0" cap="none" spc="0" normalizeH="0" baseline="0" noProof="0" dirty="0">
                  <a:ln>
                    <a:noFill/>
                  </a:ln>
                  <a:solidFill>
                    <a:srgbClr val="000000"/>
                  </a:solidFill>
                  <a:effectLst/>
                  <a:uLnTx/>
                  <a:uFillTx/>
                  <a:latin typeface="Cambria Math" panose="02040503050406030204" pitchFamily="18" charset="0"/>
                  <a:cs typeface="Calibri" panose="020F0502020204030204" pitchFamily="34" charset="0"/>
                  <a:sym typeface="Arial"/>
                </a:endParaRPr>
              </a:p>
              <a:p>
                <a:pPr lvl="0">
                  <a:defRPr/>
                </a:pPr>
                <a14:m>
                  <m:oMath xmlns:m="http://schemas.openxmlformats.org/officeDocument/2006/math">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𝑑𝑒𝑞𝑢𝑒𝑢𝑒</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𝑑𝑒𝑞𝑢𝑒𝑢𝑒</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𝑒𝑛𝑞𝑢𝑒𝑢𝑒</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(4),</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𝑑𝑒𝑞𝑢𝑒𝑢𝑒</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𝑑𝑒𝑞𝑢𝑒𝑢𝑒</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a:t>
                </a:r>
                <a:endParaRPr lang="en-US" sz="1800" dirty="0">
                  <a:latin typeface="Calibri" panose="020F0502020204030204" pitchFamily="34" charset="0"/>
                  <a:cs typeface="Calibri" panose="020F0502020204030204" pitchFamily="34" charset="0"/>
                </a:endParaRPr>
              </a:p>
            </p:txBody>
          </p:sp>
        </mc:Choice>
        <mc:Fallback xmlns="">
          <p:sp>
            <p:nvSpPr>
              <p:cNvPr id="4" name="Textfeld 2">
                <a:extLst>
                  <a:ext uri="{FF2B5EF4-FFF2-40B4-BE49-F238E27FC236}">
                    <a16:creationId xmlns:a16="http://schemas.microsoft.com/office/drawing/2014/main" id="{B1AB2DE2-BFB4-403B-9976-58C0812A00AF}"/>
                  </a:ext>
                </a:extLst>
              </p:cNvPr>
              <p:cNvSpPr txBox="1">
                <a:spLocks noRot="1" noChangeAspect="1" noMove="1" noResize="1" noEditPoints="1" noAdjustHandles="1" noChangeArrowheads="1" noChangeShapeType="1" noTextEdit="1"/>
              </p:cNvSpPr>
              <p:nvPr/>
            </p:nvSpPr>
            <p:spPr>
              <a:xfrm>
                <a:off x="457200" y="1605600"/>
                <a:ext cx="8229600" cy="1470980"/>
              </a:xfrm>
              <a:prstGeom prst="rect">
                <a:avLst/>
              </a:prstGeom>
              <a:blipFill>
                <a:blip r:embed="rId3"/>
                <a:stretch>
                  <a:fillRect l="-593" t="-2066" b="-5785"/>
                </a:stretch>
              </a:blipFill>
            </p:spPr>
            <p:txBody>
              <a:bodyPr/>
              <a:lstStyle/>
              <a:p>
                <a:r>
                  <a:rPr lang="de-AT">
                    <a:noFill/>
                  </a:rPr>
                  <a:t> </a:t>
                </a:r>
              </a:p>
            </p:txBody>
          </p:sp>
        </mc:Fallback>
      </mc:AlternateContent>
    </p:spTree>
    <p:extLst>
      <p:ext uri="{BB962C8B-B14F-4D97-AF65-F5344CB8AC3E}">
        <p14:creationId xmlns:p14="http://schemas.microsoft.com/office/powerpoint/2010/main" val="34025909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Implementing queues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218009"/>
                <a:ext cx="8229300" cy="4421982"/>
              </a:xfrm>
            </p:spPr>
            <p:txBody>
              <a:bodyPr/>
              <a:lstStyle/>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We can implement a queue with a </a:t>
                </a:r>
                <a:r>
                  <a:rPr lang="en-GB" sz="1800" dirty="0">
                    <a:latin typeface="Calibri" panose="020F0502020204030204" pitchFamily="34" charset="0"/>
                    <a:ea typeface="Calibri" panose="020F0502020204030204" pitchFamily="34" charset="0"/>
                    <a:cs typeface="Calibri" panose="020F0502020204030204" pitchFamily="34" charset="0"/>
                  </a:rPr>
                  <a:t>P</a:t>
                </a:r>
                <a:r>
                  <a:rPr lang="de-AT" sz="1800" dirty="0">
                    <a:latin typeface="Calibri" panose="020F0502020204030204" pitchFamily="34" charset="0"/>
                    <a:ea typeface="Calibri" panose="020F0502020204030204" pitchFamily="34" charset="0"/>
                    <a:cs typeface="Calibri" panose="020F0502020204030204" pitchFamily="34" charset="0"/>
                  </a:rPr>
                  <a:t>ython list</a:t>
                </a: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Adding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element</a:t>
                </a:r>
                <a:r>
                  <a:rPr lang="de-AT" sz="1800" dirty="0">
                    <a:latin typeface="Calibri" panose="020F0502020204030204" pitchFamily="34" charset="0"/>
                    <a:ea typeface="Calibri" panose="020F0502020204030204" pitchFamily="34" charset="0"/>
                    <a:cs typeface="Calibri" panose="020F0502020204030204" pitchFamily="34" charset="0"/>
                  </a:rPr>
                  <a:t>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end </a:t>
                </a:r>
                <a:r>
                  <a:rPr lang="de-AT" sz="1800" dirty="0" err="1">
                    <a:latin typeface="Calibri" panose="020F0502020204030204" pitchFamily="34" charset="0"/>
                    <a:ea typeface="Calibri" panose="020F0502020204030204" pitchFamily="34" charset="0"/>
                    <a:cs typeface="Calibri" panose="020F0502020204030204" pitchFamily="34" charset="0"/>
                  </a:rPr>
                  <a:t>can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done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with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𝑎𝑝𝑝𝑒𝑛𝑑</m:t>
                    </m:r>
                  </m:oMath>
                </a14:m>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method</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Removing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first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element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can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done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with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𝑝𝑜𝑝</m:t>
                    </m:r>
                    <m:r>
                      <a:rPr lang="de-AT" sz="1800" b="0" i="1" dirty="0" smtClean="0">
                        <a:latin typeface="Cambria Math" panose="02040503050406030204" pitchFamily="18" charset="0"/>
                        <a:ea typeface="Calibri" panose="020F0502020204030204" pitchFamily="34" charset="0"/>
                        <a:cs typeface="Calibri" panose="020F0502020204030204" pitchFamily="34" charset="0"/>
                      </a:rPr>
                      <m:t>(0)</m:t>
                    </m:r>
                  </m:oMath>
                </a14:m>
                <a:r>
                  <a:rPr lang="de-AT" sz="1800" dirty="0">
                    <a:latin typeface="Calibri" panose="020F0502020204030204" pitchFamily="34" charset="0"/>
                    <a:ea typeface="Calibri" panose="020F0502020204030204" pitchFamily="34" charset="0"/>
                    <a:cs typeface="Calibri" panose="020F0502020204030204" pitchFamily="34" charset="0"/>
                  </a:rPr>
                  <a:t> method</a:t>
                </a:r>
              </a:p>
              <a:p>
                <a:pPr marL="857250" lvl="1"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However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would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inefficient</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𝑂</m:t>
                    </m:r>
                    <m:r>
                      <a:rPr lang="de-AT" sz="1800" i="1" dirty="0" smtClean="0">
                        <a:latin typeface="Cambria Math" panose="02040503050406030204" pitchFamily="18" charset="0"/>
                        <a:ea typeface="Calibri" panose="020F0502020204030204" pitchFamily="34" charset="0"/>
                        <a:cs typeface="Calibri" panose="020F0502020204030204" pitchFamily="34" charset="0"/>
                      </a:rPr>
                      <m:t>(</m:t>
                    </m:r>
                    <m:r>
                      <a:rPr lang="de-AT" sz="1800" i="1" dirty="0" smtClean="0">
                        <a:latin typeface="Cambria Math" panose="02040503050406030204" pitchFamily="18" charset="0"/>
                        <a:ea typeface="Calibri" panose="020F0502020204030204" pitchFamily="34" charset="0"/>
                        <a:cs typeface="Calibri" panose="020F0502020204030204" pitchFamily="34" charset="0"/>
                      </a:rPr>
                      <m:t>𝑛</m:t>
                    </m:r>
                    <m:r>
                      <a:rPr lang="de-AT"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1314450" lvl="2"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have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shift all </a:t>
                </a:r>
                <a:r>
                  <a:rPr lang="de-AT" sz="1800" dirty="0" err="1">
                    <a:latin typeface="Calibri" panose="020F0502020204030204" pitchFamily="34" charset="0"/>
                    <a:ea typeface="Calibri" panose="020F0502020204030204" pitchFamily="34" charset="0"/>
                    <a:cs typeface="Calibri" panose="020F0502020204030204" pitchFamily="34" charset="0"/>
                  </a:rPr>
                  <a:t>elements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left</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A </a:t>
                </a:r>
                <a:r>
                  <a:rPr lang="de-AT" sz="1800" dirty="0" err="1">
                    <a:latin typeface="Calibri" panose="020F0502020204030204" pitchFamily="34" charset="0"/>
                    <a:ea typeface="Calibri" panose="020F0502020204030204" pitchFamily="34" charset="0"/>
                    <a:cs typeface="Calibri" panose="020F0502020204030204" pitchFamily="34" charset="0"/>
                  </a:rPr>
                  <a:t>better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approach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replace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dequeued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element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with</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𝑁𝑜𝑛𝑒</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857250" lvl="1"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will </a:t>
                </a:r>
                <a:r>
                  <a:rPr lang="de-AT" sz="1800" dirty="0" err="1">
                    <a:latin typeface="Calibri" panose="020F0502020204030204" pitchFamily="34" charset="0"/>
                    <a:ea typeface="Calibri" panose="020F0502020204030204" pitchFamily="34" charset="0"/>
                    <a:cs typeface="Calibri" panose="020F0502020204030204" pitchFamily="34" charset="0"/>
                  </a:rPr>
                  <a:t>need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store</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reference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first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element</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However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enqueue</a:t>
                </a:r>
                <a:r>
                  <a:rPr lang="de-AT" sz="1800" dirty="0">
                    <a:latin typeface="Calibri" panose="020F0502020204030204" pitchFamily="34" charset="0"/>
                    <a:ea typeface="Calibri" panose="020F0502020204030204" pitchFamily="34" charset="0"/>
                    <a:cs typeface="Calibri" panose="020F0502020204030204" pitchFamily="34" charset="0"/>
                  </a:rPr>
                  <a:t> and </a:t>
                </a:r>
                <a:r>
                  <a:rPr lang="de-AT" sz="1800" dirty="0" err="1">
                    <a:latin typeface="Calibri" panose="020F0502020204030204" pitchFamily="34" charset="0"/>
                    <a:ea typeface="Calibri" panose="020F0502020204030204" pitchFamily="34" charset="0"/>
                    <a:cs typeface="Calibri" panose="020F0502020204030204" pitchFamily="34" charset="0"/>
                  </a:rPr>
                  <a:t>dequeue</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lot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elements</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857250" lvl="1"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will end </a:t>
                </a:r>
                <a:r>
                  <a:rPr lang="de-AT" sz="1800" dirty="0" err="1">
                    <a:latin typeface="Calibri" panose="020F0502020204030204" pitchFamily="34" charset="0"/>
                    <a:ea typeface="Calibri" panose="020F0502020204030204" pitchFamily="34" charset="0"/>
                    <a:cs typeface="Calibri" panose="020F0502020204030204" pitchFamily="34" charset="0"/>
                  </a:rPr>
                  <a:t>up</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with</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lot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None </a:t>
                </a:r>
                <a:r>
                  <a:rPr lang="de-AT" sz="1800" dirty="0" err="1">
                    <a:latin typeface="Calibri" panose="020F0502020204030204" pitchFamily="34" charset="0"/>
                    <a:ea typeface="Calibri" panose="020F0502020204030204" pitchFamily="34" charset="0"/>
                    <a:cs typeface="Calibri" panose="020F0502020204030204" pitchFamily="34" charset="0"/>
                  </a:rPr>
                  <a:t>elements</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857250" lvl="1"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This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inefficent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use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computer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memory</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will </a:t>
                </a:r>
                <a:r>
                  <a:rPr lang="de-AT" sz="1800" dirty="0" err="1">
                    <a:latin typeface="Calibri" panose="020F0502020204030204" pitchFamily="34" charset="0"/>
                    <a:ea typeface="Calibri" panose="020F0502020204030204" pitchFamily="34" charset="0"/>
                    <a:cs typeface="Calibri" panose="020F0502020204030204" pitchFamily="34" charset="0"/>
                  </a:rPr>
                  <a:t>use</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b="1" dirty="0" err="1">
                    <a:latin typeface="Calibri" panose="020F0502020204030204" pitchFamily="34" charset="0"/>
                    <a:ea typeface="Calibri" panose="020F0502020204030204" pitchFamily="34" charset="0"/>
                    <a:cs typeface="Calibri" panose="020F0502020204030204" pitchFamily="34" charset="0"/>
                  </a:rPr>
                  <a:t>circular</a:t>
                </a:r>
                <a:r>
                  <a:rPr lang="de-AT" sz="1800" b="1" dirty="0">
                    <a:latin typeface="Calibri" panose="020F0502020204030204" pitchFamily="34" charset="0"/>
                    <a:ea typeface="Calibri" panose="020F0502020204030204" pitchFamily="34" charset="0"/>
                    <a:cs typeface="Calibri" panose="020F0502020204030204" pitchFamily="34" charset="0"/>
                  </a:rPr>
                  <a:t> </a:t>
                </a:r>
                <a:r>
                  <a:rPr lang="de-AT" sz="1800" b="1" dirty="0" err="1">
                    <a:latin typeface="Calibri" panose="020F0502020204030204" pitchFamily="34" charset="0"/>
                    <a:ea typeface="Calibri" panose="020F0502020204030204" pitchFamily="34" charset="0"/>
                    <a:cs typeface="Calibri" panose="020F0502020204030204" pitchFamily="34" charset="0"/>
                  </a:rPr>
                  <a:t>array</a:t>
                </a:r>
                <a:r>
                  <a:rPr lang="de-AT" sz="1800" b="1"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solve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problem</a:t>
                </a:r>
                <a:endParaRPr lang="de-AT" sz="1800"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218009"/>
                <a:ext cx="8229300" cy="4421982"/>
              </a:xfrm>
              <a:blipFill>
                <a:blip r:embed="rId3"/>
                <a:stretch>
                  <a:fillRect t="-3152" b="-4585"/>
                </a:stretch>
              </a:blipFill>
            </p:spPr>
            <p:txBody>
              <a:bodyPr/>
              <a:lstStyle/>
              <a:p>
                <a:r>
                  <a:rPr lang="en-AT">
                    <a:noFill/>
                  </a:rPr>
                  <a:t> </a:t>
                </a:r>
              </a:p>
            </p:txBody>
          </p:sp>
        </mc:Fallback>
      </mc:AlternateContent>
      <p:graphicFrame>
        <p:nvGraphicFramePr>
          <p:cNvPr id="4" name="Tabelle 3">
            <a:extLst>
              <a:ext uri="{FF2B5EF4-FFF2-40B4-BE49-F238E27FC236}">
                <a16:creationId xmlns:a16="http://schemas.microsoft.com/office/drawing/2014/main" id="{D02D26E2-4F6B-43A4-A23B-A0BAC2E3B9B8}"/>
              </a:ext>
            </a:extLst>
          </p:cNvPr>
          <p:cNvGraphicFramePr>
            <a:graphicFrameLocks noGrp="1"/>
          </p:cNvGraphicFramePr>
          <p:nvPr>
            <p:extLst>
              <p:ext uri="{D42A27DB-BD31-4B8C-83A1-F6EECF244321}">
                <p14:modId xmlns:p14="http://schemas.microsoft.com/office/powerpoint/2010/main" val="3333707094"/>
              </p:ext>
            </p:extLst>
          </p:nvPr>
        </p:nvGraphicFramePr>
        <p:xfrm>
          <a:off x="4283075" y="5755684"/>
          <a:ext cx="4403425" cy="370840"/>
        </p:xfrm>
        <a:graphic>
          <a:graphicData uri="http://schemas.openxmlformats.org/drawingml/2006/table">
            <a:tbl>
              <a:tblPr firstRow="1" bandRow="1">
                <a:tableStyleId>{21E4AEA4-8DFA-4A89-87EB-49C32662AFE0}</a:tableStyleId>
              </a:tblPr>
              <a:tblGrid>
                <a:gridCol w="578005">
                  <a:extLst>
                    <a:ext uri="{9D8B030D-6E8A-4147-A177-3AD203B41FA5}">
                      <a16:colId xmlns:a16="http://schemas.microsoft.com/office/drawing/2014/main" val="2819438862"/>
                    </a:ext>
                  </a:extLst>
                </a:gridCol>
                <a:gridCol w="580500">
                  <a:extLst>
                    <a:ext uri="{9D8B030D-6E8A-4147-A177-3AD203B41FA5}">
                      <a16:colId xmlns:a16="http://schemas.microsoft.com/office/drawing/2014/main" val="1941964045"/>
                    </a:ext>
                  </a:extLst>
                </a:gridCol>
                <a:gridCol w="744855">
                  <a:extLst>
                    <a:ext uri="{9D8B030D-6E8A-4147-A177-3AD203B41FA5}">
                      <a16:colId xmlns:a16="http://schemas.microsoft.com/office/drawing/2014/main" val="2400113474"/>
                    </a:ext>
                  </a:extLst>
                </a:gridCol>
                <a:gridCol w="744855">
                  <a:extLst>
                    <a:ext uri="{9D8B030D-6E8A-4147-A177-3AD203B41FA5}">
                      <a16:colId xmlns:a16="http://schemas.microsoft.com/office/drawing/2014/main" val="883156179"/>
                    </a:ext>
                  </a:extLst>
                </a:gridCol>
                <a:gridCol w="585070">
                  <a:extLst>
                    <a:ext uri="{9D8B030D-6E8A-4147-A177-3AD203B41FA5}">
                      <a16:colId xmlns:a16="http://schemas.microsoft.com/office/drawing/2014/main" val="2515628111"/>
                    </a:ext>
                  </a:extLst>
                </a:gridCol>
                <a:gridCol w="585070">
                  <a:extLst>
                    <a:ext uri="{9D8B030D-6E8A-4147-A177-3AD203B41FA5}">
                      <a16:colId xmlns:a16="http://schemas.microsoft.com/office/drawing/2014/main" val="1043724596"/>
                    </a:ext>
                  </a:extLst>
                </a:gridCol>
                <a:gridCol w="585070">
                  <a:extLst>
                    <a:ext uri="{9D8B030D-6E8A-4147-A177-3AD203B41FA5}">
                      <a16:colId xmlns:a16="http://schemas.microsoft.com/office/drawing/2014/main" val="2696891068"/>
                    </a:ext>
                  </a:extLst>
                </a:gridCol>
              </a:tblGrid>
              <a:tr h="37084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12</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7</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None</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None</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10</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5</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6</a:t>
                      </a:r>
                    </a:p>
                  </a:txBody>
                  <a:tcPr>
                    <a:solidFill>
                      <a:srgbClr val="F8D7CD"/>
                    </a:solidFill>
                  </a:tcPr>
                </a:tc>
                <a:extLst>
                  <a:ext uri="{0D108BD9-81ED-4DB2-BD59-A6C34878D82A}">
                    <a16:rowId xmlns:a16="http://schemas.microsoft.com/office/drawing/2014/main" val="3905756574"/>
                  </a:ext>
                </a:extLst>
              </a:tr>
            </a:tbl>
          </a:graphicData>
        </a:graphic>
      </p:graphicFrame>
      <mc:AlternateContent xmlns:mc="http://schemas.openxmlformats.org/markup-compatibility/2006">
        <mc:Choice xmlns:a14="http://schemas.microsoft.com/office/drawing/2010/main" Requires="a14">
          <p:sp>
            <p:nvSpPr>
              <p:cNvPr id="5" name="Rechteck 4">
                <a:extLst>
                  <a:ext uri="{FF2B5EF4-FFF2-40B4-BE49-F238E27FC236}">
                    <a16:creationId xmlns:a16="http://schemas.microsoft.com/office/drawing/2014/main" id="{B9F0E579-EA59-4373-A06D-543449D3730F}"/>
                  </a:ext>
                </a:extLst>
              </p:cNvPr>
              <p:cNvSpPr/>
              <p:nvPr/>
            </p:nvSpPr>
            <p:spPr>
              <a:xfrm>
                <a:off x="6945184" y="6157518"/>
                <a:ext cx="633058"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de-AT" b="0" i="1" dirty="0" smtClean="0">
                          <a:latin typeface="Cambria Math" panose="02040503050406030204" pitchFamily="18" charset="0"/>
                        </a:rPr>
                        <m:t>𝑓𝑖𝑟𝑠𝑡</m:t>
                      </m:r>
                    </m:oMath>
                  </m:oMathPara>
                </a14:m>
                <a:endParaRPr lang="de-AT" dirty="0"/>
              </a:p>
            </p:txBody>
          </p:sp>
        </mc:Choice>
        <mc:Fallback>
          <p:sp>
            <p:nvSpPr>
              <p:cNvPr id="5" name="Rechteck 4">
                <a:extLst>
                  <a:ext uri="{FF2B5EF4-FFF2-40B4-BE49-F238E27FC236}">
                    <a16:creationId xmlns:a16="http://schemas.microsoft.com/office/drawing/2014/main" id="{B9F0E579-EA59-4373-A06D-543449D3730F}"/>
                  </a:ext>
                </a:extLst>
              </p:cNvPr>
              <p:cNvSpPr>
                <a:spLocks noRot="1" noChangeAspect="1" noMove="1" noResize="1" noEditPoints="1" noAdjustHandles="1" noChangeArrowheads="1" noChangeShapeType="1" noTextEdit="1"/>
              </p:cNvSpPr>
              <p:nvPr/>
            </p:nvSpPr>
            <p:spPr>
              <a:xfrm>
                <a:off x="6945184" y="6157518"/>
                <a:ext cx="633058" cy="307777"/>
              </a:xfrm>
              <a:prstGeom prst="rect">
                <a:avLst/>
              </a:prstGeom>
              <a:blipFill>
                <a:blip r:embed="rId4"/>
                <a:stretch>
                  <a:fillRect b="-11538"/>
                </a:stretch>
              </a:blipFill>
            </p:spPr>
            <p:txBody>
              <a:bodyPr/>
              <a:lstStyle/>
              <a:p>
                <a:r>
                  <a:rPr lang="en-AT">
                    <a:noFill/>
                  </a:rPr>
                  <a:t> </a:t>
                </a:r>
              </a:p>
            </p:txBody>
          </p:sp>
        </mc:Fallback>
      </mc:AlternateContent>
    </p:spTree>
    <p:extLst>
      <p:ext uri="{BB962C8B-B14F-4D97-AF65-F5344CB8AC3E}">
        <p14:creationId xmlns:p14="http://schemas.microsoft.com/office/powerpoint/2010/main" val="73219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Implementing queues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250156"/>
                <a:ext cx="8229300" cy="3779044"/>
              </a:xfrm>
            </p:spPr>
            <p:txBody>
              <a:bodyPr/>
              <a:lstStyle/>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To </a:t>
                </a:r>
                <a:r>
                  <a:rPr lang="de-AT" sz="1800" dirty="0" err="1">
                    <a:latin typeface="Calibri" panose="020F0502020204030204" pitchFamily="34" charset="0"/>
                    <a:ea typeface="Calibri" panose="020F0502020204030204" pitchFamily="34" charset="0"/>
                    <a:cs typeface="Calibri" panose="020F0502020204030204" pitchFamily="34" charset="0"/>
                  </a:rPr>
                  <a:t>implement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circular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array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will </a:t>
                </a:r>
                <a:r>
                  <a:rPr lang="de-AT" sz="1800" dirty="0" err="1">
                    <a:latin typeface="Calibri" panose="020F0502020204030204" pitchFamily="34" charset="0"/>
                    <a:ea typeface="Calibri" panose="020F0502020204030204" pitchFamily="34" charset="0"/>
                    <a:cs typeface="Calibri" panose="020F0502020204030204" pitchFamily="34" charset="0"/>
                  </a:rPr>
                  <a:t>use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modulo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arithmetic</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When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dequeue</a:t>
                </a:r>
                <a:r>
                  <a:rPr lang="de-AT" sz="1800" dirty="0">
                    <a:latin typeface="Calibri" panose="020F0502020204030204" pitchFamily="34" charset="0"/>
                    <a:ea typeface="Calibri" panose="020F0502020204030204" pitchFamily="34" charset="0"/>
                    <a:cs typeface="Calibri" panose="020F0502020204030204" pitchFamily="34" charset="0"/>
                  </a:rPr>
                  <a:t> an </a:t>
                </a:r>
                <a:r>
                  <a:rPr lang="de-AT" sz="1800" dirty="0" err="1">
                    <a:latin typeface="Calibri" panose="020F0502020204030204" pitchFamily="34" charset="0"/>
                    <a:ea typeface="Calibri" panose="020F0502020204030204" pitchFamily="34" charset="0"/>
                    <a:cs typeface="Calibri" panose="020F0502020204030204" pitchFamily="34" charset="0"/>
                  </a:rPr>
                  <a:t>element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will </a:t>
                </a:r>
                <a:r>
                  <a:rPr lang="de-AT" sz="1800" dirty="0" err="1">
                    <a:latin typeface="Calibri" panose="020F0502020204030204" pitchFamily="34" charset="0"/>
                    <a:ea typeface="Calibri" panose="020F0502020204030204" pitchFamily="34" charset="0"/>
                    <a:cs typeface="Calibri" panose="020F0502020204030204" pitchFamily="34" charset="0"/>
                  </a:rPr>
                  <a:t>advance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front </a:t>
                </a:r>
                <a:r>
                  <a:rPr lang="de-AT" sz="1800" dirty="0" err="1">
                    <a:latin typeface="Calibri" panose="020F0502020204030204" pitchFamily="34" charset="0"/>
                    <a:ea typeface="Calibri" panose="020F0502020204030204" pitchFamily="34" charset="0"/>
                    <a:cs typeface="Calibri" panose="020F0502020204030204" pitchFamily="34" charset="0"/>
                  </a:rPr>
                  <a:t>by</a:t>
                </a:r>
                <a:r>
                  <a:rPr lang="de-AT" sz="1800" dirty="0">
                    <a:latin typeface="Calibri" panose="020F0502020204030204" pitchFamily="34" charset="0"/>
                    <a:ea typeface="Calibri" panose="020F0502020204030204" pitchFamily="34" charset="0"/>
                    <a:cs typeface="Calibri" panose="020F0502020204030204" pitchFamily="34" charset="0"/>
                  </a:rPr>
                  <a:t>:</a:t>
                </a:r>
              </a:p>
              <a:p>
                <a:pPr marL="114300" indent="0">
                  <a:spcBef>
                    <a:spcPts val="600"/>
                  </a:spcBef>
                  <a:spcAft>
                    <a:spcPts val="600"/>
                  </a:spcAft>
                </a:pPr>
                <a14:m>
                  <m:oMathPara xmlns:m="http://schemas.openxmlformats.org/officeDocument/2006/math">
                    <m:oMathParaPr>
                      <m:jc m:val="centerGroup"/>
                    </m:oMathParaPr>
                    <m:oMath xmlns:m="http://schemas.openxmlformats.org/officeDocument/2006/math">
                      <m:r>
                        <a:rPr lang="de-AT" sz="1800" b="0" i="1" smtClean="0">
                          <a:latin typeface="Cambria Math" panose="02040503050406030204" pitchFamily="18" charset="0"/>
                          <a:ea typeface="Calibri" panose="020F0502020204030204" pitchFamily="34" charset="0"/>
                          <a:cs typeface="Calibri" panose="020F0502020204030204" pitchFamily="34" charset="0"/>
                        </a:rPr>
                        <m:t>𝑓𝑟𝑜𝑛𝑡</m:t>
                      </m:r>
                      <m:r>
                        <a:rPr lang="de-AT" sz="1800" b="0" i="1" smtClean="0">
                          <a:latin typeface="Cambria Math" panose="02040503050406030204" pitchFamily="18" charset="0"/>
                          <a:ea typeface="Calibri" panose="020F0502020204030204" pitchFamily="34" charset="0"/>
                          <a:cs typeface="Calibri" panose="020F0502020204030204" pitchFamily="34" charset="0"/>
                        </a:rPr>
                        <m:t>=</m:t>
                      </m:r>
                      <m:d>
                        <m:dPr>
                          <m:ctrlPr>
                            <a:rPr lang="de-AT" sz="1800" b="0" i="1" smtClean="0">
                              <a:latin typeface="Cambria Math" panose="02040503050406030204" pitchFamily="18" charset="0"/>
                              <a:ea typeface="Calibri" panose="020F0502020204030204" pitchFamily="34" charset="0"/>
                              <a:cs typeface="Calibri" panose="020F0502020204030204" pitchFamily="34" charset="0"/>
                            </a:rPr>
                          </m:ctrlPr>
                        </m:dPr>
                        <m:e>
                          <m:r>
                            <a:rPr lang="de-AT" sz="1800" b="0" i="1" smtClean="0">
                              <a:latin typeface="Cambria Math" panose="02040503050406030204" pitchFamily="18" charset="0"/>
                              <a:ea typeface="Calibri" panose="020F0502020204030204" pitchFamily="34" charset="0"/>
                              <a:cs typeface="Calibri" panose="020F0502020204030204" pitchFamily="34" charset="0"/>
                            </a:rPr>
                            <m:t>𝑓𝑟𝑜𝑛𝑡</m:t>
                          </m:r>
                          <m:r>
                            <a:rPr lang="de-AT" sz="1800" b="0" i="1" smtClean="0">
                              <a:latin typeface="Cambria Math" panose="02040503050406030204" pitchFamily="18" charset="0"/>
                              <a:ea typeface="Calibri" panose="020F0502020204030204" pitchFamily="34" charset="0"/>
                              <a:cs typeface="Calibri" panose="020F0502020204030204" pitchFamily="34" charset="0"/>
                            </a:rPr>
                            <m:t>+1</m:t>
                          </m:r>
                        </m:e>
                      </m:d>
                      <m:r>
                        <a:rPr lang="de-AT" sz="1800" b="0" i="1" smtClean="0">
                          <a:latin typeface="Cambria Math" panose="02040503050406030204" pitchFamily="18" charset="0"/>
                          <a:ea typeface="Calibri" panose="020F0502020204030204" pitchFamily="34" charset="0"/>
                          <a:cs typeface="Calibri" panose="020F0502020204030204" pitchFamily="34" charset="0"/>
                        </a:rPr>
                        <m:t> % </m:t>
                      </m:r>
                      <m:r>
                        <a:rPr lang="de-AT" sz="1800" b="0" i="1" smtClean="0">
                          <a:latin typeface="Cambria Math" panose="02040503050406030204" pitchFamily="18" charset="0"/>
                          <a:ea typeface="Calibri" panose="020F0502020204030204" pitchFamily="34" charset="0"/>
                          <a:cs typeface="Calibri" panose="020F0502020204030204" pitchFamily="34" charset="0"/>
                        </a:rPr>
                        <m:t>𝑛</m:t>
                      </m:r>
                    </m:oMath>
                  </m:oMathPara>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m:t>
                    </m:r>
                  </m:oMath>
                </a14:m>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modulo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remainder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operator</a:t>
                </a:r>
                <a:r>
                  <a:rPr lang="de-AT" sz="1800" dirty="0">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𝑛</m:t>
                    </m:r>
                  </m:oMath>
                </a14:m>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size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underlying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list</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For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example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suppose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have</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list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length</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10 </m:t>
                    </m:r>
                  </m:oMath>
                </a14:m>
                <a:r>
                  <a:rPr lang="de-AT" sz="1800" dirty="0">
                    <a:latin typeface="Calibri" panose="020F0502020204030204" pitchFamily="34" charset="0"/>
                    <a:ea typeface="Calibri" panose="020F0502020204030204" pitchFamily="34" charset="0"/>
                    <a:cs typeface="Calibri" panose="020F0502020204030204" pitchFamily="34" charset="0"/>
                  </a:rPr>
                  <a:t>and a front </a:t>
                </a:r>
                <a:r>
                  <a:rPr lang="de-AT" sz="1800" dirty="0" err="1">
                    <a:latin typeface="Calibri" panose="020F0502020204030204" pitchFamily="34" charset="0"/>
                    <a:ea typeface="Calibri" panose="020F0502020204030204" pitchFamily="34" charset="0"/>
                    <a:cs typeface="Calibri" panose="020F0502020204030204" pitchFamily="34" charset="0"/>
                  </a:rPr>
                  <a:t>index</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7</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Then</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(7 + 1) % 10 </m:t>
                    </m:r>
                  </m:oMath>
                </a14:m>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8</m:t>
                    </m:r>
                  </m:oMath>
                </a14:m>
                <a:r>
                  <a:rPr lang="de-AT" sz="1800" dirty="0">
                    <a:latin typeface="Calibri" panose="020F0502020204030204" pitchFamily="34" charset="0"/>
                    <a:ea typeface="Calibri" panose="020F0502020204030204" pitchFamily="34" charset="0"/>
                    <a:cs typeface="Calibri" panose="020F0502020204030204" pitchFamily="34" charset="0"/>
                  </a:rPr>
                  <a:t> and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advance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front </a:t>
                </a:r>
                <a:r>
                  <a:rPr lang="de-AT" sz="1800" dirty="0" err="1">
                    <a:latin typeface="Calibri" panose="020F0502020204030204" pitchFamily="34" charset="0"/>
                    <a:ea typeface="Calibri" panose="020F0502020204030204" pitchFamily="34" charset="0"/>
                    <a:cs typeface="Calibri" panose="020F0502020204030204" pitchFamily="34" charset="0"/>
                  </a:rPr>
                  <a:t>by</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1</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Suppose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that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front </a:t>
                </a:r>
                <a:r>
                  <a:rPr lang="de-AT" sz="1800" dirty="0" err="1">
                    <a:latin typeface="Calibri" panose="020F0502020204030204" pitchFamily="34" charset="0"/>
                    <a:ea typeface="Calibri" panose="020F0502020204030204" pitchFamily="34" charset="0"/>
                    <a:cs typeface="Calibri" panose="020F0502020204030204" pitchFamily="34" charset="0"/>
                  </a:rPr>
                  <a:t>index</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9</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Then</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(9 + 1) % 10 </m:t>
                    </m:r>
                  </m:oMath>
                </a14:m>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0</m:t>
                    </m:r>
                  </m:oMath>
                </a14:m>
                <a:r>
                  <a:rPr lang="de-AT" sz="1800" dirty="0">
                    <a:latin typeface="Calibri" panose="020F0502020204030204" pitchFamily="34" charset="0"/>
                    <a:ea typeface="Calibri" panose="020F0502020204030204" pitchFamily="34" charset="0"/>
                    <a:cs typeface="Calibri" panose="020F0502020204030204" pitchFamily="34" charset="0"/>
                  </a:rPr>
                  <a:t> and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insert</a:t>
                </a:r>
                <a:r>
                  <a:rPr lang="de-AT" sz="1800" dirty="0">
                    <a:latin typeface="Calibri" panose="020F0502020204030204" pitchFamily="34" charset="0"/>
                    <a:ea typeface="Calibri" panose="020F0502020204030204" pitchFamily="34" charset="0"/>
                    <a:cs typeface="Calibri" panose="020F0502020204030204" pitchFamily="34" charset="0"/>
                  </a:rPr>
                  <a:t>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beginning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list</a:t>
                </a:r>
                <a:r>
                  <a:rPr lang="de-AT" sz="1800" dirty="0">
                    <a:latin typeface="Calibri" panose="020F0502020204030204" pitchFamily="34" charset="0"/>
                    <a:ea typeface="Calibri" panose="020F0502020204030204" pitchFamily="34" charset="0"/>
                    <a:cs typeface="Calibri" panose="020F0502020204030204" pitchFamily="34" charset="0"/>
                  </a:rPr>
                  <a:t> in a </a:t>
                </a:r>
                <a:r>
                  <a:rPr lang="de-AT" sz="1800" dirty="0" err="1">
                    <a:latin typeface="Calibri" panose="020F0502020204030204" pitchFamily="34" charset="0"/>
                    <a:ea typeface="Calibri" panose="020F0502020204030204" pitchFamily="34" charset="0"/>
                    <a:cs typeface="Calibri" panose="020F0502020204030204" pitchFamily="34" charset="0"/>
                  </a:rPr>
                  <a:t>circular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way</a:t>
                </a:r>
                <a:endParaRPr lang="de-AT"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250156"/>
                <a:ext cx="8229300" cy="3779044"/>
              </a:xfrm>
              <a:blipFill>
                <a:blip r:embed="rId3"/>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28630979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Adapting lists to represent queues</a:t>
            </a:r>
            <a:endParaRPr lang="en-US" sz="2800" b="1" noProof="0" dirty="0">
              <a:latin typeface="Calibri" panose="020F0502020204030204" pitchFamily="34" charset="0"/>
              <a:cs typeface="Calibri" panose="020F0502020204030204" pitchFamily="34" charset="0"/>
            </a:endParaRPr>
          </a:p>
        </p:txBody>
      </p:sp>
      <p:sp>
        <p:nvSpPr>
          <p:cNvPr id="8" name="Rechteck 7">
            <a:extLst>
              <a:ext uri="{FF2B5EF4-FFF2-40B4-BE49-F238E27FC236}">
                <a16:creationId xmlns:a16="http://schemas.microsoft.com/office/drawing/2014/main" id="{9197E0F5-82C1-49E2-940A-01517E9E4395}"/>
              </a:ext>
            </a:extLst>
          </p:cNvPr>
          <p:cNvSpPr/>
          <p:nvPr/>
        </p:nvSpPr>
        <p:spPr>
          <a:xfrm>
            <a:off x="653859" y="1296384"/>
            <a:ext cx="8279306" cy="4707731"/>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z="1200" spc="-1" dirty="0">
                <a:solidFill>
                  <a:srgbClr val="0F0F0F"/>
                </a:solidFill>
                <a:latin typeface="Consolas" panose="020B0609020204030204" pitchFamily="49" charset="0"/>
              </a:rPr>
              <a:t>class Queue:</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DEFAULT_CAPACITY = 10</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def __</a:t>
            </a:r>
            <a:r>
              <a:rPr lang="en-US" sz="1200" spc="-1" dirty="0" err="1">
                <a:solidFill>
                  <a:srgbClr val="0F0F0F"/>
                </a:solidFill>
                <a:latin typeface="Consolas" panose="020B0609020204030204" pitchFamily="49" charset="0"/>
              </a:rPr>
              <a:t>init</a:t>
            </a:r>
            <a:r>
              <a:rPr lang="en-US" sz="1200" spc="-1" dirty="0">
                <a:solidFill>
                  <a:srgbClr val="0F0F0F"/>
                </a:solidFill>
                <a:latin typeface="Consolas" panose="020B0609020204030204" pitchFamily="49" charset="0"/>
              </a:rPr>
              <a:t>__(self):</a:t>
            </a: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self._data</a:t>
            </a:r>
            <a:r>
              <a:rPr lang="en-US" sz="1200" spc="-1" dirty="0">
                <a:solidFill>
                  <a:srgbClr val="0F0F0F"/>
                </a:solidFill>
                <a:latin typeface="Consolas" panose="020B0609020204030204" pitchFamily="49" charset="0"/>
              </a:rPr>
              <a:t> = [None] * </a:t>
            </a:r>
            <a:r>
              <a:rPr lang="en-US" sz="1200" spc="-1" dirty="0" err="1">
                <a:solidFill>
                  <a:srgbClr val="0F0F0F"/>
                </a:solidFill>
                <a:latin typeface="Consolas" panose="020B0609020204030204" pitchFamily="49" charset="0"/>
              </a:rPr>
              <a:t>Queue.DEFAULT_CAPACITY</a:t>
            </a:r>
            <a:endParaRPr lang="en-US" sz="1200" spc="-1" dirty="0">
              <a:solidFill>
                <a:srgbClr val="0F0F0F"/>
              </a:solidFill>
              <a:latin typeface="Consolas" panose="020B0609020204030204" pitchFamily="49" charset="0"/>
            </a:endParaRP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self._size</a:t>
            </a:r>
            <a:r>
              <a:rPr lang="en-US" sz="1200" spc="-1" dirty="0">
                <a:solidFill>
                  <a:srgbClr val="0F0F0F"/>
                </a:solidFill>
                <a:latin typeface="Consolas" panose="020B0609020204030204" pitchFamily="49" charset="0"/>
              </a:rPr>
              <a:t> = 0</a:t>
            </a: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self._front</a:t>
            </a:r>
            <a:r>
              <a:rPr lang="en-US" sz="1200" spc="-1" dirty="0">
                <a:solidFill>
                  <a:srgbClr val="0F0F0F"/>
                </a:solidFill>
                <a:latin typeface="Consolas" panose="020B0609020204030204" pitchFamily="49" charset="0"/>
              </a:rPr>
              <a:t> = 0</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def __</a:t>
            </a:r>
            <a:r>
              <a:rPr lang="en-US" sz="1200" spc="-1" dirty="0" err="1">
                <a:solidFill>
                  <a:srgbClr val="0F0F0F"/>
                </a:solidFill>
                <a:latin typeface="Consolas" panose="020B0609020204030204" pitchFamily="49" charset="0"/>
              </a:rPr>
              <a:t>len</a:t>
            </a:r>
            <a:r>
              <a:rPr lang="en-US" sz="1200" spc="-1" dirty="0">
                <a:solidFill>
                  <a:srgbClr val="0F0F0F"/>
                </a:solidFill>
                <a:latin typeface="Consolas" panose="020B0609020204030204" pitchFamily="49" charset="0"/>
              </a:rPr>
              <a:t>__(self):</a:t>
            </a:r>
          </a:p>
          <a:p>
            <a:r>
              <a:rPr lang="en-US" sz="1200" spc="-1" dirty="0">
                <a:solidFill>
                  <a:srgbClr val="0F0F0F"/>
                </a:solidFill>
                <a:latin typeface="Consolas" panose="020B0609020204030204" pitchFamily="49" charset="0"/>
              </a:rPr>
              <a:t>        return </a:t>
            </a:r>
            <a:r>
              <a:rPr lang="en-US" sz="1200" spc="-1" dirty="0" err="1">
                <a:solidFill>
                  <a:srgbClr val="0F0F0F"/>
                </a:solidFill>
                <a:latin typeface="Consolas" panose="020B0609020204030204" pitchFamily="49" charset="0"/>
              </a:rPr>
              <a:t>self._size</a:t>
            </a:r>
            <a:endParaRPr lang="en-US" sz="1200" spc="-1" dirty="0">
              <a:solidFill>
                <a:srgbClr val="0F0F0F"/>
              </a:solidFill>
              <a:latin typeface="Consolas" panose="020B0609020204030204" pitchFamily="49" charset="0"/>
            </a:endParaRP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def </a:t>
            </a:r>
            <a:r>
              <a:rPr lang="en-US" sz="1200" spc="-1" dirty="0" err="1">
                <a:solidFill>
                  <a:srgbClr val="0F0F0F"/>
                </a:solidFill>
                <a:latin typeface="Consolas" panose="020B0609020204030204" pitchFamily="49" charset="0"/>
              </a:rPr>
              <a:t>is_empty</a:t>
            </a:r>
            <a:r>
              <a:rPr lang="en-US" sz="1200" spc="-1" dirty="0">
                <a:solidFill>
                  <a:srgbClr val="0F0F0F"/>
                </a:solidFill>
                <a:latin typeface="Consolas" panose="020B0609020204030204" pitchFamily="49" charset="0"/>
              </a:rPr>
              <a:t>(self):</a:t>
            </a:r>
          </a:p>
          <a:p>
            <a:r>
              <a:rPr lang="en-US" sz="1200" spc="-1" dirty="0">
                <a:solidFill>
                  <a:srgbClr val="0F0F0F"/>
                </a:solidFill>
                <a:latin typeface="Consolas" panose="020B0609020204030204" pitchFamily="49" charset="0"/>
              </a:rPr>
              <a:t>        return </a:t>
            </a:r>
            <a:r>
              <a:rPr lang="en-US" sz="1200" spc="-1" dirty="0" err="1">
                <a:solidFill>
                  <a:srgbClr val="0F0F0F"/>
                </a:solidFill>
                <a:latin typeface="Consolas" panose="020B0609020204030204" pitchFamily="49" charset="0"/>
              </a:rPr>
              <a:t>self._size</a:t>
            </a:r>
            <a:r>
              <a:rPr lang="en-US" sz="1200" spc="-1" dirty="0">
                <a:solidFill>
                  <a:srgbClr val="0F0F0F"/>
                </a:solidFill>
                <a:latin typeface="Consolas" panose="020B0609020204030204" pitchFamily="49" charset="0"/>
              </a:rPr>
              <a:t> == 0</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def first(self):</a:t>
            </a:r>
          </a:p>
          <a:p>
            <a:r>
              <a:rPr lang="en-US" sz="1200" spc="-1" dirty="0">
                <a:solidFill>
                  <a:srgbClr val="0F0F0F"/>
                </a:solidFill>
                <a:latin typeface="Consolas" panose="020B0609020204030204" pitchFamily="49" charset="0"/>
              </a:rPr>
              <a:t>        if </a:t>
            </a:r>
            <a:r>
              <a:rPr lang="en-US" sz="1200" spc="-1" dirty="0" err="1">
                <a:solidFill>
                  <a:srgbClr val="0F0F0F"/>
                </a:solidFill>
                <a:latin typeface="Consolas" panose="020B0609020204030204" pitchFamily="49" charset="0"/>
              </a:rPr>
              <a:t>self.is_empty</a:t>
            </a:r>
            <a:r>
              <a:rPr lang="en-US" sz="1200" spc="-1" dirty="0">
                <a:solidFill>
                  <a:srgbClr val="0F0F0F"/>
                </a:solidFill>
                <a:latin typeface="Consolas" panose="020B0609020204030204" pitchFamily="49" charset="0"/>
              </a:rPr>
              <a:t>():</a:t>
            </a:r>
          </a:p>
          <a:p>
            <a:r>
              <a:rPr lang="en-US" sz="1200" spc="-1" dirty="0">
                <a:solidFill>
                  <a:srgbClr val="0F0F0F"/>
                </a:solidFill>
                <a:latin typeface="Consolas" panose="020B0609020204030204" pitchFamily="49" charset="0"/>
              </a:rPr>
              <a:t>            raise Empty('Queue is empty')</a:t>
            </a:r>
          </a:p>
          <a:p>
            <a:r>
              <a:rPr lang="en-US" sz="1200" spc="-1" dirty="0">
                <a:solidFill>
                  <a:srgbClr val="0F0F0F"/>
                </a:solidFill>
                <a:latin typeface="Consolas" panose="020B0609020204030204" pitchFamily="49" charset="0"/>
              </a:rPr>
              <a:t>        return </a:t>
            </a:r>
            <a:r>
              <a:rPr lang="en-US" sz="1200" spc="-1" dirty="0" err="1">
                <a:solidFill>
                  <a:srgbClr val="0F0F0F"/>
                </a:solidFill>
                <a:latin typeface="Consolas" panose="020B0609020204030204" pitchFamily="49" charset="0"/>
              </a:rPr>
              <a:t>self._data</a:t>
            </a:r>
            <a:r>
              <a:rPr lang="en-US" sz="1200" spc="-1" dirty="0">
                <a:solidFill>
                  <a:srgbClr val="0F0F0F"/>
                </a:solidFill>
                <a:latin typeface="Consolas" panose="020B0609020204030204" pitchFamily="49" charset="0"/>
              </a:rPr>
              <a:t>[</a:t>
            </a:r>
            <a:r>
              <a:rPr lang="en-US" sz="1200" spc="-1" dirty="0" err="1">
                <a:solidFill>
                  <a:srgbClr val="0F0F0F"/>
                </a:solidFill>
                <a:latin typeface="Consolas" panose="020B0609020204030204" pitchFamily="49" charset="0"/>
              </a:rPr>
              <a:t>self._front</a:t>
            </a:r>
            <a:r>
              <a:rPr lang="en-US" sz="1200" spc="-1" dirty="0">
                <a:solidFill>
                  <a:srgbClr val="0F0F0F"/>
                </a:solidFill>
                <a:latin typeface="Consolas" panose="020B0609020204030204" pitchFamily="49" charset="0"/>
              </a:rPr>
              <a:t>]</a:t>
            </a:r>
          </a:p>
        </p:txBody>
      </p:sp>
    </p:spTree>
    <p:extLst>
      <p:ext uri="{BB962C8B-B14F-4D97-AF65-F5344CB8AC3E}">
        <p14:creationId xmlns:p14="http://schemas.microsoft.com/office/powerpoint/2010/main" val="4699987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Adapting lists to represent queues</a:t>
            </a:r>
            <a:endParaRPr lang="en-US" sz="2800" b="1" noProof="0" dirty="0">
              <a:latin typeface="Calibri" panose="020F0502020204030204" pitchFamily="34" charset="0"/>
              <a:cs typeface="Calibri" panose="020F0502020204030204" pitchFamily="34" charset="0"/>
            </a:endParaRPr>
          </a:p>
        </p:txBody>
      </p:sp>
      <p:sp>
        <p:nvSpPr>
          <p:cNvPr id="8" name="Rechteck 7">
            <a:extLst>
              <a:ext uri="{FF2B5EF4-FFF2-40B4-BE49-F238E27FC236}">
                <a16:creationId xmlns:a16="http://schemas.microsoft.com/office/drawing/2014/main" id="{9197E0F5-82C1-49E2-940A-01517E9E4395}"/>
              </a:ext>
            </a:extLst>
          </p:cNvPr>
          <p:cNvSpPr/>
          <p:nvPr/>
        </p:nvSpPr>
        <p:spPr>
          <a:xfrm>
            <a:off x="664370" y="1418400"/>
            <a:ext cx="8279306" cy="3125025"/>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def dequeue(self):</a:t>
            </a:r>
          </a:p>
          <a:p>
            <a:r>
              <a:rPr lang="en-US" sz="1200" spc="-1" dirty="0">
                <a:solidFill>
                  <a:srgbClr val="0F0F0F"/>
                </a:solidFill>
                <a:latin typeface="Consolas" panose="020B0609020204030204" pitchFamily="49" charset="0"/>
              </a:rPr>
              <a:t>        e = </a:t>
            </a:r>
            <a:r>
              <a:rPr lang="en-US" sz="1200" spc="-1" dirty="0" err="1">
                <a:solidFill>
                  <a:srgbClr val="0F0F0F"/>
                </a:solidFill>
                <a:latin typeface="Consolas" panose="020B0609020204030204" pitchFamily="49" charset="0"/>
              </a:rPr>
              <a:t>self.first</a:t>
            </a:r>
            <a:r>
              <a:rPr lang="en-US" sz="1200" spc="-1" dirty="0">
                <a:solidFill>
                  <a:srgbClr val="0F0F0F"/>
                </a:solidFill>
                <a:latin typeface="Consolas" panose="020B0609020204030204" pitchFamily="49" charset="0"/>
              </a:rPr>
              <a:t>()</a:t>
            </a: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self._data</a:t>
            </a:r>
            <a:r>
              <a:rPr lang="en-US" sz="1200" spc="-1" dirty="0">
                <a:solidFill>
                  <a:srgbClr val="0F0F0F"/>
                </a:solidFill>
                <a:latin typeface="Consolas" panose="020B0609020204030204" pitchFamily="49" charset="0"/>
              </a:rPr>
              <a:t>[</a:t>
            </a:r>
            <a:r>
              <a:rPr lang="en-US" sz="1200" spc="-1" dirty="0" err="1">
                <a:solidFill>
                  <a:srgbClr val="0F0F0F"/>
                </a:solidFill>
                <a:latin typeface="Consolas" panose="020B0609020204030204" pitchFamily="49" charset="0"/>
              </a:rPr>
              <a:t>self._front</a:t>
            </a:r>
            <a:r>
              <a:rPr lang="en-US" sz="1200" spc="-1" dirty="0">
                <a:solidFill>
                  <a:srgbClr val="0F0F0F"/>
                </a:solidFill>
                <a:latin typeface="Consolas" panose="020B0609020204030204" pitchFamily="49" charset="0"/>
              </a:rPr>
              <a:t>] = None</a:t>
            </a: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self._front</a:t>
            </a:r>
            <a:r>
              <a:rPr lang="en-US" sz="1200" spc="-1" dirty="0">
                <a:solidFill>
                  <a:srgbClr val="0F0F0F"/>
                </a:solidFill>
                <a:latin typeface="Consolas" panose="020B0609020204030204" pitchFamily="49" charset="0"/>
              </a:rPr>
              <a:t> = (</a:t>
            </a:r>
            <a:r>
              <a:rPr lang="en-US" sz="1200" spc="-1" dirty="0" err="1">
                <a:solidFill>
                  <a:srgbClr val="0F0F0F"/>
                </a:solidFill>
                <a:latin typeface="Consolas" panose="020B0609020204030204" pitchFamily="49" charset="0"/>
              </a:rPr>
              <a:t>self._front</a:t>
            </a:r>
            <a:r>
              <a:rPr lang="en-US" sz="1200" spc="-1" dirty="0">
                <a:solidFill>
                  <a:srgbClr val="0F0F0F"/>
                </a:solidFill>
                <a:latin typeface="Consolas" panose="020B0609020204030204" pitchFamily="49" charset="0"/>
              </a:rPr>
              <a:t> + 1) % </a:t>
            </a:r>
            <a:r>
              <a:rPr lang="en-US" sz="1200" spc="-1" dirty="0" err="1">
                <a:solidFill>
                  <a:srgbClr val="0F0F0F"/>
                </a:solidFill>
                <a:latin typeface="Consolas" panose="020B0609020204030204" pitchFamily="49" charset="0"/>
              </a:rPr>
              <a:t>len</a:t>
            </a:r>
            <a:r>
              <a:rPr lang="en-US" sz="1200" spc="-1" dirty="0">
                <a:solidFill>
                  <a:srgbClr val="0F0F0F"/>
                </a:solidFill>
                <a:latin typeface="Consolas" panose="020B0609020204030204" pitchFamily="49" charset="0"/>
              </a:rPr>
              <a:t>(</a:t>
            </a:r>
            <a:r>
              <a:rPr lang="en-US" sz="1200" spc="-1" dirty="0" err="1">
                <a:solidFill>
                  <a:srgbClr val="0F0F0F"/>
                </a:solidFill>
                <a:latin typeface="Consolas" panose="020B0609020204030204" pitchFamily="49" charset="0"/>
              </a:rPr>
              <a:t>self._data</a:t>
            </a:r>
            <a:r>
              <a:rPr lang="en-US" sz="1200" spc="-1" dirty="0">
                <a:solidFill>
                  <a:srgbClr val="0F0F0F"/>
                </a:solidFill>
                <a:latin typeface="Consolas" panose="020B0609020204030204" pitchFamily="49" charset="0"/>
              </a:rPr>
              <a:t>)</a:t>
            </a: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self._size</a:t>
            </a:r>
            <a:r>
              <a:rPr lang="en-US" sz="1200" spc="-1" dirty="0">
                <a:solidFill>
                  <a:srgbClr val="0F0F0F"/>
                </a:solidFill>
                <a:latin typeface="Consolas" panose="020B0609020204030204" pitchFamily="49" charset="0"/>
              </a:rPr>
              <a:t> -= 1</a:t>
            </a:r>
          </a:p>
          <a:p>
            <a:r>
              <a:rPr lang="en-US" sz="1200" spc="-1" dirty="0">
                <a:solidFill>
                  <a:srgbClr val="0F0F0F"/>
                </a:solidFill>
                <a:latin typeface="Consolas" panose="020B0609020204030204" pitchFamily="49" charset="0"/>
              </a:rPr>
              <a:t>        return e</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def enqueue(self, e):</a:t>
            </a:r>
          </a:p>
          <a:p>
            <a:r>
              <a:rPr lang="en-US" sz="1200" spc="-1" dirty="0">
                <a:solidFill>
                  <a:srgbClr val="0F0F0F"/>
                </a:solidFill>
                <a:latin typeface="Consolas" panose="020B0609020204030204" pitchFamily="49" charset="0"/>
              </a:rPr>
              <a:t>        if </a:t>
            </a:r>
            <a:r>
              <a:rPr lang="en-US" sz="1200" spc="-1" dirty="0" err="1">
                <a:solidFill>
                  <a:srgbClr val="0F0F0F"/>
                </a:solidFill>
                <a:latin typeface="Consolas" panose="020B0609020204030204" pitchFamily="49" charset="0"/>
              </a:rPr>
              <a:t>self._size</a:t>
            </a:r>
            <a:r>
              <a:rPr lang="en-US" sz="1200" spc="-1" dirty="0">
                <a:solidFill>
                  <a:srgbClr val="0F0F0F"/>
                </a:solidFill>
                <a:latin typeface="Consolas" panose="020B0609020204030204" pitchFamily="49" charset="0"/>
              </a:rPr>
              <a:t> == </a:t>
            </a:r>
            <a:r>
              <a:rPr lang="en-US" sz="1200" spc="-1" dirty="0" err="1">
                <a:solidFill>
                  <a:srgbClr val="0F0F0F"/>
                </a:solidFill>
                <a:latin typeface="Consolas" panose="020B0609020204030204" pitchFamily="49" charset="0"/>
              </a:rPr>
              <a:t>len</a:t>
            </a:r>
            <a:r>
              <a:rPr lang="en-US" sz="1200" spc="-1" dirty="0">
                <a:solidFill>
                  <a:srgbClr val="0F0F0F"/>
                </a:solidFill>
                <a:latin typeface="Consolas" panose="020B0609020204030204" pitchFamily="49" charset="0"/>
              </a:rPr>
              <a:t>(</a:t>
            </a:r>
            <a:r>
              <a:rPr lang="en-US" sz="1200" spc="-1" dirty="0" err="1">
                <a:solidFill>
                  <a:srgbClr val="0F0F0F"/>
                </a:solidFill>
                <a:latin typeface="Consolas" panose="020B0609020204030204" pitchFamily="49" charset="0"/>
              </a:rPr>
              <a:t>self._data</a:t>
            </a:r>
            <a:r>
              <a:rPr lang="en-US" sz="1200" spc="-1" dirty="0">
                <a:solidFill>
                  <a:srgbClr val="0F0F0F"/>
                </a:solidFill>
                <a:latin typeface="Consolas" panose="020B0609020204030204" pitchFamily="49" charset="0"/>
              </a:rPr>
              <a:t>):</a:t>
            </a: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self._resize</a:t>
            </a:r>
            <a:r>
              <a:rPr lang="en-US" sz="1200" spc="-1" dirty="0">
                <a:solidFill>
                  <a:srgbClr val="0F0F0F"/>
                </a:solidFill>
                <a:latin typeface="Consolas" panose="020B0609020204030204" pitchFamily="49" charset="0"/>
              </a:rPr>
              <a:t>(2 * </a:t>
            </a:r>
            <a:r>
              <a:rPr lang="en-US" sz="1200" spc="-1" dirty="0" err="1">
                <a:solidFill>
                  <a:srgbClr val="0F0F0F"/>
                </a:solidFill>
                <a:latin typeface="Consolas" panose="020B0609020204030204" pitchFamily="49" charset="0"/>
              </a:rPr>
              <a:t>len</a:t>
            </a:r>
            <a:r>
              <a:rPr lang="en-US" sz="1200" spc="-1" dirty="0">
                <a:solidFill>
                  <a:srgbClr val="0F0F0F"/>
                </a:solidFill>
                <a:latin typeface="Consolas" panose="020B0609020204030204" pitchFamily="49" charset="0"/>
              </a:rPr>
              <a:t>(</a:t>
            </a:r>
            <a:r>
              <a:rPr lang="en-US" sz="1200" spc="-1" dirty="0" err="1">
                <a:solidFill>
                  <a:srgbClr val="0F0F0F"/>
                </a:solidFill>
                <a:latin typeface="Consolas" panose="020B0609020204030204" pitchFamily="49" charset="0"/>
              </a:rPr>
              <a:t>self._data</a:t>
            </a:r>
            <a:r>
              <a:rPr lang="en-US" sz="1200" spc="-1" dirty="0">
                <a:solidFill>
                  <a:srgbClr val="0F0F0F"/>
                </a:solidFill>
                <a:latin typeface="Consolas" panose="020B0609020204030204" pitchFamily="49" charset="0"/>
              </a:rPr>
              <a:t>))</a:t>
            </a:r>
          </a:p>
          <a:p>
            <a:r>
              <a:rPr lang="en-US" sz="1200" spc="-1" dirty="0">
                <a:solidFill>
                  <a:srgbClr val="0F0F0F"/>
                </a:solidFill>
                <a:latin typeface="Consolas" panose="020B0609020204030204" pitchFamily="49" charset="0"/>
              </a:rPr>
              <a:t>        back = (</a:t>
            </a:r>
            <a:r>
              <a:rPr lang="en-US" sz="1200" spc="-1" dirty="0" err="1">
                <a:solidFill>
                  <a:srgbClr val="0F0F0F"/>
                </a:solidFill>
                <a:latin typeface="Consolas" panose="020B0609020204030204" pitchFamily="49" charset="0"/>
              </a:rPr>
              <a:t>self._front</a:t>
            </a:r>
            <a:r>
              <a:rPr lang="en-US" sz="1200" spc="-1" dirty="0">
                <a:solidFill>
                  <a:srgbClr val="0F0F0F"/>
                </a:solidFill>
                <a:latin typeface="Consolas" panose="020B0609020204030204" pitchFamily="49" charset="0"/>
              </a:rPr>
              <a:t> + </a:t>
            </a:r>
            <a:r>
              <a:rPr lang="en-US" sz="1200" spc="-1" dirty="0" err="1">
                <a:solidFill>
                  <a:srgbClr val="0F0F0F"/>
                </a:solidFill>
                <a:latin typeface="Consolas" panose="020B0609020204030204" pitchFamily="49" charset="0"/>
              </a:rPr>
              <a:t>self._size</a:t>
            </a:r>
            <a:r>
              <a:rPr lang="en-US" sz="1200" spc="-1" dirty="0">
                <a:solidFill>
                  <a:srgbClr val="0F0F0F"/>
                </a:solidFill>
                <a:latin typeface="Consolas" panose="020B0609020204030204" pitchFamily="49" charset="0"/>
              </a:rPr>
              <a:t>) % </a:t>
            </a:r>
            <a:r>
              <a:rPr lang="en-US" sz="1200" spc="-1" dirty="0" err="1">
                <a:solidFill>
                  <a:srgbClr val="0F0F0F"/>
                </a:solidFill>
                <a:latin typeface="Consolas" panose="020B0609020204030204" pitchFamily="49" charset="0"/>
              </a:rPr>
              <a:t>len</a:t>
            </a:r>
            <a:r>
              <a:rPr lang="en-US" sz="1200" spc="-1" dirty="0">
                <a:solidFill>
                  <a:srgbClr val="0F0F0F"/>
                </a:solidFill>
                <a:latin typeface="Consolas" panose="020B0609020204030204" pitchFamily="49" charset="0"/>
              </a:rPr>
              <a:t>(</a:t>
            </a:r>
            <a:r>
              <a:rPr lang="en-US" sz="1200" spc="-1" dirty="0" err="1">
                <a:solidFill>
                  <a:srgbClr val="0F0F0F"/>
                </a:solidFill>
                <a:latin typeface="Consolas" panose="020B0609020204030204" pitchFamily="49" charset="0"/>
              </a:rPr>
              <a:t>self._data</a:t>
            </a:r>
            <a:r>
              <a:rPr lang="en-US" sz="1200" spc="-1" dirty="0">
                <a:solidFill>
                  <a:srgbClr val="0F0F0F"/>
                </a:solidFill>
                <a:latin typeface="Consolas" panose="020B0609020204030204" pitchFamily="49" charset="0"/>
              </a:rPr>
              <a:t>)</a:t>
            </a: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self._data</a:t>
            </a:r>
            <a:r>
              <a:rPr lang="en-US" sz="1200" spc="-1" dirty="0">
                <a:solidFill>
                  <a:srgbClr val="0F0F0F"/>
                </a:solidFill>
                <a:latin typeface="Consolas" panose="020B0609020204030204" pitchFamily="49" charset="0"/>
              </a:rPr>
              <a:t>[back] = e</a:t>
            </a: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self._size</a:t>
            </a:r>
            <a:r>
              <a:rPr lang="en-US" sz="1200" spc="-1" dirty="0">
                <a:solidFill>
                  <a:srgbClr val="0F0F0F"/>
                </a:solidFill>
                <a:latin typeface="Consolas" panose="020B0609020204030204" pitchFamily="49" charset="0"/>
              </a:rPr>
              <a:t> += 1</a:t>
            </a:r>
          </a:p>
        </p:txBody>
      </p:sp>
    </p:spTree>
    <p:extLst>
      <p:ext uri="{BB962C8B-B14F-4D97-AF65-F5344CB8AC3E}">
        <p14:creationId xmlns:p14="http://schemas.microsoft.com/office/powerpoint/2010/main" val="39140627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Adapting lists to represent queues</a:t>
            </a:r>
            <a:endParaRPr lang="en-US" sz="2800" b="1" noProof="0" dirty="0">
              <a:latin typeface="Calibri" panose="020F0502020204030204" pitchFamily="34" charset="0"/>
              <a:cs typeface="Calibri" panose="020F0502020204030204" pitchFamily="34" charset="0"/>
            </a:endParaRPr>
          </a:p>
        </p:txBody>
      </p:sp>
      <p:sp>
        <p:nvSpPr>
          <p:cNvPr id="8" name="Rechteck 7">
            <a:extLst>
              <a:ext uri="{FF2B5EF4-FFF2-40B4-BE49-F238E27FC236}">
                <a16:creationId xmlns:a16="http://schemas.microsoft.com/office/drawing/2014/main" id="{9197E0F5-82C1-49E2-940A-01517E9E4395}"/>
              </a:ext>
            </a:extLst>
          </p:cNvPr>
          <p:cNvSpPr/>
          <p:nvPr/>
        </p:nvSpPr>
        <p:spPr>
          <a:xfrm>
            <a:off x="664370" y="1418400"/>
            <a:ext cx="8279306" cy="3125025"/>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def _resize(self, capacity):</a:t>
            </a:r>
          </a:p>
          <a:p>
            <a:r>
              <a:rPr lang="en-US" sz="1200" spc="-1" dirty="0">
                <a:solidFill>
                  <a:srgbClr val="0F0F0F"/>
                </a:solidFill>
                <a:latin typeface="Consolas" panose="020B0609020204030204" pitchFamily="49" charset="0"/>
              </a:rPr>
              <a:t>        old = </a:t>
            </a:r>
            <a:r>
              <a:rPr lang="en-US" sz="1200" spc="-1" dirty="0" err="1">
                <a:solidFill>
                  <a:srgbClr val="0F0F0F"/>
                </a:solidFill>
                <a:latin typeface="Consolas" panose="020B0609020204030204" pitchFamily="49" charset="0"/>
              </a:rPr>
              <a:t>self._data</a:t>
            </a:r>
            <a:endParaRPr lang="en-US" sz="1200" spc="-1" dirty="0">
              <a:solidFill>
                <a:srgbClr val="0F0F0F"/>
              </a:solidFill>
              <a:latin typeface="Consolas" panose="020B0609020204030204" pitchFamily="49" charset="0"/>
            </a:endParaRP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self._data</a:t>
            </a:r>
            <a:r>
              <a:rPr lang="en-US" sz="1200" spc="-1" dirty="0">
                <a:solidFill>
                  <a:srgbClr val="0F0F0F"/>
                </a:solidFill>
                <a:latin typeface="Consolas" panose="020B0609020204030204" pitchFamily="49" charset="0"/>
              </a:rPr>
              <a:t> = [None] * capacity</a:t>
            </a: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i</a:t>
            </a:r>
            <a:r>
              <a:rPr lang="en-US" sz="1200" spc="-1" dirty="0">
                <a:solidFill>
                  <a:srgbClr val="0F0F0F"/>
                </a:solidFill>
                <a:latin typeface="Consolas" panose="020B0609020204030204" pitchFamily="49" charset="0"/>
              </a:rPr>
              <a:t> = </a:t>
            </a:r>
            <a:r>
              <a:rPr lang="en-US" sz="1200" spc="-1" dirty="0" err="1">
                <a:solidFill>
                  <a:srgbClr val="0F0F0F"/>
                </a:solidFill>
                <a:latin typeface="Consolas" panose="020B0609020204030204" pitchFamily="49" charset="0"/>
              </a:rPr>
              <a:t>self._front</a:t>
            </a:r>
            <a:endParaRPr lang="en-US" sz="1200" spc="-1" dirty="0">
              <a:solidFill>
                <a:srgbClr val="0F0F0F"/>
              </a:solidFill>
              <a:latin typeface="Consolas" panose="020B0609020204030204" pitchFamily="49" charset="0"/>
            </a:endParaRPr>
          </a:p>
          <a:p>
            <a:r>
              <a:rPr lang="en-US" sz="1200" spc="-1" dirty="0">
                <a:solidFill>
                  <a:srgbClr val="0F0F0F"/>
                </a:solidFill>
                <a:latin typeface="Consolas" panose="020B0609020204030204" pitchFamily="49" charset="0"/>
              </a:rPr>
              <a:t>        for j in range(</a:t>
            </a:r>
            <a:r>
              <a:rPr lang="en-US" sz="1200" spc="-1" dirty="0" err="1">
                <a:solidFill>
                  <a:srgbClr val="0F0F0F"/>
                </a:solidFill>
                <a:latin typeface="Consolas" panose="020B0609020204030204" pitchFamily="49" charset="0"/>
              </a:rPr>
              <a:t>self._size</a:t>
            </a:r>
            <a:r>
              <a:rPr lang="en-US" sz="1200" spc="-1" dirty="0">
                <a:solidFill>
                  <a:srgbClr val="0F0F0F"/>
                </a:solidFill>
                <a:latin typeface="Consolas" panose="020B0609020204030204" pitchFamily="49" charset="0"/>
              </a:rPr>
              <a:t>):</a:t>
            </a: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self._data</a:t>
            </a:r>
            <a:r>
              <a:rPr lang="en-US" sz="1200" spc="-1" dirty="0">
                <a:solidFill>
                  <a:srgbClr val="0F0F0F"/>
                </a:solidFill>
                <a:latin typeface="Consolas" panose="020B0609020204030204" pitchFamily="49" charset="0"/>
              </a:rPr>
              <a:t>[j] = old[</a:t>
            </a:r>
            <a:r>
              <a:rPr lang="en-US" sz="1200" spc="-1" dirty="0" err="1">
                <a:solidFill>
                  <a:srgbClr val="0F0F0F"/>
                </a:solidFill>
                <a:latin typeface="Consolas" panose="020B0609020204030204" pitchFamily="49" charset="0"/>
              </a:rPr>
              <a:t>i</a:t>
            </a:r>
            <a:r>
              <a:rPr lang="en-US" sz="1200" spc="-1" dirty="0">
                <a:solidFill>
                  <a:srgbClr val="0F0F0F"/>
                </a:solidFill>
                <a:latin typeface="Consolas" panose="020B0609020204030204" pitchFamily="49" charset="0"/>
              </a:rPr>
              <a:t>]</a:t>
            </a: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i</a:t>
            </a:r>
            <a:r>
              <a:rPr lang="en-US" sz="1200" spc="-1" dirty="0">
                <a:solidFill>
                  <a:srgbClr val="0F0F0F"/>
                </a:solidFill>
                <a:latin typeface="Consolas" panose="020B0609020204030204" pitchFamily="49" charset="0"/>
              </a:rPr>
              <a:t> = (</a:t>
            </a:r>
            <a:r>
              <a:rPr lang="en-US" sz="1200" spc="-1" dirty="0" err="1">
                <a:solidFill>
                  <a:srgbClr val="0F0F0F"/>
                </a:solidFill>
                <a:latin typeface="Consolas" panose="020B0609020204030204" pitchFamily="49" charset="0"/>
              </a:rPr>
              <a:t>i</a:t>
            </a:r>
            <a:r>
              <a:rPr lang="en-US" sz="1200" spc="-1" dirty="0">
                <a:solidFill>
                  <a:srgbClr val="0F0F0F"/>
                </a:solidFill>
                <a:latin typeface="Consolas" panose="020B0609020204030204" pitchFamily="49" charset="0"/>
              </a:rPr>
              <a:t> + 1) % </a:t>
            </a:r>
            <a:r>
              <a:rPr lang="en-US" sz="1200" spc="-1" dirty="0" err="1">
                <a:solidFill>
                  <a:srgbClr val="0F0F0F"/>
                </a:solidFill>
                <a:latin typeface="Consolas" panose="020B0609020204030204" pitchFamily="49" charset="0"/>
              </a:rPr>
              <a:t>len</a:t>
            </a:r>
            <a:r>
              <a:rPr lang="en-US" sz="1200" spc="-1" dirty="0">
                <a:solidFill>
                  <a:srgbClr val="0F0F0F"/>
                </a:solidFill>
                <a:latin typeface="Consolas" panose="020B0609020204030204" pitchFamily="49" charset="0"/>
              </a:rPr>
              <a:t>(old)</a:t>
            </a: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self._front</a:t>
            </a:r>
            <a:r>
              <a:rPr lang="en-US" sz="1200" spc="-1" dirty="0">
                <a:solidFill>
                  <a:srgbClr val="0F0F0F"/>
                </a:solidFill>
                <a:latin typeface="Consolas" panose="020B0609020204030204" pitchFamily="49" charset="0"/>
              </a:rPr>
              <a:t> = 0</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def __str__(self):</a:t>
            </a:r>
          </a:p>
          <a:p>
            <a:r>
              <a:rPr lang="en-US" sz="1200" spc="-1" dirty="0">
                <a:solidFill>
                  <a:srgbClr val="0F0F0F"/>
                </a:solidFill>
                <a:latin typeface="Consolas" panose="020B0609020204030204" pitchFamily="49" charset="0"/>
              </a:rPr>
              <a:t>        return f'{</a:t>
            </a:r>
            <a:r>
              <a:rPr lang="en-US" sz="1200" spc="-1" dirty="0" err="1">
                <a:solidFill>
                  <a:srgbClr val="0F0F0F"/>
                </a:solidFill>
                <a:latin typeface="Consolas" panose="020B0609020204030204" pitchFamily="49" charset="0"/>
              </a:rPr>
              <a:t>self._data</a:t>
            </a:r>
            <a:r>
              <a:rPr lang="en-US" sz="1200" spc="-1" dirty="0">
                <a:solidFill>
                  <a:srgbClr val="0F0F0F"/>
                </a:solidFill>
                <a:latin typeface="Consolas" panose="020B0609020204030204" pitchFamily="49" charset="0"/>
              </a:rPr>
              <a:t>}'</a:t>
            </a:r>
          </a:p>
        </p:txBody>
      </p:sp>
      <p:sp>
        <p:nvSpPr>
          <p:cNvPr id="9" name="Textplatzhalter 2">
            <a:extLst>
              <a:ext uri="{FF2B5EF4-FFF2-40B4-BE49-F238E27FC236}">
                <a16:creationId xmlns:a16="http://schemas.microsoft.com/office/drawing/2014/main" id="{7EE57F85-F2CE-4F34-95D7-FE4768F0A5B9}"/>
              </a:ext>
            </a:extLst>
          </p:cNvPr>
          <p:cNvSpPr txBox="1">
            <a:spLocks/>
          </p:cNvSpPr>
          <p:nvPr/>
        </p:nvSpPr>
        <p:spPr>
          <a:xfrm>
            <a:off x="606287" y="4607426"/>
            <a:ext cx="8229300" cy="5838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hlinkClick r:id="rId3"/>
              </a:rPr>
              <a:t>Notebook example</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343050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22813456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p:sp>
        <p:nvSpPr>
          <p:cNvPr id="4" name="Textfeld 2">
            <a:extLst>
              <a:ext uri="{FF2B5EF4-FFF2-40B4-BE49-F238E27FC236}">
                <a16:creationId xmlns:a16="http://schemas.microsoft.com/office/drawing/2014/main" id="{B1AB2DE2-BFB4-403B-9976-58C0812A00AF}"/>
              </a:ext>
            </a:extLst>
          </p:cNvPr>
          <p:cNvSpPr txBox="1"/>
          <p:nvPr/>
        </p:nvSpPr>
        <p:spPr>
          <a:xfrm>
            <a:off x="457200" y="1605600"/>
            <a:ext cx="8229600" cy="1477328"/>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lang="en-US" sz="1800" b="1" dirty="0">
                <a:latin typeface="Calibri" panose="020F0502020204030204" pitchFamily="34" charset="0"/>
                <a:cs typeface="Calibri" panose="020F0502020204030204" pitchFamily="34" charset="0"/>
              </a:rPr>
              <a:t>8</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Explain the resize method. Why do we move the front to 0 when we copy the arrays?</a:t>
            </a:r>
          </a:p>
          <a:p>
            <a:pPr lvl="0">
              <a:defRPr/>
            </a:pPr>
            <a:endParaRPr lang="en-US" sz="1800" dirty="0">
              <a:latin typeface="Calibri" panose="020F0502020204030204" pitchFamily="34" charset="0"/>
              <a:cs typeface="Calibri" panose="020F0502020204030204" pitchFamily="34" charset="0"/>
            </a:endParaRPr>
          </a:p>
          <a:p>
            <a:pPr lvl="0">
              <a:defRPr/>
            </a:pPr>
            <a:r>
              <a:rPr lang="en-US" sz="1800" b="1" dirty="0">
                <a:latin typeface="Calibri" panose="020F0502020204030204" pitchFamily="34" charset="0"/>
                <a:cs typeface="Calibri" panose="020F0502020204030204" pitchFamily="34" charset="0"/>
              </a:rPr>
              <a:t>Task 9: </a:t>
            </a:r>
            <a:r>
              <a:rPr lang="en-US" sz="1800" dirty="0">
                <a:latin typeface="Calibri" panose="020F0502020204030204" pitchFamily="34" charset="0"/>
                <a:cs typeface="Calibri" panose="020F0502020204030204" pitchFamily="34" charset="0"/>
              </a:rPr>
              <a:t>Where we would add the code for shrinking the list if we dequeue too many elements? How could that code look like?</a:t>
            </a:r>
          </a:p>
        </p:txBody>
      </p:sp>
    </p:spTree>
    <p:extLst>
      <p:ext uri="{BB962C8B-B14F-4D97-AF65-F5344CB8AC3E}">
        <p14:creationId xmlns:p14="http://schemas.microsoft.com/office/powerpoint/2010/main" val="23314279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Complexity of array-based queues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graphicFrame>
            <p:nvGraphicFramePr>
              <p:cNvPr id="7" name="Tabelle 6">
                <a:extLst>
                  <a:ext uri="{FF2B5EF4-FFF2-40B4-BE49-F238E27FC236}">
                    <a16:creationId xmlns:a16="http://schemas.microsoft.com/office/drawing/2014/main" id="{B3903C2A-961F-4E32-958D-778B7FE21E38}"/>
                  </a:ext>
                </a:extLst>
              </p:cNvPr>
              <p:cNvGraphicFramePr/>
              <p:nvPr>
                <p:extLst>
                  <p:ext uri="{D42A27DB-BD31-4B8C-83A1-F6EECF244321}">
                    <p14:modId xmlns:p14="http://schemas.microsoft.com/office/powerpoint/2010/main" val="839699137"/>
                  </p:ext>
                </p:extLst>
              </p:nvPr>
            </p:nvGraphicFramePr>
            <p:xfrm>
              <a:off x="2330879" y="2188614"/>
              <a:ext cx="4481941" cy="2033676"/>
            </p:xfrm>
            <a:graphic>
              <a:graphicData uri="http://schemas.openxmlformats.org/drawingml/2006/table">
                <a:tbl>
                  <a:tblPr firstRow="1" bandRow="1">
                    <a:tableStyleId>{21E4AEA4-8DFA-4A89-87EB-49C32662AFE0}</a:tableStyleId>
                  </a:tblPr>
                  <a:tblGrid>
                    <a:gridCol w="2953790">
                      <a:extLst>
                        <a:ext uri="{9D8B030D-6E8A-4147-A177-3AD203B41FA5}">
                          <a16:colId xmlns:a16="http://schemas.microsoft.com/office/drawing/2014/main" val="4091769654"/>
                        </a:ext>
                      </a:extLst>
                    </a:gridCol>
                    <a:gridCol w="1528151">
                      <a:extLst>
                        <a:ext uri="{9D8B030D-6E8A-4147-A177-3AD203B41FA5}">
                          <a16:colId xmlns:a16="http://schemas.microsoft.com/office/drawing/2014/main" val="20000"/>
                        </a:ext>
                      </a:extLst>
                    </a:gridCol>
                  </a:tblGrid>
                  <a:tr h="280042">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Operation</a:t>
                          </a:r>
                        </a:p>
                      </a:txBody>
                      <a:tcPr marL="63607" marR="63607" marT="32313" marB="32313" anchor="ctr"/>
                    </a:tc>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Complexity</a:t>
                          </a:r>
                        </a:p>
                      </a:txBody>
                      <a:tcPr marL="63607" marR="63607" marT="32313" marB="32313" anchor="ctr"/>
                    </a:tc>
                    <a:extLst>
                      <a:ext uri="{0D108BD9-81ED-4DB2-BD59-A6C34878D82A}">
                        <a16:rowId xmlns:a16="http://schemas.microsoft.com/office/drawing/2014/main" val="10000"/>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𝑞</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𝑒𝑛𝑞𝑢𝑒𝑢𝑒</m:t>
                                </m:r>
                                <m:r>
                                  <a:rPr lang="en-US" sz="180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en-US" sz="1800" i="1" strike="noStrike" spc="-1" dirty="0" smtClean="0">
                                    <a:latin typeface="Cambria Math" panose="02040503050406030204" pitchFamily="18" charset="0"/>
                                    <a:ea typeface="Calibri" panose="020F0502020204030204" pitchFamily="34" charset="0"/>
                                    <a:cs typeface="Calibri" panose="020F0502020204030204" pitchFamily="34" charset="0"/>
                                  </a:rPr>
                                  <m:t>𝑣𝑎𝑙𝑢𝑒</m:t>
                                </m:r>
                                <m:r>
                                  <a:rPr lang="en-US" sz="180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14:m>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d>
                                <m:dPr>
                                  <m:ctrlP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ctrlPr>
                                </m:dPr>
                                <m:e>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e>
                              </m:d>
                            </m:oMath>
                          </a14:m>
                          <a:r>
                            <a:rPr lang="en-US" sz="1800" b="0" strike="noStrike" spc="-1" baseline="30000" dirty="0">
                              <a:latin typeface="Calibri" panose="020F0502020204030204" pitchFamily="34" charset="0"/>
                              <a:ea typeface="Calibri" panose="020F0502020204030204" pitchFamily="34" charset="0"/>
                              <a:cs typeface="Calibri" panose="020F0502020204030204" pitchFamily="34" charset="0"/>
                            </a:rPr>
                            <a:t>*</a:t>
                          </a:r>
                        </a:p>
                      </a:txBody>
                      <a:tcPr marL="63607" marR="63607" marT="32313" marB="32313"/>
                    </a:tc>
                    <a:extLst>
                      <a:ext uri="{0D108BD9-81ED-4DB2-BD59-A6C34878D82A}">
                        <a16:rowId xmlns:a16="http://schemas.microsoft.com/office/drawing/2014/main" val="10002"/>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𝑞</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𝑑𝑒𝑞𝑢𝑒𝑢𝑒</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oMath>
                          </a14:m>
                          <a:r>
                            <a:rPr lang="en-US" sz="1800" b="0" strike="noStrike" spc="-1" baseline="30000" dirty="0">
                              <a:latin typeface="Calibri" panose="020F0502020204030204" pitchFamily="34" charset="0"/>
                              <a:ea typeface="Calibri" panose="020F0502020204030204" pitchFamily="34" charset="0"/>
                              <a:cs typeface="Calibri" panose="020F0502020204030204" pitchFamily="34" charset="0"/>
                            </a:rPr>
                            <a:t>*</a:t>
                          </a:r>
                        </a:p>
                      </a:txBody>
                      <a:tcPr marL="63607" marR="63607" marT="32313" marB="32313"/>
                    </a:tc>
                    <a:extLst>
                      <a:ext uri="{0D108BD9-81ED-4DB2-BD59-A6C34878D82A}">
                        <a16:rowId xmlns:a16="http://schemas.microsoft.com/office/drawing/2014/main" val="10003"/>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𝑞</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𝑓𝑖𝑟𝑠𝑡</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d>
                                  <m:dPr>
                                    <m:ctrlP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ctrlPr>
                                  </m:dPr>
                                  <m:e>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e>
                                </m:d>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789822921"/>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𝑞</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𝑖𝑠</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_</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𝑒𝑚𝑝𝑡𝑦</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427484794"/>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𝑙</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𝑒</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𝑛</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𝑞</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746889954"/>
                      </a:ext>
                    </a:extLst>
                  </a:tr>
                </a:tbl>
              </a:graphicData>
            </a:graphic>
          </p:graphicFrame>
        </mc:Choice>
        <mc:Fallback xmlns="">
          <p:graphicFrame>
            <p:nvGraphicFramePr>
              <p:cNvPr id="7" name="Tabelle 6">
                <a:extLst>
                  <a:ext uri="{FF2B5EF4-FFF2-40B4-BE49-F238E27FC236}">
                    <a16:creationId xmlns:a16="http://schemas.microsoft.com/office/drawing/2014/main" id="{B3903C2A-961F-4E32-958D-778B7FE21E38}"/>
                  </a:ext>
                </a:extLst>
              </p:cNvPr>
              <p:cNvGraphicFramePr/>
              <p:nvPr>
                <p:extLst>
                  <p:ext uri="{D42A27DB-BD31-4B8C-83A1-F6EECF244321}">
                    <p14:modId xmlns:p14="http://schemas.microsoft.com/office/powerpoint/2010/main" val="839699137"/>
                  </p:ext>
                </p:extLst>
              </p:nvPr>
            </p:nvGraphicFramePr>
            <p:xfrm>
              <a:off x="2330879" y="2188614"/>
              <a:ext cx="4481941" cy="2033676"/>
            </p:xfrm>
            <a:graphic>
              <a:graphicData uri="http://schemas.openxmlformats.org/drawingml/2006/table">
                <a:tbl>
                  <a:tblPr firstRow="1" bandRow="1">
                    <a:tableStyleId>{21E4AEA4-8DFA-4A89-87EB-49C32662AFE0}</a:tableStyleId>
                  </a:tblPr>
                  <a:tblGrid>
                    <a:gridCol w="2953790">
                      <a:extLst>
                        <a:ext uri="{9D8B030D-6E8A-4147-A177-3AD203B41FA5}">
                          <a16:colId xmlns:a16="http://schemas.microsoft.com/office/drawing/2014/main" val="4091769654"/>
                        </a:ext>
                      </a:extLst>
                    </a:gridCol>
                    <a:gridCol w="1528151">
                      <a:extLst>
                        <a:ext uri="{9D8B030D-6E8A-4147-A177-3AD203B41FA5}">
                          <a16:colId xmlns:a16="http://schemas.microsoft.com/office/drawing/2014/main" val="20000"/>
                        </a:ext>
                      </a:extLst>
                    </a:gridCol>
                  </a:tblGrid>
                  <a:tr h="338946">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Operation</a:t>
                          </a:r>
                        </a:p>
                      </a:txBody>
                      <a:tcPr marL="63607" marR="63607" marT="32313" marB="32313" anchor="ctr"/>
                    </a:tc>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Complexity</a:t>
                          </a:r>
                        </a:p>
                      </a:txBody>
                      <a:tcPr marL="63607" marR="63607" marT="32313" marB="32313" anchor="ctr"/>
                    </a:tc>
                    <a:extLst>
                      <a:ext uri="{0D108BD9-81ED-4DB2-BD59-A6C34878D82A}">
                        <a16:rowId xmlns:a16="http://schemas.microsoft.com/office/drawing/2014/main" val="10000"/>
                      </a:ext>
                    </a:extLst>
                  </a:tr>
                  <a:tr h="338946">
                    <a:tc>
                      <a:txBody>
                        <a:bodyPr/>
                        <a:lstStyle/>
                        <a:p>
                          <a:endParaRPr lang="de-DE"/>
                        </a:p>
                      </a:txBody>
                      <a:tcPr marL="63607" marR="63607" marT="32313" marB="32313">
                        <a:blipFill>
                          <a:blip r:embed="rId3"/>
                          <a:stretch>
                            <a:fillRect l="-206" t="-116364" r="-52577" b="-425455"/>
                          </a:stretch>
                        </a:blipFill>
                      </a:tcPr>
                    </a:tc>
                    <a:tc>
                      <a:txBody>
                        <a:bodyPr/>
                        <a:lstStyle/>
                        <a:p>
                          <a:endParaRPr lang="de-DE"/>
                        </a:p>
                      </a:txBody>
                      <a:tcPr marL="63607" marR="63607" marT="32313" marB="32313">
                        <a:blipFill>
                          <a:blip r:embed="rId3"/>
                          <a:stretch>
                            <a:fillRect l="-193625" t="-116364" r="-1594" b="-425455"/>
                          </a:stretch>
                        </a:blipFill>
                      </a:tcPr>
                    </a:tc>
                    <a:extLst>
                      <a:ext uri="{0D108BD9-81ED-4DB2-BD59-A6C34878D82A}">
                        <a16:rowId xmlns:a16="http://schemas.microsoft.com/office/drawing/2014/main" val="10002"/>
                      </a:ext>
                    </a:extLst>
                  </a:tr>
                  <a:tr h="338946">
                    <a:tc>
                      <a:txBody>
                        <a:bodyPr/>
                        <a:lstStyle/>
                        <a:p>
                          <a:endParaRPr lang="de-DE"/>
                        </a:p>
                      </a:txBody>
                      <a:tcPr marL="63607" marR="63607" marT="32313" marB="32313">
                        <a:blipFill>
                          <a:blip r:embed="rId3"/>
                          <a:stretch>
                            <a:fillRect l="-206" t="-212500" r="-52577" b="-317857"/>
                          </a:stretch>
                        </a:blipFill>
                      </a:tcPr>
                    </a:tc>
                    <a:tc>
                      <a:txBody>
                        <a:bodyPr/>
                        <a:lstStyle/>
                        <a:p>
                          <a:endParaRPr lang="de-DE"/>
                        </a:p>
                      </a:txBody>
                      <a:tcPr marL="63607" marR="63607" marT="32313" marB="32313">
                        <a:blipFill>
                          <a:blip r:embed="rId3"/>
                          <a:stretch>
                            <a:fillRect l="-193625" t="-212500" r="-1594" b="-317857"/>
                          </a:stretch>
                        </a:blipFill>
                      </a:tcPr>
                    </a:tc>
                    <a:extLst>
                      <a:ext uri="{0D108BD9-81ED-4DB2-BD59-A6C34878D82A}">
                        <a16:rowId xmlns:a16="http://schemas.microsoft.com/office/drawing/2014/main" val="10003"/>
                      </a:ext>
                    </a:extLst>
                  </a:tr>
                  <a:tr h="338946">
                    <a:tc>
                      <a:txBody>
                        <a:bodyPr/>
                        <a:lstStyle/>
                        <a:p>
                          <a:endParaRPr lang="de-DE"/>
                        </a:p>
                      </a:txBody>
                      <a:tcPr marL="63607" marR="63607" marT="32313" marB="32313">
                        <a:blipFill>
                          <a:blip r:embed="rId3"/>
                          <a:stretch>
                            <a:fillRect l="-206" t="-312500" r="-52577" b="-217857"/>
                          </a:stretch>
                        </a:blipFill>
                      </a:tcPr>
                    </a:tc>
                    <a:tc>
                      <a:txBody>
                        <a:bodyPr/>
                        <a:lstStyle/>
                        <a:p>
                          <a:endParaRPr lang="de-DE"/>
                        </a:p>
                      </a:txBody>
                      <a:tcPr marL="63607" marR="63607" marT="32313" marB="32313">
                        <a:blipFill>
                          <a:blip r:embed="rId3"/>
                          <a:stretch>
                            <a:fillRect l="-193625" t="-312500" r="-1594" b="-217857"/>
                          </a:stretch>
                        </a:blipFill>
                      </a:tcPr>
                    </a:tc>
                    <a:extLst>
                      <a:ext uri="{0D108BD9-81ED-4DB2-BD59-A6C34878D82A}">
                        <a16:rowId xmlns:a16="http://schemas.microsoft.com/office/drawing/2014/main" val="1789822921"/>
                      </a:ext>
                    </a:extLst>
                  </a:tr>
                  <a:tr h="338946">
                    <a:tc>
                      <a:txBody>
                        <a:bodyPr/>
                        <a:lstStyle/>
                        <a:p>
                          <a:endParaRPr lang="de-DE"/>
                        </a:p>
                      </a:txBody>
                      <a:tcPr marL="63607" marR="63607" marT="32313" marB="32313">
                        <a:blipFill>
                          <a:blip r:embed="rId3"/>
                          <a:stretch>
                            <a:fillRect l="-206" t="-420000" r="-52577" b="-121818"/>
                          </a:stretch>
                        </a:blipFill>
                      </a:tcPr>
                    </a:tc>
                    <a:tc>
                      <a:txBody>
                        <a:bodyPr/>
                        <a:lstStyle/>
                        <a:p>
                          <a:endParaRPr lang="de-DE"/>
                        </a:p>
                      </a:txBody>
                      <a:tcPr marL="63607" marR="63607" marT="32313" marB="32313">
                        <a:blipFill>
                          <a:blip r:embed="rId3"/>
                          <a:stretch>
                            <a:fillRect l="-193625" t="-420000" r="-1594" b="-121818"/>
                          </a:stretch>
                        </a:blipFill>
                      </a:tcPr>
                    </a:tc>
                    <a:extLst>
                      <a:ext uri="{0D108BD9-81ED-4DB2-BD59-A6C34878D82A}">
                        <a16:rowId xmlns:a16="http://schemas.microsoft.com/office/drawing/2014/main" val="1427484794"/>
                      </a:ext>
                    </a:extLst>
                  </a:tr>
                  <a:tr h="338946">
                    <a:tc>
                      <a:txBody>
                        <a:bodyPr/>
                        <a:lstStyle/>
                        <a:p>
                          <a:endParaRPr lang="de-DE"/>
                        </a:p>
                      </a:txBody>
                      <a:tcPr marL="63607" marR="63607" marT="32313" marB="32313">
                        <a:blipFill>
                          <a:blip r:embed="rId3"/>
                          <a:stretch>
                            <a:fillRect l="-206" t="-510714" r="-52577" b="-19643"/>
                          </a:stretch>
                        </a:blipFill>
                      </a:tcPr>
                    </a:tc>
                    <a:tc>
                      <a:txBody>
                        <a:bodyPr/>
                        <a:lstStyle/>
                        <a:p>
                          <a:endParaRPr lang="de-DE"/>
                        </a:p>
                      </a:txBody>
                      <a:tcPr marL="63607" marR="63607" marT="32313" marB="32313">
                        <a:blipFill>
                          <a:blip r:embed="rId3"/>
                          <a:stretch>
                            <a:fillRect l="-193625" t="-510714" r="-1594" b="-19643"/>
                          </a:stretch>
                        </a:blipFill>
                      </a:tcPr>
                    </a:tc>
                    <a:extLst>
                      <a:ext uri="{0D108BD9-81ED-4DB2-BD59-A6C34878D82A}">
                        <a16:rowId xmlns:a16="http://schemas.microsoft.com/office/drawing/2014/main" val="1746889954"/>
                      </a:ext>
                    </a:extLst>
                  </a:tr>
                </a:tbl>
              </a:graphicData>
            </a:graphic>
          </p:graphicFrame>
        </mc:Fallback>
      </mc:AlternateContent>
      <p:sp>
        <p:nvSpPr>
          <p:cNvPr id="3" name="Textfeld 2">
            <a:extLst>
              <a:ext uri="{FF2B5EF4-FFF2-40B4-BE49-F238E27FC236}">
                <a16:creationId xmlns:a16="http://schemas.microsoft.com/office/drawing/2014/main" id="{263DA31A-ABA4-4E15-833B-D6CD7F78844E}"/>
              </a:ext>
            </a:extLst>
          </p:cNvPr>
          <p:cNvSpPr txBox="1"/>
          <p:nvPr/>
        </p:nvSpPr>
        <p:spPr>
          <a:xfrm>
            <a:off x="5214937" y="4318032"/>
            <a:ext cx="1269899" cy="369332"/>
          </a:xfrm>
          <a:prstGeom prst="rect">
            <a:avLst/>
          </a:prstGeom>
          <a:noFill/>
        </p:spPr>
        <p:txBody>
          <a:bodyPr wrap="none" rtlCol="0">
            <a:spAutoFit/>
          </a:bodyPr>
          <a:lstStyle/>
          <a:p>
            <a:r>
              <a:rPr lang="de-AT" sz="1800" baseline="30000" dirty="0">
                <a:latin typeface="Calibri" panose="020F0502020204030204" pitchFamily="34" charset="0"/>
                <a:ea typeface="Calibri" panose="020F0502020204030204" pitchFamily="34" charset="0"/>
                <a:cs typeface="Calibri" panose="020F0502020204030204" pitchFamily="34" charset="0"/>
              </a:rPr>
              <a: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amortized</a:t>
            </a:r>
            <a:endParaRPr lang="de-AT"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321773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35299434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p:sp>
        <p:nvSpPr>
          <p:cNvPr id="4" name="Textfeld 2">
            <a:extLst>
              <a:ext uri="{FF2B5EF4-FFF2-40B4-BE49-F238E27FC236}">
                <a16:creationId xmlns:a16="http://schemas.microsoft.com/office/drawing/2014/main" id="{B1AB2DE2-BFB4-403B-9976-58C0812A00AF}"/>
              </a:ext>
            </a:extLst>
          </p:cNvPr>
          <p:cNvSpPr txBox="1"/>
          <p:nvPr/>
        </p:nvSpPr>
        <p:spPr>
          <a:xfrm>
            <a:off x="456900" y="1077280"/>
            <a:ext cx="8229600" cy="5355312"/>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10: </a:t>
            </a:r>
            <a:r>
              <a:rPr lang="en-US" sz="1800" dirty="0">
                <a:latin typeface="Calibri" panose="020F0502020204030204" pitchFamily="34" charset="0"/>
                <a:cs typeface="Calibri" panose="020F0502020204030204" pitchFamily="34" charset="0"/>
              </a:rPr>
              <a:t>Postfix notation is an unambiguous way of writing an arithmetic expression without parentheses. It is defined so that if “(exp1)op(exp2)” is a normal, fully parenthesized expression whose operation is op, the postfix version of this is “pexp1 pexp2 op”, where pexp1 is the postfix version of exp1 and pexp2 is the postfix version of exp2. The postfix version of a single number or variable is just that number or variable. For example, the postfix version of “((5+2) ∗ (8−3))/4” is “5 2 + 8 3 − ∗ 4 /”. Write a python program for evaluating expressions in postfix notation. Which data structure are you going to use?</a:t>
            </a:r>
          </a:p>
          <a:p>
            <a:pPr lvl="0">
              <a:defRPr/>
            </a:pPr>
            <a:endParaRPr lang="en-US" sz="1800" dirty="0">
              <a:latin typeface="Calibri" panose="020F0502020204030204" pitchFamily="34" charset="0"/>
              <a:cs typeface="Calibri" panose="020F0502020204030204" pitchFamily="34" charset="0"/>
            </a:endParaRPr>
          </a:p>
          <a:p>
            <a:pPr lvl="0">
              <a:defRPr/>
            </a:pPr>
            <a:r>
              <a:rPr lang="en-US" sz="1800" b="1" dirty="0">
                <a:latin typeface="Calibri" panose="020F0502020204030204" pitchFamily="34" charset="0"/>
                <a:cs typeface="Calibri" panose="020F0502020204030204" pitchFamily="34" charset="0"/>
              </a:rPr>
              <a:t>Task 11: </a:t>
            </a:r>
            <a:r>
              <a:rPr lang="en-US" sz="1800" dirty="0">
                <a:latin typeface="Calibri" panose="020F0502020204030204" pitchFamily="34" charset="0"/>
                <a:cs typeface="Calibri" panose="020F0502020204030204" pitchFamily="34" charset="0"/>
              </a:rPr>
              <a:t>Suppose we buy 100 shares at €20 each on day 1, 20 shares at €24 on day 2, 200 shares at  €36 on day 3, and then sell 150 shares on day 4 at €30 each. Then applying the FIFO protocol means that of the 150 shares sold, 100 were bought on day 1, 20 were bought on day 2, and 30 were bought on day 3. The capital gain in this case would therefore be 100 · 10 + 20 · 6 + 30 · (−6), or €940. Write a program that takes as input a sequence of transactions of the form “buy x share(s) at y each” or “sell x share(s) at y each,” assuming that the transactions occur on consecutive days and the values x and y are integers. Given this input sequence, the output should be the total capital gain (or loss) for the entire sequence, using the FIFO protocol to identify shares. Which data structure you are going to use?</a:t>
            </a:r>
          </a:p>
        </p:txBody>
      </p:sp>
    </p:spTree>
    <p:extLst>
      <p:ext uri="{BB962C8B-B14F-4D97-AF65-F5344CB8AC3E}">
        <p14:creationId xmlns:p14="http://schemas.microsoft.com/office/powerpoint/2010/main" val="108739930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3236</TotalTime>
  <Words>3932</Words>
  <Application>Microsoft Macintosh PowerPoint</Application>
  <PresentationFormat>On-screen Show (4:3)</PresentationFormat>
  <Paragraphs>656</Paragraphs>
  <Slides>68</Slides>
  <Notes>68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68</vt:i4>
      </vt:variant>
    </vt:vector>
  </HeadingPairs>
  <TitlesOfParts>
    <vt:vector size="76" baseType="lpstr">
      <vt:lpstr>Wingdings</vt:lpstr>
      <vt:lpstr>Consolas</vt:lpstr>
      <vt:lpstr>Arial</vt:lpstr>
      <vt:lpstr>Calibri</vt:lpstr>
      <vt:lpstr>Cambria Math</vt:lpstr>
      <vt:lpstr>Blackadder ITC</vt:lpstr>
      <vt:lpstr>Office Theme</vt:lpstr>
      <vt:lpstr>1_Office Theme</vt:lpstr>
      <vt:lpstr>Algorithms and Data Structures </vt:lpstr>
      <vt:lpstr>Outline</vt:lpstr>
      <vt:lpstr>Low-level arrays</vt:lpstr>
      <vt:lpstr>Representation of low-level arrays in memory</vt:lpstr>
      <vt:lpstr>Representation of low-level arrays in memory</vt:lpstr>
      <vt:lpstr>Referential arrays</vt:lpstr>
      <vt:lpstr>Referential arrays</vt:lpstr>
      <vt:lpstr>Referential arrays</vt:lpstr>
      <vt:lpstr>Referential arrays</vt:lpstr>
      <vt:lpstr>Referential arrays</vt:lpstr>
      <vt:lpstr>Dynamic arrays and amortization</vt:lpstr>
      <vt:lpstr>Dynamic arrays</vt:lpstr>
      <vt:lpstr>Dynamic arrays</vt:lpstr>
      <vt:lpstr>Dynamic arrays: experiment in python</vt:lpstr>
      <vt:lpstr>Dynamic arrays: experiment in python</vt:lpstr>
      <vt:lpstr>Implementing dynamic arrays</vt:lpstr>
      <vt:lpstr>Implementing dynamic arrays</vt:lpstr>
      <vt:lpstr>Growing dynamic arrays</vt:lpstr>
      <vt:lpstr>Growing dynamic arrays</vt:lpstr>
      <vt:lpstr>Growing dynamic arrays</vt:lpstr>
      <vt:lpstr>Exercise</vt:lpstr>
      <vt:lpstr>Student task</vt:lpstr>
      <vt:lpstr>Shrinking dynamic arrays</vt:lpstr>
      <vt:lpstr>Python’s lists revisited</vt:lpstr>
      <vt:lpstr>Python lists are implemented as dynamic arrays</vt:lpstr>
      <vt:lpstr>Python lists are implemented as dynamic arrays</vt:lpstr>
      <vt:lpstr>Python lists are implemented as dynamic arrays</vt:lpstr>
      <vt:lpstr>Exercise</vt:lpstr>
      <vt:lpstr>Student task</vt:lpstr>
      <vt:lpstr>Stacks</vt:lpstr>
      <vt:lpstr>Stacks</vt:lpstr>
      <vt:lpstr>Stacks</vt:lpstr>
      <vt:lpstr>Stacks</vt:lpstr>
      <vt:lpstr>Stacks</vt:lpstr>
      <vt:lpstr>Stacks</vt:lpstr>
      <vt:lpstr>Stacks</vt:lpstr>
      <vt:lpstr>Stacks</vt:lpstr>
      <vt:lpstr>Stacks</vt:lpstr>
      <vt:lpstr>Exercise</vt:lpstr>
      <vt:lpstr>Student task</vt:lpstr>
      <vt:lpstr>Implementing stacks</vt:lpstr>
      <vt:lpstr>Adapting lists to represent stacks</vt:lpstr>
      <vt:lpstr>Adapting lists to represent stacks</vt:lpstr>
      <vt:lpstr>Adapting lists to represent stacks</vt:lpstr>
      <vt:lpstr>Complexity of array-based stacks</vt:lpstr>
      <vt:lpstr>Exercise</vt:lpstr>
      <vt:lpstr>Student task</vt:lpstr>
      <vt:lpstr>Queues</vt:lpstr>
      <vt:lpstr>Queues</vt:lpstr>
      <vt:lpstr>Queues</vt:lpstr>
      <vt:lpstr>Queues</vt:lpstr>
      <vt:lpstr>Queues</vt:lpstr>
      <vt:lpstr>Queues</vt:lpstr>
      <vt:lpstr>Queues</vt:lpstr>
      <vt:lpstr>Queues</vt:lpstr>
      <vt:lpstr>Queues</vt:lpstr>
      <vt:lpstr>Exercise</vt:lpstr>
      <vt:lpstr>Student task</vt:lpstr>
      <vt:lpstr>Implementing queues</vt:lpstr>
      <vt:lpstr>Implementing queues</vt:lpstr>
      <vt:lpstr>Adapting lists to represent queues</vt:lpstr>
      <vt:lpstr>Adapting lists to represent queues</vt:lpstr>
      <vt:lpstr>Adapting lists to represent queues</vt:lpstr>
      <vt:lpstr>Exercise</vt:lpstr>
      <vt:lpstr>Student task</vt:lpstr>
      <vt:lpstr>Complexity of array-based queues</vt:lpstr>
      <vt:lpstr>Exercise</vt:lpstr>
      <vt:lpstr>Student task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FP Basics of Computer Programming</dc:title>
  <dc:creator>Lyndon Nixon</dc:creator>
  <cp:lastModifiedBy>Ingo Frommholz</cp:lastModifiedBy>
  <cp:revision>1002</cp:revision>
  <dcterms:modified xsi:type="dcterms:W3CDTF">2026-03-16T11:25:55Z</dcterms:modified>
</cp:coreProperties>
</file>